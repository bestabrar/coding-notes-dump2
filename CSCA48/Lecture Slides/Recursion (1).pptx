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Lst>
  <p:sldSz cy="5143500" cx="9144000"/>
  <p:notesSz cx="6858000" cy="9144000"/>
  <p:embeddedFontLst>
    <p:embeddedFont>
      <p:font typeface="Roboto"/>
      <p:regular r:id="rId65"/>
      <p:bold r:id="rId66"/>
      <p:italic r:id="rId67"/>
      <p:boldItalic r:id="rId68"/>
    </p:embeddedFont>
    <p:embeddedFont>
      <p:font typeface="Roboto Mono"/>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2" Type="http://schemas.openxmlformats.org/officeDocument/2006/relationships/font" Target="fonts/RobotoMono-bold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obotoMono-italic.fntdata"/><Relationship Id="rId70" Type="http://schemas.openxmlformats.org/officeDocument/2006/relationships/font" Target="fonts/RobotoMono-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Roboto-bold.fntdata"/><Relationship Id="rId21" Type="http://schemas.openxmlformats.org/officeDocument/2006/relationships/slide" Target="slides/slide16.xml"/><Relationship Id="rId65" Type="http://schemas.openxmlformats.org/officeDocument/2006/relationships/font" Target="fonts/Roboto-regular.fntdata"/><Relationship Id="rId24" Type="http://schemas.openxmlformats.org/officeDocument/2006/relationships/slide" Target="slides/slide19.xml"/><Relationship Id="rId68" Type="http://schemas.openxmlformats.org/officeDocument/2006/relationships/font" Target="fonts/Roboto-boldItalic.fntdata"/><Relationship Id="rId23" Type="http://schemas.openxmlformats.org/officeDocument/2006/relationships/slide" Target="slides/slide18.xml"/><Relationship Id="rId67" Type="http://schemas.openxmlformats.org/officeDocument/2006/relationships/font" Target="fonts/Roboto-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Mono-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1e308648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1e308648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How do we find a path from the mouse to the cheese? In terms of our graph this means finding a path from the node labeled ‘M’ to the node labeled ‘Ch’. For you, looking at the graph above, it’s very easy to see the path the mouse should take. For a computer working on a graph this is not so simple.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1e308648e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1e308648e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1e308648e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1e308648e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How do you explain recursion to a 4 year old? This is a pretty famous interview question, and there are loads of answers available on the web. We won’t answer this question as it is too mainstream.</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If you are as clever as I am ??, you would explain recursion to someone one year younger than you. Have them explain recursion to someone one year younger than them. Continue until you have a 5 year old explaining recursion to a 4 year old. Done. [Source: reddit].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1e308648e1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1e308648e1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Fewer Lines of Code</a:t>
            </a:r>
            <a:endParaRPr/>
          </a:p>
          <a:p>
            <a:pPr indent="0" lvl="0" marL="0" rtl="0" algn="l">
              <a:spcBef>
                <a:spcPts val="0"/>
              </a:spcBef>
              <a:spcAft>
                <a:spcPts val="0"/>
              </a:spcAft>
              <a:buClr>
                <a:schemeClr val="dk1"/>
              </a:buClr>
              <a:buSzPts val="1100"/>
              <a:buFont typeface="Arial"/>
              <a:buNone/>
            </a:pPr>
            <a:r>
              <a:rPr lang="en"/>
              <a:t>Applying recursion usually results in a solution with fewer lines of code than a solution that does not utilize recursion.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More Elegant Code</a:t>
            </a:r>
            <a:endParaRPr/>
          </a:p>
          <a:p>
            <a:pPr indent="0" lvl="0" marL="0" rtl="0" algn="l">
              <a:spcBef>
                <a:spcPts val="0"/>
              </a:spcBef>
              <a:spcAft>
                <a:spcPts val="0"/>
              </a:spcAft>
              <a:buClr>
                <a:schemeClr val="dk1"/>
              </a:buClr>
              <a:buSzPts val="1100"/>
              <a:buFont typeface="Arial"/>
              <a:buNone/>
            </a:pPr>
            <a:r>
              <a:rPr lang="en"/>
              <a:t>In addition to fewer lines of code, recursive solutions are typically more pleasing to look at. In other words, recursive solutions are usually considered to be elegant.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Increased Readability</a:t>
            </a:r>
            <a:endParaRPr/>
          </a:p>
          <a:p>
            <a:pPr indent="0" lvl="0" marL="0" rtl="0" algn="l">
              <a:spcBef>
                <a:spcPts val="0"/>
              </a:spcBef>
              <a:spcAft>
                <a:spcPts val="0"/>
              </a:spcAft>
              <a:buNone/>
            </a:pPr>
            <a:r>
              <a:rPr lang="en"/>
              <a:t>Reasons 1 and 2 typically combine to create reason 3 which is the increased readability of your code. Remember, we do not write code just for ourselves. We write code for the developers that follow us and must understand our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Reasons NOT to Use Recursion</a:t>
            </a:r>
            <a:endParaRPr/>
          </a:p>
          <a:p>
            <a:pPr indent="0" lvl="0" marL="0" rtl="0" algn="l">
              <a:spcBef>
                <a:spcPts val="0"/>
              </a:spcBef>
              <a:spcAft>
                <a:spcPts val="0"/>
              </a:spcAft>
              <a:buNone/>
            </a:pPr>
            <a:r>
              <a:rPr lang="en"/>
              <a:t>Performance losses</a:t>
            </a:r>
            <a:endParaRPr/>
          </a:p>
          <a:p>
            <a:pPr indent="0" lvl="0" marL="0" rtl="0" algn="l">
              <a:spcBef>
                <a:spcPts val="0"/>
              </a:spcBef>
              <a:spcAft>
                <a:spcPts val="0"/>
              </a:spcAft>
              <a:buNone/>
            </a:pPr>
            <a:r>
              <a:rPr lang="en"/>
              <a:t>Repeating function calls is not as efficient or performant as applying a loop. We do not want to simply choose recursion because we can.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Debugging Issues</a:t>
            </a:r>
            <a:endParaRPr/>
          </a:p>
          <a:p>
            <a:pPr indent="0" lvl="0" marL="0" rtl="0" algn="l">
              <a:spcBef>
                <a:spcPts val="0"/>
              </a:spcBef>
              <a:spcAft>
                <a:spcPts val="0"/>
              </a:spcAft>
              <a:buNone/>
            </a:pPr>
            <a:r>
              <a:rPr lang="en"/>
              <a:t>The logic of recursion is not always easy to follow. Utilizing recursion may make your code more difficult to debug.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Is the Readability Improved?</a:t>
            </a:r>
            <a:endParaRPr/>
          </a:p>
          <a:p>
            <a:pPr indent="0" lvl="0" marL="0" rtl="0" algn="l">
              <a:spcBef>
                <a:spcPts val="0"/>
              </a:spcBef>
              <a:spcAft>
                <a:spcPts val="0"/>
              </a:spcAft>
              <a:buNone/>
            </a:pPr>
            <a:r>
              <a:rPr lang="en"/>
              <a:t>Increased readability is not guaranteed through the use of recursion. In fact, this may by opinionated and/or situational. You should evaluate the readability, and if it's not improved recursion may not be the best answer.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1e308648e1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1e308648e1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1e308648e1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11e308648e1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divide and conquer approach as the name suggests divides the given problem in parts and then each problem is solved independently. When we keep dividing the problem into smaller parts a moment comes when the problem cannot be divided further into smaller part, then those smaller parts are solved and the solution of all those smaller parts or sub-parts is finally merged to obtain the solution of the original problem.</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Divide-and-conquer methods are behind some of the most powerful tools we can find in computer science – including binary search, quicksort, the Fast Fourier Transform (used extensively in signal processing and signal analysis), mergesort (a sorting algorithm with a guaranteed worst-case- com- plexity of O(NLog(N)), and the binary space-partitioning trees for determining object visibility in computer graphics.</a:t>
            </a:r>
            <a:endParaRPr/>
          </a:p>
          <a:p>
            <a:pPr indent="0" lvl="0" marL="0" rtl="0" algn="l">
              <a:spcBef>
                <a:spcPts val="0"/>
              </a:spcBef>
              <a:spcAft>
                <a:spcPts val="0"/>
              </a:spcAft>
              <a:buClr>
                <a:schemeClr val="dk1"/>
              </a:buClr>
              <a:buSzPts val="1100"/>
              <a:buFont typeface="Arial"/>
              <a:buNone/>
            </a:pPr>
            <a:r>
              <a:rPr lang="en"/>
              <a:t>They are naturally recursive in that by definition they work by splitting a problem into smaller and smaller instances, applying to each of these the same algorithm, until the problem is easily solvable; then combining solutions for smaller instances of the problem to build the solution to larger and larger instances all the way back to the original one.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1e308648e1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1e308648e1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SUppose the cost is copying array elements. How many elements are copied?</a:t>
            </a:r>
            <a:endParaRPr/>
          </a:p>
          <a:p>
            <a:pPr indent="0" lvl="0" marL="0" rtl="0" algn="l">
              <a:spcBef>
                <a:spcPts val="0"/>
              </a:spcBef>
              <a:spcAft>
                <a:spcPts val="0"/>
              </a:spcAft>
              <a:buNone/>
            </a:pPr>
            <a:r>
              <a:rPr lang="en"/>
              <a:t>Suppose the cost is comparing elements </a:t>
            </a:r>
            <a:endParaRPr/>
          </a:p>
          <a:p>
            <a:pPr indent="0" lvl="0" marL="0" rtl="0" algn="l">
              <a:spcBef>
                <a:spcPts val="0"/>
              </a:spcBef>
              <a:spcAft>
                <a:spcPts val="0"/>
              </a:spcAft>
              <a:buNone/>
            </a:pPr>
            <a:r>
              <a:rPr lang="en"/>
              <a:t>How many comparisons???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1e308648e1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1e308648e1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1e308648e1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1e308648e1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1e308648e1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1e308648e1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some caveats: what happens when the array size is cannot be cut in half??</a:t>
            </a:r>
            <a:endParaRPr/>
          </a:p>
          <a:p>
            <a:pPr indent="0" lvl="0" marL="0" rtl="0" algn="l">
              <a:spcBef>
                <a:spcPts val="0"/>
              </a:spcBef>
              <a:spcAft>
                <a:spcPts val="0"/>
              </a:spcAft>
              <a:buNone/>
            </a:pPr>
            <a:r>
              <a:rPr lang="en"/>
              <a:t>Actual explanation in the textbook CLRS is tedious. </a:t>
            </a:r>
            <a:endParaRPr/>
          </a:p>
          <a:p>
            <a:pPr indent="0" lvl="0" marL="0" rtl="0" algn="l">
              <a:spcBef>
                <a:spcPts val="0"/>
              </a:spcBef>
              <a:spcAft>
                <a:spcPts val="0"/>
              </a:spcAft>
              <a:buNone/>
            </a:pPr>
            <a:r>
              <a:rPr lang="en"/>
              <a:t>But for now we can consider simple case and go with this example.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1e308648e1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1e308648e1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The problem itself is complex.</a:t>
            </a:r>
            <a:endParaRPr/>
          </a:p>
          <a:p>
            <a:pPr indent="0" lvl="0" marL="0" rtl="0" algn="l">
              <a:spcBef>
                <a:spcPts val="0"/>
              </a:spcBef>
              <a:spcAft>
                <a:spcPts val="0"/>
              </a:spcAft>
              <a:buNone/>
            </a:pPr>
            <a:r>
              <a:rPr lang="en"/>
              <a:t>• But it can be broken down into smaller, or simpler versions of itself.</a:t>
            </a:r>
            <a:endParaRPr/>
          </a:p>
          <a:p>
            <a:pPr indent="0" lvl="0" marL="0" rtl="0" algn="l">
              <a:spcBef>
                <a:spcPts val="0"/>
              </a:spcBef>
              <a:spcAft>
                <a:spcPts val="0"/>
              </a:spcAft>
              <a:buNone/>
            </a:pPr>
            <a:r>
              <a:rPr lang="en"/>
              <a:t>• The same process applies to the original problem, and to the progressively smaller/simpler</a:t>
            </a:r>
            <a:endParaRPr/>
          </a:p>
          <a:p>
            <a:pPr indent="0" lvl="0" marL="0" rtl="0" algn="l">
              <a:spcBef>
                <a:spcPts val="0"/>
              </a:spcBef>
              <a:spcAft>
                <a:spcPts val="0"/>
              </a:spcAft>
              <a:buNone/>
            </a:pPr>
            <a:r>
              <a:rPr lang="en"/>
              <a:t>instances of it.</a:t>
            </a:r>
            <a:endParaRPr/>
          </a:p>
          <a:p>
            <a:pPr indent="0" lvl="0" marL="0" rtl="0" algn="l">
              <a:spcBef>
                <a:spcPts val="0"/>
              </a:spcBef>
              <a:spcAft>
                <a:spcPts val="0"/>
              </a:spcAft>
              <a:buNone/>
            </a:pPr>
            <a:r>
              <a:rPr lang="en"/>
              <a:t>• At some point, the solution to one of the small problems becomes easy to compute, we can stop breaking down into smaller problems and simply return the solution.</a:t>
            </a:r>
            <a:endParaRPr/>
          </a:p>
          <a:p>
            <a:pPr indent="0" lvl="0" marL="0" rtl="0" algn="l">
              <a:spcBef>
                <a:spcPts val="0"/>
              </a:spcBef>
              <a:spcAft>
                <a:spcPts val="0"/>
              </a:spcAft>
              <a:buNone/>
            </a:pPr>
            <a:r>
              <a:rPr lang="en"/>
              <a:t>• The process now goes back building a solution for larger and more complicated subproblems until the original problem is solved.</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1e308648e1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1e308648e1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now you should have an intuitive understanding of the following general principles that are part of every recursive problem, and will therefore form the basis of coming up with a recursive solution to any of these problems: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Because of the properties noted above, we can say that every recursive solution to a problem will have the following components:</a:t>
            </a:r>
            <a:endParaRPr/>
          </a:p>
          <a:p>
            <a:pPr indent="0" lvl="0" marL="0" rtl="0" algn="l">
              <a:spcBef>
                <a:spcPts val="0"/>
              </a:spcBef>
              <a:spcAft>
                <a:spcPts val="0"/>
              </a:spcAft>
              <a:buClr>
                <a:schemeClr val="dk1"/>
              </a:buClr>
              <a:buSzPts val="1100"/>
              <a:buFont typeface="Arial"/>
              <a:buNone/>
            </a:pPr>
            <a:r>
              <a:rPr lang="en"/>
              <a:t>1. A Base Case: This represents the simplest (trivial) form of the problem being solve, for which the answer can be computed and returned without additional recursion.</a:t>
            </a:r>
            <a:endParaRPr/>
          </a:p>
          <a:p>
            <a:pPr indent="0" lvl="0" marL="0" rtl="0" algn="l">
              <a:spcBef>
                <a:spcPts val="0"/>
              </a:spcBef>
              <a:spcAft>
                <a:spcPts val="0"/>
              </a:spcAft>
              <a:buClr>
                <a:schemeClr val="dk1"/>
              </a:buClr>
              <a:buSzPts val="1100"/>
              <a:buFont typeface="Arial"/>
              <a:buNone/>
            </a:pPr>
            <a:r>
              <a:rPr lang="en"/>
              <a:t>Examples:</a:t>
            </a:r>
            <a:endParaRPr/>
          </a:p>
          <a:p>
            <a:pPr indent="0" lvl="0" marL="0" rtl="0" algn="l">
              <a:spcBef>
                <a:spcPts val="0"/>
              </a:spcBef>
              <a:spcAft>
                <a:spcPts val="0"/>
              </a:spcAft>
              <a:buClr>
                <a:schemeClr val="dk1"/>
              </a:buClr>
              <a:buSzPts val="1100"/>
              <a:buFont typeface="Arial"/>
              <a:buNone/>
            </a:pPr>
            <a:r>
              <a:rPr lang="en"/>
              <a:t>• For strings, the base case often is an empty string, or a string with one char</a:t>
            </a:r>
            <a:endParaRPr/>
          </a:p>
          <a:p>
            <a:pPr indent="0" lvl="0" marL="0" rtl="0" algn="l">
              <a:spcBef>
                <a:spcPts val="0"/>
              </a:spcBef>
              <a:spcAft>
                <a:spcPts val="0"/>
              </a:spcAft>
              <a:buClr>
                <a:schemeClr val="dk1"/>
              </a:buClr>
              <a:buSzPts val="1100"/>
              <a:buFont typeface="Arial"/>
              <a:buNone/>
            </a:pPr>
            <a:r>
              <a:rPr lang="en"/>
              <a:t>• For numeric arrays, the base case often is an array with 1 entry, or an empty array</a:t>
            </a:r>
            <a:endParaRPr/>
          </a:p>
          <a:p>
            <a:pPr indent="0" lvl="0" marL="0" rtl="0" algn="l">
              <a:spcBef>
                <a:spcPts val="0"/>
              </a:spcBef>
              <a:spcAft>
                <a:spcPts val="0"/>
              </a:spcAft>
              <a:buClr>
                <a:schemeClr val="dk1"/>
              </a:buClr>
              <a:buSzPts val="1100"/>
              <a:buFont typeface="Arial"/>
              <a:buNone/>
            </a:pPr>
            <a:r>
              <a:rPr lang="en"/>
              <a:t>• For graph problems, the base case often involves a graph with a single node, or a graph where the node being processed has a specific property (e.g. for mapping applications, it could be that the node being processed represents the location we’re looking for)</a:t>
            </a:r>
            <a:endParaRPr/>
          </a:p>
          <a:p>
            <a:pPr indent="0" lvl="0" marL="0" rtl="0" algn="l">
              <a:spcBef>
                <a:spcPts val="0"/>
              </a:spcBef>
              <a:spcAft>
                <a:spcPts val="0"/>
              </a:spcAft>
              <a:buClr>
                <a:schemeClr val="dk1"/>
              </a:buClr>
              <a:buSzPts val="1100"/>
              <a:buFont typeface="Arial"/>
              <a:buNone/>
            </a:pPr>
            <a:r>
              <a:rPr lang="en"/>
              <a:t>• For search (on lists, trees, or other data structures) the base case is often having reached an empty sub-list, or sub-tree, or having found the item we’re searching for.</a:t>
            </a:r>
            <a:endParaRPr/>
          </a:p>
          <a:p>
            <a:pPr indent="0" lvl="0" marL="0" rtl="0" algn="l">
              <a:spcBef>
                <a:spcPts val="0"/>
              </a:spcBef>
              <a:spcAft>
                <a:spcPts val="0"/>
              </a:spcAft>
              <a:buClr>
                <a:schemeClr val="dk1"/>
              </a:buClr>
              <a:buSzPts val="1100"/>
              <a:buFont typeface="Arial"/>
              <a:buNone/>
            </a:pPr>
            <a:r>
              <a:rPr lang="en"/>
              <a:t>Note: As you can see there can be several different base cases for a given problem. You have to think about all that apply to your problem – we say ‘often’ in the examples above because depending on the problem the base case may be something different. Once again you have to figure out what is appropriate given your problem. What is critical is to ensure there is a base case, otherwise your recursion will not end!</a:t>
            </a:r>
            <a:endParaRPr/>
          </a:p>
          <a:p>
            <a:pPr indent="0" lvl="0" marL="0" rtl="0" algn="l">
              <a:spcBef>
                <a:spcPts val="0"/>
              </a:spcBef>
              <a:spcAft>
                <a:spcPts val="0"/>
              </a:spcAft>
              <a:buClr>
                <a:schemeClr val="dk1"/>
              </a:buClr>
              <a:buSzPts val="1100"/>
              <a:buFont typeface="Arial"/>
              <a:buNone/>
            </a:pPr>
            <a:r>
              <a:rPr lang="en"/>
              <a:t>2. The Recursive Case: This is the general case, where we split, simplify, or otherwise make the problem smaller and closer to the base case. It</a:t>
            </a:r>
            <a:endParaRPr/>
          </a:p>
          <a:p>
            <a:pPr indent="0" lvl="0" marL="0" rtl="0" algn="l">
              <a:spcBef>
                <a:spcPts val="0"/>
              </a:spcBef>
              <a:spcAft>
                <a:spcPts val="0"/>
              </a:spcAft>
              <a:buClr>
                <a:schemeClr val="dk1"/>
              </a:buClr>
              <a:buSzPts val="1100"/>
              <a:buFont typeface="Arial"/>
              <a:buNone/>
            </a:pPr>
            <a:r>
              <a:rPr lang="en"/>
              <a:t>involves thinking about how to break down a given problem, and involves recursively calling the function with the smaller sub- problem(s). The recursive case implementation is also responsible for re-constructing the solution for the original problem from solutions for the smaller, simpler sub-problems.</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1e308648e1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1e308648e1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r>
            <a:endParaRPr/>
          </a:p>
          <a:p>
            <a:pPr indent="0" lvl="0" marL="0" rtl="0" algn="l">
              <a:spcBef>
                <a:spcPts val="0"/>
              </a:spcBef>
              <a:spcAft>
                <a:spcPts val="0"/>
              </a:spcAft>
              <a:buClr>
                <a:schemeClr val="dk1"/>
              </a:buClr>
              <a:buSzPts val="1100"/>
              <a:buFont typeface="Arial"/>
              <a:buNone/>
            </a:pPr>
            <a:r>
              <a:rPr lang="en"/>
              <a:t>at should the the base case for this problem? How many different base cases are there?</a:t>
            </a:r>
            <a:endParaRPr/>
          </a:p>
          <a:p>
            <a:pPr indent="0" lvl="0" marL="0" rtl="0" algn="l">
              <a:spcBef>
                <a:spcPts val="0"/>
              </a:spcBef>
              <a:spcAft>
                <a:spcPts val="0"/>
              </a:spcAft>
              <a:buClr>
                <a:schemeClr val="dk1"/>
              </a:buClr>
              <a:buSzPts val="1100"/>
              <a:buFont typeface="Arial"/>
              <a:buNone/>
            </a:pPr>
            <a:r>
              <a:rPr lang="en"/>
              <a:t>Have you found all of them?</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1e308648e1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1e308648e1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This is a very short array, but you know that you should have in the back of your mind the consideration of the complexity of your solution for very large arrays.</a:t>
            </a:r>
            <a:endParaRPr/>
          </a:p>
          <a:p>
            <a:pPr indent="0" lvl="0" marL="0" rtl="0" algn="l">
              <a:spcBef>
                <a:spcPts val="0"/>
              </a:spcBef>
              <a:spcAft>
                <a:spcPts val="0"/>
              </a:spcAft>
              <a:buClr>
                <a:schemeClr val="dk1"/>
              </a:buClr>
              <a:buSzPts val="1100"/>
              <a:buFont typeface="Arial"/>
              <a:buNone/>
            </a:pPr>
            <a:r>
              <a:rPr lang="en"/>
              <a:t>What is the base case?</a:t>
            </a:r>
            <a:endParaRPr/>
          </a:p>
          <a:p>
            <a:pPr indent="0" lvl="0" marL="0" rtl="0" algn="l">
              <a:spcBef>
                <a:spcPts val="0"/>
              </a:spcBef>
              <a:spcAft>
                <a:spcPts val="0"/>
              </a:spcAft>
              <a:buClr>
                <a:schemeClr val="dk1"/>
              </a:buClr>
              <a:buSzPts val="1100"/>
              <a:buFont typeface="Arial"/>
              <a:buNone/>
            </a:pPr>
            <a:r>
              <a:rPr lang="en"/>
              <a:t>The base case for sorting arrays is either an empty array, or an array with one value. Both of these cases are already in sorted order. You can easily come up with examples that show that a 2-entry array is not in sorted order.</a:t>
            </a:r>
            <a:endParaRPr/>
          </a:p>
          <a:p>
            <a:pPr indent="0" lvl="0" marL="0" rtl="0" algn="l">
              <a:spcBef>
                <a:spcPts val="0"/>
              </a:spcBef>
              <a:spcAft>
                <a:spcPts val="0"/>
              </a:spcAft>
              <a:buClr>
                <a:schemeClr val="dk1"/>
              </a:buClr>
              <a:buSzPts val="1100"/>
              <a:buFont typeface="Arial"/>
              <a:buNone/>
            </a:pPr>
            <a:r>
              <a:rPr lang="en"/>
              <a:t>How about the recursive case?</a:t>
            </a:r>
            <a:endParaRPr/>
          </a:p>
          <a:p>
            <a:pPr indent="0" lvl="0" marL="0" rtl="0" algn="l">
              <a:spcBef>
                <a:spcPts val="0"/>
              </a:spcBef>
              <a:spcAft>
                <a:spcPts val="0"/>
              </a:spcAft>
              <a:buClr>
                <a:schemeClr val="dk1"/>
              </a:buClr>
              <a:buSzPts val="1100"/>
              <a:buFont typeface="Arial"/>
              <a:buNone/>
            </a:pPr>
            <a:r>
              <a:rPr lang="en"/>
              <a:t>As noted above, there are many ways in which we could split our problem into sub-problems that are closer to the base case. We also said that depending on the choice we will end up with simpler/more intuitive solutions, or with more complex solutions. And that the different possibilities may result in algorithms that are less or more efficient.</a:t>
            </a:r>
            <a:endParaRPr/>
          </a:p>
          <a:p>
            <a:pPr indent="0" lvl="0" marL="0" rtl="0" algn="l">
              <a:spcBef>
                <a:spcPts val="0"/>
              </a:spcBef>
              <a:spcAft>
                <a:spcPts val="0"/>
              </a:spcAft>
              <a:buClr>
                <a:schemeClr val="dk1"/>
              </a:buClr>
              <a:buSzPts val="1100"/>
              <a:buFont typeface="Arial"/>
              <a:buNone/>
            </a:pPr>
            <a:r>
              <a:rPr lang="en"/>
              <a:t>Let’s have a look at three different ways we could split the problem of sorting an array, each of which leads to a different sorting method. We will spend a moment thinking about the complexity of our sorting process for each of the proposed recursive cases, and this will help you understand and remember that you have to think very carefully about what’s the appropriate way to split the problem you need to solve.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1e308648e1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1e308648e1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Solution Idea</a:t>
            </a:r>
            <a:endParaRPr/>
          </a:p>
          <a:p>
            <a:pPr indent="0" lvl="0" marL="0" rtl="0" algn="l">
              <a:spcBef>
                <a:spcPts val="0"/>
              </a:spcBef>
              <a:spcAft>
                <a:spcPts val="0"/>
              </a:spcAft>
              <a:buClr>
                <a:schemeClr val="dk1"/>
              </a:buClr>
              <a:buSzPts val="1100"/>
              <a:buFont typeface="Arial"/>
              <a:buNone/>
            </a:pPr>
            <a:r>
              <a:rPr lang="en"/>
              <a:t>This is also an in-place comparison-based sorting algorithm. During the insertion sort algorithm, the array or list is divided into two parts: the sorted part at the left end and the unsorted part at the right end.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At each step of the iteration, we are adding one value from the unsorted part to the sorted part. or we can say that our size of the sorted part is growing by 1 after each step of iteration. Here we pick the first element of the unsorted part and find its correct place to insert in the partially sorted array.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This is an incremental design approach to solve the problem in algorithms where the partial solution is growing after each step of the iteration.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1e552a0ab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1e552a0ab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This is also an in-place comparison-based sorting algorithm. During the insertion sort algorithm, the array or list is divided into two parts: the sorted part at the left end and the unsorted part at the right end.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At each step of the iteration, we are adding one value from the unsorted part to the sorted part. or we can say that our size of the sorted part is growing by 1 after each step of iteration. Here we pick the first element of the unsorted part and find its correct place to insert in the partially sorted array.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This is an incremental design approach to solve the problem in algorithms where the partial solution is growing after each step of the iteration.</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1e308648e1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1e308648e1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1e308648e1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1e308648e1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1e308648e1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1e308648e1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1e308648e1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11e308648e1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1e552a0ab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1e552a0a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1e308648e1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1e308648e1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Solution</a:t>
            </a:r>
            <a:endParaRPr/>
          </a:p>
          <a:p>
            <a:pPr indent="0" lvl="0" marL="0" rtl="0" algn="l">
              <a:spcBef>
                <a:spcPts val="0"/>
              </a:spcBef>
              <a:spcAft>
                <a:spcPts val="0"/>
              </a:spcAft>
              <a:buClr>
                <a:schemeClr val="dk1"/>
              </a:buClr>
              <a:buSzPts val="1100"/>
              <a:buFont typeface="Arial"/>
              <a:buNone/>
            </a:pPr>
            <a:r>
              <a:rPr lang="en"/>
              <a:t>The problem expects us to sort an array using Insertion sort and we have to do it recursively. You can read about insertion sort here.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Now, we know that Recursion is made for solving problems that can be broken down into smaller, repetitive problems. In this case, we can define our smaller problems in this way “we have a sorted array and now we have to insert a number in that sorted array”.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Now, every recursive function requires a base case for its termination. In this case, we can say that if the array is of size 1, then the array is already sorted and we can simply return from there.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Now, the problem is to find a way to insert a value in a sorted array and that can be done as shown in the above visualization. We will simply shift the array elements to find the right position for the new element. As soon as we place the new element in its correct position, our sorted array size will increase by one.</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11e552a0ab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11e552a0ab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11e308648e1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11e308648e1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11e9b10c4fc_0_1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11e9b10c4fc_0_1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11e552a0ab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11e552a0ab0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also an in-place comparison-based sorting algorithm. During the insertion sort algorithm, the array or list is divided into two parts: the sorted part at the left end and the unsorted part at the right end.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each step of the iteration, we are adding one value from the unsorted part to the sorted part. or we can say that our size of the sorted part is growing by 1 after each step of iteration. Here we pick the first element of the unsorted part and find its correct place to insert in the partially sorted array.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an incremental design approach to solve the problem in algorithms where the partial solution is growing after each step of the iteration.</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11e9b10c4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11e9b10c4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11e552a0ab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11e552a0ab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11e552a0ab0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11e552a0ab0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Some algorithms have terrible worst-case times, but: </a:t>
            </a:r>
            <a:endParaRPr/>
          </a:p>
          <a:p>
            <a:pPr indent="0" lvl="0" marL="457200" rtl="0" algn="l">
              <a:spcBef>
                <a:spcPts val="0"/>
              </a:spcBef>
              <a:spcAft>
                <a:spcPts val="0"/>
              </a:spcAft>
              <a:buClr>
                <a:schemeClr val="dk1"/>
              </a:buClr>
              <a:buSzPts val="1100"/>
              <a:buFont typeface="Arial"/>
              <a:buNone/>
            </a:pPr>
            <a:r>
              <a:rPr lang="en"/>
              <a:t>on random input, they are fast on average </a:t>
            </a:r>
            <a:endParaRPr/>
          </a:p>
          <a:p>
            <a:pPr indent="0" lvl="0" marL="457200" rtl="0" algn="l">
              <a:spcBef>
                <a:spcPts val="0"/>
              </a:spcBef>
              <a:spcAft>
                <a:spcPts val="0"/>
              </a:spcAft>
              <a:buClr>
                <a:schemeClr val="dk1"/>
              </a:buClr>
              <a:buSzPts val="1100"/>
              <a:buFont typeface="Arial"/>
              <a:buNone/>
            </a:pPr>
            <a:r>
              <a:rPr lang="en"/>
              <a:t>or, they contain randomizing steps, and are fast on average </a:t>
            </a:r>
            <a:endParaRPr/>
          </a:p>
          <a:p>
            <a:pPr indent="0" lvl="0" marL="0" rtl="0" algn="l">
              <a:spcBef>
                <a:spcPts val="0"/>
              </a:spcBef>
              <a:spcAft>
                <a:spcPts val="0"/>
              </a:spcAft>
              <a:buClr>
                <a:schemeClr val="dk1"/>
              </a:buClr>
              <a:buSzPts val="1100"/>
              <a:buFont typeface="Arial"/>
              <a:buNone/>
            </a:pPr>
            <a:r>
              <a:rPr lang="en"/>
              <a:t>We will study their “average case” times</a:t>
            </a:r>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11e9b10c4fc_0_1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11e9b10c4fc_0_1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Some algorithms have terrible worst-case times, but: </a:t>
            </a:r>
            <a:endParaRPr/>
          </a:p>
          <a:p>
            <a:pPr indent="0" lvl="0" marL="457200" rtl="0" algn="l">
              <a:spcBef>
                <a:spcPts val="0"/>
              </a:spcBef>
              <a:spcAft>
                <a:spcPts val="0"/>
              </a:spcAft>
              <a:buClr>
                <a:schemeClr val="dk1"/>
              </a:buClr>
              <a:buSzPts val="1100"/>
              <a:buFont typeface="Arial"/>
              <a:buNone/>
            </a:pPr>
            <a:r>
              <a:rPr lang="en"/>
              <a:t>on random input, they are fast on average </a:t>
            </a:r>
            <a:endParaRPr/>
          </a:p>
          <a:p>
            <a:pPr indent="0" lvl="0" marL="457200" rtl="0" algn="l">
              <a:spcBef>
                <a:spcPts val="0"/>
              </a:spcBef>
              <a:spcAft>
                <a:spcPts val="0"/>
              </a:spcAft>
              <a:buClr>
                <a:schemeClr val="dk1"/>
              </a:buClr>
              <a:buSzPts val="1100"/>
              <a:buFont typeface="Arial"/>
              <a:buNone/>
            </a:pPr>
            <a:r>
              <a:rPr lang="en"/>
              <a:t>or, they contain randomizing steps, and are fast on average </a:t>
            </a:r>
            <a:endParaRPr/>
          </a:p>
          <a:p>
            <a:pPr indent="0" lvl="0" marL="0" rtl="0" algn="l">
              <a:spcBef>
                <a:spcPts val="0"/>
              </a:spcBef>
              <a:spcAft>
                <a:spcPts val="0"/>
              </a:spcAft>
              <a:buClr>
                <a:schemeClr val="dk1"/>
              </a:buClr>
              <a:buSzPts val="1100"/>
              <a:buFont typeface="Arial"/>
              <a:buNone/>
            </a:pPr>
            <a:r>
              <a:rPr lang="en"/>
              <a:t>We will study their “average case” times</a:t>
            </a:r>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11e552a0ab0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11e552a0ab0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Quicksort is an algorithm that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Some algorithms have terrible worst-case times, but: </a:t>
            </a:r>
            <a:endParaRPr/>
          </a:p>
          <a:p>
            <a:pPr indent="0" lvl="0" marL="457200" rtl="0" algn="l">
              <a:spcBef>
                <a:spcPts val="0"/>
              </a:spcBef>
              <a:spcAft>
                <a:spcPts val="0"/>
              </a:spcAft>
              <a:buClr>
                <a:schemeClr val="dk1"/>
              </a:buClr>
              <a:buSzPts val="1100"/>
              <a:buFont typeface="Arial"/>
              <a:buNone/>
            </a:pPr>
            <a:r>
              <a:rPr lang="en"/>
              <a:t>on random input, they are fast on average </a:t>
            </a:r>
            <a:endParaRPr/>
          </a:p>
          <a:p>
            <a:pPr indent="0" lvl="0" marL="457200" rtl="0" algn="l">
              <a:spcBef>
                <a:spcPts val="0"/>
              </a:spcBef>
              <a:spcAft>
                <a:spcPts val="0"/>
              </a:spcAft>
              <a:buClr>
                <a:schemeClr val="dk1"/>
              </a:buClr>
              <a:buSzPts val="1100"/>
              <a:buFont typeface="Arial"/>
              <a:buNone/>
            </a:pPr>
            <a:r>
              <a:rPr lang="en"/>
              <a:t>or, they contain randomizing steps, and are fast on average </a:t>
            </a:r>
            <a:endParaRPr/>
          </a:p>
          <a:p>
            <a:pPr indent="0" lvl="0" marL="0" rtl="0" algn="l">
              <a:spcBef>
                <a:spcPts val="0"/>
              </a:spcBef>
              <a:spcAft>
                <a:spcPts val="0"/>
              </a:spcAft>
              <a:buClr>
                <a:schemeClr val="dk1"/>
              </a:buClr>
              <a:buSzPts val="1100"/>
              <a:buFont typeface="Arial"/>
              <a:buNone/>
            </a:pPr>
            <a:r>
              <a:rPr lang="en"/>
              <a:t>We will study their “average case” times</a:t>
            </a:r>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11e552a0ab0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11e552a0ab0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Quicksort is an algorithm that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Some algorithms have terrible worst-case times, but: </a:t>
            </a:r>
            <a:endParaRPr/>
          </a:p>
          <a:p>
            <a:pPr indent="0" lvl="0" marL="457200" rtl="0" algn="l">
              <a:spcBef>
                <a:spcPts val="0"/>
              </a:spcBef>
              <a:spcAft>
                <a:spcPts val="0"/>
              </a:spcAft>
              <a:buClr>
                <a:schemeClr val="dk1"/>
              </a:buClr>
              <a:buSzPts val="1100"/>
              <a:buFont typeface="Arial"/>
              <a:buNone/>
            </a:pPr>
            <a:r>
              <a:rPr lang="en"/>
              <a:t>on random input, they are fast on average </a:t>
            </a:r>
            <a:endParaRPr/>
          </a:p>
          <a:p>
            <a:pPr indent="0" lvl="0" marL="457200" rtl="0" algn="l">
              <a:spcBef>
                <a:spcPts val="0"/>
              </a:spcBef>
              <a:spcAft>
                <a:spcPts val="0"/>
              </a:spcAft>
              <a:buClr>
                <a:schemeClr val="dk1"/>
              </a:buClr>
              <a:buSzPts val="1100"/>
              <a:buFont typeface="Arial"/>
              <a:buNone/>
            </a:pPr>
            <a:r>
              <a:rPr lang="en"/>
              <a:t>or, they contain randomizing steps, and are fast on average </a:t>
            </a:r>
            <a:endParaRPr/>
          </a:p>
          <a:p>
            <a:pPr indent="0" lvl="0" marL="0" rtl="0" algn="l">
              <a:spcBef>
                <a:spcPts val="0"/>
              </a:spcBef>
              <a:spcAft>
                <a:spcPts val="0"/>
              </a:spcAft>
              <a:buClr>
                <a:schemeClr val="dk1"/>
              </a:buClr>
              <a:buSzPts val="1100"/>
              <a:buFont typeface="Arial"/>
              <a:buNone/>
            </a:pPr>
            <a:r>
              <a:rPr lang="en"/>
              <a:t>We will study their “average case” times</a:t>
            </a:r>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11e552a0ab0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11e552a0ab0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Some algorithms have terrible worst-case times, but: </a:t>
            </a:r>
            <a:endParaRPr/>
          </a:p>
          <a:p>
            <a:pPr indent="0" lvl="0" marL="457200" rtl="0" algn="l">
              <a:spcBef>
                <a:spcPts val="0"/>
              </a:spcBef>
              <a:spcAft>
                <a:spcPts val="0"/>
              </a:spcAft>
              <a:buClr>
                <a:schemeClr val="dk1"/>
              </a:buClr>
              <a:buSzPts val="1100"/>
              <a:buFont typeface="Arial"/>
              <a:buNone/>
            </a:pPr>
            <a:r>
              <a:rPr lang="en"/>
              <a:t>on random input, they are fast on average </a:t>
            </a:r>
            <a:endParaRPr/>
          </a:p>
          <a:p>
            <a:pPr indent="0" lvl="0" marL="457200" rtl="0" algn="l">
              <a:spcBef>
                <a:spcPts val="0"/>
              </a:spcBef>
              <a:spcAft>
                <a:spcPts val="0"/>
              </a:spcAft>
              <a:buClr>
                <a:schemeClr val="dk1"/>
              </a:buClr>
              <a:buSzPts val="1100"/>
              <a:buFont typeface="Arial"/>
              <a:buNone/>
            </a:pPr>
            <a:r>
              <a:rPr lang="en"/>
              <a:t>or, they contain randomizing steps, and are fast on average </a:t>
            </a:r>
            <a:endParaRPr/>
          </a:p>
          <a:p>
            <a:pPr indent="0" lvl="0" marL="0" rtl="0" algn="l">
              <a:spcBef>
                <a:spcPts val="0"/>
              </a:spcBef>
              <a:spcAft>
                <a:spcPts val="0"/>
              </a:spcAft>
              <a:buClr>
                <a:schemeClr val="dk1"/>
              </a:buClr>
              <a:buSzPts val="1100"/>
              <a:buFont typeface="Arial"/>
              <a:buNone/>
            </a:pPr>
            <a:r>
              <a:rPr lang="en"/>
              <a:t>We will study their “average case” times</a:t>
            </a:r>
            <a:endParaRPr/>
          </a:p>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11e552a0ab0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11e552a0ab0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Some algorithms have terrible worst-case times, but: </a:t>
            </a:r>
            <a:endParaRPr/>
          </a:p>
          <a:p>
            <a:pPr indent="0" lvl="0" marL="457200" rtl="0" algn="l">
              <a:spcBef>
                <a:spcPts val="0"/>
              </a:spcBef>
              <a:spcAft>
                <a:spcPts val="0"/>
              </a:spcAft>
              <a:buClr>
                <a:schemeClr val="dk1"/>
              </a:buClr>
              <a:buSzPts val="1100"/>
              <a:buFont typeface="Arial"/>
              <a:buNone/>
            </a:pPr>
            <a:r>
              <a:rPr lang="en"/>
              <a:t>on random input, they are fast on average </a:t>
            </a:r>
            <a:endParaRPr/>
          </a:p>
          <a:p>
            <a:pPr indent="0" lvl="0" marL="457200" rtl="0" algn="l">
              <a:spcBef>
                <a:spcPts val="0"/>
              </a:spcBef>
              <a:spcAft>
                <a:spcPts val="0"/>
              </a:spcAft>
              <a:buClr>
                <a:schemeClr val="dk1"/>
              </a:buClr>
              <a:buSzPts val="1100"/>
              <a:buFont typeface="Arial"/>
              <a:buNone/>
            </a:pPr>
            <a:r>
              <a:rPr lang="en"/>
              <a:t>or, they contain randomizing steps, and are fast on average </a:t>
            </a:r>
            <a:endParaRPr/>
          </a:p>
          <a:p>
            <a:pPr indent="0" lvl="0" marL="0" rtl="0" algn="l">
              <a:spcBef>
                <a:spcPts val="0"/>
              </a:spcBef>
              <a:spcAft>
                <a:spcPts val="0"/>
              </a:spcAft>
              <a:buClr>
                <a:schemeClr val="dk1"/>
              </a:buClr>
              <a:buSzPts val="1100"/>
              <a:buFont typeface="Arial"/>
              <a:buNone/>
            </a:pPr>
            <a:r>
              <a:rPr lang="en"/>
              <a:t>We will study their “average case” times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Empirically we consider not worst, not best but average case which ends up as nlog n</a:t>
            </a:r>
            <a:endParaRPr/>
          </a:p>
          <a:p>
            <a:pPr indent="0" lvl="0" marL="0" rtl="0" algn="l">
              <a:spcBef>
                <a:spcPts val="0"/>
              </a:spcBef>
              <a:spcAft>
                <a:spcPts val="0"/>
              </a:spcAft>
              <a:buNone/>
            </a:pPr>
            <a:r>
              <a:rPr lang="en"/>
              <a:t>Rigorous proof requires probability theory, calculus. But intuition and empirical analysis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As we discussed in the previous unit, quicksort has an average complexity of O(NLog(N)). If we’re not unlucky with our choice of pivots, each split creates sub arrays that are roughly of equal size. In that case, we can expect to need approximately Log2(N) splits for the recursion to bottom out with all sub-arrays at the base case. For each level of splitting, we have to put a total of N elements into their corresponding sub array, so the cost of the splitting step is O(NLog(N)). The merging step then has to put sorted sub arrays back together – There are on average Log(N) levels, and at each level, a total of N elements must be put into bigger sorted arrays, this takes O(N) time per level. Therefore, the complexity of the merging step is on average O(NLog(N)). And the total complexity of quicksort is O(NLog(N)) on average.</a:t>
            </a:r>
            <a:endParaRPr/>
          </a:p>
          <a:p>
            <a:pPr indent="0" lvl="0" marL="0" rtl="0" algn="l">
              <a:spcBef>
                <a:spcPts val="0"/>
              </a:spcBef>
              <a:spcAft>
                <a:spcPts val="0"/>
              </a:spcAft>
              <a:buClr>
                <a:schemeClr val="dk1"/>
              </a:buClr>
              <a:buSzPts val="1100"/>
              <a:buFont typeface="Arial"/>
              <a:buNone/>
            </a:pPr>
            <a:r>
              <a:rPr lang="en"/>
              <a:t>We also saw that if we’re unlucky with out choice of pivot, the splitting process puts every entry except for the pivot on one sub-array, and just the pivot in the other. If this happens at every step, the process will be identical to what we got from recursive case 1) and we’re looking at a complexity of O(N2). Insertion sort again!</a:t>
            </a:r>
            <a:endParaRPr/>
          </a:p>
          <a:p>
            <a:pPr indent="0" lvl="0" marL="0" rtl="0" algn="l">
              <a:spcBef>
                <a:spcPts val="0"/>
              </a:spcBef>
              <a:spcAft>
                <a:spcPts val="0"/>
              </a:spcAft>
              <a:buClr>
                <a:schemeClr val="dk1"/>
              </a:buClr>
              <a:buSzPts val="1100"/>
              <a:buFont typeface="Arial"/>
              <a:buNone/>
            </a:pPr>
            <a:r>
              <a:rPr lang="en"/>
              <a:t>So recursive case 2) is much better than recursive case 1) ON AVERAGE. But we still need to worry about the potential for slowdowns with an unlucky input array.</a:t>
            </a:r>
            <a:endParaRPr/>
          </a:p>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11e9b10c4f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11e9b10c4f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11e852dd0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11e852dd0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11e9b10c4fc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11e9b10c4fc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11e852dd0d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9" name="Google Shape;989;g11e852dd0d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11efa30983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0" name="Google Shape;1080;g11efa30983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11e9b10c4fc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7" name="Google Shape;1087;g11e9b10c4fc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11e852dd0de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11e852dd0d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Recursion requires that a function call itself a (possibly large) number of times. Remember from all the time we spent looking at the memory model in Unit 2, that every time we call a function, space has to be reserved for the function’s parameters, variables, and return value. In non-recursive code, we don’t usually worry about it because we know that after a function is called, its work completed, and a return value obtained, all the space reserved for the function is released.</a:t>
            </a:r>
            <a:endParaRPr/>
          </a:p>
          <a:p>
            <a:pPr indent="0" lvl="0" marL="0" rtl="0" algn="l">
              <a:spcBef>
                <a:spcPts val="0"/>
              </a:spcBef>
              <a:spcAft>
                <a:spcPts val="0"/>
              </a:spcAft>
              <a:buClr>
                <a:schemeClr val="dk1"/>
              </a:buClr>
              <a:buSzPts val="1100"/>
              <a:buFont typeface="Arial"/>
              <a:buNone/>
            </a:pPr>
            <a:r>
              <a:rPr lang="en"/>
              <a:t>However, with recursive code this is tricky – all the space reserved will eventually be released, but not until each recursive call is completed. What that means is space reserved for function calls early in the recursive process will hang around until it receives results from the recursive calls it launched.</a:t>
            </a:r>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11e852dd0d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11e852dd0d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function takes an input array, and recursively computes the sum of its elements. </a:t>
            </a:r>
            <a:endParaRPr/>
          </a:p>
          <a:p>
            <a:pPr indent="0" lvl="0" marL="0" rtl="0" algn="l">
              <a:spcBef>
                <a:spcPts val="0"/>
              </a:spcBef>
              <a:spcAft>
                <a:spcPts val="0"/>
              </a:spcAft>
              <a:buClr>
                <a:schemeClr val="dk1"/>
              </a:buClr>
              <a:buSzPts val="1100"/>
              <a:buFont typeface="Arial"/>
              <a:buNone/>
            </a:pPr>
            <a:r>
              <a:rPr lang="en"/>
              <a:t>The base case is an array with a single entry in which case the sum is simply the value for that element (if we’re careful, we also need to add a case where the array is empty, in which case the sum is zero).</a:t>
            </a:r>
            <a:endParaRPr/>
          </a:p>
          <a:p>
            <a:pPr indent="0" lvl="0" marL="0" rtl="0" algn="l">
              <a:spcBef>
                <a:spcPts val="0"/>
              </a:spcBef>
              <a:spcAft>
                <a:spcPts val="0"/>
              </a:spcAft>
              <a:buNone/>
            </a:pPr>
            <a:r>
              <a:rPr lang="en"/>
              <a:t>The input parameter n is used to indicate the part of the array the function is adding – it starts at the index of the last element in the array, and with each recursively call, decreases by one. This ensures that we get closer to the base case. Once the base case is reached, the recursion rebuilds the sum from the first element back to the last.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computer needs to keep track of both of them. This is done by using a stack. A stack is nothing more than an array that has the particular property that we fill it up from the end and work out way backwards – the end of the array is called the bottom of the stack and the beginning of the array is called the top of the stack. In our example above, somewhere in memory we will have the following information in the stack:</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11e852dd0d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11e852dd0d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You should keep the above diagram in mind - it shows that if you’re not careful with recursion, and if you don’t write your code keeping in mind how many parameters and variables you actually need, you can quickly run into memory problems by using up all the stack space reserved for your program.</a:t>
            </a:r>
            <a:endParaRPr/>
          </a:p>
          <a:p>
            <a:pPr indent="0" lvl="0" marL="0" rtl="0" algn="l">
              <a:spcBef>
                <a:spcPts val="0"/>
              </a:spcBef>
              <a:spcAft>
                <a:spcPts val="0"/>
              </a:spcAft>
              <a:buClr>
                <a:schemeClr val="dk1"/>
              </a:buClr>
              <a:buSzPts val="1100"/>
              <a:buFont typeface="Arial"/>
              <a:buNone/>
            </a:pPr>
            <a:r>
              <a:rPr lang="en"/>
              <a:t>It should also make you think of the overhead caused by reserving all that memory and passing parameters and return values around during a sequence of recursive calls. Carelessly written recursive code can be quite inefficient because of all that overhead.</a:t>
            </a:r>
            <a:endParaRPr/>
          </a:p>
          <a:p>
            <a:pPr indent="0" lvl="0" marL="0" rtl="0" algn="l">
              <a:spcBef>
                <a:spcPts val="0"/>
              </a:spcBef>
              <a:spcAft>
                <a:spcPts val="0"/>
              </a:spcAft>
              <a:buClr>
                <a:schemeClr val="dk1"/>
              </a:buClr>
              <a:buSzPts val="1100"/>
              <a:buFont typeface="Arial"/>
              <a:buNone/>
            </a:pPr>
            <a:r>
              <a:rPr lang="en"/>
              <a:t>However, if we are smart and write our code properly, we can take advantage of a technique called tail-recursion, or tail-recursive optimization.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11e852dd0d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8" name="Google Shape;1138;g11e852dd0d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 the example above, the ‘Sum()’ function reconstructs the result we want from the partial sums returned by recursive calls – the last recursive call (the one that reaches the base case) returns a value, which then is used to compute and return the next partial sum, which then is used to compute and return the next partial sum, and so on all the way back to the first call to ‘Sum()’ which computes and returns the final sum value.</a:t>
            </a:r>
            <a:endParaRPr/>
          </a:p>
          <a:p>
            <a:pPr indent="0" lvl="0" marL="0" rtl="0" algn="l">
              <a:spcBef>
                <a:spcPts val="0"/>
              </a:spcBef>
              <a:spcAft>
                <a:spcPts val="0"/>
              </a:spcAft>
              <a:buNone/>
            </a:pPr>
            <a:r>
              <a:rPr lang="en"/>
              <a:t> This line of pseudocode takes care of this part: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thing to notice is that once the recursive call to ‘sum()’ returns a value, we still need to add array[n] before we can return from the current call. Because the function still has work to do after the recursive call is complete, we need to have access to the local variables and parameters for this function call (which, as we know, are stored in the stack).</a:t>
            </a:r>
            <a:endParaRPr/>
          </a:p>
          <a:p>
            <a:pPr indent="0" lvl="0" marL="0" rtl="0" algn="l">
              <a:spcBef>
                <a:spcPts val="0"/>
              </a:spcBef>
              <a:spcAft>
                <a:spcPts val="0"/>
              </a:spcAft>
              <a:buNone/>
            </a:pPr>
            <a:r>
              <a:rPr lang="en"/>
              <a:t>However, we could achieve the same result in a slightly different way. Instead of having the sum of the array be re-constructed backward from each successive recursive call, we could pass the partial sums forward into the recursion – so that the final recursive call (the one that hits the base case) can compute the final sum value and simply return it!</a:t>
            </a:r>
            <a:endParaRPr/>
          </a:p>
          <a:p>
            <a:pPr indent="0" lvl="0" marL="0" rtl="0" algn="l">
              <a:spcBef>
                <a:spcPts val="0"/>
              </a:spcBef>
              <a:spcAft>
                <a:spcPts val="0"/>
              </a:spcAft>
              <a:buNone/>
            </a:pPr>
            <a:r>
              <a:rPr lang="en"/>
              <a:t>Let’s have a look at how we could write the sum function in that way: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this version, the function returns the result from the recursive call directly – it doesn’t need to do any further operation or compute any further value before it can return. Put in a different way, the recursive call is the last thing the function does before returning a result. We call this form of recursion Tail Recursion.</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11e9b10c4fc_0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9" name="Google Shape;1159;g11e9b10c4fc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call reaches the base case, and returns the final value, array[0] + part sum = 29. Notice that now we don’t have to go back up the stack re-building the solution! it’s already complete the moment we reach the base case. There never was a set of active function calls in the stack. The only active call at any time is the call currently being processed.</a:t>
            </a:r>
            <a:endParaRPr/>
          </a:p>
          <a:p>
            <a:pPr indent="0" lvl="0" marL="0" rtl="0" algn="l">
              <a:spcBef>
                <a:spcPts val="0"/>
              </a:spcBef>
              <a:spcAft>
                <a:spcPts val="0"/>
              </a:spcAft>
              <a:buNone/>
            </a:pPr>
            <a:r>
              <a:rPr lang="en"/>
              <a:t>So, by changing the way we write out recursive function a little bit – in order to pass partial results forward rather than re-building from partial results backward we have achieved the following:</a:t>
            </a:r>
            <a:endParaRPr/>
          </a:p>
          <a:p>
            <a:pPr indent="0" lvl="0" marL="0" rtl="0" algn="l">
              <a:spcBef>
                <a:spcPts val="0"/>
              </a:spcBef>
              <a:spcAft>
                <a:spcPts val="0"/>
              </a:spcAft>
              <a:buNone/>
            </a:pPr>
            <a:r>
              <a:rPr lang="en"/>
              <a:t>• Our recursive call no longer takes up large amounts of stack space to keep track of all the active function calls</a:t>
            </a:r>
            <a:endParaRPr/>
          </a:p>
          <a:p>
            <a:pPr indent="0" lvl="0" marL="0" rtl="0" algn="l">
              <a:spcBef>
                <a:spcPts val="0"/>
              </a:spcBef>
              <a:spcAft>
                <a:spcPts val="0"/>
              </a:spcAft>
              <a:buNone/>
            </a:pPr>
            <a:r>
              <a:rPr lang="en"/>
              <a:t>The result is available as soon as we reach the base case</a:t>
            </a:r>
            <a:endParaRPr/>
          </a:p>
          <a:p>
            <a:pPr indent="0" lvl="0" marL="0" rtl="0" algn="l">
              <a:spcBef>
                <a:spcPts val="0"/>
              </a:spcBef>
              <a:spcAft>
                <a:spcPts val="0"/>
              </a:spcAft>
              <a:buNone/>
            </a:pPr>
            <a:r>
              <a:rPr lang="en"/>
              <a:t>Because of these two advantages, tail recursive functions can handle inputs that are much larger and require much deeper recursion to reach the base case, and we eliminate (or at least significantly reduce) the overhead of performing the recursive calls caused by all the stack management required by non-tail-recursive calls.</a:t>
            </a:r>
            <a:endParaRPr/>
          </a:p>
          <a:p>
            <a:pPr indent="0" lvl="0" marL="0" rtl="0" algn="l">
              <a:spcBef>
                <a:spcPts val="0"/>
              </a:spcBef>
              <a:spcAft>
                <a:spcPts val="0"/>
              </a:spcAft>
              <a:buNone/>
            </a:pPr>
            <a:r>
              <a:rPr lang="en"/>
              <a:t>Modern compilers are able to take advantage of recursive functions written in this way, and the resulting code is as efficient as an equivalent loop.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11e9b10c4fc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0" name="Google Shape;1180;g11e9b10c4fc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11e852dd0d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7" name="Google Shape;1187;g11e852dd0d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Any problem you can solve with iterations can also be solved with recursion, and vice-versa. Both of these are general tools for problem solving. The difference will be in how natural your solution will be, and how easy to implement, maintain, and extend once written. Choosing the right tool is important</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11e852dd0d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9" name="Google Shape;1199;g11e852dd0d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started this Unit by learning about graphs and the kinds of problems we can solve with them. We said that recursion is a natural tool for working with graphs since graphs are recursive in nature. Now that we have learned about recursion, let’s go back and solve the path-finding problem (from Artificial Intelligence) that we described above.</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11e9b10c4fc_0_1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11e9b10c4fc_0_1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Depth first Search or Depth first traversal is a recursive algorithm for searching all the vertices of a graph or tree data structure. Traversal means visiting all the nodes of a graph.</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g11e9b10c4fc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0" name="Google Shape;1270;g11e9b10c4fc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Depth first Search or Depth first traversal is a recursive algorithm for searching all the vertices of a graph or tree data structure. Traversal means visiting all the nodes of a graph.</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g11e9b10c4fc_0_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7" name="Google Shape;1397;g11e9b10c4fc_0_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Depth first Search or Depth first traversal is a recursive algorithm for searching all the vertices of a graph or tree data structure. Traversal means visiting all the nodes of a graph.</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6" name="Shape 1526"/>
        <p:cNvGrpSpPr/>
        <p:nvPr/>
      </p:nvGrpSpPr>
      <p:grpSpPr>
        <a:xfrm>
          <a:off x="0" y="0"/>
          <a:ext cx="0" cy="0"/>
          <a:chOff x="0" y="0"/>
          <a:chExt cx="0" cy="0"/>
        </a:xfrm>
      </p:grpSpPr>
      <p:sp>
        <p:nvSpPr>
          <p:cNvPr id="1527" name="Google Shape;1527;g11e9b10c4fc_0_8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8" name="Google Shape;1528;g11e9b10c4fc_0_8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main strategy of depth-first search is to explore deeper into the graph whenever possible. Depth-first search explores edges that come out of the most recently discovered vertex, ss. Only edges going to unexplored vertices are explored. When all of ss’s edges have been explored, the search backtracks until it reaches an unexplored neighbor. This process continues until all of the vertices that are reachable from the original source vertex are discovered. If there are any unvisited vertices, depth-ﬁrst search selects one of them as a new source and repeats the search from that vertex. The algorithm repeats this entire process until it has discovered every vertex. This algorithm is careful not to repeat vertices, so each vertex is explored once. DFS uses a stack data structure to keep track of vertices</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g11e9b10c4fc_0_1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7" name="Google Shape;1607;g11e9b10c4fc_0_10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main strategy of depth-first search is to explore deeper into the graph whenever possible. Depth-first search explores edges that come out of the most recently discovered vertex, ss. Only edges going to unexplored vertices are explored. When all of ss’s edges have been explored, the search backtracks until it reaches an unexplored neighbor. This process continues until all of the vertices that are reachable from the original source vertex are discovered. If there are any unvisited vertices, depth-ﬁrst search selects one of them as a new source and repeats the search from that vertex. The algorithm repeats this entire process until it has discovered every vertex. This algorithm is careful not to repeat vertices, so each vertex is explored once. DFS uses a stack data structure to keep track of vertices</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8" name="Shape 1658"/>
        <p:cNvGrpSpPr/>
        <p:nvPr/>
      </p:nvGrpSpPr>
      <p:grpSpPr>
        <a:xfrm>
          <a:off x="0" y="0"/>
          <a:ext cx="0" cy="0"/>
          <a:chOff x="0" y="0"/>
          <a:chExt cx="0" cy="0"/>
        </a:xfrm>
      </p:grpSpPr>
      <p:sp>
        <p:nvSpPr>
          <p:cNvPr id="1659" name="Google Shape;1659;g11e9b10c4fc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0" name="Google Shape;1660;g11e9b10c4fc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Testing and debugging recursive code can be tricky. But with a bit of practice, and if you think carefully about what your recursion is supposed to be doing, you’ll be able to handle any recursive function.</a:t>
            </a:r>
            <a:endParaRPr/>
          </a:p>
          <a:p>
            <a:pPr indent="0" lvl="0" marL="0" rtl="0" algn="l">
              <a:spcBef>
                <a:spcPts val="0"/>
              </a:spcBef>
              <a:spcAft>
                <a:spcPts val="0"/>
              </a:spcAft>
              <a:buNone/>
            </a:pPr>
            <a:r>
              <a:rPr lang="en"/>
              <a:t>What you need to understand before you start debugging</a:t>
            </a:r>
            <a:endParaRPr/>
          </a:p>
          <a:p>
            <a:pPr indent="0" lvl="0" marL="0" rtl="0" algn="l">
              <a:spcBef>
                <a:spcPts val="0"/>
              </a:spcBef>
              <a:spcAft>
                <a:spcPts val="0"/>
              </a:spcAft>
              <a:buNone/>
            </a:pPr>
            <a:r>
              <a:rPr lang="en"/>
              <a:t>• Your base case (review that you have every base case covered, and that they are implemented) • Your recursive case (review that the splitting is reasonable, and implemented properly)</a:t>
            </a:r>
            <a:endParaRPr/>
          </a:p>
          <a:p>
            <a:pPr indent="0" lvl="0" marL="0" rtl="0" algn="l">
              <a:spcBef>
                <a:spcPts val="0"/>
              </a:spcBef>
              <a:spcAft>
                <a:spcPts val="0"/>
              </a:spcAft>
              <a:buNone/>
            </a:pPr>
            <a:r>
              <a:rPr lang="en"/>
              <a:t>Understand how the recursive process is supposed to work, so you can determine if it is doing the right thing once you start tracing.</a:t>
            </a:r>
            <a:endParaRPr/>
          </a:p>
          <a:p>
            <a:pPr indent="0" lvl="0" marL="0" rtl="0" algn="l">
              <a:spcBef>
                <a:spcPts val="0"/>
              </a:spcBef>
              <a:spcAft>
                <a:spcPts val="0"/>
              </a:spcAft>
              <a:buNone/>
            </a:pPr>
            <a:r>
              <a:rPr lang="en"/>
              <a:t>Tracing your recursive code</a:t>
            </a:r>
            <a:endParaRPr/>
          </a:p>
          <a:p>
            <a:pPr indent="0" lvl="0" marL="0" rtl="0" algn="l">
              <a:spcBef>
                <a:spcPts val="0"/>
              </a:spcBef>
              <a:spcAft>
                <a:spcPts val="0"/>
              </a:spcAft>
              <a:buClr>
                <a:schemeClr val="dk1"/>
              </a:buClr>
              <a:buSzPts val="1100"/>
              <a:buFont typeface="Arial"/>
              <a:buNone/>
            </a:pPr>
            <a:r>
              <a:rPr lang="en"/>
              <a:t>• The tricky part here is that the same function gets called over-and-over-and-over. So you need additional information in order to figure out which of the many recursive calls is not doing the right thing, and at what point things go wrong.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6" name="Shape 1666"/>
        <p:cNvGrpSpPr/>
        <p:nvPr/>
      </p:nvGrpSpPr>
      <p:grpSpPr>
        <a:xfrm>
          <a:off x="0" y="0"/>
          <a:ext cx="0" cy="0"/>
          <a:chOff x="0" y="0"/>
          <a:chExt cx="0" cy="0"/>
        </a:xfrm>
      </p:grpSpPr>
      <p:sp>
        <p:nvSpPr>
          <p:cNvPr id="1667" name="Google Shape;1667;g11e9b10c4fc_0_1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8" name="Google Shape;1668;g11e9b10c4fc_0_1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Recursion creates a stack of function calls, so you need to print variables and parameters for each of them, and make sure that the data in each level makes sense and is correct given the level before. This is the part where you have to use your understanding of the recursive process, the base case, the recursive case, and the problem itself to figure out which part is broken, and how.</a:t>
            </a:r>
            <a:endParaRPr/>
          </a:p>
          <a:p>
            <a:pPr indent="0" lvl="0" marL="0" rtl="0" algn="l">
              <a:spcBef>
                <a:spcPts val="0"/>
              </a:spcBef>
              <a:spcAft>
                <a:spcPts val="0"/>
              </a:spcAft>
              <a:buClr>
                <a:schemeClr val="dk1"/>
              </a:buClr>
              <a:buSzPts val="1100"/>
              <a:buFont typeface="Arial"/>
              <a:buNone/>
            </a:pPr>
            <a:r>
              <a:rPr lang="en"/>
              <a:t>But you have all the information you need to do this! If this looks challenging at first, remember: like everything else we’ve been doing in this course, it’s just a skill you can and will master with practice. So, practice!</a:t>
            </a:r>
            <a:endParaRPr/>
          </a:p>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4" name="Shape 1674"/>
        <p:cNvGrpSpPr/>
        <p:nvPr/>
      </p:nvGrpSpPr>
      <p:grpSpPr>
        <a:xfrm>
          <a:off x="0" y="0"/>
          <a:ext cx="0" cy="0"/>
          <a:chOff x="0" y="0"/>
          <a:chExt cx="0" cy="0"/>
        </a:xfrm>
      </p:grpSpPr>
      <p:sp>
        <p:nvSpPr>
          <p:cNvPr id="1675" name="Google Shape;1675;g11efa30983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6" name="Google Shape;1676;g11efa30983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1" name="Shape 1681"/>
        <p:cNvGrpSpPr/>
        <p:nvPr/>
      </p:nvGrpSpPr>
      <p:grpSpPr>
        <a:xfrm>
          <a:off x="0" y="0"/>
          <a:ext cx="0" cy="0"/>
          <a:chOff x="0" y="0"/>
          <a:chExt cx="0" cy="0"/>
        </a:xfrm>
      </p:grpSpPr>
      <p:sp>
        <p:nvSpPr>
          <p:cNvPr id="1682" name="Google Shape;1682;g11efa30983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3" name="Google Shape;1683;g11efa30983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8" name="Shape 1688"/>
        <p:cNvGrpSpPr/>
        <p:nvPr/>
      </p:nvGrpSpPr>
      <p:grpSpPr>
        <a:xfrm>
          <a:off x="0" y="0"/>
          <a:ext cx="0" cy="0"/>
          <a:chOff x="0" y="0"/>
          <a:chExt cx="0" cy="0"/>
        </a:xfrm>
      </p:grpSpPr>
      <p:sp>
        <p:nvSpPr>
          <p:cNvPr id="1689" name="Google Shape;1689;g11e9b10c4fc_0_1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0" name="Google Shape;1690;g11e9b10c4fc_0_1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Week 11</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Recursion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Recursive graph search</a:t>
            </a:r>
            <a:endParaRPr/>
          </a:p>
        </p:txBody>
      </p:sp>
      <p:pic>
        <p:nvPicPr>
          <p:cNvPr id="61" name="Google Shape;61;p14"/>
          <p:cNvPicPr preferRelativeResize="0"/>
          <p:nvPr/>
        </p:nvPicPr>
        <p:blipFill>
          <a:blip r:embed="rId3">
            <a:alphaModFix/>
          </a:blip>
          <a:stretch>
            <a:fillRect/>
          </a:stretch>
        </p:blipFill>
        <p:spPr>
          <a:xfrm>
            <a:off x="4751299" y="1430750"/>
            <a:ext cx="3423050" cy="3457876"/>
          </a:xfrm>
          <a:prstGeom prst="rect">
            <a:avLst/>
          </a:prstGeom>
          <a:noFill/>
          <a:ln>
            <a:noFill/>
          </a:ln>
        </p:spPr>
      </p:pic>
      <p:pic>
        <p:nvPicPr>
          <p:cNvPr id="62" name="Google Shape;62;p14"/>
          <p:cNvPicPr preferRelativeResize="0"/>
          <p:nvPr/>
        </p:nvPicPr>
        <p:blipFill>
          <a:blip r:embed="rId4">
            <a:alphaModFix/>
          </a:blip>
          <a:stretch>
            <a:fillRect/>
          </a:stretch>
        </p:blipFill>
        <p:spPr>
          <a:xfrm>
            <a:off x="872325" y="1177875"/>
            <a:ext cx="3699674" cy="3820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Recursive Approach</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Clr>
                <a:schemeClr val="dk1"/>
              </a:buClr>
              <a:buSzPct val="61111"/>
              <a:buFont typeface="Arial"/>
              <a:buNone/>
            </a:pPr>
            <a:r>
              <a:rPr lang="en">
                <a:latin typeface="Roboto Mono"/>
                <a:ea typeface="Roboto Mono"/>
                <a:cs typeface="Roboto Mono"/>
                <a:sym typeface="Roboto Mono"/>
              </a:rPr>
              <a:t>find path to cheese:</a:t>
            </a:r>
            <a:endParaRPr>
              <a:latin typeface="Roboto Mono"/>
              <a:ea typeface="Roboto Mono"/>
              <a:cs typeface="Roboto Mono"/>
              <a:sym typeface="Roboto Mono"/>
            </a:endParaRPr>
          </a:p>
          <a:p>
            <a:pPr indent="0" lvl="0" marL="0" rtl="0" algn="l">
              <a:spcBef>
                <a:spcPts val="1200"/>
              </a:spcBef>
              <a:spcAft>
                <a:spcPts val="0"/>
              </a:spcAft>
              <a:buClr>
                <a:schemeClr val="dk1"/>
              </a:buClr>
              <a:buSzPct val="61111"/>
              <a:buFont typeface="Arial"/>
              <a:buNone/>
            </a:pPr>
            <a:r>
              <a:rPr lang="en">
                <a:latin typeface="Roboto Mono"/>
                <a:ea typeface="Roboto Mono"/>
                <a:cs typeface="Roboto Mono"/>
                <a:sym typeface="Roboto Mono"/>
              </a:rPr>
              <a:t>Ask my neighbours: What is the path from you to cheese</a:t>
            </a:r>
            <a:endParaRPr>
              <a:latin typeface="Roboto Mono"/>
              <a:ea typeface="Roboto Mono"/>
              <a:cs typeface="Roboto Mono"/>
              <a:sym typeface="Roboto Mono"/>
            </a:endParaRPr>
          </a:p>
          <a:p>
            <a:pPr indent="0" lvl="0" marL="0" rtl="0" algn="l">
              <a:spcBef>
                <a:spcPts val="1200"/>
              </a:spcBef>
              <a:spcAft>
                <a:spcPts val="0"/>
              </a:spcAft>
              <a:buClr>
                <a:schemeClr val="dk1"/>
              </a:buClr>
              <a:buSzPct val="61111"/>
              <a:buFont typeface="Arial"/>
              <a:buNone/>
            </a:pPr>
            <a:r>
              <a:rPr lang="en">
                <a:latin typeface="Roboto Mono"/>
                <a:ea typeface="Roboto Mono"/>
                <a:cs typeface="Roboto Mono"/>
                <a:sym typeface="Roboto Mono"/>
              </a:rPr>
              <a:t>    They ask their neighbours: What is the path from you to cheese</a:t>
            </a:r>
            <a:endParaRPr>
              <a:latin typeface="Roboto Mono"/>
              <a:ea typeface="Roboto Mono"/>
              <a:cs typeface="Roboto Mono"/>
              <a:sym typeface="Roboto Mono"/>
            </a:endParaRPr>
          </a:p>
          <a:p>
            <a:pPr indent="0" lvl="0" marL="0" rtl="0" algn="l">
              <a:spcBef>
                <a:spcPts val="1200"/>
              </a:spcBef>
              <a:spcAft>
                <a:spcPts val="0"/>
              </a:spcAft>
              <a:buClr>
                <a:schemeClr val="dk1"/>
              </a:buClr>
              <a:buSzPct val="61111"/>
              <a:buFont typeface="Arial"/>
              <a:buNone/>
            </a:pPr>
            <a:r>
              <a:rPr lang="en">
                <a:latin typeface="Roboto Mono"/>
                <a:ea typeface="Roboto Mono"/>
                <a:cs typeface="Roboto Mono"/>
                <a:sym typeface="Roboto Mono"/>
              </a:rPr>
              <a:t>        They ask their neighbours ....</a:t>
            </a:r>
            <a:endParaRPr>
              <a:latin typeface="Roboto Mono"/>
              <a:ea typeface="Roboto Mono"/>
              <a:cs typeface="Roboto Mono"/>
              <a:sym typeface="Roboto Mono"/>
            </a:endParaRPr>
          </a:p>
          <a:p>
            <a:pPr indent="0" lvl="0" marL="0" rtl="0" algn="l">
              <a:spcBef>
                <a:spcPts val="1200"/>
              </a:spcBef>
              <a:spcAft>
                <a:spcPts val="0"/>
              </a:spcAft>
              <a:buClr>
                <a:schemeClr val="dk1"/>
              </a:buClr>
              <a:buSzPct val="61111"/>
              <a:buFont typeface="Arial"/>
              <a:buNone/>
            </a:pPr>
            <a:r>
              <a:rPr lang="en">
                <a:latin typeface="Roboto Mono"/>
                <a:ea typeface="Roboto Mono"/>
                <a:cs typeface="Roboto Mono"/>
                <a:sym typeface="Roboto Mono"/>
              </a:rPr>
              <a:t>            ... until { one of the neighbours-neighbours...neighbours is the cheese!</a:t>
            </a:r>
            <a:endParaRPr>
              <a:latin typeface="Roboto Mono"/>
              <a:ea typeface="Roboto Mono"/>
              <a:cs typeface="Roboto Mono"/>
              <a:sym typeface="Roboto Mono"/>
            </a:endParaRPr>
          </a:p>
          <a:p>
            <a:pPr indent="0" lvl="0" marL="0" rtl="0" algn="l">
              <a:spcBef>
                <a:spcPts val="1200"/>
              </a:spcBef>
              <a:spcAft>
                <a:spcPts val="0"/>
              </a:spcAft>
              <a:buClr>
                <a:schemeClr val="dk1"/>
              </a:buClr>
              <a:buSzPct val="61111"/>
              <a:buFont typeface="Arial"/>
              <a:buNone/>
            </a:pPr>
            <a:r>
              <a:rPr lang="en">
                <a:latin typeface="Roboto Mono"/>
                <a:ea typeface="Roboto Mono"/>
                <a:cs typeface="Roboto Mono"/>
                <a:sym typeface="Roboto Mono"/>
              </a:rPr>
              <a:t>        Now one of the cheese’s neighbour knows where to go</a:t>
            </a:r>
            <a:endParaRPr>
              <a:latin typeface="Roboto Mono"/>
              <a:ea typeface="Roboto Mono"/>
              <a:cs typeface="Roboto Mono"/>
              <a:sym typeface="Roboto Mono"/>
            </a:endParaRPr>
          </a:p>
          <a:p>
            <a:pPr indent="0" lvl="0" marL="0" rtl="0" algn="l">
              <a:spcBef>
                <a:spcPts val="1200"/>
              </a:spcBef>
              <a:spcAft>
                <a:spcPts val="0"/>
              </a:spcAft>
              <a:buClr>
                <a:schemeClr val="dk1"/>
              </a:buClr>
              <a:buSzPct val="61111"/>
              <a:buFont typeface="Arial"/>
              <a:buNone/>
            </a:pPr>
            <a:r>
              <a:rPr lang="en">
                <a:latin typeface="Roboto Mono"/>
                <a:ea typeface="Roboto Mono"/>
                <a:cs typeface="Roboto Mono"/>
                <a:sym typeface="Roboto Mono"/>
              </a:rPr>
              <a:t>    Then a cheese’s neighbour’s neighbour knows where to go</a:t>
            </a:r>
            <a:endParaRPr>
              <a:latin typeface="Roboto Mono"/>
              <a:ea typeface="Roboto Mono"/>
              <a:cs typeface="Roboto Mono"/>
              <a:sym typeface="Roboto Mono"/>
            </a:endParaRPr>
          </a:p>
          <a:p>
            <a:pPr indent="0" lvl="0" marL="0" rtl="0" algn="l">
              <a:spcBef>
                <a:spcPts val="1200"/>
              </a:spcBef>
              <a:spcAft>
                <a:spcPts val="0"/>
              </a:spcAft>
              <a:buClr>
                <a:schemeClr val="dk1"/>
              </a:buClr>
              <a:buSzPct val="61111"/>
              <a:buFont typeface="Arial"/>
              <a:buNone/>
            </a:pPr>
            <a:r>
              <a:rPr lang="en">
                <a:latin typeface="Roboto Mono"/>
                <a:ea typeface="Roboto Mono"/>
                <a:cs typeface="Roboto Mono"/>
                <a:sym typeface="Roboto Mono"/>
              </a:rPr>
              <a:t>... until, the mouse knows where to go!</a:t>
            </a:r>
            <a:endParaRPr>
              <a:latin typeface="Roboto Mono"/>
              <a:ea typeface="Roboto Mono"/>
              <a:cs typeface="Roboto Mono"/>
              <a:sym typeface="Roboto Mono"/>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0" st="0"/>
                                            </p:txEl>
                                          </p:spTgt>
                                        </p:tgtEl>
                                        <p:attrNameLst>
                                          <p:attrName>style.visibility</p:attrName>
                                        </p:attrNameLst>
                                      </p:cBhvr>
                                      <p:to>
                                        <p:strVal val="visible"/>
                                      </p:to>
                                    </p:set>
                                    <p:animEffect filter="fade" transition="in">
                                      <p:cBhvr>
                                        <p:cTn dur="1000"/>
                                        <p:tgtEl>
                                          <p:spTgt spid="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1" st="1"/>
                                            </p:txEl>
                                          </p:spTgt>
                                        </p:tgtEl>
                                        <p:attrNameLst>
                                          <p:attrName>style.visibility</p:attrName>
                                        </p:attrNameLst>
                                      </p:cBhvr>
                                      <p:to>
                                        <p:strVal val="visible"/>
                                      </p:to>
                                    </p:set>
                                    <p:animEffect filter="fade" transition="in">
                                      <p:cBhvr>
                                        <p:cTn dur="1000"/>
                                        <p:tgtEl>
                                          <p:spTgt spid="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2" st="2"/>
                                            </p:txEl>
                                          </p:spTgt>
                                        </p:tgtEl>
                                        <p:attrNameLst>
                                          <p:attrName>style.visibility</p:attrName>
                                        </p:attrNameLst>
                                      </p:cBhvr>
                                      <p:to>
                                        <p:strVal val="visible"/>
                                      </p:to>
                                    </p:set>
                                    <p:animEffect filter="fade" transition="in">
                                      <p:cBhvr>
                                        <p:cTn dur="1000"/>
                                        <p:tgtEl>
                                          <p:spTgt spid="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3" st="3"/>
                                            </p:txEl>
                                          </p:spTgt>
                                        </p:tgtEl>
                                        <p:attrNameLst>
                                          <p:attrName>style.visibility</p:attrName>
                                        </p:attrNameLst>
                                      </p:cBhvr>
                                      <p:to>
                                        <p:strVal val="visible"/>
                                      </p:to>
                                    </p:set>
                                    <p:animEffect filter="fade" transition="in">
                                      <p:cBhvr>
                                        <p:cTn dur="1000"/>
                                        <p:tgtEl>
                                          <p:spTgt spid="6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4" st="4"/>
                                            </p:txEl>
                                          </p:spTgt>
                                        </p:tgtEl>
                                        <p:attrNameLst>
                                          <p:attrName>style.visibility</p:attrName>
                                        </p:attrNameLst>
                                      </p:cBhvr>
                                      <p:to>
                                        <p:strVal val="visible"/>
                                      </p:to>
                                    </p:set>
                                    <p:animEffect filter="fade" transition="in">
                                      <p:cBhvr>
                                        <p:cTn dur="1000"/>
                                        <p:tgtEl>
                                          <p:spTgt spid="6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5" st="5"/>
                                            </p:txEl>
                                          </p:spTgt>
                                        </p:tgtEl>
                                        <p:attrNameLst>
                                          <p:attrName>style.visibility</p:attrName>
                                        </p:attrNameLst>
                                      </p:cBhvr>
                                      <p:to>
                                        <p:strVal val="visible"/>
                                      </p:to>
                                    </p:set>
                                    <p:animEffect filter="fade" transition="in">
                                      <p:cBhvr>
                                        <p:cTn dur="1000"/>
                                        <p:tgtEl>
                                          <p:spTgt spid="6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6" st="6"/>
                                            </p:txEl>
                                          </p:spTgt>
                                        </p:tgtEl>
                                        <p:attrNameLst>
                                          <p:attrName>style.visibility</p:attrName>
                                        </p:attrNameLst>
                                      </p:cBhvr>
                                      <p:to>
                                        <p:strVal val="visible"/>
                                      </p:to>
                                    </p:set>
                                    <p:animEffect filter="fade" transition="in">
                                      <p:cBhvr>
                                        <p:cTn dur="1000"/>
                                        <p:tgtEl>
                                          <p:spTgt spid="6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7" st="7"/>
                                            </p:txEl>
                                          </p:spTgt>
                                        </p:tgtEl>
                                        <p:attrNameLst>
                                          <p:attrName>style.visibility</p:attrName>
                                        </p:attrNameLst>
                                      </p:cBhvr>
                                      <p:to>
                                        <p:strVal val="visible"/>
                                      </p:to>
                                    </p:set>
                                    <p:animEffect filter="fade" transition="in">
                                      <p:cBhvr>
                                        <p:cTn dur="1000"/>
                                        <p:tgtEl>
                                          <p:spTgt spid="6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8" st="8"/>
                                            </p:txEl>
                                          </p:spTgt>
                                        </p:tgtEl>
                                        <p:attrNameLst>
                                          <p:attrName>style.visibility</p:attrName>
                                        </p:attrNameLst>
                                      </p:cBhvr>
                                      <p:to>
                                        <p:strVal val="visible"/>
                                      </p:to>
                                    </p:set>
                                    <p:animEffect filter="fade" transition="in">
                                      <p:cBhvr>
                                        <p:cTn dur="1000"/>
                                        <p:tgtEl>
                                          <p:spTgt spid="6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9" st="9"/>
                                            </p:txEl>
                                          </p:spTgt>
                                        </p:tgtEl>
                                        <p:attrNameLst>
                                          <p:attrName>style.visibility</p:attrName>
                                        </p:attrNameLst>
                                      </p:cBhvr>
                                      <p:to>
                                        <p:strVal val="visible"/>
                                      </p:to>
                                    </p:set>
                                    <p:animEffect filter="fade" transition="in">
                                      <p:cBhvr>
                                        <p:cTn dur="1000"/>
                                        <p:tgtEl>
                                          <p:spTgt spid="68">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Recursion?</a:t>
            </a:r>
            <a:endParaRPr/>
          </a:p>
        </p:txBody>
      </p:sp>
      <p:sp>
        <p:nvSpPr>
          <p:cNvPr id="74" name="Google Shape;74;p16"/>
          <p:cNvSpPr txBox="1"/>
          <p:nvPr>
            <p:ph idx="1" type="body"/>
          </p:nvPr>
        </p:nvSpPr>
        <p:spPr>
          <a:xfrm>
            <a:off x="311700" y="1152475"/>
            <a:ext cx="8520600" cy="8814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lang="en" sz="1700"/>
              <a:t>Function calling itself!!</a:t>
            </a:r>
            <a:endParaRPr sz="1700"/>
          </a:p>
        </p:txBody>
      </p:sp>
      <p:sp>
        <p:nvSpPr>
          <p:cNvPr id="75" name="Google Shape;75;p16"/>
          <p:cNvSpPr txBox="1"/>
          <p:nvPr/>
        </p:nvSpPr>
        <p:spPr>
          <a:xfrm>
            <a:off x="2873800" y="1833000"/>
            <a:ext cx="2320200" cy="1293000"/>
          </a:xfrm>
          <a:prstGeom prst="rect">
            <a:avLst/>
          </a:prstGeom>
          <a:solidFill>
            <a:schemeClr val="lt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Mono"/>
                <a:ea typeface="Roboto Mono"/>
                <a:cs typeface="Roboto Mono"/>
                <a:sym typeface="Roboto Mono"/>
              </a:rPr>
              <a:t>int f1()</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a:t>
            </a:r>
            <a:endParaRPr sz="1200">
              <a:latin typeface="Roboto Mono"/>
              <a:ea typeface="Roboto Mono"/>
              <a:cs typeface="Roboto Mono"/>
              <a:sym typeface="Roboto Mono"/>
            </a:endParaRPr>
          </a:p>
          <a:p>
            <a:pPr indent="457200" lvl="0" marL="0" rtl="0" algn="l">
              <a:spcBef>
                <a:spcPts val="0"/>
              </a:spcBef>
              <a:spcAft>
                <a:spcPts val="0"/>
              </a:spcAft>
              <a:buNone/>
            </a:pPr>
            <a:r>
              <a:rPr lang="en" sz="1200">
                <a:latin typeface="Roboto Mono"/>
                <a:ea typeface="Roboto Mono"/>
                <a:cs typeface="Roboto Mono"/>
                <a:sym typeface="Roboto Mono"/>
              </a:rPr>
              <a:t>f1();</a:t>
            </a:r>
            <a:endParaRPr sz="1200">
              <a:latin typeface="Roboto Mono"/>
              <a:ea typeface="Roboto Mono"/>
              <a:cs typeface="Roboto Mono"/>
              <a:sym typeface="Roboto Mono"/>
            </a:endParaRPr>
          </a:p>
          <a:p>
            <a:pPr indent="457200" lvl="0" marL="0" rtl="0" algn="l">
              <a:spcBef>
                <a:spcPts val="0"/>
              </a:spcBef>
              <a:spcAft>
                <a:spcPts val="0"/>
              </a:spcAft>
              <a:buNone/>
            </a:pP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a:t>
            </a:r>
            <a:endParaRPr sz="1200">
              <a:latin typeface="Roboto Mono"/>
              <a:ea typeface="Roboto Mono"/>
              <a:cs typeface="Roboto Mono"/>
              <a:sym typeface="Roboto Mono"/>
            </a:endParaRPr>
          </a:p>
        </p:txBody>
      </p:sp>
      <p:sp>
        <p:nvSpPr>
          <p:cNvPr id="76" name="Google Shape;76;p16"/>
          <p:cNvSpPr txBox="1"/>
          <p:nvPr/>
        </p:nvSpPr>
        <p:spPr>
          <a:xfrm>
            <a:off x="437525" y="3476275"/>
            <a:ext cx="7956300" cy="12021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0"/>
              </a:spcBef>
              <a:spcAft>
                <a:spcPts val="0"/>
              </a:spcAft>
              <a:buClr>
                <a:schemeClr val="dk2"/>
              </a:buClr>
              <a:buSzPts val="1700"/>
              <a:buChar char="●"/>
            </a:pPr>
            <a:r>
              <a:rPr lang="en" sz="1700">
                <a:solidFill>
                  <a:schemeClr val="dk2"/>
                </a:solidFill>
              </a:rPr>
              <a:t>One of the common interview question:</a:t>
            </a:r>
            <a:endParaRPr sz="1700">
              <a:solidFill>
                <a:schemeClr val="dk2"/>
              </a:solidFill>
            </a:endParaRPr>
          </a:p>
          <a:p>
            <a:pPr indent="-336550" lvl="0" marL="457200" rtl="0" algn="l">
              <a:lnSpc>
                <a:spcPct val="115000"/>
              </a:lnSpc>
              <a:spcBef>
                <a:spcPts val="0"/>
              </a:spcBef>
              <a:spcAft>
                <a:spcPts val="0"/>
              </a:spcAft>
              <a:buClr>
                <a:schemeClr val="dk2"/>
              </a:buClr>
              <a:buSzPts val="1700"/>
              <a:buChar char="●"/>
            </a:pPr>
            <a:r>
              <a:rPr lang="en" sz="1700">
                <a:solidFill>
                  <a:schemeClr val="dk2"/>
                </a:solidFill>
              </a:rPr>
              <a:t>How would you explain recursion to your 5 year old nephew?</a:t>
            </a:r>
            <a:endParaRPr sz="1700">
              <a:solidFill>
                <a:schemeClr val="dk2"/>
              </a:solidFill>
            </a:endParaRPr>
          </a:p>
          <a:p>
            <a:pPr indent="0" lvl="0" marL="457200" rtl="0" algn="l">
              <a:lnSpc>
                <a:spcPct val="115000"/>
              </a:lnSpc>
              <a:spcBef>
                <a:spcPts val="1200"/>
              </a:spcBef>
              <a:spcAft>
                <a:spcPts val="1200"/>
              </a:spcAft>
              <a:buNone/>
            </a:pPr>
            <a:r>
              <a:rPr lang="en" sz="1700">
                <a:solidFill>
                  <a:schemeClr val="dk2"/>
                </a:solidFill>
              </a:rPr>
              <a:t>[Source: Reddit]</a:t>
            </a:r>
            <a:endParaRPr sz="17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0" st="0"/>
                                            </p:txEl>
                                          </p:spTgt>
                                        </p:tgtEl>
                                        <p:attrNameLst>
                                          <p:attrName>style.visibility</p:attrName>
                                        </p:attrNameLst>
                                      </p:cBhvr>
                                      <p:to>
                                        <p:strVal val="visible"/>
                                      </p:to>
                                    </p:set>
                                    <p:animEffect filter="fade" transition="in">
                                      <p:cBhvr>
                                        <p:cTn dur="1000"/>
                                        <p:tgtEl>
                                          <p:spTgt spid="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
                                        </p:tgtEl>
                                        <p:attrNameLst>
                                          <p:attrName>style.visibility</p:attrName>
                                        </p:attrNameLst>
                                      </p:cBhvr>
                                      <p:to>
                                        <p:strVal val="visible"/>
                                      </p:to>
                                    </p:set>
                                    <p:animEffect filter="fade" transition="in">
                                      <p:cBhvr>
                                        <p:cTn dur="1000"/>
                                        <p:tgtEl>
                                          <p:spTgt spid="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0" st="0"/>
                                            </p:txEl>
                                          </p:spTgt>
                                        </p:tgtEl>
                                        <p:attrNameLst>
                                          <p:attrName>style.visibility</p:attrName>
                                        </p:attrNameLst>
                                      </p:cBhvr>
                                      <p:to>
                                        <p:strVal val="visible"/>
                                      </p:to>
                                    </p:set>
                                    <p:animEffect filter="fade" transition="in">
                                      <p:cBhvr>
                                        <p:cTn dur="1000"/>
                                        <p:tgtEl>
                                          <p:spTgt spid="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1" st="1"/>
                                            </p:txEl>
                                          </p:spTgt>
                                        </p:tgtEl>
                                        <p:attrNameLst>
                                          <p:attrName>style.visibility</p:attrName>
                                        </p:attrNameLst>
                                      </p:cBhvr>
                                      <p:to>
                                        <p:strVal val="visible"/>
                                      </p:to>
                                    </p:set>
                                    <p:animEffect filter="fade" transition="in">
                                      <p:cBhvr>
                                        <p:cTn dur="1000"/>
                                        <p:tgtEl>
                                          <p:spTgt spid="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2" st="2"/>
                                            </p:txEl>
                                          </p:spTgt>
                                        </p:tgtEl>
                                        <p:attrNameLst>
                                          <p:attrName>style.visibility</p:attrName>
                                        </p:attrNameLst>
                                      </p:cBhvr>
                                      <p:to>
                                        <p:strVal val="visible"/>
                                      </p:to>
                                    </p:set>
                                    <p:animEffect filter="fade" transition="in">
                                      <p:cBhvr>
                                        <p:cTn dur="1000"/>
                                        <p:tgtEl>
                                          <p:spTgt spid="7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Use </a:t>
            </a:r>
            <a:r>
              <a:rPr lang="en"/>
              <a:t>Recursion</a:t>
            </a:r>
            <a:r>
              <a:rPr lang="en"/>
              <a:t>?</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Fewer Lines of Code</a:t>
            </a:r>
            <a:endParaRPr/>
          </a:p>
          <a:p>
            <a:pPr indent="-317500" lvl="1" marL="914400" rtl="0" algn="l">
              <a:lnSpc>
                <a:spcPct val="150000"/>
              </a:lnSpc>
              <a:spcBef>
                <a:spcPts val="0"/>
              </a:spcBef>
              <a:spcAft>
                <a:spcPts val="0"/>
              </a:spcAft>
              <a:buSzPts val="1400"/>
              <a:buChar char="○"/>
            </a:pPr>
            <a:r>
              <a:rPr lang="en"/>
              <a:t>usually results in a solution with fewer lines of code than a solution that does not utilize recursion.</a:t>
            </a:r>
            <a:endParaRPr/>
          </a:p>
          <a:p>
            <a:pPr indent="-342900" lvl="0" marL="457200" rtl="0" algn="l">
              <a:lnSpc>
                <a:spcPct val="150000"/>
              </a:lnSpc>
              <a:spcBef>
                <a:spcPts val="0"/>
              </a:spcBef>
              <a:spcAft>
                <a:spcPts val="0"/>
              </a:spcAft>
              <a:buSzPts val="1800"/>
              <a:buChar char="●"/>
            </a:pPr>
            <a:r>
              <a:rPr lang="en"/>
              <a:t>More Elegant Code</a:t>
            </a:r>
            <a:endParaRPr/>
          </a:p>
          <a:p>
            <a:pPr indent="-317500" lvl="1" marL="914400" rtl="0" algn="l">
              <a:lnSpc>
                <a:spcPct val="150000"/>
              </a:lnSpc>
              <a:spcBef>
                <a:spcPts val="0"/>
              </a:spcBef>
              <a:spcAft>
                <a:spcPts val="0"/>
              </a:spcAft>
              <a:buSzPts val="1400"/>
              <a:buChar char="○"/>
            </a:pPr>
            <a:r>
              <a:rPr lang="en"/>
              <a:t>Intuitively easy to understand</a:t>
            </a:r>
            <a:endParaRPr/>
          </a:p>
          <a:p>
            <a:pPr indent="-342900" lvl="0" marL="457200" rtl="0" algn="l">
              <a:lnSpc>
                <a:spcPct val="150000"/>
              </a:lnSpc>
              <a:spcBef>
                <a:spcPts val="0"/>
              </a:spcBef>
              <a:spcAft>
                <a:spcPts val="0"/>
              </a:spcAft>
              <a:buSzPts val="1800"/>
              <a:buChar char="●"/>
            </a:pPr>
            <a:r>
              <a:rPr lang="en"/>
              <a:t>Increased Readability</a:t>
            </a:r>
            <a:endParaRPr/>
          </a:p>
          <a:p>
            <a:pPr indent="0" lvl="0" marL="0" rtl="0" algn="l">
              <a:lnSpc>
                <a:spcPct val="150000"/>
              </a:lnSpc>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0" st="0"/>
                                            </p:txEl>
                                          </p:spTgt>
                                        </p:tgtEl>
                                        <p:attrNameLst>
                                          <p:attrName>style.visibility</p:attrName>
                                        </p:attrNameLst>
                                      </p:cBhvr>
                                      <p:to>
                                        <p:strVal val="visible"/>
                                      </p:to>
                                    </p:set>
                                    <p:animEffect filter="fade" transition="in">
                                      <p:cBhvr>
                                        <p:cTn dur="1200"/>
                                        <p:tgtEl>
                                          <p:spTgt spid="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1" st="1"/>
                                            </p:txEl>
                                          </p:spTgt>
                                        </p:tgtEl>
                                        <p:attrNameLst>
                                          <p:attrName>style.visibility</p:attrName>
                                        </p:attrNameLst>
                                      </p:cBhvr>
                                      <p:to>
                                        <p:strVal val="visible"/>
                                      </p:to>
                                    </p:set>
                                    <p:animEffect filter="fade" transition="in">
                                      <p:cBhvr>
                                        <p:cTn dur="1200"/>
                                        <p:tgtEl>
                                          <p:spTgt spid="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2" st="2"/>
                                            </p:txEl>
                                          </p:spTgt>
                                        </p:tgtEl>
                                        <p:attrNameLst>
                                          <p:attrName>style.visibility</p:attrName>
                                        </p:attrNameLst>
                                      </p:cBhvr>
                                      <p:to>
                                        <p:strVal val="visible"/>
                                      </p:to>
                                    </p:set>
                                    <p:animEffect filter="fade" transition="in">
                                      <p:cBhvr>
                                        <p:cTn dur="1200"/>
                                        <p:tgtEl>
                                          <p:spTgt spid="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3" st="3"/>
                                            </p:txEl>
                                          </p:spTgt>
                                        </p:tgtEl>
                                        <p:attrNameLst>
                                          <p:attrName>style.visibility</p:attrName>
                                        </p:attrNameLst>
                                      </p:cBhvr>
                                      <p:to>
                                        <p:strVal val="visible"/>
                                      </p:to>
                                    </p:set>
                                    <p:animEffect filter="fade" transition="in">
                                      <p:cBhvr>
                                        <p:cTn dur="1200"/>
                                        <p:tgtEl>
                                          <p:spTgt spid="8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4" st="4"/>
                                            </p:txEl>
                                          </p:spTgt>
                                        </p:tgtEl>
                                        <p:attrNameLst>
                                          <p:attrName>style.visibility</p:attrName>
                                        </p:attrNameLst>
                                      </p:cBhvr>
                                      <p:to>
                                        <p:strVal val="visible"/>
                                      </p:to>
                                    </p:set>
                                    <p:animEffect filter="fade" transition="in">
                                      <p:cBhvr>
                                        <p:cTn dur="1200"/>
                                        <p:tgtEl>
                                          <p:spTgt spid="8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5" st="5"/>
                                            </p:txEl>
                                          </p:spTgt>
                                        </p:tgtEl>
                                        <p:attrNameLst>
                                          <p:attrName>style.visibility</p:attrName>
                                        </p:attrNameLst>
                                      </p:cBhvr>
                                      <p:to>
                                        <p:strVal val="visible"/>
                                      </p:to>
                                    </p:set>
                                    <p:animEffect filter="fade" transition="in">
                                      <p:cBhvr>
                                        <p:cTn dur="1200"/>
                                        <p:tgtEl>
                                          <p:spTgt spid="82">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When to use </a:t>
            </a:r>
            <a:r>
              <a:rPr lang="en"/>
              <a:t>recursion</a:t>
            </a:r>
            <a:r>
              <a:rPr lang="en"/>
              <a:t>?</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t>For kind of problems where</a:t>
            </a:r>
            <a:endParaRPr sz="1700"/>
          </a:p>
          <a:p>
            <a:pPr indent="-336550" lvl="0" marL="457200" rtl="0" algn="l">
              <a:spcBef>
                <a:spcPts val="1200"/>
              </a:spcBef>
              <a:spcAft>
                <a:spcPts val="0"/>
              </a:spcAft>
              <a:buSzPts val="1700"/>
              <a:buChar char="●"/>
            </a:pPr>
            <a:r>
              <a:rPr lang="en" sz="1700"/>
              <a:t>The problem is progressively broken down, made smaller, or otherwise simplified at each step.</a:t>
            </a:r>
            <a:endParaRPr sz="1700"/>
          </a:p>
          <a:p>
            <a:pPr indent="-336550" lvl="0" marL="457200" rtl="0" algn="l">
              <a:spcBef>
                <a:spcPts val="0"/>
              </a:spcBef>
              <a:spcAft>
                <a:spcPts val="0"/>
              </a:spcAft>
              <a:buSzPts val="1700"/>
              <a:buChar char="●"/>
            </a:pPr>
            <a:r>
              <a:rPr lang="en" sz="1700"/>
              <a:t>Then information needed to form the solution is passed back one step at a time, until the solution for the original problem is obtained.</a:t>
            </a:r>
            <a:endParaRPr sz="1700"/>
          </a:p>
          <a:p>
            <a:pPr indent="0" lvl="0" marL="0" rtl="0" algn="l">
              <a:spcBef>
                <a:spcPts val="1200"/>
              </a:spcBef>
              <a:spcAft>
                <a:spcPts val="1200"/>
              </a:spcAft>
              <a:buNone/>
            </a:pPr>
            <a:r>
              <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xEl>
                                              <p:pRg end="0" st="0"/>
                                            </p:txEl>
                                          </p:spTgt>
                                        </p:tgtEl>
                                        <p:attrNameLst>
                                          <p:attrName>style.visibility</p:attrName>
                                        </p:attrNameLst>
                                      </p:cBhvr>
                                      <p:to>
                                        <p:strVal val="visible"/>
                                      </p:to>
                                    </p:set>
                                    <p:animEffect filter="fade" transition="in">
                                      <p:cBhvr>
                                        <p:cTn dur="1000"/>
                                        <p:tgtEl>
                                          <p:spTgt spid="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xEl>
                                              <p:pRg end="1" st="1"/>
                                            </p:txEl>
                                          </p:spTgt>
                                        </p:tgtEl>
                                        <p:attrNameLst>
                                          <p:attrName>style.visibility</p:attrName>
                                        </p:attrNameLst>
                                      </p:cBhvr>
                                      <p:to>
                                        <p:strVal val="visible"/>
                                      </p:to>
                                    </p:set>
                                    <p:animEffect filter="fade" transition="in">
                                      <p:cBhvr>
                                        <p:cTn dur="1000"/>
                                        <p:tgtEl>
                                          <p:spTgt spid="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xEl>
                                              <p:pRg end="2" st="2"/>
                                            </p:txEl>
                                          </p:spTgt>
                                        </p:tgtEl>
                                        <p:attrNameLst>
                                          <p:attrName>style.visibility</p:attrName>
                                        </p:attrNameLst>
                                      </p:cBhvr>
                                      <p:to>
                                        <p:strVal val="visible"/>
                                      </p:to>
                                    </p:set>
                                    <p:animEffect filter="fade" transition="in">
                                      <p:cBhvr>
                                        <p:cTn dur="1000"/>
                                        <p:tgtEl>
                                          <p:spTgt spid="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xEl>
                                              <p:pRg end="3" st="3"/>
                                            </p:txEl>
                                          </p:spTgt>
                                        </p:tgtEl>
                                        <p:attrNameLst>
                                          <p:attrName>style.visibility</p:attrName>
                                        </p:attrNameLst>
                                      </p:cBhvr>
                                      <p:to>
                                        <p:strVal val="visible"/>
                                      </p:to>
                                    </p:set>
                                    <p:animEffect filter="fade" transition="in">
                                      <p:cBhvr>
                                        <p:cTn dur="1000"/>
                                        <p:tgtEl>
                                          <p:spTgt spid="8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Divide-and-Conquer Strategy</a:t>
            </a:r>
            <a:endParaRPr/>
          </a:p>
        </p:txBody>
      </p:sp>
      <p:sp>
        <p:nvSpPr>
          <p:cNvPr id="94" name="Google Shape;94;p19"/>
          <p:cNvSpPr/>
          <p:nvPr/>
        </p:nvSpPr>
        <p:spPr>
          <a:xfrm>
            <a:off x="3301400" y="1196175"/>
            <a:ext cx="1925700" cy="849300"/>
          </a:xfrm>
          <a:prstGeom prst="ellipse">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Problem</a:t>
            </a:r>
            <a:endParaRPr/>
          </a:p>
        </p:txBody>
      </p:sp>
      <p:sp>
        <p:nvSpPr>
          <p:cNvPr id="95" name="Google Shape;95;p19"/>
          <p:cNvSpPr/>
          <p:nvPr/>
        </p:nvSpPr>
        <p:spPr>
          <a:xfrm>
            <a:off x="1274625" y="2147100"/>
            <a:ext cx="1925700" cy="849300"/>
          </a:xfrm>
          <a:prstGeom prst="ellipse">
            <a:avLst/>
          </a:prstGeom>
          <a:solidFill>
            <a:srgbClr val="FFFC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SubProblem</a:t>
            </a:r>
            <a:endParaRPr/>
          </a:p>
        </p:txBody>
      </p:sp>
      <p:sp>
        <p:nvSpPr>
          <p:cNvPr id="96" name="Google Shape;96;p19"/>
          <p:cNvSpPr/>
          <p:nvPr/>
        </p:nvSpPr>
        <p:spPr>
          <a:xfrm>
            <a:off x="5478950" y="2147075"/>
            <a:ext cx="1925700" cy="849300"/>
          </a:xfrm>
          <a:prstGeom prst="ellipse">
            <a:avLst/>
          </a:prstGeom>
          <a:solidFill>
            <a:srgbClr val="FFFC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SubProblem</a:t>
            </a:r>
            <a:endParaRPr/>
          </a:p>
        </p:txBody>
      </p:sp>
      <p:sp>
        <p:nvSpPr>
          <p:cNvPr id="97" name="Google Shape;97;p19"/>
          <p:cNvSpPr/>
          <p:nvPr/>
        </p:nvSpPr>
        <p:spPr>
          <a:xfrm>
            <a:off x="311700" y="3603325"/>
            <a:ext cx="1925700" cy="849300"/>
          </a:xfrm>
          <a:prstGeom prst="ellipse">
            <a:avLst/>
          </a:prstGeom>
          <a:solidFill>
            <a:srgbClr val="FFFC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Solve SubProblem</a:t>
            </a:r>
            <a:endParaRPr/>
          </a:p>
        </p:txBody>
      </p:sp>
      <p:sp>
        <p:nvSpPr>
          <p:cNvPr id="98" name="Google Shape;98;p19"/>
          <p:cNvSpPr/>
          <p:nvPr/>
        </p:nvSpPr>
        <p:spPr>
          <a:xfrm>
            <a:off x="2389925" y="3603325"/>
            <a:ext cx="1925700" cy="849300"/>
          </a:xfrm>
          <a:prstGeom prst="ellipse">
            <a:avLst/>
          </a:prstGeom>
          <a:solidFill>
            <a:srgbClr val="FFFC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Solve SubProblem</a:t>
            </a:r>
            <a:endParaRPr/>
          </a:p>
        </p:txBody>
      </p:sp>
      <p:sp>
        <p:nvSpPr>
          <p:cNvPr id="99" name="Google Shape;99;p19"/>
          <p:cNvSpPr/>
          <p:nvPr/>
        </p:nvSpPr>
        <p:spPr>
          <a:xfrm>
            <a:off x="4468138" y="3603325"/>
            <a:ext cx="1925700" cy="849300"/>
          </a:xfrm>
          <a:prstGeom prst="ellipse">
            <a:avLst/>
          </a:prstGeom>
          <a:solidFill>
            <a:srgbClr val="FFFC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Solve SubProblem</a:t>
            </a:r>
            <a:endParaRPr/>
          </a:p>
        </p:txBody>
      </p:sp>
      <p:sp>
        <p:nvSpPr>
          <p:cNvPr id="100" name="Google Shape;100;p19"/>
          <p:cNvSpPr/>
          <p:nvPr/>
        </p:nvSpPr>
        <p:spPr>
          <a:xfrm>
            <a:off x="6546375" y="3603325"/>
            <a:ext cx="1925700" cy="849300"/>
          </a:xfrm>
          <a:prstGeom prst="ellipse">
            <a:avLst/>
          </a:prstGeom>
          <a:solidFill>
            <a:srgbClr val="FFFC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Solve SubProblem</a:t>
            </a:r>
            <a:endParaRPr/>
          </a:p>
        </p:txBody>
      </p:sp>
      <p:cxnSp>
        <p:nvCxnSpPr>
          <p:cNvPr id="101" name="Google Shape;101;p19"/>
          <p:cNvCxnSpPr>
            <a:stCxn id="94" idx="3"/>
            <a:endCxn id="95" idx="0"/>
          </p:cNvCxnSpPr>
          <p:nvPr/>
        </p:nvCxnSpPr>
        <p:spPr>
          <a:xfrm flipH="1">
            <a:off x="2237612" y="1921098"/>
            <a:ext cx="1345800" cy="225900"/>
          </a:xfrm>
          <a:prstGeom prst="straightConnector1">
            <a:avLst/>
          </a:prstGeom>
          <a:noFill/>
          <a:ln cap="flat" cmpd="sng" w="19050">
            <a:solidFill>
              <a:srgbClr val="674EA7"/>
            </a:solidFill>
            <a:prstDash val="solid"/>
            <a:round/>
            <a:headEnd len="med" w="med" type="none"/>
            <a:tailEnd len="med" w="med" type="triangle"/>
          </a:ln>
        </p:spPr>
      </p:cxnSp>
      <p:cxnSp>
        <p:nvCxnSpPr>
          <p:cNvPr id="102" name="Google Shape;102;p19"/>
          <p:cNvCxnSpPr>
            <a:stCxn id="94" idx="5"/>
            <a:endCxn id="96" idx="0"/>
          </p:cNvCxnSpPr>
          <p:nvPr/>
        </p:nvCxnSpPr>
        <p:spPr>
          <a:xfrm>
            <a:off x="4945088" y="1921098"/>
            <a:ext cx="1496700" cy="225900"/>
          </a:xfrm>
          <a:prstGeom prst="straightConnector1">
            <a:avLst/>
          </a:prstGeom>
          <a:noFill/>
          <a:ln cap="flat" cmpd="sng" w="19050">
            <a:solidFill>
              <a:srgbClr val="674EA7"/>
            </a:solidFill>
            <a:prstDash val="solid"/>
            <a:round/>
            <a:headEnd len="med" w="med" type="none"/>
            <a:tailEnd len="med" w="med" type="triangle"/>
          </a:ln>
        </p:spPr>
      </p:cxnSp>
      <p:cxnSp>
        <p:nvCxnSpPr>
          <p:cNvPr id="103" name="Google Shape;103;p19"/>
          <p:cNvCxnSpPr>
            <a:stCxn id="95" idx="3"/>
            <a:endCxn id="97" idx="0"/>
          </p:cNvCxnSpPr>
          <p:nvPr/>
        </p:nvCxnSpPr>
        <p:spPr>
          <a:xfrm flipH="1">
            <a:off x="1274637" y="2872023"/>
            <a:ext cx="282000" cy="731400"/>
          </a:xfrm>
          <a:prstGeom prst="straightConnector1">
            <a:avLst/>
          </a:prstGeom>
          <a:noFill/>
          <a:ln cap="flat" cmpd="sng" w="19050">
            <a:solidFill>
              <a:srgbClr val="674EA7"/>
            </a:solidFill>
            <a:prstDash val="solid"/>
            <a:round/>
            <a:headEnd len="med" w="med" type="none"/>
            <a:tailEnd len="med" w="med" type="triangle"/>
          </a:ln>
        </p:spPr>
      </p:cxnSp>
      <p:cxnSp>
        <p:nvCxnSpPr>
          <p:cNvPr id="104" name="Google Shape;104;p19"/>
          <p:cNvCxnSpPr>
            <a:stCxn id="95" idx="5"/>
            <a:endCxn id="98" idx="0"/>
          </p:cNvCxnSpPr>
          <p:nvPr/>
        </p:nvCxnSpPr>
        <p:spPr>
          <a:xfrm>
            <a:off x="2918313" y="2872023"/>
            <a:ext cx="434400" cy="731400"/>
          </a:xfrm>
          <a:prstGeom prst="straightConnector1">
            <a:avLst/>
          </a:prstGeom>
          <a:noFill/>
          <a:ln cap="flat" cmpd="sng" w="19050">
            <a:solidFill>
              <a:srgbClr val="674EA7"/>
            </a:solidFill>
            <a:prstDash val="solid"/>
            <a:round/>
            <a:headEnd len="med" w="med" type="none"/>
            <a:tailEnd len="med" w="med" type="triangle"/>
          </a:ln>
        </p:spPr>
      </p:cxnSp>
      <p:cxnSp>
        <p:nvCxnSpPr>
          <p:cNvPr id="105" name="Google Shape;105;p19"/>
          <p:cNvCxnSpPr>
            <a:stCxn id="96" idx="3"/>
            <a:endCxn id="99" idx="0"/>
          </p:cNvCxnSpPr>
          <p:nvPr/>
        </p:nvCxnSpPr>
        <p:spPr>
          <a:xfrm flipH="1">
            <a:off x="5430962" y="2871998"/>
            <a:ext cx="330000" cy="731400"/>
          </a:xfrm>
          <a:prstGeom prst="straightConnector1">
            <a:avLst/>
          </a:prstGeom>
          <a:noFill/>
          <a:ln cap="flat" cmpd="sng" w="19050">
            <a:solidFill>
              <a:srgbClr val="674EA7"/>
            </a:solidFill>
            <a:prstDash val="solid"/>
            <a:round/>
            <a:headEnd len="med" w="med" type="none"/>
            <a:tailEnd len="med" w="med" type="triangle"/>
          </a:ln>
        </p:spPr>
      </p:cxnSp>
      <p:cxnSp>
        <p:nvCxnSpPr>
          <p:cNvPr id="106" name="Google Shape;106;p19"/>
          <p:cNvCxnSpPr>
            <a:stCxn id="96" idx="5"/>
            <a:endCxn id="100" idx="0"/>
          </p:cNvCxnSpPr>
          <p:nvPr/>
        </p:nvCxnSpPr>
        <p:spPr>
          <a:xfrm>
            <a:off x="7122638" y="2871998"/>
            <a:ext cx="386700" cy="731400"/>
          </a:xfrm>
          <a:prstGeom prst="straightConnector1">
            <a:avLst/>
          </a:prstGeom>
          <a:noFill/>
          <a:ln cap="flat" cmpd="sng" w="19050">
            <a:solidFill>
              <a:srgbClr val="674EA7"/>
            </a:solidFill>
            <a:prstDash val="solid"/>
            <a:round/>
            <a:headEnd len="med" w="med" type="none"/>
            <a:tailEnd len="med" w="med" type="triangle"/>
          </a:ln>
        </p:spPr>
      </p:cxnSp>
      <p:cxnSp>
        <p:nvCxnSpPr>
          <p:cNvPr id="107" name="Google Shape;107;p19"/>
          <p:cNvCxnSpPr>
            <a:stCxn id="95" idx="7"/>
            <a:endCxn id="94" idx="4"/>
          </p:cNvCxnSpPr>
          <p:nvPr/>
        </p:nvCxnSpPr>
        <p:spPr>
          <a:xfrm flipH="1" rot="10800000">
            <a:off x="2918313" y="2045577"/>
            <a:ext cx="1345800" cy="225900"/>
          </a:xfrm>
          <a:prstGeom prst="straightConnector1">
            <a:avLst/>
          </a:prstGeom>
          <a:noFill/>
          <a:ln cap="flat" cmpd="sng" w="19050">
            <a:solidFill>
              <a:srgbClr val="F1C232"/>
            </a:solidFill>
            <a:prstDash val="solid"/>
            <a:round/>
            <a:headEnd len="med" w="med" type="none"/>
            <a:tailEnd len="med" w="med" type="triangle"/>
          </a:ln>
        </p:spPr>
      </p:cxnSp>
      <p:cxnSp>
        <p:nvCxnSpPr>
          <p:cNvPr id="108" name="Google Shape;108;p19"/>
          <p:cNvCxnSpPr>
            <a:stCxn id="96" idx="1"/>
            <a:endCxn id="94" idx="4"/>
          </p:cNvCxnSpPr>
          <p:nvPr/>
        </p:nvCxnSpPr>
        <p:spPr>
          <a:xfrm rot="10800000">
            <a:off x="4264262" y="2045552"/>
            <a:ext cx="1496700" cy="225900"/>
          </a:xfrm>
          <a:prstGeom prst="straightConnector1">
            <a:avLst/>
          </a:prstGeom>
          <a:noFill/>
          <a:ln cap="flat" cmpd="sng" w="19050">
            <a:solidFill>
              <a:srgbClr val="F1C232"/>
            </a:solidFill>
            <a:prstDash val="solid"/>
            <a:round/>
            <a:headEnd len="med" w="med" type="none"/>
            <a:tailEnd len="med" w="med" type="triangle"/>
          </a:ln>
        </p:spPr>
      </p:cxnSp>
      <p:cxnSp>
        <p:nvCxnSpPr>
          <p:cNvPr id="109" name="Google Shape;109;p19"/>
          <p:cNvCxnSpPr/>
          <p:nvPr/>
        </p:nvCxnSpPr>
        <p:spPr>
          <a:xfrm flipH="1" rot="10800000">
            <a:off x="1955388" y="2996402"/>
            <a:ext cx="282000" cy="731400"/>
          </a:xfrm>
          <a:prstGeom prst="straightConnector1">
            <a:avLst/>
          </a:prstGeom>
          <a:noFill/>
          <a:ln cap="flat" cmpd="sng" w="19050">
            <a:solidFill>
              <a:srgbClr val="F1C232"/>
            </a:solidFill>
            <a:prstDash val="solid"/>
            <a:round/>
            <a:headEnd len="med" w="med" type="none"/>
            <a:tailEnd len="med" w="med" type="triangle"/>
          </a:ln>
        </p:spPr>
      </p:cxnSp>
      <p:cxnSp>
        <p:nvCxnSpPr>
          <p:cNvPr id="110" name="Google Shape;110;p19"/>
          <p:cNvCxnSpPr>
            <a:stCxn id="98" idx="1"/>
            <a:endCxn id="95" idx="4"/>
          </p:cNvCxnSpPr>
          <p:nvPr/>
        </p:nvCxnSpPr>
        <p:spPr>
          <a:xfrm rot="10800000">
            <a:off x="2237537" y="2996302"/>
            <a:ext cx="434400" cy="731400"/>
          </a:xfrm>
          <a:prstGeom prst="straightConnector1">
            <a:avLst/>
          </a:prstGeom>
          <a:noFill/>
          <a:ln cap="flat" cmpd="sng" w="19050">
            <a:solidFill>
              <a:srgbClr val="F1C232"/>
            </a:solidFill>
            <a:prstDash val="solid"/>
            <a:round/>
            <a:headEnd len="med" w="med" type="none"/>
            <a:tailEnd len="med" w="med" type="triangle"/>
          </a:ln>
        </p:spPr>
      </p:cxnSp>
      <p:cxnSp>
        <p:nvCxnSpPr>
          <p:cNvPr id="111" name="Google Shape;111;p19"/>
          <p:cNvCxnSpPr>
            <a:stCxn id="100" idx="1"/>
            <a:endCxn id="96" idx="4"/>
          </p:cNvCxnSpPr>
          <p:nvPr/>
        </p:nvCxnSpPr>
        <p:spPr>
          <a:xfrm rot="10800000">
            <a:off x="6441687" y="2996302"/>
            <a:ext cx="386700" cy="731400"/>
          </a:xfrm>
          <a:prstGeom prst="straightConnector1">
            <a:avLst/>
          </a:prstGeom>
          <a:noFill/>
          <a:ln cap="flat" cmpd="sng" w="19050">
            <a:solidFill>
              <a:srgbClr val="F1C232"/>
            </a:solidFill>
            <a:prstDash val="solid"/>
            <a:round/>
            <a:headEnd len="med" w="med" type="none"/>
            <a:tailEnd len="med" w="med" type="triangle"/>
          </a:ln>
        </p:spPr>
      </p:cxnSp>
      <p:cxnSp>
        <p:nvCxnSpPr>
          <p:cNvPr id="112" name="Google Shape;112;p19"/>
          <p:cNvCxnSpPr>
            <a:stCxn id="99" idx="7"/>
            <a:endCxn id="96" idx="4"/>
          </p:cNvCxnSpPr>
          <p:nvPr/>
        </p:nvCxnSpPr>
        <p:spPr>
          <a:xfrm flipH="1" rot="10800000">
            <a:off x="6111825" y="2996302"/>
            <a:ext cx="330000" cy="731400"/>
          </a:xfrm>
          <a:prstGeom prst="straightConnector1">
            <a:avLst/>
          </a:prstGeom>
          <a:noFill/>
          <a:ln cap="flat" cmpd="sng" w="19050">
            <a:solidFill>
              <a:srgbClr val="F1C23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1000"/>
                                        <p:tgtEl>
                                          <p:spTgt spid="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1000"/>
                                        <p:tgtEl>
                                          <p:spTgt spid="95"/>
                                        </p:tgtEl>
                                      </p:cBhvr>
                                    </p:animEffect>
                                  </p:childTnLst>
                                </p:cTn>
                              </p:par>
                              <p:par>
                                <p:cTn fill="hold" nodeType="with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1000"/>
                                        <p:tgtEl>
                                          <p:spTgt spid="101"/>
                                        </p:tgtEl>
                                      </p:cBhvr>
                                    </p:animEffect>
                                  </p:childTnLst>
                                </p:cTn>
                              </p:par>
                              <p:par>
                                <p:cTn fill="hold" nodeType="with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1000"/>
                                        <p:tgtEl>
                                          <p:spTgt spid="102"/>
                                        </p:tgtEl>
                                      </p:cBhvr>
                                    </p:animEffect>
                                  </p:childTnLst>
                                </p:cTn>
                              </p:par>
                              <p:par>
                                <p:cTn fill="hold" nodeType="with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1000"/>
                                        <p:tgtEl>
                                          <p:spTgt spid="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1000"/>
                                        <p:tgtEl>
                                          <p:spTgt spid="97"/>
                                        </p:tgtEl>
                                      </p:cBhvr>
                                    </p:animEffect>
                                  </p:childTnLst>
                                </p:cTn>
                              </p:par>
                              <p:par>
                                <p:cTn fill="hold" nodeType="with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1000"/>
                                        <p:tgtEl>
                                          <p:spTgt spid="98"/>
                                        </p:tgtEl>
                                      </p:cBhvr>
                                    </p:animEffect>
                                  </p:childTnLst>
                                </p:cTn>
                              </p:par>
                              <p:par>
                                <p:cTn fill="hold" nodeType="with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1000"/>
                                        <p:tgtEl>
                                          <p:spTgt spid="99"/>
                                        </p:tgtEl>
                                      </p:cBhvr>
                                    </p:animEffect>
                                  </p:childTnLst>
                                </p:cTn>
                              </p:par>
                              <p:par>
                                <p:cTn fill="hold" nodeType="with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1000"/>
                                        <p:tgtEl>
                                          <p:spTgt spid="103"/>
                                        </p:tgtEl>
                                      </p:cBhvr>
                                    </p:animEffect>
                                  </p:childTnLst>
                                </p:cTn>
                              </p:par>
                              <p:par>
                                <p:cTn fill="hold" nodeType="with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1000"/>
                                        <p:tgtEl>
                                          <p:spTgt spid="104"/>
                                        </p:tgtEl>
                                      </p:cBhvr>
                                    </p:animEffect>
                                  </p:childTnLst>
                                </p:cTn>
                              </p:par>
                              <p:par>
                                <p:cTn fill="hold" nodeType="with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1000"/>
                                        <p:tgtEl>
                                          <p:spTgt spid="105"/>
                                        </p:tgtEl>
                                      </p:cBhvr>
                                    </p:animEffect>
                                  </p:childTnLst>
                                </p:cTn>
                              </p:par>
                              <p:par>
                                <p:cTn fill="hold" nodeType="with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1000"/>
                                        <p:tgtEl>
                                          <p:spTgt spid="106"/>
                                        </p:tgtEl>
                                      </p:cBhvr>
                                    </p:animEffect>
                                  </p:childTnLst>
                                </p:cTn>
                              </p:par>
                              <p:par>
                                <p:cTn fill="hold" nodeType="with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1000"/>
                                        <p:tgtEl>
                                          <p:spTgt spid="1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1000"/>
                                        <p:tgtEl>
                                          <p:spTgt spid="109"/>
                                        </p:tgtEl>
                                      </p:cBhvr>
                                    </p:animEffect>
                                  </p:childTnLst>
                                </p:cTn>
                              </p:par>
                              <p:par>
                                <p:cTn fill="hold" nodeType="with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1000"/>
                                        <p:tgtEl>
                                          <p:spTgt spid="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1000"/>
                                        <p:tgtEl>
                                          <p:spTgt spid="112"/>
                                        </p:tgtEl>
                                      </p:cBhvr>
                                    </p:animEffect>
                                  </p:childTnLst>
                                </p:cTn>
                              </p:par>
                              <p:par>
                                <p:cTn fill="hold" nodeType="with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1000"/>
                                        <p:tgtEl>
                                          <p:spTgt spid="1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1000"/>
                                        <p:tgtEl>
                                          <p:spTgt spid="107"/>
                                        </p:tgtEl>
                                      </p:cBhvr>
                                    </p:animEffect>
                                  </p:childTnLst>
                                </p:cTn>
                              </p:par>
                              <p:par>
                                <p:cTn fill="hold" nodeType="with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000"/>
                                        <p:tgtEl>
                                          <p:spTgt spid="1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Merge Sort - Array Merging</a:t>
            </a:r>
            <a:endParaRPr/>
          </a:p>
        </p:txBody>
      </p:sp>
      <p:sp>
        <p:nvSpPr>
          <p:cNvPr id="118" name="Google Shape;118;p20"/>
          <p:cNvSpPr/>
          <p:nvPr/>
        </p:nvSpPr>
        <p:spPr>
          <a:xfrm>
            <a:off x="1778500" y="1509650"/>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119" name="Google Shape;119;p20"/>
          <p:cNvSpPr/>
          <p:nvPr/>
        </p:nvSpPr>
        <p:spPr>
          <a:xfrm>
            <a:off x="2465800" y="1509650"/>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120" name="Google Shape;120;p20"/>
          <p:cNvSpPr/>
          <p:nvPr/>
        </p:nvSpPr>
        <p:spPr>
          <a:xfrm>
            <a:off x="3153100" y="1509650"/>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121" name="Google Shape;121;p20"/>
          <p:cNvSpPr/>
          <p:nvPr/>
        </p:nvSpPr>
        <p:spPr>
          <a:xfrm>
            <a:off x="3840400" y="1509650"/>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122" name="Google Shape;122;p20"/>
          <p:cNvSpPr/>
          <p:nvPr/>
        </p:nvSpPr>
        <p:spPr>
          <a:xfrm>
            <a:off x="4527700" y="1509650"/>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123" name="Google Shape;123;p20"/>
          <p:cNvSpPr/>
          <p:nvPr/>
        </p:nvSpPr>
        <p:spPr>
          <a:xfrm>
            <a:off x="5215000" y="1509650"/>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124" name="Google Shape;124;p20"/>
          <p:cNvSpPr/>
          <p:nvPr/>
        </p:nvSpPr>
        <p:spPr>
          <a:xfrm>
            <a:off x="5902300" y="1509650"/>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125" name="Google Shape;125;p20"/>
          <p:cNvSpPr/>
          <p:nvPr/>
        </p:nvSpPr>
        <p:spPr>
          <a:xfrm>
            <a:off x="6589600" y="1509650"/>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126" name="Google Shape;126;p20"/>
          <p:cNvSpPr/>
          <p:nvPr/>
        </p:nvSpPr>
        <p:spPr>
          <a:xfrm>
            <a:off x="677875" y="293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127" name="Google Shape;127;p20"/>
          <p:cNvSpPr/>
          <p:nvPr/>
        </p:nvSpPr>
        <p:spPr>
          <a:xfrm>
            <a:off x="1365175" y="293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128" name="Google Shape;128;p20"/>
          <p:cNvSpPr/>
          <p:nvPr/>
        </p:nvSpPr>
        <p:spPr>
          <a:xfrm>
            <a:off x="2052475" y="293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129" name="Google Shape;129;p20"/>
          <p:cNvSpPr/>
          <p:nvPr/>
        </p:nvSpPr>
        <p:spPr>
          <a:xfrm>
            <a:off x="2739775" y="293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130" name="Google Shape;130;p20"/>
          <p:cNvSpPr/>
          <p:nvPr/>
        </p:nvSpPr>
        <p:spPr>
          <a:xfrm>
            <a:off x="7810613" y="29180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131" name="Google Shape;131;p20"/>
          <p:cNvSpPr/>
          <p:nvPr/>
        </p:nvSpPr>
        <p:spPr>
          <a:xfrm>
            <a:off x="5770688" y="29180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132" name="Google Shape;132;p20"/>
          <p:cNvSpPr/>
          <p:nvPr/>
        </p:nvSpPr>
        <p:spPr>
          <a:xfrm>
            <a:off x="6457988" y="29180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133" name="Google Shape;133;p20"/>
          <p:cNvSpPr/>
          <p:nvPr/>
        </p:nvSpPr>
        <p:spPr>
          <a:xfrm>
            <a:off x="7145288" y="29180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134" name="Google Shape;134;p20"/>
          <p:cNvSpPr/>
          <p:nvPr/>
        </p:nvSpPr>
        <p:spPr>
          <a:xfrm>
            <a:off x="1778500" y="1509650"/>
            <a:ext cx="687300" cy="424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cxnSp>
        <p:nvCxnSpPr>
          <p:cNvPr id="135" name="Google Shape;135;p20"/>
          <p:cNvCxnSpPr>
            <a:stCxn id="131" idx="0"/>
            <a:endCxn id="134" idx="2"/>
          </p:cNvCxnSpPr>
          <p:nvPr/>
        </p:nvCxnSpPr>
        <p:spPr>
          <a:xfrm rot="10800000">
            <a:off x="2122238" y="1934025"/>
            <a:ext cx="3992100" cy="984000"/>
          </a:xfrm>
          <a:prstGeom prst="straightConnector1">
            <a:avLst/>
          </a:prstGeom>
          <a:noFill/>
          <a:ln cap="flat" cmpd="sng" w="19050">
            <a:solidFill>
              <a:srgbClr val="6AA84F"/>
            </a:solidFill>
            <a:prstDash val="solid"/>
            <a:round/>
            <a:headEnd len="med" w="med" type="none"/>
            <a:tailEnd len="med" w="med" type="triangle"/>
          </a:ln>
        </p:spPr>
      </p:cxnSp>
      <p:sp>
        <p:nvSpPr>
          <p:cNvPr id="136" name="Google Shape;136;p20"/>
          <p:cNvSpPr/>
          <p:nvPr/>
        </p:nvSpPr>
        <p:spPr>
          <a:xfrm>
            <a:off x="2465800" y="1509650"/>
            <a:ext cx="687300" cy="424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137" name="Google Shape;137;p20"/>
          <p:cNvSpPr/>
          <p:nvPr/>
        </p:nvSpPr>
        <p:spPr>
          <a:xfrm>
            <a:off x="3153100" y="1509650"/>
            <a:ext cx="687300" cy="424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138" name="Google Shape;138;p20"/>
          <p:cNvSpPr/>
          <p:nvPr/>
        </p:nvSpPr>
        <p:spPr>
          <a:xfrm>
            <a:off x="3840400" y="1509650"/>
            <a:ext cx="687300" cy="424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139" name="Google Shape;139;p20"/>
          <p:cNvSpPr/>
          <p:nvPr/>
        </p:nvSpPr>
        <p:spPr>
          <a:xfrm>
            <a:off x="4527700" y="1509650"/>
            <a:ext cx="687300" cy="424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140" name="Google Shape;140;p20"/>
          <p:cNvSpPr/>
          <p:nvPr/>
        </p:nvSpPr>
        <p:spPr>
          <a:xfrm>
            <a:off x="5215000" y="1509650"/>
            <a:ext cx="687300" cy="424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141" name="Google Shape;141;p20"/>
          <p:cNvSpPr/>
          <p:nvPr/>
        </p:nvSpPr>
        <p:spPr>
          <a:xfrm>
            <a:off x="5902300" y="1509650"/>
            <a:ext cx="687300" cy="424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142" name="Google Shape;142;p20"/>
          <p:cNvSpPr/>
          <p:nvPr/>
        </p:nvSpPr>
        <p:spPr>
          <a:xfrm>
            <a:off x="6589600" y="1509650"/>
            <a:ext cx="687300" cy="424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cxnSp>
        <p:nvCxnSpPr>
          <p:cNvPr id="143" name="Google Shape;143;p20"/>
          <p:cNvCxnSpPr>
            <a:stCxn id="126" idx="0"/>
            <a:endCxn id="136" idx="2"/>
          </p:cNvCxnSpPr>
          <p:nvPr/>
        </p:nvCxnSpPr>
        <p:spPr>
          <a:xfrm flipH="1" rot="10800000">
            <a:off x="1021525" y="1934125"/>
            <a:ext cx="1788000" cy="997200"/>
          </a:xfrm>
          <a:prstGeom prst="straightConnector1">
            <a:avLst/>
          </a:prstGeom>
          <a:noFill/>
          <a:ln cap="flat" cmpd="sng" w="19050">
            <a:solidFill>
              <a:srgbClr val="6AA84F"/>
            </a:solidFill>
            <a:prstDash val="solid"/>
            <a:round/>
            <a:headEnd len="med" w="med" type="none"/>
            <a:tailEnd len="med" w="med" type="triangle"/>
          </a:ln>
        </p:spPr>
      </p:cxnSp>
      <p:cxnSp>
        <p:nvCxnSpPr>
          <p:cNvPr id="144" name="Google Shape;144;p20"/>
          <p:cNvCxnSpPr>
            <a:stCxn id="127" idx="0"/>
            <a:endCxn id="137" idx="2"/>
          </p:cNvCxnSpPr>
          <p:nvPr/>
        </p:nvCxnSpPr>
        <p:spPr>
          <a:xfrm flipH="1" rot="10800000">
            <a:off x="1708825" y="1934125"/>
            <a:ext cx="1788000" cy="997200"/>
          </a:xfrm>
          <a:prstGeom prst="straightConnector1">
            <a:avLst/>
          </a:prstGeom>
          <a:noFill/>
          <a:ln cap="flat" cmpd="sng" w="19050">
            <a:solidFill>
              <a:srgbClr val="6AA84F"/>
            </a:solidFill>
            <a:prstDash val="solid"/>
            <a:round/>
            <a:headEnd len="med" w="med" type="none"/>
            <a:tailEnd len="med" w="med" type="triangle"/>
          </a:ln>
        </p:spPr>
      </p:cxnSp>
      <p:cxnSp>
        <p:nvCxnSpPr>
          <p:cNvPr id="145" name="Google Shape;145;p20"/>
          <p:cNvCxnSpPr>
            <a:stCxn id="132" idx="0"/>
            <a:endCxn id="138" idx="2"/>
          </p:cNvCxnSpPr>
          <p:nvPr/>
        </p:nvCxnSpPr>
        <p:spPr>
          <a:xfrm rot="10800000">
            <a:off x="4184138" y="1934025"/>
            <a:ext cx="2617500" cy="984000"/>
          </a:xfrm>
          <a:prstGeom prst="straightConnector1">
            <a:avLst/>
          </a:prstGeom>
          <a:noFill/>
          <a:ln cap="flat" cmpd="sng" w="19050">
            <a:solidFill>
              <a:srgbClr val="6AA84F"/>
            </a:solidFill>
            <a:prstDash val="solid"/>
            <a:round/>
            <a:headEnd len="med" w="med" type="none"/>
            <a:tailEnd len="med" w="med" type="triangle"/>
          </a:ln>
        </p:spPr>
      </p:cxnSp>
      <p:cxnSp>
        <p:nvCxnSpPr>
          <p:cNvPr id="146" name="Google Shape;146;p20"/>
          <p:cNvCxnSpPr>
            <a:stCxn id="133" idx="0"/>
            <a:endCxn id="139" idx="2"/>
          </p:cNvCxnSpPr>
          <p:nvPr/>
        </p:nvCxnSpPr>
        <p:spPr>
          <a:xfrm rot="10800000">
            <a:off x="4871438" y="1934025"/>
            <a:ext cx="2617500" cy="984000"/>
          </a:xfrm>
          <a:prstGeom prst="straightConnector1">
            <a:avLst/>
          </a:prstGeom>
          <a:noFill/>
          <a:ln cap="flat" cmpd="sng" w="19050">
            <a:solidFill>
              <a:srgbClr val="6AA84F"/>
            </a:solidFill>
            <a:prstDash val="solid"/>
            <a:round/>
            <a:headEnd len="med" w="med" type="none"/>
            <a:tailEnd len="med" w="med" type="triangle"/>
          </a:ln>
        </p:spPr>
      </p:cxnSp>
      <p:cxnSp>
        <p:nvCxnSpPr>
          <p:cNvPr id="147" name="Google Shape;147;p20"/>
          <p:cNvCxnSpPr>
            <a:stCxn id="128" idx="0"/>
            <a:endCxn id="140" idx="2"/>
          </p:cNvCxnSpPr>
          <p:nvPr/>
        </p:nvCxnSpPr>
        <p:spPr>
          <a:xfrm flipH="1" rot="10800000">
            <a:off x="2396125" y="1934125"/>
            <a:ext cx="3162600" cy="997200"/>
          </a:xfrm>
          <a:prstGeom prst="straightConnector1">
            <a:avLst/>
          </a:prstGeom>
          <a:noFill/>
          <a:ln cap="flat" cmpd="sng" w="19050">
            <a:solidFill>
              <a:srgbClr val="6AA84F"/>
            </a:solidFill>
            <a:prstDash val="solid"/>
            <a:round/>
            <a:headEnd len="med" w="med" type="none"/>
            <a:tailEnd len="med" w="med" type="triangle"/>
          </a:ln>
        </p:spPr>
      </p:cxnSp>
      <p:cxnSp>
        <p:nvCxnSpPr>
          <p:cNvPr id="148" name="Google Shape;148;p20"/>
          <p:cNvCxnSpPr>
            <a:stCxn id="129" idx="0"/>
            <a:endCxn id="141" idx="2"/>
          </p:cNvCxnSpPr>
          <p:nvPr/>
        </p:nvCxnSpPr>
        <p:spPr>
          <a:xfrm flipH="1" rot="10800000">
            <a:off x="3083425" y="1934125"/>
            <a:ext cx="3162600" cy="997200"/>
          </a:xfrm>
          <a:prstGeom prst="straightConnector1">
            <a:avLst/>
          </a:prstGeom>
          <a:noFill/>
          <a:ln cap="flat" cmpd="sng" w="19050">
            <a:solidFill>
              <a:srgbClr val="6AA84F"/>
            </a:solidFill>
            <a:prstDash val="solid"/>
            <a:round/>
            <a:headEnd len="med" w="med" type="none"/>
            <a:tailEnd len="med" w="med" type="triangle"/>
          </a:ln>
        </p:spPr>
      </p:cxnSp>
      <p:cxnSp>
        <p:nvCxnSpPr>
          <p:cNvPr id="149" name="Google Shape;149;p20"/>
          <p:cNvCxnSpPr>
            <a:stCxn id="130" idx="0"/>
            <a:endCxn id="142" idx="2"/>
          </p:cNvCxnSpPr>
          <p:nvPr/>
        </p:nvCxnSpPr>
        <p:spPr>
          <a:xfrm rot="10800000">
            <a:off x="6933263" y="1934025"/>
            <a:ext cx="1221000" cy="984000"/>
          </a:xfrm>
          <a:prstGeom prst="straightConnector1">
            <a:avLst/>
          </a:prstGeom>
          <a:noFill/>
          <a:ln cap="flat" cmpd="sng" w="19050">
            <a:solidFill>
              <a:srgbClr val="6AA84F"/>
            </a:solidFill>
            <a:prstDash val="solid"/>
            <a:round/>
            <a:headEnd len="med" w="med" type="none"/>
            <a:tailEnd len="med" w="med" type="triangle"/>
          </a:ln>
        </p:spPr>
      </p:cxnSp>
      <p:sp>
        <p:nvSpPr>
          <p:cNvPr id="150" name="Google Shape;150;p20"/>
          <p:cNvSpPr txBox="1"/>
          <p:nvPr/>
        </p:nvSpPr>
        <p:spPr>
          <a:xfrm>
            <a:off x="758600" y="3847725"/>
            <a:ext cx="56994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Complexity of array merging for </a:t>
            </a:r>
            <a:r>
              <a:rPr b="1" lang="en">
                <a:solidFill>
                  <a:srgbClr val="674EA7"/>
                </a:solidFill>
              </a:rPr>
              <a:t>n</a:t>
            </a:r>
            <a:r>
              <a:rPr lang="en">
                <a:solidFill>
                  <a:schemeClr val="dk2"/>
                </a:solidFill>
              </a:rPr>
              <a:t> elements?</a:t>
            </a:r>
            <a:endParaRPr>
              <a:solidFill>
                <a:schemeClr val="dk2"/>
              </a:solidFill>
            </a:endParaRPr>
          </a:p>
          <a:p>
            <a:pPr indent="0" lvl="0" marL="0" rtl="0" algn="l">
              <a:spcBef>
                <a:spcPts val="0"/>
              </a:spcBef>
              <a:spcAft>
                <a:spcPts val="0"/>
              </a:spcAft>
              <a:buNone/>
            </a:pPr>
            <a:r>
              <a:rPr lang="en">
                <a:solidFill>
                  <a:schemeClr val="dk2"/>
                </a:solidFill>
              </a:rPr>
              <a:t>O(1)</a:t>
            </a:r>
            <a:endParaRPr>
              <a:solidFill>
                <a:schemeClr val="dk2"/>
              </a:solidFill>
            </a:endParaRPr>
          </a:p>
          <a:p>
            <a:pPr indent="0" lvl="0" marL="0" rtl="0" algn="l">
              <a:spcBef>
                <a:spcPts val="0"/>
              </a:spcBef>
              <a:spcAft>
                <a:spcPts val="0"/>
              </a:spcAft>
              <a:buNone/>
            </a:pPr>
            <a:r>
              <a:rPr lang="en">
                <a:solidFill>
                  <a:schemeClr val="dk2"/>
                </a:solidFill>
              </a:rPr>
              <a:t>O(log n)</a:t>
            </a:r>
            <a:endParaRPr>
              <a:solidFill>
                <a:schemeClr val="dk2"/>
              </a:solidFill>
            </a:endParaRPr>
          </a:p>
          <a:p>
            <a:pPr indent="0" lvl="0" marL="0" rtl="0" algn="l">
              <a:spcBef>
                <a:spcPts val="0"/>
              </a:spcBef>
              <a:spcAft>
                <a:spcPts val="0"/>
              </a:spcAft>
              <a:buNone/>
            </a:pPr>
            <a:r>
              <a:rPr lang="en">
                <a:solidFill>
                  <a:schemeClr val="dk2"/>
                </a:solidFill>
              </a:rPr>
              <a:t>O(n)</a:t>
            </a:r>
            <a:endParaRPr>
              <a:solidFill>
                <a:schemeClr val="dk2"/>
              </a:solidFill>
            </a:endParaRPr>
          </a:p>
          <a:p>
            <a:pPr indent="0" lvl="0" marL="0" rtl="0" algn="l">
              <a:spcBef>
                <a:spcPts val="0"/>
              </a:spcBef>
              <a:spcAft>
                <a:spcPts val="0"/>
              </a:spcAft>
              <a:buNone/>
            </a:pPr>
            <a:r>
              <a:rPr lang="en">
                <a:solidFill>
                  <a:schemeClr val="dk2"/>
                </a:solidFill>
              </a:rPr>
              <a:t>O(n</a:t>
            </a:r>
            <a:r>
              <a:rPr baseline="30000" lang="en">
                <a:solidFill>
                  <a:schemeClr val="dk2"/>
                </a:solidFill>
              </a:rPr>
              <a:t>2</a:t>
            </a:r>
            <a:r>
              <a:rPr lang="en">
                <a:solidFill>
                  <a:schemeClr val="dk2"/>
                </a:solidFill>
              </a:rPr>
              <a:t>)</a:t>
            </a:r>
            <a:endParaRPr>
              <a:solidFill>
                <a:schemeClr val="dk2"/>
              </a:solidFill>
            </a:endParaRPr>
          </a:p>
          <a:p>
            <a:pPr indent="0" lvl="0" marL="0" rtl="0" algn="l">
              <a:spcBef>
                <a:spcPts val="0"/>
              </a:spcBef>
              <a:spcAft>
                <a:spcPts val="0"/>
              </a:spcAft>
              <a:buNone/>
            </a:pPr>
            <a:r>
              <a:t/>
            </a:r>
            <a:endParaRPr>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0" st="0"/>
                                            </p:txEl>
                                          </p:spTgt>
                                        </p:tgtEl>
                                        <p:attrNameLst>
                                          <p:attrName>style.visibility</p:attrName>
                                        </p:attrNameLst>
                                      </p:cBhvr>
                                      <p:to>
                                        <p:strVal val="visible"/>
                                      </p:to>
                                    </p:set>
                                    <p:animEffect filter="fade" transition="in">
                                      <p:cBhvr>
                                        <p:cTn dur="1000"/>
                                        <p:tgtEl>
                                          <p:spTgt spid="1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1" st="1"/>
                                            </p:txEl>
                                          </p:spTgt>
                                        </p:tgtEl>
                                        <p:attrNameLst>
                                          <p:attrName>style.visibility</p:attrName>
                                        </p:attrNameLst>
                                      </p:cBhvr>
                                      <p:to>
                                        <p:strVal val="visible"/>
                                      </p:to>
                                    </p:set>
                                    <p:animEffect filter="fade" transition="in">
                                      <p:cBhvr>
                                        <p:cTn dur="1000"/>
                                        <p:tgtEl>
                                          <p:spTgt spid="1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2" st="2"/>
                                            </p:txEl>
                                          </p:spTgt>
                                        </p:tgtEl>
                                        <p:attrNameLst>
                                          <p:attrName>style.visibility</p:attrName>
                                        </p:attrNameLst>
                                      </p:cBhvr>
                                      <p:to>
                                        <p:strVal val="visible"/>
                                      </p:to>
                                    </p:set>
                                    <p:animEffect filter="fade" transition="in">
                                      <p:cBhvr>
                                        <p:cTn dur="1000"/>
                                        <p:tgtEl>
                                          <p:spTgt spid="1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3" st="3"/>
                                            </p:txEl>
                                          </p:spTgt>
                                        </p:tgtEl>
                                        <p:attrNameLst>
                                          <p:attrName>style.visibility</p:attrName>
                                        </p:attrNameLst>
                                      </p:cBhvr>
                                      <p:to>
                                        <p:strVal val="visible"/>
                                      </p:to>
                                    </p:set>
                                    <p:animEffect filter="fade" transition="in">
                                      <p:cBhvr>
                                        <p:cTn dur="1000"/>
                                        <p:tgtEl>
                                          <p:spTgt spid="1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4" st="4"/>
                                            </p:txEl>
                                          </p:spTgt>
                                        </p:tgtEl>
                                        <p:attrNameLst>
                                          <p:attrName>style.visibility</p:attrName>
                                        </p:attrNameLst>
                                      </p:cBhvr>
                                      <p:to>
                                        <p:strVal val="visible"/>
                                      </p:to>
                                    </p:set>
                                    <p:animEffect filter="fade" transition="in">
                                      <p:cBhvr>
                                        <p:cTn dur="1000"/>
                                        <p:tgtEl>
                                          <p:spTgt spid="15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5" st="5"/>
                                            </p:txEl>
                                          </p:spTgt>
                                        </p:tgtEl>
                                        <p:attrNameLst>
                                          <p:attrName>style.visibility</p:attrName>
                                        </p:attrNameLst>
                                      </p:cBhvr>
                                      <p:to>
                                        <p:strVal val="visible"/>
                                      </p:to>
                                    </p:set>
                                    <p:animEffect filter="fade" transition="in">
                                      <p:cBhvr>
                                        <p:cTn dur="1000"/>
                                        <p:tgtEl>
                                          <p:spTgt spid="15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Merge Sort - Splitting</a:t>
            </a:r>
            <a:endParaRPr/>
          </a:p>
        </p:txBody>
      </p:sp>
      <p:sp>
        <p:nvSpPr>
          <p:cNvPr id="156" name="Google Shape;156;p21"/>
          <p:cNvSpPr/>
          <p:nvPr/>
        </p:nvSpPr>
        <p:spPr>
          <a:xfrm>
            <a:off x="1778500" y="1509650"/>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157" name="Google Shape;157;p21"/>
          <p:cNvSpPr/>
          <p:nvPr/>
        </p:nvSpPr>
        <p:spPr>
          <a:xfrm>
            <a:off x="2465800" y="1509650"/>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158" name="Google Shape;158;p21"/>
          <p:cNvSpPr/>
          <p:nvPr/>
        </p:nvSpPr>
        <p:spPr>
          <a:xfrm>
            <a:off x="3153100" y="1509650"/>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159" name="Google Shape;159;p21"/>
          <p:cNvSpPr/>
          <p:nvPr/>
        </p:nvSpPr>
        <p:spPr>
          <a:xfrm>
            <a:off x="3840400" y="1509650"/>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160" name="Google Shape;160;p21"/>
          <p:cNvSpPr/>
          <p:nvPr/>
        </p:nvSpPr>
        <p:spPr>
          <a:xfrm>
            <a:off x="4527700" y="1509650"/>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161" name="Google Shape;161;p21"/>
          <p:cNvSpPr/>
          <p:nvPr/>
        </p:nvSpPr>
        <p:spPr>
          <a:xfrm>
            <a:off x="5215000" y="1509650"/>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162" name="Google Shape;162;p21"/>
          <p:cNvSpPr/>
          <p:nvPr/>
        </p:nvSpPr>
        <p:spPr>
          <a:xfrm>
            <a:off x="5902300" y="1509650"/>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163" name="Google Shape;163;p21"/>
          <p:cNvSpPr/>
          <p:nvPr/>
        </p:nvSpPr>
        <p:spPr>
          <a:xfrm>
            <a:off x="6589600" y="1509650"/>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164" name="Google Shape;164;p21"/>
          <p:cNvSpPr/>
          <p:nvPr/>
        </p:nvSpPr>
        <p:spPr>
          <a:xfrm>
            <a:off x="597025" y="24260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165" name="Google Shape;165;p21"/>
          <p:cNvSpPr/>
          <p:nvPr/>
        </p:nvSpPr>
        <p:spPr>
          <a:xfrm>
            <a:off x="1284325" y="24260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166" name="Google Shape;166;p21"/>
          <p:cNvSpPr/>
          <p:nvPr/>
        </p:nvSpPr>
        <p:spPr>
          <a:xfrm>
            <a:off x="1971625" y="24260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167" name="Google Shape;167;p21"/>
          <p:cNvSpPr/>
          <p:nvPr/>
        </p:nvSpPr>
        <p:spPr>
          <a:xfrm>
            <a:off x="2658925" y="24260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168" name="Google Shape;168;p21"/>
          <p:cNvSpPr/>
          <p:nvPr/>
        </p:nvSpPr>
        <p:spPr>
          <a:xfrm>
            <a:off x="5701013" y="24260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169" name="Google Shape;169;p21"/>
          <p:cNvSpPr/>
          <p:nvPr/>
        </p:nvSpPr>
        <p:spPr>
          <a:xfrm>
            <a:off x="6388313" y="24260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170" name="Google Shape;170;p21"/>
          <p:cNvSpPr/>
          <p:nvPr/>
        </p:nvSpPr>
        <p:spPr>
          <a:xfrm>
            <a:off x="7075613" y="24260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171" name="Google Shape;171;p21"/>
          <p:cNvSpPr/>
          <p:nvPr/>
        </p:nvSpPr>
        <p:spPr>
          <a:xfrm>
            <a:off x="7762913" y="24260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172" name="Google Shape;172;p21"/>
          <p:cNvSpPr/>
          <p:nvPr/>
        </p:nvSpPr>
        <p:spPr>
          <a:xfrm>
            <a:off x="311700" y="327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173" name="Google Shape;173;p21"/>
          <p:cNvSpPr/>
          <p:nvPr/>
        </p:nvSpPr>
        <p:spPr>
          <a:xfrm>
            <a:off x="999000" y="327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174" name="Google Shape;174;p21"/>
          <p:cNvSpPr/>
          <p:nvPr/>
        </p:nvSpPr>
        <p:spPr>
          <a:xfrm>
            <a:off x="2315275" y="327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175" name="Google Shape;175;p21"/>
          <p:cNvSpPr/>
          <p:nvPr/>
        </p:nvSpPr>
        <p:spPr>
          <a:xfrm>
            <a:off x="3002575" y="327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176" name="Google Shape;176;p21"/>
          <p:cNvSpPr/>
          <p:nvPr/>
        </p:nvSpPr>
        <p:spPr>
          <a:xfrm>
            <a:off x="5357363" y="327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177" name="Google Shape;177;p21"/>
          <p:cNvSpPr/>
          <p:nvPr/>
        </p:nvSpPr>
        <p:spPr>
          <a:xfrm>
            <a:off x="6044663" y="327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178" name="Google Shape;178;p21"/>
          <p:cNvSpPr/>
          <p:nvPr/>
        </p:nvSpPr>
        <p:spPr>
          <a:xfrm>
            <a:off x="8073613" y="327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179" name="Google Shape;179;p21"/>
          <p:cNvSpPr/>
          <p:nvPr/>
        </p:nvSpPr>
        <p:spPr>
          <a:xfrm>
            <a:off x="7408288" y="327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180" name="Google Shape;180;p21"/>
          <p:cNvSpPr/>
          <p:nvPr/>
        </p:nvSpPr>
        <p:spPr>
          <a:xfrm>
            <a:off x="118500" y="41657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181" name="Google Shape;181;p21"/>
          <p:cNvSpPr/>
          <p:nvPr/>
        </p:nvSpPr>
        <p:spPr>
          <a:xfrm>
            <a:off x="1141225" y="41657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182" name="Google Shape;182;p21"/>
          <p:cNvSpPr/>
          <p:nvPr/>
        </p:nvSpPr>
        <p:spPr>
          <a:xfrm>
            <a:off x="2040750" y="41657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183" name="Google Shape;183;p21"/>
          <p:cNvSpPr/>
          <p:nvPr/>
        </p:nvSpPr>
        <p:spPr>
          <a:xfrm>
            <a:off x="3153100" y="41657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184" name="Google Shape;184;p21"/>
          <p:cNvSpPr/>
          <p:nvPr/>
        </p:nvSpPr>
        <p:spPr>
          <a:xfrm>
            <a:off x="5013713" y="41657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185" name="Google Shape;185;p21"/>
          <p:cNvSpPr/>
          <p:nvPr/>
        </p:nvSpPr>
        <p:spPr>
          <a:xfrm>
            <a:off x="6099150" y="41657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186" name="Google Shape;186;p21"/>
          <p:cNvSpPr/>
          <p:nvPr/>
        </p:nvSpPr>
        <p:spPr>
          <a:xfrm>
            <a:off x="7182900" y="41657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187" name="Google Shape;187;p21"/>
          <p:cNvSpPr/>
          <p:nvPr/>
        </p:nvSpPr>
        <p:spPr>
          <a:xfrm>
            <a:off x="8266663" y="41657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188" name="Google Shape;188;p21"/>
          <p:cNvSpPr/>
          <p:nvPr/>
        </p:nvSpPr>
        <p:spPr>
          <a:xfrm rot="2316864">
            <a:off x="2266143" y="1955720"/>
            <a:ext cx="236510" cy="477939"/>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1"/>
          <p:cNvSpPr/>
          <p:nvPr/>
        </p:nvSpPr>
        <p:spPr>
          <a:xfrm rot="-2545806">
            <a:off x="6127708" y="1949264"/>
            <a:ext cx="236553" cy="490926"/>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1"/>
          <p:cNvSpPr/>
          <p:nvPr/>
        </p:nvSpPr>
        <p:spPr>
          <a:xfrm rot="2316864">
            <a:off x="1224393" y="2819670"/>
            <a:ext cx="236510" cy="477939"/>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1"/>
          <p:cNvSpPr/>
          <p:nvPr/>
        </p:nvSpPr>
        <p:spPr>
          <a:xfrm rot="-2545806">
            <a:off x="2600583" y="2804502"/>
            <a:ext cx="236553" cy="490926"/>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1"/>
          <p:cNvSpPr/>
          <p:nvPr/>
        </p:nvSpPr>
        <p:spPr>
          <a:xfrm rot="-2545806">
            <a:off x="7846958" y="2813189"/>
            <a:ext cx="236553" cy="490926"/>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1"/>
          <p:cNvSpPr/>
          <p:nvPr/>
        </p:nvSpPr>
        <p:spPr>
          <a:xfrm rot="-2545806">
            <a:off x="3059920" y="3711214"/>
            <a:ext cx="236553" cy="490926"/>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1"/>
          <p:cNvSpPr/>
          <p:nvPr/>
        </p:nvSpPr>
        <p:spPr>
          <a:xfrm rot="-2545806">
            <a:off x="1133783" y="3711214"/>
            <a:ext cx="236553" cy="490926"/>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1"/>
          <p:cNvSpPr/>
          <p:nvPr/>
        </p:nvSpPr>
        <p:spPr>
          <a:xfrm rot="-2545806">
            <a:off x="6086683" y="3711214"/>
            <a:ext cx="236553" cy="490926"/>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1"/>
          <p:cNvSpPr/>
          <p:nvPr/>
        </p:nvSpPr>
        <p:spPr>
          <a:xfrm rot="-2545806">
            <a:off x="8230383" y="3711214"/>
            <a:ext cx="236553" cy="490926"/>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1"/>
          <p:cNvSpPr/>
          <p:nvPr/>
        </p:nvSpPr>
        <p:spPr>
          <a:xfrm rot="2316864">
            <a:off x="681843" y="3717695"/>
            <a:ext cx="236510" cy="477939"/>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1"/>
          <p:cNvSpPr/>
          <p:nvPr/>
        </p:nvSpPr>
        <p:spPr>
          <a:xfrm rot="2316864">
            <a:off x="2600593" y="3717695"/>
            <a:ext cx="236510" cy="477939"/>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1"/>
          <p:cNvSpPr/>
          <p:nvPr/>
        </p:nvSpPr>
        <p:spPr>
          <a:xfrm rot="2316864">
            <a:off x="5645168" y="3717695"/>
            <a:ext cx="236510" cy="477939"/>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1"/>
          <p:cNvSpPr/>
          <p:nvPr/>
        </p:nvSpPr>
        <p:spPr>
          <a:xfrm rot="2316864">
            <a:off x="6270068" y="2836720"/>
            <a:ext cx="236510" cy="477939"/>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1"/>
          <p:cNvSpPr/>
          <p:nvPr/>
        </p:nvSpPr>
        <p:spPr>
          <a:xfrm rot="2316864">
            <a:off x="7713868" y="3717695"/>
            <a:ext cx="236510" cy="477939"/>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000"/>
                                        <p:tgtEl>
                                          <p:spTgt spid="156"/>
                                        </p:tgtEl>
                                      </p:cBhvr>
                                    </p:animEffect>
                                  </p:childTnLst>
                                </p:cTn>
                              </p:par>
                              <p:par>
                                <p:cTn fill="hold" nodeType="with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par>
                                <p:cTn fill="hold" nodeType="with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1000"/>
                                        <p:tgtEl>
                                          <p:spTgt spid="158"/>
                                        </p:tgtEl>
                                      </p:cBhvr>
                                    </p:animEffect>
                                  </p:childTnLst>
                                </p:cTn>
                              </p:par>
                              <p:par>
                                <p:cTn fill="hold" nodeType="with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000"/>
                                        <p:tgtEl>
                                          <p:spTgt spid="159"/>
                                        </p:tgtEl>
                                      </p:cBhvr>
                                    </p:animEffect>
                                  </p:childTnLst>
                                </p:cTn>
                              </p:par>
                              <p:par>
                                <p:cTn fill="hold" nodeType="with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1000"/>
                                        <p:tgtEl>
                                          <p:spTgt spid="160"/>
                                        </p:tgtEl>
                                      </p:cBhvr>
                                    </p:animEffect>
                                  </p:childTnLst>
                                </p:cTn>
                              </p:par>
                              <p:par>
                                <p:cTn fill="hold" nodeType="with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par>
                                <p:cTn fill="hold" nodeType="with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par>
                                <p:cTn fill="hold" nodeType="with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1000"/>
                                        <p:tgtEl>
                                          <p:spTgt spid="188"/>
                                        </p:tgtEl>
                                      </p:cBhvr>
                                    </p:animEffect>
                                  </p:childTnLst>
                                </p:cTn>
                              </p:par>
                              <p:par>
                                <p:cTn fill="hold" nodeType="with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par>
                                <p:cTn fill="hold" nodeType="with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par>
                                <p:cTn fill="hold" nodeType="with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par>
                                <p:cTn fill="hold" nodeType="with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1000"/>
                                        <p:tgtEl>
                                          <p:spTgt spid="167"/>
                                        </p:tgtEl>
                                      </p:cBhvr>
                                    </p:animEffect>
                                  </p:childTnLst>
                                </p:cTn>
                              </p:par>
                              <p:par>
                                <p:cTn fill="hold" nodeType="with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par>
                                <p:cTn fill="hold" nodeType="with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par>
                                <p:cTn fill="hold" nodeType="with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par>
                                <p:cTn fill="hold" nodeType="with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1000"/>
                                        <p:tgtEl>
                                          <p:spTgt spid="172"/>
                                        </p:tgtEl>
                                      </p:cBhvr>
                                    </p:animEffect>
                                  </p:childTnLst>
                                </p:cTn>
                              </p:par>
                              <p:par>
                                <p:cTn fill="hold" nodeType="with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par>
                                <p:cTn fill="hold" nodeType="with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1000"/>
                                        <p:tgtEl>
                                          <p:spTgt spid="174"/>
                                        </p:tgtEl>
                                      </p:cBhvr>
                                    </p:animEffect>
                                  </p:childTnLst>
                                </p:cTn>
                              </p:par>
                              <p:par>
                                <p:cTn fill="hold" nodeType="with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par>
                                <p:cTn fill="hold" nodeType="with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par>
                                <p:cTn fill="hold" nodeType="with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1000"/>
                                        <p:tgtEl>
                                          <p:spTgt spid="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1000"/>
                                        <p:tgtEl>
                                          <p:spTgt spid="176"/>
                                        </p:tgtEl>
                                      </p:cBhvr>
                                    </p:animEffect>
                                  </p:childTnLst>
                                </p:cTn>
                              </p:par>
                              <p:par>
                                <p:cTn fill="hold" nodeType="with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1000"/>
                                        <p:tgtEl>
                                          <p:spTgt spid="177"/>
                                        </p:tgtEl>
                                      </p:cBhvr>
                                    </p:animEffect>
                                  </p:childTnLst>
                                </p:cTn>
                              </p:par>
                              <p:par>
                                <p:cTn fill="hold" nodeType="with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1000"/>
                                        <p:tgtEl>
                                          <p:spTgt spid="179"/>
                                        </p:tgtEl>
                                      </p:cBhvr>
                                    </p:animEffect>
                                  </p:childTnLst>
                                </p:cTn>
                              </p:par>
                              <p:par>
                                <p:cTn fill="hold" nodeType="with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1000"/>
                                        <p:tgtEl>
                                          <p:spTgt spid="192"/>
                                        </p:tgtEl>
                                      </p:cBhvr>
                                    </p:animEffect>
                                  </p:childTnLst>
                                </p:cTn>
                              </p:par>
                              <p:par>
                                <p:cTn fill="hold" nodeType="with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1000"/>
                                        <p:tgtEl>
                                          <p:spTgt spid="200"/>
                                        </p:tgtEl>
                                      </p:cBhvr>
                                    </p:animEffect>
                                  </p:childTnLst>
                                </p:cTn>
                              </p:par>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0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1000"/>
                                        <p:tgtEl>
                                          <p:spTgt spid="180"/>
                                        </p:tgtEl>
                                      </p:cBhvr>
                                    </p:animEffect>
                                  </p:childTnLst>
                                </p:cTn>
                              </p:par>
                              <p:par>
                                <p:cTn fill="hold" nodeType="with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000"/>
                                        <p:tgtEl>
                                          <p:spTgt spid="181"/>
                                        </p:tgtEl>
                                      </p:cBhvr>
                                    </p:animEffect>
                                  </p:childTnLst>
                                </p:cTn>
                              </p:par>
                              <p:par>
                                <p:cTn fill="hold" nodeType="with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par>
                                <p:cTn fill="hold" nodeType="with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1000"/>
                                        <p:tgtEl>
                                          <p:spTgt spid="193"/>
                                        </p:tgtEl>
                                      </p:cBhvr>
                                    </p:animEffect>
                                  </p:childTnLst>
                                </p:cTn>
                              </p:par>
                              <p:par>
                                <p:cTn fill="hold" nodeType="with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1000"/>
                                        <p:tgtEl>
                                          <p:spTgt spid="194"/>
                                        </p:tgtEl>
                                      </p:cBhvr>
                                    </p:animEffect>
                                  </p:childTnLst>
                                </p:cTn>
                              </p:par>
                              <p:par>
                                <p:cTn fill="hold" nodeType="with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1000"/>
                                        <p:tgtEl>
                                          <p:spTgt spid="197"/>
                                        </p:tgtEl>
                                      </p:cBhvr>
                                    </p:animEffect>
                                  </p:childTnLst>
                                </p:cTn>
                              </p:par>
                              <p:par>
                                <p:cTn fill="hold" nodeType="with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000"/>
                                        <p:tgtEl>
                                          <p:spTgt spid="198"/>
                                        </p:tgtEl>
                                      </p:cBhvr>
                                    </p:animEffect>
                                  </p:childTnLst>
                                </p:cTn>
                              </p:par>
                              <p:par>
                                <p:cTn fill="hold" nodeType="with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1000"/>
                                        <p:tgtEl>
                                          <p:spTgt spid="184"/>
                                        </p:tgtEl>
                                      </p:cBhvr>
                                    </p:animEffect>
                                  </p:childTnLst>
                                </p:cTn>
                              </p:par>
                              <p:par>
                                <p:cTn fill="hold" nodeType="with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1000"/>
                                        <p:tgtEl>
                                          <p:spTgt spid="185"/>
                                        </p:tgtEl>
                                      </p:cBhvr>
                                    </p:animEffect>
                                  </p:childTnLst>
                                </p:cTn>
                              </p:par>
                              <p:par>
                                <p:cTn fill="hold" nodeType="with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par>
                                <p:cTn fill="hold" nodeType="with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1000"/>
                                        <p:tgtEl>
                                          <p:spTgt spid="195"/>
                                        </p:tgtEl>
                                      </p:cBhvr>
                                    </p:animEffect>
                                  </p:childTnLst>
                                </p:cTn>
                              </p:par>
                              <p:par>
                                <p:cTn fill="hold" nodeType="with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1000"/>
                                        <p:tgtEl>
                                          <p:spTgt spid="196"/>
                                        </p:tgtEl>
                                      </p:cBhvr>
                                    </p:animEffect>
                                  </p:childTnLst>
                                </p:cTn>
                              </p:par>
                              <p:par>
                                <p:cTn fill="hold" nodeType="with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1000"/>
                                        <p:tgtEl>
                                          <p:spTgt spid="199"/>
                                        </p:tgtEl>
                                      </p:cBhvr>
                                    </p:animEffect>
                                  </p:childTnLst>
                                </p:cTn>
                              </p:par>
                              <p:par>
                                <p:cTn fill="hold" nodeType="with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1000"/>
                                        <p:tgtEl>
                                          <p:spTgt spid="201"/>
                                        </p:tgtEl>
                                      </p:cBhvr>
                                    </p:animEffect>
                                  </p:childTnLst>
                                </p:cTn>
                              </p:par>
                              <p:par>
                                <p:cTn fill="hold" nodeType="with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1000"/>
                                        <p:tgtEl>
                                          <p:spTgt spid="1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Merge Sort - Merging</a:t>
            </a:r>
            <a:endParaRPr/>
          </a:p>
        </p:txBody>
      </p:sp>
      <p:sp>
        <p:nvSpPr>
          <p:cNvPr id="207" name="Google Shape;207;p22"/>
          <p:cNvSpPr/>
          <p:nvPr/>
        </p:nvSpPr>
        <p:spPr>
          <a:xfrm>
            <a:off x="1778500" y="1509650"/>
            <a:ext cx="687300" cy="4245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208" name="Google Shape;208;p22"/>
          <p:cNvSpPr/>
          <p:nvPr/>
        </p:nvSpPr>
        <p:spPr>
          <a:xfrm>
            <a:off x="2465800" y="1509650"/>
            <a:ext cx="687300" cy="4245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209" name="Google Shape;209;p22"/>
          <p:cNvSpPr/>
          <p:nvPr/>
        </p:nvSpPr>
        <p:spPr>
          <a:xfrm>
            <a:off x="3153100" y="1509650"/>
            <a:ext cx="687300" cy="4245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210" name="Google Shape;210;p22"/>
          <p:cNvSpPr/>
          <p:nvPr/>
        </p:nvSpPr>
        <p:spPr>
          <a:xfrm>
            <a:off x="3840400" y="1509650"/>
            <a:ext cx="687300" cy="4245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211" name="Google Shape;211;p22"/>
          <p:cNvSpPr/>
          <p:nvPr/>
        </p:nvSpPr>
        <p:spPr>
          <a:xfrm>
            <a:off x="4527700" y="1509650"/>
            <a:ext cx="687300" cy="4245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212" name="Google Shape;212;p22"/>
          <p:cNvSpPr/>
          <p:nvPr/>
        </p:nvSpPr>
        <p:spPr>
          <a:xfrm>
            <a:off x="5215000" y="1509650"/>
            <a:ext cx="687300" cy="4245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213" name="Google Shape;213;p22"/>
          <p:cNvSpPr/>
          <p:nvPr/>
        </p:nvSpPr>
        <p:spPr>
          <a:xfrm>
            <a:off x="5902300" y="1509650"/>
            <a:ext cx="687300" cy="4245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214" name="Google Shape;214;p22"/>
          <p:cNvSpPr/>
          <p:nvPr/>
        </p:nvSpPr>
        <p:spPr>
          <a:xfrm>
            <a:off x="6589600" y="1509650"/>
            <a:ext cx="687300" cy="4245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215" name="Google Shape;215;p22"/>
          <p:cNvSpPr/>
          <p:nvPr/>
        </p:nvSpPr>
        <p:spPr>
          <a:xfrm>
            <a:off x="597025" y="24260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216" name="Google Shape;216;p22"/>
          <p:cNvSpPr/>
          <p:nvPr/>
        </p:nvSpPr>
        <p:spPr>
          <a:xfrm>
            <a:off x="1284325" y="24260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217" name="Google Shape;217;p22"/>
          <p:cNvSpPr/>
          <p:nvPr/>
        </p:nvSpPr>
        <p:spPr>
          <a:xfrm>
            <a:off x="1971625" y="24260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218" name="Google Shape;218;p22"/>
          <p:cNvSpPr/>
          <p:nvPr/>
        </p:nvSpPr>
        <p:spPr>
          <a:xfrm>
            <a:off x="2658925" y="24260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219" name="Google Shape;219;p22"/>
          <p:cNvSpPr/>
          <p:nvPr/>
        </p:nvSpPr>
        <p:spPr>
          <a:xfrm>
            <a:off x="7914388" y="24260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220" name="Google Shape;220;p22"/>
          <p:cNvSpPr/>
          <p:nvPr/>
        </p:nvSpPr>
        <p:spPr>
          <a:xfrm>
            <a:off x="5852488" y="24260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221" name="Google Shape;221;p22"/>
          <p:cNvSpPr/>
          <p:nvPr/>
        </p:nvSpPr>
        <p:spPr>
          <a:xfrm>
            <a:off x="6539788" y="24260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222" name="Google Shape;222;p22"/>
          <p:cNvSpPr/>
          <p:nvPr/>
        </p:nvSpPr>
        <p:spPr>
          <a:xfrm>
            <a:off x="7227088" y="24260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223" name="Google Shape;223;p22"/>
          <p:cNvSpPr/>
          <p:nvPr/>
        </p:nvSpPr>
        <p:spPr>
          <a:xfrm>
            <a:off x="311700" y="327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224" name="Google Shape;224;p22"/>
          <p:cNvSpPr/>
          <p:nvPr/>
        </p:nvSpPr>
        <p:spPr>
          <a:xfrm>
            <a:off x="999000" y="327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225" name="Google Shape;225;p22"/>
          <p:cNvSpPr/>
          <p:nvPr/>
        </p:nvSpPr>
        <p:spPr>
          <a:xfrm>
            <a:off x="2315275" y="327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226" name="Google Shape;226;p22"/>
          <p:cNvSpPr/>
          <p:nvPr/>
        </p:nvSpPr>
        <p:spPr>
          <a:xfrm>
            <a:off x="3002575" y="327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227" name="Google Shape;227;p22"/>
          <p:cNvSpPr/>
          <p:nvPr/>
        </p:nvSpPr>
        <p:spPr>
          <a:xfrm>
            <a:off x="5357363" y="327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228" name="Google Shape;228;p22"/>
          <p:cNvSpPr/>
          <p:nvPr/>
        </p:nvSpPr>
        <p:spPr>
          <a:xfrm>
            <a:off x="6044663" y="327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229" name="Google Shape;229;p22"/>
          <p:cNvSpPr/>
          <p:nvPr/>
        </p:nvSpPr>
        <p:spPr>
          <a:xfrm>
            <a:off x="8073613" y="327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230" name="Google Shape;230;p22"/>
          <p:cNvSpPr/>
          <p:nvPr/>
        </p:nvSpPr>
        <p:spPr>
          <a:xfrm>
            <a:off x="7408288" y="327132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231" name="Google Shape;231;p22"/>
          <p:cNvSpPr/>
          <p:nvPr/>
        </p:nvSpPr>
        <p:spPr>
          <a:xfrm>
            <a:off x="118500" y="41657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232" name="Google Shape;232;p22"/>
          <p:cNvSpPr/>
          <p:nvPr/>
        </p:nvSpPr>
        <p:spPr>
          <a:xfrm>
            <a:off x="1141225" y="41657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233" name="Google Shape;233;p22"/>
          <p:cNvSpPr/>
          <p:nvPr/>
        </p:nvSpPr>
        <p:spPr>
          <a:xfrm>
            <a:off x="2040750" y="41657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234" name="Google Shape;234;p22"/>
          <p:cNvSpPr/>
          <p:nvPr/>
        </p:nvSpPr>
        <p:spPr>
          <a:xfrm>
            <a:off x="3153100" y="41657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235" name="Google Shape;235;p22"/>
          <p:cNvSpPr/>
          <p:nvPr/>
        </p:nvSpPr>
        <p:spPr>
          <a:xfrm>
            <a:off x="5013713" y="41657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236" name="Google Shape;236;p22"/>
          <p:cNvSpPr/>
          <p:nvPr/>
        </p:nvSpPr>
        <p:spPr>
          <a:xfrm>
            <a:off x="6099150" y="41657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237" name="Google Shape;237;p22"/>
          <p:cNvSpPr/>
          <p:nvPr/>
        </p:nvSpPr>
        <p:spPr>
          <a:xfrm>
            <a:off x="7182900" y="41657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238" name="Google Shape;238;p22"/>
          <p:cNvSpPr/>
          <p:nvPr/>
        </p:nvSpPr>
        <p:spPr>
          <a:xfrm>
            <a:off x="8266663" y="4165775"/>
            <a:ext cx="687300" cy="4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239" name="Google Shape;239;p22"/>
          <p:cNvSpPr/>
          <p:nvPr/>
        </p:nvSpPr>
        <p:spPr>
          <a:xfrm rot="2700000">
            <a:off x="546301" y="3611672"/>
            <a:ext cx="284681" cy="572756"/>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2"/>
          <p:cNvSpPr/>
          <p:nvPr/>
        </p:nvSpPr>
        <p:spPr>
          <a:xfrm rot="-2700000">
            <a:off x="1170201" y="3611672"/>
            <a:ext cx="284681" cy="572756"/>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2"/>
          <p:cNvSpPr/>
          <p:nvPr/>
        </p:nvSpPr>
        <p:spPr>
          <a:xfrm rot="2700000">
            <a:off x="1044301" y="2757747"/>
            <a:ext cx="284681" cy="572756"/>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2"/>
          <p:cNvSpPr/>
          <p:nvPr/>
        </p:nvSpPr>
        <p:spPr>
          <a:xfrm rot="2700000">
            <a:off x="1979801" y="1903797"/>
            <a:ext cx="284681" cy="572756"/>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2"/>
          <p:cNvSpPr/>
          <p:nvPr/>
        </p:nvSpPr>
        <p:spPr>
          <a:xfrm rot="2700000">
            <a:off x="6144101" y="2763584"/>
            <a:ext cx="284681" cy="572756"/>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2"/>
          <p:cNvSpPr/>
          <p:nvPr/>
        </p:nvSpPr>
        <p:spPr>
          <a:xfrm rot="2700000">
            <a:off x="5482001" y="3611672"/>
            <a:ext cx="284681" cy="572756"/>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2"/>
          <p:cNvSpPr/>
          <p:nvPr/>
        </p:nvSpPr>
        <p:spPr>
          <a:xfrm rot="2700000">
            <a:off x="2426451" y="3611672"/>
            <a:ext cx="284681" cy="572756"/>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2"/>
          <p:cNvSpPr/>
          <p:nvPr/>
        </p:nvSpPr>
        <p:spPr>
          <a:xfrm rot="-2700000">
            <a:off x="3207663" y="3611672"/>
            <a:ext cx="284681" cy="572756"/>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2"/>
          <p:cNvSpPr/>
          <p:nvPr/>
        </p:nvSpPr>
        <p:spPr>
          <a:xfrm rot="-2700000">
            <a:off x="2667101" y="2763584"/>
            <a:ext cx="284681" cy="572756"/>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2"/>
          <p:cNvSpPr/>
          <p:nvPr/>
        </p:nvSpPr>
        <p:spPr>
          <a:xfrm rot="-2700000">
            <a:off x="6947251" y="1903797"/>
            <a:ext cx="284681" cy="572756"/>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2"/>
          <p:cNvSpPr/>
          <p:nvPr/>
        </p:nvSpPr>
        <p:spPr>
          <a:xfrm rot="-2700000">
            <a:off x="7821176" y="2763597"/>
            <a:ext cx="284681" cy="572756"/>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2"/>
          <p:cNvSpPr/>
          <p:nvPr/>
        </p:nvSpPr>
        <p:spPr>
          <a:xfrm rot="-2700000">
            <a:off x="8147501" y="3611672"/>
            <a:ext cx="284681" cy="572756"/>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2"/>
          <p:cNvSpPr/>
          <p:nvPr/>
        </p:nvSpPr>
        <p:spPr>
          <a:xfrm rot="-2700000">
            <a:off x="6055013" y="3611672"/>
            <a:ext cx="284681" cy="572756"/>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2"/>
          <p:cNvSpPr/>
          <p:nvPr/>
        </p:nvSpPr>
        <p:spPr>
          <a:xfrm rot="2700000">
            <a:off x="7609601" y="3611672"/>
            <a:ext cx="284681" cy="572756"/>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1000"/>
                                        <p:tgtEl>
                                          <p:spTgt spid="231"/>
                                        </p:tgtEl>
                                      </p:cBhvr>
                                    </p:animEffect>
                                  </p:childTnLst>
                                </p:cTn>
                              </p:par>
                              <p:par>
                                <p:cTn fill="hold" nodeType="with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000"/>
                                        <p:tgtEl>
                                          <p:spTgt spid="232"/>
                                        </p:tgtEl>
                                      </p:cBhvr>
                                    </p:animEffect>
                                  </p:childTnLst>
                                </p:cTn>
                              </p:par>
                              <p:par>
                                <p:cTn fill="hold" nodeType="with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1000"/>
                                        <p:tgtEl>
                                          <p:spTgt spid="233"/>
                                        </p:tgtEl>
                                      </p:cBhvr>
                                    </p:animEffect>
                                  </p:childTnLst>
                                </p:cTn>
                              </p:par>
                              <p:par>
                                <p:cTn fill="hold" nodeType="with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1000"/>
                                        <p:tgtEl>
                                          <p:spTgt spid="234"/>
                                        </p:tgtEl>
                                      </p:cBhvr>
                                    </p:animEffect>
                                  </p:childTnLst>
                                </p:cTn>
                              </p:par>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par>
                                <p:cTn fill="hold" nodeType="with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1000"/>
                                        <p:tgtEl>
                                          <p:spTgt spid="237"/>
                                        </p:tgtEl>
                                      </p:cBhvr>
                                    </p:animEffect>
                                  </p:childTnLst>
                                </p:cTn>
                              </p:par>
                              <p:par>
                                <p:cTn fill="hold" nodeType="with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10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000"/>
                                        <p:tgtEl>
                                          <p:spTgt spid="224"/>
                                        </p:tgtEl>
                                      </p:cBhvr>
                                    </p:animEffect>
                                  </p:childTnLst>
                                </p:cTn>
                              </p:par>
                              <p:par>
                                <p:cTn fill="hold" nodeType="with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1000"/>
                                        <p:tgtEl>
                                          <p:spTgt spid="225"/>
                                        </p:tgtEl>
                                      </p:cBhvr>
                                    </p:animEffect>
                                  </p:childTnLst>
                                </p:cTn>
                              </p:par>
                              <p:par>
                                <p:cTn fill="hold" nodeType="with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1000"/>
                                        <p:tgtEl>
                                          <p:spTgt spid="226"/>
                                        </p:tgtEl>
                                      </p:cBhvr>
                                    </p:animEffect>
                                  </p:childTnLst>
                                </p:cTn>
                              </p:par>
                              <p:par>
                                <p:cTn fill="hold" nodeType="with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par>
                                <p:cTn fill="hold" nodeType="with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par>
                                <p:cTn fill="hold" nodeType="with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1000"/>
                                        <p:tgtEl>
                                          <p:spTgt spid="245"/>
                                        </p:tgtEl>
                                      </p:cBhvr>
                                    </p:animEffect>
                                  </p:childTnLst>
                                </p:cTn>
                              </p:par>
                              <p:par>
                                <p:cTn fill="hold" nodeType="with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1000"/>
                                        <p:tgtEl>
                                          <p:spTgt spid="246"/>
                                        </p:tgtEl>
                                      </p:cBhvr>
                                    </p:animEffect>
                                  </p:childTnLst>
                                </p:cTn>
                              </p:par>
                              <p:par>
                                <p:cTn fill="hold" nodeType="with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1000"/>
                                        <p:tgtEl>
                                          <p:spTgt spid="228"/>
                                        </p:tgtEl>
                                      </p:cBhvr>
                                    </p:animEffect>
                                  </p:childTnLst>
                                </p:cTn>
                              </p:par>
                              <p:par>
                                <p:cTn fill="hold" nodeType="with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1000"/>
                                        <p:tgtEl>
                                          <p:spTgt spid="229"/>
                                        </p:tgtEl>
                                      </p:cBhvr>
                                    </p:animEffect>
                                  </p:childTnLst>
                                </p:cTn>
                              </p:par>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1000"/>
                                        <p:tgtEl>
                                          <p:spTgt spid="230"/>
                                        </p:tgtEl>
                                      </p:cBhvr>
                                    </p:animEffect>
                                  </p:childTnLst>
                                </p:cTn>
                              </p:par>
                              <p:par>
                                <p:cTn fill="hold" nodeType="with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par>
                                <p:cTn fill="hold" nodeType="with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par>
                                <p:cTn fill="hold" nodeType="with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par>
                                <p:cTn fill="hold" nodeType="with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000"/>
                                        <p:tgtEl>
                                          <p:spTgt spid="252"/>
                                        </p:tgtEl>
                                      </p:cBhvr>
                                    </p:animEffect>
                                  </p:childTnLst>
                                </p:cTn>
                              </p:par>
                              <p:par>
                                <p:cTn fill="hold" nodeType="with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1000"/>
                                        <p:tgtEl>
                                          <p:spTgt spid="2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1000"/>
                                        <p:tgtEl>
                                          <p:spTgt spid="215"/>
                                        </p:tgtEl>
                                      </p:cBhvr>
                                    </p:animEffect>
                                  </p:childTnLst>
                                </p:cTn>
                              </p:par>
                              <p:par>
                                <p:cTn fill="hold" nodeType="with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1000"/>
                                        <p:tgtEl>
                                          <p:spTgt spid="216"/>
                                        </p:tgtEl>
                                      </p:cBhvr>
                                    </p:animEffect>
                                  </p:childTnLst>
                                </p:cTn>
                              </p:par>
                              <p:par>
                                <p:cTn fill="hold" nodeType="with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1000"/>
                                        <p:tgtEl>
                                          <p:spTgt spid="217"/>
                                        </p:tgtEl>
                                      </p:cBhvr>
                                    </p:animEffect>
                                  </p:childTnLst>
                                </p:cTn>
                              </p:par>
                              <p:par>
                                <p:cTn fill="hold" nodeType="with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par>
                                <p:cTn fill="hold" nodeType="with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par>
                                <p:cTn fill="hold" nodeType="with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000"/>
                                        <p:tgtEl>
                                          <p:spTgt spid="221"/>
                                        </p:tgtEl>
                                      </p:cBhvr>
                                    </p:animEffect>
                                  </p:childTnLst>
                                </p:cTn>
                              </p:par>
                              <p:par>
                                <p:cTn fill="hold" nodeType="with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1000"/>
                                        <p:tgtEl>
                                          <p:spTgt spid="222"/>
                                        </p:tgtEl>
                                      </p:cBhvr>
                                    </p:animEffect>
                                  </p:childTnLst>
                                </p:cTn>
                              </p:par>
                              <p:par>
                                <p:cTn fill="hold" nodeType="with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par>
                                <p:cTn fill="hold" nodeType="with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1000"/>
                                        <p:tgtEl>
                                          <p:spTgt spid="243"/>
                                        </p:tgtEl>
                                      </p:cBhvr>
                                    </p:animEffect>
                                  </p:childTnLst>
                                </p:cTn>
                              </p:par>
                              <p:par>
                                <p:cTn fill="hold" nodeType="with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000"/>
                                        <p:tgtEl>
                                          <p:spTgt spid="247"/>
                                        </p:tgtEl>
                                      </p:cBhvr>
                                    </p:animEffect>
                                  </p:childTnLst>
                                </p:cTn>
                              </p:par>
                              <p:par>
                                <p:cTn fill="hold" nodeType="with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par>
                                <p:cTn fill="hold" nodeType="with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1000"/>
                                        <p:tgtEl>
                                          <p:spTgt spid="2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1000"/>
                                        <p:tgtEl>
                                          <p:spTgt spid="207"/>
                                        </p:tgtEl>
                                      </p:cBhvr>
                                    </p:animEffect>
                                  </p:childTnLst>
                                </p:cTn>
                              </p:par>
                              <p:par>
                                <p:cTn fill="hold" nodeType="with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par>
                                <p:cTn fill="hold" nodeType="with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000"/>
                                        <p:tgtEl>
                                          <p:spTgt spid="209"/>
                                        </p:tgtEl>
                                      </p:cBhvr>
                                    </p:animEffect>
                                  </p:childTnLst>
                                </p:cTn>
                              </p:par>
                              <p:par>
                                <p:cTn fill="hold" nodeType="with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1000"/>
                                        <p:tgtEl>
                                          <p:spTgt spid="210"/>
                                        </p:tgtEl>
                                      </p:cBhvr>
                                    </p:animEffect>
                                  </p:childTnLst>
                                </p:cTn>
                              </p:par>
                              <p:par>
                                <p:cTn fill="hold" nodeType="with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1000"/>
                                        <p:tgtEl>
                                          <p:spTgt spid="211"/>
                                        </p:tgtEl>
                                      </p:cBhvr>
                                    </p:animEffect>
                                  </p:childTnLst>
                                </p:cTn>
                              </p:par>
                              <p:par>
                                <p:cTn fill="hold" nodeType="with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1000"/>
                                        <p:tgtEl>
                                          <p:spTgt spid="212"/>
                                        </p:tgtEl>
                                      </p:cBhvr>
                                    </p:animEffect>
                                  </p:childTnLst>
                                </p:cTn>
                              </p:par>
                              <p:par>
                                <p:cTn fill="hold" nodeType="with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1000"/>
                                        <p:tgtEl>
                                          <p:spTgt spid="213"/>
                                        </p:tgtEl>
                                      </p:cBhvr>
                                    </p:animEffect>
                                  </p:childTnLst>
                                </p:cTn>
                              </p:par>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par>
                                <p:cTn fill="hold" nodeType="with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000"/>
                                        <p:tgtEl>
                                          <p:spTgt spid="248"/>
                                        </p:tgtEl>
                                      </p:cBhvr>
                                    </p:animEffect>
                                  </p:childTnLst>
                                </p:cTn>
                              </p:par>
                              <p:par>
                                <p:cTn fill="hold" nodeType="with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1000"/>
                                        <p:tgtEl>
                                          <p:spTgt spid="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Merge Sort : Order of Growth</a:t>
            </a:r>
            <a:endParaRPr/>
          </a:p>
        </p:txBody>
      </p:sp>
      <p:sp>
        <p:nvSpPr>
          <p:cNvPr id="258" name="Google Shape;258;p23"/>
          <p:cNvSpPr/>
          <p:nvPr/>
        </p:nvSpPr>
        <p:spPr>
          <a:xfrm>
            <a:off x="2251102" y="1331625"/>
            <a:ext cx="721200" cy="45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a:t>
            </a:r>
            <a:endParaRPr/>
          </a:p>
        </p:txBody>
      </p:sp>
      <p:sp>
        <p:nvSpPr>
          <p:cNvPr id="259" name="Google Shape;259;p23"/>
          <p:cNvSpPr/>
          <p:nvPr/>
        </p:nvSpPr>
        <p:spPr>
          <a:xfrm>
            <a:off x="3490195" y="2104100"/>
            <a:ext cx="721200" cy="45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N/2</a:t>
            </a:r>
            <a:endParaRPr/>
          </a:p>
        </p:txBody>
      </p:sp>
      <p:sp>
        <p:nvSpPr>
          <p:cNvPr id="260" name="Google Shape;260;p23"/>
          <p:cNvSpPr/>
          <p:nvPr/>
        </p:nvSpPr>
        <p:spPr>
          <a:xfrm>
            <a:off x="1139637" y="2104100"/>
            <a:ext cx="721200" cy="45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N/2</a:t>
            </a:r>
            <a:endParaRPr/>
          </a:p>
        </p:txBody>
      </p:sp>
      <p:sp>
        <p:nvSpPr>
          <p:cNvPr id="261" name="Google Shape;261;p23"/>
          <p:cNvSpPr/>
          <p:nvPr/>
        </p:nvSpPr>
        <p:spPr>
          <a:xfrm>
            <a:off x="475366" y="2937550"/>
            <a:ext cx="721200" cy="45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N/4</a:t>
            </a:r>
            <a:endParaRPr/>
          </a:p>
        </p:txBody>
      </p:sp>
      <p:sp>
        <p:nvSpPr>
          <p:cNvPr id="262" name="Google Shape;262;p23"/>
          <p:cNvSpPr/>
          <p:nvPr/>
        </p:nvSpPr>
        <p:spPr>
          <a:xfrm>
            <a:off x="1783654" y="2937550"/>
            <a:ext cx="721200" cy="45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N/4</a:t>
            </a:r>
            <a:endParaRPr/>
          </a:p>
        </p:txBody>
      </p:sp>
      <p:sp>
        <p:nvSpPr>
          <p:cNvPr id="263" name="Google Shape;263;p23"/>
          <p:cNvSpPr/>
          <p:nvPr/>
        </p:nvSpPr>
        <p:spPr>
          <a:xfrm>
            <a:off x="2787170" y="2937550"/>
            <a:ext cx="721200" cy="45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N/4</a:t>
            </a:r>
            <a:endParaRPr/>
          </a:p>
        </p:txBody>
      </p:sp>
      <p:sp>
        <p:nvSpPr>
          <p:cNvPr id="264" name="Google Shape;264;p23"/>
          <p:cNvSpPr/>
          <p:nvPr/>
        </p:nvSpPr>
        <p:spPr>
          <a:xfrm>
            <a:off x="4211390" y="2937550"/>
            <a:ext cx="721200" cy="45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N/4</a:t>
            </a:r>
            <a:endParaRPr/>
          </a:p>
        </p:txBody>
      </p:sp>
      <p:sp>
        <p:nvSpPr>
          <p:cNvPr id="265" name="Google Shape;265;p23"/>
          <p:cNvSpPr/>
          <p:nvPr/>
        </p:nvSpPr>
        <p:spPr>
          <a:xfrm>
            <a:off x="119550" y="3811675"/>
            <a:ext cx="721200" cy="45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N/8</a:t>
            </a:r>
            <a:endParaRPr/>
          </a:p>
        </p:txBody>
      </p:sp>
      <p:sp>
        <p:nvSpPr>
          <p:cNvPr id="266" name="Google Shape;266;p23"/>
          <p:cNvSpPr/>
          <p:nvPr/>
        </p:nvSpPr>
        <p:spPr>
          <a:xfrm>
            <a:off x="895675" y="3811675"/>
            <a:ext cx="721200" cy="45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N/8</a:t>
            </a:r>
            <a:endParaRPr/>
          </a:p>
        </p:txBody>
      </p:sp>
      <p:sp>
        <p:nvSpPr>
          <p:cNvPr id="267" name="Google Shape;267;p23"/>
          <p:cNvSpPr/>
          <p:nvPr/>
        </p:nvSpPr>
        <p:spPr>
          <a:xfrm>
            <a:off x="2065975" y="3811675"/>
            <a:ext cx="721200" cy="457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cxnSp>
        <p:nvCxnSpPr>
          <p:cNvPr id="268" name="Google Shape;268;p23"/>
          <p:cNvCxnSpPr>
            <a:stCxn id="260" idx="0"/>
            <a:endCxn id="258" idx="2"/>
          </p:cNvCxnSpPr>
          <p:nvPr/>
        </p:nvCxnSpPr>
        <p:spPr>
          <a:xfrm flipH="1" rot="10800000">
            <a:off x="1500237" y="1789100"/>
            <a:ext cx="1111500" cy="315000"/>
          </a:xfrm>
          <a:prstGeom prst="straightConnector1">
            <a:avLst/>
          </a:prstGeom>
          <a:noFill/>
          <a:ln cap="flat" cmpd="sng" w="9525">
            <a:solidFill>
              <a:schemeClr val="dk2"/>
            </a:solidFill>
            <a:prstDash val="solid"/>
            <a:round/>
            <a:headEnd len="med" w="med" type="none"/>
            <a:tailEnd len="med" w="med" type="triangle"/>
          </a:ln>
        </p:spPr>
      </p:cxnSp>
      <p:cxnSp>
        <p:nvCxnSpPr>
          <p:cNvPr id="269" name="Google Shape;269;p23"/>
          <p:cNvCxnSpPr>
            <a:stCxn id="259" idx="0"/>
            <a:endCxn id="258" idx="2"/>
          </p:cNvCxnSpPr>
          <p:nvPr/>
        </p:nvCxnSpPr>
        <p:spPr>
          <a:xfrm rot="10800000">
            <a:off x="2611795" y="1789100"/>
            <a:ext cx="1239000" cy="315000"/>
          </a:xfrm>
          <a:prstGeom prst="straightConnector1">
            <a:avLst/>
          </a:prstGeom>
          <a:noFill/>
          <a:ln cap="flat" cmpd="sng" w="9525">
            <a:solidFill>
              <a:schemeClr val="dk2"/>
            </a:solidFill>
            <a:prstDash val="solid"/>
            <a:round/>
            <a:headEnd len="med" w="med" type="none"/>
            <a:tailEnd len="med" w="med" type="triangle"/>
          </a:ln>
        </p:spPr>
      </p:cxnSp>
      <p:cxnSp>
        <p:nvCxnSpPr>
          <p:cNvPr id="270" name="Google Shape;270;p23"/>
          <p:cNvCxnSpPr>
            <a:stCxn id="261" idx="0"/>
            <a:endCxn id="260" idx="2"/>
          </p:cNvCxnSpPr>
          <p:nvPr/>
        </p:nvCxnSpPr>
        <p:spPr>
          <a:xfrm flipH="1" rot="10800000">
            <a:off x="835966" y="2561650"/>
            <a:ext cx="664200" cy="375900"/>
          </a:xfrm>
          <a:prstGeom prst="straightConnector1">
            <a:avLst/>
          </a:prstGeom>
          <a:noFill/>
          <a:ln cap="flat" cmpd="sng" w="9525">
            <a:solidFill>
              <a:schemeClr val="dk2"/>
            </a:solidFill>
            <a:prstDash val="solid"/>
            <a:round/>
            <a:headEnd len="med" w="med" type="none"/>
            <a:tailEnd len="med" w="med" type="triangle"/>
          </a:ln>
        </p:spPr>
      </p:cxnSp>
      <p:cxnSp>
        <p:nvCxnSpPr>
          <p:cNvPr id="271" name="Google Shape;271;p23"/>
          <p:cNvCxnSpPr>
            <a:stCxn id="262" idx="0"/>
            <a:endCxn id="260" idx="2"/>
          </p:cNvCxnSpPr>
          <p:nvPr/>
        </p:nvCxnSpPr>
        <p:spPr>
          <a:xfrm rot="10800000">
            <a:off x="1500154" y="2561650"/>
            <a:ext cx="644100" cy="375900"/>
          </a:xfrm>
          <a:prstGeom prst="straightConnector1">
            <a:avLst/>
          </a:prstGeom>
          <a:noFill/>
          <a:ln cap="flat" cmpd="sng" w="9525">
            <a:solidFill>
              <a:schemeClr val="dk2"/>
            </a:solidFill>
            <a:prstDash val="solid"/>
            <a:round/>
            <a:headEnd len="med" w="med" type="none"/>
            <a:tailEnd len="med" w="med" type="triangle"/>
          </a:ln>
        </p:spPr>
      </p:cxnSp>
      <p:cxnSp>
        <p:nvCxnSpPr>
          <p:cNvPr id="272" name="Google Shape;272;p23"/>
          <p:cNvCxnSpPr>
            <a:stCxn id="263" idx="0"/>
            <a:endCxn id="259" idx="2"/>
          </p:cNvCxnSpPr>
          <p:nvPr/>
        </p:nvCxnSpPr>
        <p:spPr>
          <a:xfrm flipH="1" rot="10800000">
            <a:off x="3147770" y="2561650"/>
            <a:ext cx="702900" cy="375900"/>
          </a:xfrm>
          <a:prstGeom prst="straightConnector1">
            <a:avLst/>
          </a:prstGeom>
          <a:noFill/>
          <a:ln cap="flat" cmpd="sng" w="9525">
            <a:solidFill>
              <a:schemeClr val="dk2"/>
            </a:solidFill>
            <a:prstDash val="solid"/>
            <a:round/>
            <a:headEnd len="med" w="med" type="none"/>
            <a:tailEnd len="med" w="med" type="triangle"/>
          </a:ln>
        </p:spPr>
      </p:cxnSp>
      <p:cxnSp>
        <p:nvCxnSpPr>
          <p:cNvPr id="273" name="Google Shape;273;p23"/>
          <p:cNvCxnSpPr>
            <a:stCxn id="264" idx="0"/>
            <a:endCxn id="259" idx="2"/>
          </p:cNvCxnSpPr>
          <p:nvPr/>
        </p:nvCxnSpPr>
        <p:spPr>
          <a:xfrm rot="10800000">
            <a:off x="3850790" y="2561650"/>
            <a:ext cx="721200" cy="375900"/>
          </a:xfrm>
          <a:prstGeom prst="straightConnector1">
            <a:avLst/>
          </a:prstGeom>
          <a:noFill/>
          <a:ln cap="flat" cmpd="sng" w="9525">
            <a:solidFill>
              <a:schemeClr val="dk2"/>
            </a:solidFill>
            <a:prstDash val="solid"/>
            <a:round/>
            <a:headEnd len="med" w="med" type="none"/>
            <a:tailEnd len="med" w="med" type="triangle"/>
          </a:ln>
        </p:spPr>
      </p:cxnSp>
      <p:cxnSp>
        <p:nvCxnSpPr>
          <p:cNvPr id="274" name="Google Shape;274;p23"/>
          <p:cNvCxnSpPr>
            <a:stCxn id="265" idx="0"/>
            <a:endCxn id="261" idx="2"/>
          </p:cNvCxnSpPr>
          <p:nvPr/>
        </p:nvCxnSpPr>
        <p:spPr>
          <a:xfrm flipH="1" rot="10800000">
            <a:off x="480150" y="3394975"/>
            <a:ext cx="355800" cy="416700"/>
          </a:xfrm>
          <a:prstGeom prst="straightConnector1">
            <a:avLst/>
          </a:prstGeom>
          <a:noFill/>
          <a:ln cap="flat" cmpd="sng" w="9525">
            <a:solidFill>
              <a:schemeClr val="dk2"/>
            </a:solidFill>
            <a:prstDash val="solid"/>
            <a:round/>
            <a:headEnd len="med" w="med" type="none"/>
            <a:tailEnd len="med" w="med" type="triangle"/>
          </a:ln>
        </p:spPr>
      </p:cxnSp>
      <p:cxnSp>
        <p:nvCxnSpPr>
          <p:cNvPr id="275" name="Google Shape;275;p23"/>
          <p:cNvCxnSpPr>
            <a:stCxn id="266" idx="0"/>
            <a:endCxn id="261" idx="2"/>
          </p:cNvCxnSpPr>
          <p:nvPr/>
        </p:nvCxnSpPr>
        <p:spPr>
          <a:xfrm rot="10800000">
            <a:off x="835975" y="3394975"/>
            <a:ext cx="420300" cy="416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4"/>
          <p:cNvSpPr txBox="1"/>
          <p:nvPr>
            <p:ph type="title"/>
          </p:nvPr>
        </p:nvSpPr>
        <p:spPr>
          <a:xfrm>
            <a:off x="311700" y="13037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General Principle of Recursion</a:t>
            </a:r>
            <a:endParaRPr/>
          </a:p>
        </p:txBody>
      </p:sp>
      <p:sp>
        <p:nvSpPr>
          <p:cNvPr id="281" name="Google Shape;281;p24"/>
          <p:cNvSpPr txBox="1"/>
          <p:nvPr/>
        </p:nvSpPr>
        <p:spPr>
          <a:xfrm>
            <a:off x="2276775" y="2340200"/>
            <a:ext cx="4671000" cy="1985700"/>
          </a:xfrm>
          <a:prstGeom prst="rect">
            <a:avLst/>
          </a:prstGeom>
          <a:solidFill>
            <a:schemeClr val="lt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Roboto Mono"/>
                <a:ea typeface="Roboto Mono"/>
                <a:cs typeface="Roboto Mono"/>
                <a:sym typeface="Roboto Mono"/>
              </a:rPr>
              <a:t>i</a:t>
            </a:r>
            <a:r>
              <a:rPr lang="en" sz="1300">
                <a:latin typeface="Roboto Mono"/>
                <a:ea typeface="Roboto Mono"/>
                <a:cs typeface="Roboto Mono"/>
                <a:sym typeface="Roboto Mono"/>
              </a:rPr>
              <a:t>nt f1()</a:t>
            </a:r>
            <a:endParaRPr sz="1300">
              <a:latin typeface="Roboto Mono"/>
              <a:ea typeface="Roboto Mono"/>
              <a:cs typeface="Roboto Mono"/>
              <a:sym typeface="Roboto Mono"/>
            </a:endParaRPr>
          </a:p>
          <a:p>
            <a:pPr indent="0" lvl="0" marL="0" rtl="0" algn="l">
              <a:spcBef>
                <a:spcPts val="0"/>
              </a:spcBef>
              <a:spcAft>
                <a:spcPts val="0"/>
              </a:spcAft>
              <a:buNone/>
            </a:pPr>
            <a:r>
              <a:rPr lang="en"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0" rtl="0" algn="l">
              <a:spcBef>
                <a:spcPts val="0"/>
              </a:spcBef>
              <a:spcAft>
                <a:spcPts val="0"/>
              </a:spcAft>
              <a:buNone/>
            </a:pPr>
            <a:r>
              <a:rPr lang="en" sz="1300">
                <a:latin typeface="Roboto Mono"/>
                <a:ea typeface="Roboto Mono"/>
                <a:cs typeface="Roboto Mono"/>
                <a:sym typeface="Roboto Mono"/>
              </a:rPr>
              <a:t>	</a:t>
            </a:r>
            <a:endParaRPr sz="1300">
              <a:latin typeface="Roboto Mono"/>
              <a:ea typeface="Roboto Mono"/>
              <a:cs typeface="Roboto Mono"/>
              <a:sym typeface="Roboto Mono"/>
            </a:endParaRPr>
          </a:p>
          <a:p>
            <a:pPr indent="0" lvl="0" marL="0" rtl="0" algn="l">
              <a:spcBef>
                <a:spcPts val="0"/>
              </a:spcBef>
              <a:spcAft>
                <a:spcPts val="0"/>
              </a:spcAft>
              <a:buNone/>
            </a:pPr>
            <a:r>
              <a:t/>
            </a:r>
            <a:endParaRPr sz="1300">
              <a:latin typeface="Roboto Mono"/>
              <a:ea typeface="Roboto Mono"/>
              <a:cs typeface="Roboto Mono"/>
              <a:sym typeface="Roboto Mono"/>
            </a:endParaRPr>
          </a:p>
          <a:p>
            <a:pPr indent="0" lvl="0" marL="0" rtl="0" algn="l">
              <a:spcBef>
                <a:spcPts val="0"/>
              </a:spcBef>
              <a:spcAft>
                <a:spcPts val="0"/>
              </a:spcAft>
              <a:buNone/>
            </a:pPr>
            <a:r>
              <a:t/>
            </a:r>
            <a:endParaRPr sz="1300">
              <a:latin typeface="Roboto Mono"/>
              <a:ea typeface="Roboto Mono"/>
              <a:cs typeface="Roboto Mono"/>
              <a:sym typeface="Roboto Mono"/>
            </a:endParaRPr>
          </a:p>
          <a:p>
            <a:pPr indent="0" lvl="0" marL="0" rtl="0" algn="l">
              <a:spcBef>
                <a:spcPts val="0"/>
              </a:spcBef>
              <a:spcAft>
                <a:spcPts val="0"/>
              </a:spcAft>
              <a:buNone/>
            </a:pPr>
            <a:r>
              <a:t/>
            </a:r>
            <a:endParaRPr sz="1300">
              <a:latin typeface="Roboto Mono"/>
              <a:ea typeface="Roboto Mono"/>
              <a:cs typeface="Roboto Mono"/>
              <a:sym typeface="Roboto Mono"/>
            </a:endParaRPr>
          </a:p>
          <a:p>
            <a:pPr indent="457200" lvl="0" marL="0" rtl="0" algn="l">
              <a:spcBef>
                <a:spcPts val="0"/>
              </a:spcBef>
              <a:spcAft>
                <a:spcPts val="0"/>
              </a:spcAft>
              <a:buNone/>
            </a:pPr>
            <a:r>
              <a:rPr lang="en" sz="1300">
                <a:latin typeface="Roboto Mono"/>
                <a:ea typeface="Roboto Mono"/>
                <a:cs typeface="Roboto Mono"/>
                <a:sym typeface="Roboto Mono"/>
              </a:rPr>
              <a:t>      f1();</a:t>
            </a:r>
            <a:endParaRPr sz="1300">
              <a:latin typeface="Roboto Mono"/>
              <a:ea typeface="Roboto Mono"/>
              <a:cs typeface="Roboto Mono"/>
              <a:sym typeface="Roboto Mono"/>
            </a:endParaRPr>
          </a:p>
          <a:p>
            <a:pPr indent="457200" lvl="0" marL="0" rtl="0" algn="l">
              <a:spcBef>
                <a:spcPts val="0"/>
              </a:spcBef>
              <a:spcAft>
                <a:spcPts val="0"/>
              </a:spcAft>
              <a:buNone/>
            </a:pPr>
            <a:r>
              <a:rPr lang="en" sz="1300">
                <a:latin typeface="Roboto Mono"/>
                <a:ea typeface="Roboto Mono"/>
                <a:cs typeface="Roboto Mono"/>
                <a:sym typeface="Roboto Mono"/>
              </a:rPr>
              <a:t>…</a:t>
            </a:r>
            <a:endParaRPr sz="1300">
              <a:latin typeface="Roboto Mono"/>
              <a:ea typeface="Roboto Mono"/>
              <a:cs typeface="Roboto Mono"/>
              <a:sym typeface="Roboto Mono"/>
            </a:endParaRPr>
          </a:p>
          <a:p>
            <a:pPr indent="0" lvl="0" marL="0" rtl="0" algn="l">
              <a:spcBef>
                <a:spcPts val="0"/>
              </a:spcBef>
              <a:spcAft>
                <a:spcPts val="0"/>
              </a:spcAft>
              <a:buNone/>
            </a:pPr>
            <a:r>
              <a:rPr lang="en" sz="1300">
                <a:latin typeface="Roboto Mono"/>
                <a:ea typeface="Roboto Mono"/>
                <a:cs typeface="Roboto Mono"/>
                <a:sym typeface="Roboto Mono"/>
              </a:rPr>
              <a:t>}</a:t>
            </a:r>
            <a:endParaRPr sz="1300">
              <a:latin typeface="Roboto Mono"/>
              <a:ea typeface="Roboto Mono"/>
              <a:cs typeface="Roboto Mono"/>
              <a:sym typeface="Roboto Mono"/>
            </a:endParaRPr>
          </a:p>
        </p:txBody>
      </p:sp>
      <p:sp>
        <p:nvSpPr>
          <p:cNvPr id="282" name="Google Shape;282;p24"/>
          <p:cNvSpPr txBox="1"/>
          <p:nvPr/>
        </p:nvSpPr>
        <p:spPr>
          <a:xfrm>
            <a:off x="2944425" y="2778375"/>
            <a:ext cx="3909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8761D"/>
                </a:solidFill>
                <a:latin typeface="Roboto Mono"/>
                <a:ea typeface="Roboto Mono"/>
                <a:cs typeface="Roboto Mono"/>
                <a:sym typeface="Roboto Mono"/>
              </a:rPr>
              <a:t>//Base case: </a:t>
            </a:r>
            <a:endParaRPr>
              <a:solidFill>
                <a:srgbClr val="38761D"/>
              </a:solidFill>
              <a:latin typeface="Roboto Mono"/>
              <a:ea typeface="Roboto Mono"/>
              <a:cs typeface="Roboto Mono"/>
              <a:sym typeface="Roboto Mono"/>
            </a:endParaRPr>
          </a:p>
          <a:p>
            <a:pPr indent="457200" lvl="0" marL="0" rtl="0" algn="l">
              <a:spcBef>
                <a:spcPts val="0"/>
              </a:spcBef>
              <a:spcAft>
                <a:spcPts val="0"/>
              </a:spcAft>
              <a:buNone/>
            </a:pPr>
            <a:r>
              <a:rPr lang="en">
                <a:solidFill>
                  <a:schemeClr val="dk1"/>
                </a:solidFill>
                <a:latin typeface="Roboto Mono"/>
                <a:ea typeface="Roboto Mono"/>
                <a:cs typeface="Roboto Mono"/>
                <a:sym typeface="Roboto Mono"/>
              </a:rPr>
              <a:t>   </a:t>
            </a:r>
            <a:r>
              <a:rPr lang="en">
                <a:solidFill>
                  <a:srgbClr val="38761D"/>
                </a:solidFill>
                <a:latin typeface="Roboto Mono"/>
                <a:ea typeface="Roboto Mono"/>
                <a:cs typeface="Roboto Mono"/>
                <a:sym typeface="Roboto Mono"/>
              </a:rPr>
              <a:t>//terminating condition</a:t>
            </a:r>
            <a:endParaRPr>
              <a:solidFill>
                <a:srgbClr val="38761D"/>
              </a:solidFill>
              <a:latin typeface="Roboto Mono"/>
              <a:ea typeface="Roboto Mono"/>
              <a:cs typeface="Roboto Mono"/>
              <a:sym typeface="Roboto Mono"/>
            </a:endParaRPr>
          </a:p>
          <a:p>
            <a:pPr indent="0" lvl="0" marL="0" rtl="0" algn="l">
              <a:spcBef>
                <a:spcPts val="0"/>
              </a:spcBef>
              <a:spcAft>
                <a:spcPts val="0"/>
              </a:spcAft>
              <a:buNone/>
            </a:pPr>
            <a:r>
              <a:rPr lang="en">
                <a:solidFill>
                  <a:srgbClr val="38761D"/>
                </a:solidFill>
                <a:latin typeface="Roboto Mono"/>
                <a:ea typeface="Roboto Mono"/>
                <a:cs typeface="Roboto Mono"/>
                <a:sym typeface="Roboto Mono"/>
              </a:rPr>
              <a:t>//Recursive case: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0" st="0"/>
                                            </p:txEl>
                                          </p:spTgt>
                                        </p:tgtEl>
                                        <p:attrNameLst>
                                          <p:attrName>style.visibility</p:attrName>
                                        </p:attrNameLst>
                                      </p:cBhvr>
                                      <p:to>
                                        <p:strVal val="visible"/>
                                      </p:to>
                                    </p:set>
                                    <p:animEffect filter="fade" transition="in">
                                      <p:cBhvr>
                                        <p:cTn dur="1000"/>
                                        <p:tgtEl>
                                          <p:spTgt spid="2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1" st="1"/>
                                            </p:txEl>
                                          </p:spTgt>
                                        </p:tgtEl>
                                        <p:attrNameLst>
                                          <p:attrName>style.visibility</p:attrName>
                                        </p:attrNameLst>
                                      </p:cBhvr>
                                      <p:to>
                                        <p:strVal val="visible"/>
                                      </p:to>
                                    </p:set>
                                    <p:animEffect filter="fade" transition="in">
                                      <p:cBhvr>
                                        <p:cTn dur="1000"/>
                                        <p:tgtEl>
                                          <p:spTgt spid="2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2" st="2"/>
                                            </p:txEl>
                                          </p:spTgt>
                                        </p:tgtEl>
                                        <p:attrNameLst>
                                          <p:attrName>style.visibility</p:attrName>
                                        </p:attrNameLst>
                                      </p:cBhvr>
                                      <p:to>
                                        <p:strVal val="visible"/>
                                      </p:to>
                                    </p:set>
                                    <p:animEffect filter="fade" transition="in">
                                      <p:cBhvr>
                                        <p:cTn dur="1000"/>
                                        <p:tgtEl>
                                          <p:spTgt spid="28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Structure of Recursive Solution</a:t>
            </a:r>
            <a:endParaRPr/>
          </a:p>
        </p:txBody>
      </p:sp>
      <p:sp>
        <p:nvSpPr>
          <p:cNvPr id="288" name="Google Shape;288;p25"/>
          <p:cNvSpPr txBox="1"/>
          <p:nvPr>
            <p:ph idx="1" type="body"/>
          </p:nvPr>
        </p:nvSpPr>
        <p:spPr>
          <a:xfrm>
            <a:off x="311700" y="1152475"/>
            <a:ext cx="8520600" cy="38415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Base Case: </a:t>
            </a:r>
            <a:endParaRPr/>
          </a:p>
          <a:p>
            <a:pPr indent="-317500" lvl="1" marL="914400" rtl="0" algn="l">
              <a:spcBef>
                <a:spcPts val="0"/>
              </a:spcBef>
              <a:spcAft>
                <a:spcPts val="0"/>
              </a:spcAft>
              <a:buSzPts val="1400"/>
              <a:buChar char="○"/>
            </a:pPr>
            <a:r>
              <a:rPr lang="en"/>
              <a:t>simplest form of the problem where recursion is not required (terminating condition)</a:t>
            </a:r>
            <a:endParaRPr/>
          </a:p>
          <a:p>
            <a:pPr indent="-317500" lvl="2" marL="1371600" rtl="0" algn="l">
              <a:spcBef>
                <a:spcPts val="0"/>
              </a:spcBef>
              <a:spcAft>
                <a:spcPts val="0"/>
              </a:spcAft>
              <a:buSzPts val="1400"/>
              <a:buChar char="■"/>
            </a:pPr>
            <a:r>
              <a:rPr lang="en"/>
              <a:t>Strings: empty string</a:t>
            </a:r>
            <a:endParaRPr/>
          </a:p>
          <a:p>
            <a:pPr indent="-317500" lvl="2" marL="1371600" rtl="0" algn="l">
              <a:spcBef>
                <a:spcPts val="0"/>
              </a:spcBef>
              <a:spcAft>
                <a:spcPts val="0"/>
              </a:spcAft>
              <a:buSzPts val="1400"/>
              <a:buChar char="■"/>
            </a:pPr>
            <a:r>
              <a:rPr lang="en"/>
              <a:t>Numeric arrays: array with 1 entry</a:t>
            </a:r>
            <a:endParaRPr/>
          </a:p>
          <a:p>
            <a:pPr indent="-317500" lvl="2" marL="1371600" rtl="0" algn="l">
              <a:spcBef>
                <a:spcPts val="0"/>
              </a:spcBef>
              <a:spcAft>
                <a:spcPts val="0"/>
              </a:spcAft>
              <a:buSzPts val="1400"/>
              <a:buChar char="■"/>
            </a:pPr>
            <a:r>
              <a:rPr lang="en"/>
              <a:t>Graphs: single node</a:t>
            </a:r>
            <a:endParaRPr/>
          </a:p>
          <a:p>
            <a:pPr indent="-317500" lvl="2" marL="1371600" rtl="0" algn="l">
              <a:spcBef>
                <a:spcPts val="0"/>
              </a:spcBef>
              <a:spcAft>
                <a:spcPts val="0"/>
              </a:spcAft>
              <a:buSzPts val="1400"/>
              <a:buChar char="■"/>
            </a:pPr>
            <a:r>
              <a:rPr lang="en"/>
              <a:t>Search problems: empty node/</a:t>
            </a:r>
            <a:r>
              <a:rPr lang="en"/>
              <a:t>subtree</a:t>
            </a:r>
            <a:r>
              <a:rPr lang="en"/>
              <a:t>/ or node with item</a:t>
            </a:r>
            <a:endParaRPr/>
          </a:p>
          <a:p>
            <a:pPr indent="-342900" lvl="0" marL="457200" rtl="0" algn="l">
              <a:spcBef>
                <a:spcPts val="0"/>
              </a:spcBef>
              <a:spcAft>
                <a:spcPts val="0"/>
              </a:spcAft>
              <a:buSzPts val="1800"/>
              <a:buChar char="●"/>
            </a:pPr>
            <a:r>
              <a:rPr lang="en"/>
              <a:t>Recursive Case: </a:t>
            </a:r>
            <a:endParaRPr/>
          </a:p>
          <a:p>
            <a:pPr indent="-317500" lvl="1" marL="914400" rtl="0" algn="l">
              <a:spcBef>
                <a:spcPts val="0"/>
              </a:spcBef>
              <a:spcAft>
                <a:spcPts val="0"/>
              </a:spcAft>
              <a:buSzPts val="1400"/>
              <a:buChar char="○"/>
            </a:pPr>
            <a:r>
              <a:rPr lang="en"/>
              <a:t>Make the problem smaller, closer to the base case</a:t>
            </a:r>
            <a:endParaRPr/>
          </a:p>
          <a:p>
            <a:pPr indent="-317500" lvl="1" marL="914400" rtl="0" algn="l">
              <a:spcBef>
                <a:spcPts val="0"/>
              </a:spcBef>
              <a:spcAft>
                <a:spcPts val="0"/>
              </a:spcAft>
              <a:buSzPts val="1400"/>
              <a:buChar char="○"/>
            </a:pPr>
            <a:r>
              <a:rPr lang="en"/>
              <a:t>This includes split, simplify, recursively calling with smaller subproblems</a:t>
            </a:r>
            <a:endParaRPr/>
          </a:p>
          <a:p>
            <a:pPr indent="-317500" lvl="1" marL="914400" rtl="0" algn="l">
              <a:spcBef>
                <a:spcPts val="0"/>
              </a:spcBef>
              <a:spcAft>
                <a:spcPts val="0"/>
              </a:spcAft>
              <a:buSzPts val="1400"/>
              <a:buChar char="○"/>
            </a:pPr>
            <a:r>
              <a:rPr lang="en"/>
              <a:t>Merging/re-constructing solution to original problem</a:t>
            </a:r>
            <a:endParaRPr/>
          </a:p>
          <a:p>
            <a:pPr indent="-317500" lvl="2" marL="1371600" rtl="0" algn="l">
              <a:spcBef>
                <a:spcPts val="0"/>
              </a:spcBef>
              <a:spcAft>
                <a:spcPts val="0"/>
              </a:spcAft>
              <a:buSzPts val="1400"/>
              <a:buChar char="■"/>
            </a:pPr>
            <a:r>
              <a:rPr lang="en"/>
              <a:t>Strings: breaking string into chunks</a:t>
            </a:r>
            <a:endParaRPr/>
          </a:p>
          <a:p>
            <a:pPr indent="-317500" lvl="2" marL="1371600" rtl="0" algn="l">
              <a:spcBef>
                <a:spcPts val="0"/>
              </a:spcBef>
              <a:spcAft>
                <a:spcPts val="0"/>
              </a:spcAft>
              <a:buSzPts val="1400"/>
              <a:buChar char="■"/>
            </a:pPr>
            <a:r>
              <a:rPr lang="en"/>
              <a:t>Numeric arrays: splitting arrays into sub-arrays</a:t>
            </a:r>
            <a:endParaRPr/>
          </a:p>
          <a:p>
            <a:pPr indent="-317500" lvl="2" marL="1371600" rtl="0" algn="l">
              <a:spcBef>
                <a:spcPts val="0"/>
              </a:spcBef>
              <a:spcAft>
                <a:spcPts val="0"/>
              </a:spcAft>
              <a:buSzPts val="1400"/>
              <a:buChar char="■"/>
            </a:pPr>
            <a:r>
              <a:rPr lang="en"/>
              <a:t>Graphs:  processing on subsets of the graph</a:t>
            </a:r>
            <a:endParaRPr/>
          </a:p>
          <a:p>
            <a:pPr indent="-317500" lvl="2" marL="1371600" rtl="0" algn="l">
              <a:spcBef>
                <a:spcPts val="0"/>
              </a:spcBef>
              <a:spcAft>
                <a:spcPts val="0"/>
              </a:spcAft>
              <a:buSzPts val="1400"/>
              <a:buChar char="■"/>
            </a:pPr>
            <a:r>
              <a:rPr lang="en"/>
              <a:t>Trees: splitting into subsets of tree</a:t>
            </a:r>
            <a:endParaRPr/>
          </a:p>
          <a:p>
            <a:pPr indent="-317500" lvl="2" marL="1371600" rtl="0" algn="l">
              <a:spcBef>
                <a:spcPts val="0"/>
              </a:spcBef>
              <a:spcAft>
                <a:spcPts val="0"/>
              </a:spcAft>
              <a:buSzPts val="1400"/>
              <a:buChar char="■"/>
            </a:pPr>
            <a:r>
              <a:rPr lang="en"/>
              <a:t>Search: searching on subsets of data structure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0" st="0"/>
                                            </p:txEl>
                                          </p:spTgt>
                                        </p:tgtEl>
                                        <p:attrNameLst>
                                          <p:attrName>style.visibility</p:attrName>
                                        </p:attrNameLst>
                                      </p:cBhvr>
                                      <p:to>
                                        <p:strVal val="visible"/>
                                      </p:to>
                                    </p:set>
                                    <p:animEffect filter="fade" transition="in">
                                      <p:cBhvr>
                                        <p:cTn dur="1000"/>
                                        <p:tgtEl>
                                          <p:spTgt spid="2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1" st="1"/>
                                            </p:txEl>
                                          </p:spTgt>
                                        </p:tgtEl>
                                        <p:attrNameLst>
                                          <p:attrName>style.visibility</p:attrName>
                                        </p:attrNameLst>
                                      </p:cBhvr>
                                      <p:to>
                                        <p:strVal val="visible"/>
                                      </p:to>
                                    </p:set>
                                    <p:animEffect filter="fade" transition="in">
                                      <p:cBhvr>
                                        <p:cTn dur="1000"/>
                                        <p:tgtEl>
                                          <p:spTgt spid="2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2" st="2"/>
                                            </p:txEl>
                                          </p:spTgt>
                                        </p:tgtEl>
                                        <p:attrNameLst>
                                          <p:attrName>style.visibility</p:attrName>
                                        </p:attrNameLst>
                                      </p:cBhvr>
                                      <p:to>
                                        <p:strVal val="visible"/>
                                      </p:to>
                                    </p:set>
                                    <p:animEffect filter="fade" transition="in">
                                      <p:cBhvr>
                                        <p:cTn dur="1000"/>
                                        <p:tgtEl>
                                          <p:spTgt spid="2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3" st="3"/>
                                            </p:txEl>
                                          </p:spTgt>
                                        </p:tgtEl>
                                        <p:attrNameLst>
                                          <p:attrName>style.visibility</p:attrName>
                                        </p:attrNameLst>
                                      </p:cBhvr>
                                      <p:to>
                                        <p:strVal val="visible"/>
                                      </p:to>
                                    </p:set>
                                    <p:animEffect filter="fade" transition="in">
                                      <p:cBhvr>
                                        <p:cTn dur="1000"/>
                                        <p:tgtEl>
                                          <p:spTgt spid="28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4" st="4"/>
                                            </p:txEl>
                                          </p:spTgt>
                                        </p:tgtEl>
                                        <p:attrNameLst>
                                          <p:attrName>style.visibility</p:attrName>
                                        </p:attrNameLst>
                                      </p:cBhvr>
                                      <p:to>
                                        <p:strVal val="visible"/>
                                      </p:to>
                                    </p:set>
                                    <p:animEffect filter="fade" transition="in">
                                      <p:cBhvr>
                                        <p:cTn dur="1000"/>
                                        <p:tgtEl>
                                          <p:spTgt spid="28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5" st="5"/>
                                            </p:txEl>
                                          </p:spTgt>
                                        </p:tgtEl>
                                        <p:attrNameLst>
                                          <p:attrName>style.visibility</p:attrName>
                                        </p:attrNameLst>
                                      </p:cBhvr>
                                      <p:to>
                                        <p:strVal val="visible"/>
                                      </p:to>
                                    </p:set>
                                    <p:animEffect filter="fade" transition="in">
                                      <p:cBhvr>
                                        <p:cTn dur="1000"/>
                                        <p:tgtEl>
                                          <p:spTgt spid="28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6" st="6"/>
                                            </p:txEl>
                                          </p:spTgt>
                                        </p:tgtEl>
                                        <p:attrNameLst>
                                          <p:attrName>style.visibility</p:attrName>
                                        </p:attrNameLst>
                                      </p:cBhvr>
                                      <p:to>
                                        <p:strVal val="visible"/>
                                      </p:to>
                                    </p:set>
                                    <p:animEffect filter="fade" transition="in">
                                      <p:cBhvr>
                                        <p:cTn dur="1000"/>
                                        <p:tgtEl>
                                          <p:spTgt spid="28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7" st="7"/>
                                            </p:txEl>
                                          </p:spTgt>
                                        </p:tgtEl>
                                        <p:attrNameLst>
                                          <p:attrName>style.visibility</p:attrName>
                                        </p:attrNameLst>
                                      </p:cBhvr>
                                      <p:to>
                                        <p:strVal val="visible"/>
                                      </p:to>
                                    </p:set>
                                    <p:animEffect filter="fade" transition="in">
                                      <p:cBhvr>
                                        <p:cTn dur="1000"/>
                                        <p:tgtEl>
                                          <p:spTgt spid="28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8" st="8"/>
                                            </p:txEl>
                                          </p:spTgt>
                                        </p:tgtEl>
                                        <p:attrNameLst>
                                          <p:attrName>style.visibility</p:attrName>
                                        </p:attrNameLst>
                                      </p:cBhvr>
                                      <p:to>
                                        <p:strVal val="visible"/>
                                      </p:to>
                                    </p:set>
                                    <p:animEffect filter="fade" transition="in">
                                      <p:cBhvr>
                                        <p:cTn dur="1000"/>
                                        <p:tgtEl>
                                          <p:spTgt spid="28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9" st="9"/>
                                            </p:txEl>
                                          </p:spTgt>
                                        </p:tgtEl>
                                        <p:attrNameLst>
                                          <p:attrName>style.visibility</p:attrName>
                                        </p:attrNameLst>
                                      </p:cBhvr>
                                      <p:to>
                                        <p:strVal val="visible"/>
                                      </p:to>
                                    </p:set>
                                    <p:animEffect filter="fade" transition="in">
                                      <p:cBhvr>
                                        <p:cTn dur="1000"/>
                                        <p:tgtEl>
                                          <p:spTgt spid="28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10" st="10"/>
                                            </p:txEl>
                                          </p:spTgt>
                                        </p:tgtEl>
                                        <p:attrNameLst>
                                          <p:attrName>style.visibility</p:attrName>
                                        </p:attrNameLst>
                                      </p:cBhvr>
                                      <p:to>
                                        <p:strVal val="visible"/>
                                      </p:to>
                                    </p:set>
                                    <p:animEffect filter="fade" transition="in">
                                      <p:cBhvr>
                                        <p:cTn dur="1000"/>
                                        <p:tgtEl>
                                          <p:spTgt spid="28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11" st="11"/>
                                            </p:txEl>
                                          </p:spTgt>
                                        </p:tgtEl>
                                        <p:attrNameLst>
                                          <p:attrName>style.visibility</p:attrName>
                                        </p:attrNameLst>
                                      </p:cBhvr>
                                      <p:to>
                                        <p:strVal val="visible"/>
                                      </p:to>
                                    </p:set>
                                    <p:animEffect filter="fade" transition="in">
                                      <p:cBhvr>
                                        <p:cTn dur="1000"/>
                                        <p:tgtEl>
                                          <p:spTgt spid="28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12" st="12"/>
                                            </p:txEl>
                                          </p:spTgt>
                                        </p:tgtEl>
                                        <p:attrNameLst>
                                          <p:attrName>style.visibility</p:attrName>
                                        </p:attrNameLst>
                                      </p:cBhvr>
                                      <p:to>
                                        <p:strVal val="visible"/>
                                      </p:to>
                                    </p:set>
                                    <p:animEffect filter="fade" transition="in">
                                      <p:cBhvr>
                                        <p:cTn dur="1000"/>
                                        <p:tgtEl>
                                          <p:spTgt spid="28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13" st="13"/>
                                            </p:txEl>
                                          </p:spTgt>
                                        </p:tgtEl>
                                        <p:attrNameLst>
                                          <p:attrName>style.visibility</p:attrName>
                                        </p:attrNameLst>
                                      </p:cBhvr>
                                      <p:to>
                                        <p:strVal val="visible"/>
                                      </p:to>
                                    </p:set>
                                    <p:animEffect filter="fade" transition="in">
                                      <p:cBhvr>
                                        <p:cTn dur="1000"/>
                                        <p:tgtEl>
                                          <p:spTgt spid="28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14" st="14"/>
                                            </p:txEl>
                                          </p:spTgt>
                                        </p:tgtEl>
                                        <p:attrNameLst>
                                          <p:attrName>style.visibility</p:attrName>
                                        </p:attrNameLst>
                                      </p:cBhvr>
                                      <p:to>
                                        <p:strVal val="visible"/>
                                      </p:to>
                                    </p:set>
                                    <p:animEffect filter="fade" transition="in">
                                      <p:cBhvr>
                                        <p:cTn dur="1000"/>
                                        <p:tgtEl>
                                          <p:spTgt spid="288">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Designing</a:t>
            </a:r>
            <a:r>
              <a:rPr lang="en"/>
              <a:t> Recursive solution</a:t>
            </a:r>
            <a:endParaRPr/>
          </a:p>
        </p:txBody>
      </p:sp>
      <p:sp>
        <p:nvSpPr>
          <p:cNvPr id="294" name="Google Shape;294;p26"/>
          <p:cNvSpPr txBox="1"/>
          <p:nvPr>
            <p:ph idx="1" type="body"/>
          </p:nvPr>
        </p:nvSpPr>
        <p:spPr>
          <a:xfrm>
            <a:off x="311700" y="1152475"/>
            <a:ext cx="8520600" cy="3645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Base case:</a:t>
            </a:r>
            <a:endParaRPr/>
          </a:p>
          <a:p>
            <a:pPr indent="-317500" lvl="1" marL="914400" rtl="0" algn="l">
              <a:spcBef>
                <a:spcPts val="0"/>
              </a:spcBef>
              <a:spcAft>
                <a:spcPts val="0"/>
              </a:spcAft>
              <a:buSzPts val="1400"/>
              <a:buChar char="○"/>
            </a:pPr>
            <a:r>
              <a:rPr lang="en"/>
              <a:t>Think of the smallest version of the problem and write down the solution</a:t>
            </a:r>
            <a:endParaRPr/>
          </a:p>
          <a:p>
            <a:pPr indent="-317500" lvl="1" marL="914400" rtl="0" algn="l">
              <a:spcBef>
                <a:spcPts val="0"/>
              </a:spcBef>
              <a:spcAft>
                <a:spcPts val="0"/>
              </a:spcAft>
              <a:buSzPts val="1400"/>
              <a:buChar char="○"/>
            </a:pPr>
            <a:r>
              <a:rPr lang="en"/>
              <a:t>Think of the case when the solution to the problem is not found</a:t>
            </a:r>
            <a:endParaRPr/>
          </a:p>
          <a:p>
            <a:pPr indent="-342900" lvl="0" marL="457200" rtl="0" algn="l">
              <a:spcBef>
                <a:spcPts val="0"/>
              </a:spcBef>
              <a:spcAft>
                <a:spcPts val="0"/>
              </a:spcAft>
              <a:buSzPts val="1800"/>
              <a:buChar char="●"/>
            </a:pPr>
            <a:r>
              <a:rPr lang="en"/>
              <a:t>Recursive case:</a:t>
            </a:r>
            <a:endParaRPr/>
          </a:p>
          <a:p>
            <a:pPr indent="-317500" lvl="1" marL="914400" rtl="0" algn="l">
              <a:spcBef>
                <a:spcPts val="0"/>
              </a:spcBef>
              <a:spcAft>
                <a:spcPts val="0"/>
              </a:spcAft>
              <a:buSzPts val="1400"/>
              <a:buChar char="○"/>
            </a:pPr>
            <a:r>
              <a:rPr lang="en"/>
              <a:t>Split the problem into subproblems that will get you closer to the base case</a:t>
            </a:r>
            <a:endParaRPr/>
          </a:p>
          <a:p>
            <a:pPr indent="-317500" lvl="1" marL="914400" rtl="0" algn="l">
              <a:spcBef>
                <a:spcPts val="0"/>
              </a:spcBef>
              <a:spcAft>
                <a:spcPts val="0"/>
              </a:spcAft>
              <a:buSzPts val="1400"/>
              <a:buChar char="○"/>
            </a:pPr>
            <a:r>
              <a:rPr lang="en"/>
              <a:t>Many possible ways to do this</a:t>
            </a:r>
            <a:endParaRPr/>
          </a:p>
          <a:p>
            <a:pPr indent="-317500" lvl="1" marL="914400" rtl="0" algn="l">
              <a:spcBef>
                <a:spcPts val="0"/>
              </a:spcBef>
              <a:spcAft>
                <a:spcPts val="0"/>
              </a:spcAft>
              <a:buSzPts val="1400"/>
              <a:buChar char="○"/>
            </a:pPr>
            <a:r>
              <a:rPr lang="en"/>
              <a:t>Choose the splitting solution that will make the recursive case simpler(fewer steps)</a:t>
            </a:r>
            <a:endParaRPr/>
          </a:p>
          <a:p>
            <a:pPr indent="-342900" lvl="0" marL="457200" rtl="0" algn="l">
              <a:spcBef>
                <a:spcPts val="0"/>
              </a:spcBef>
              <a:spcAft>
                <a:spcPts val="0"/>
              </a:spcAft>
              <a:buSzPts val="1800"/>
              <a:buChar char="●"/>
            </a:pPr>
            <a:r>
              <a:rPr lang="en"/>
              <a:t>Combine base case and recursive case</a:t>
            </a:r>
            <a:endParaRPr/>
          </a:p>
          <a:p>
            <a:pPr indent="-342900" lvl="0" marL="457200" rtl="0" algn="l">
              <a:spcBef>
                <a:spcPts val="0"/>
              </a:spcBef>
              <a:spcAft>
                <a:spcPts val="0"/>
              </a:spcAft>
              <a:buSzPts val="1800"/>
              <a:buChar char="●"/>
            </a:pPr>
            <a:r>
              <a:rPr lang="en"/>
              <a:t>Things to keep in mind:</a:t>
            </a:r>
            <a:endParaRPr/>
          </a:p>
          <a:p>
            <a:pPr indent="-317500" lvl="1" marL="914400" rtl="0" algn="l">
              <a:spcBef>
                <a:spcPts val="0"/>
              </a:spcBef>
              <a:spcAft>
                <a:spcPts val="0"/>
              </a:spcAft>
              <a:buSzPts val="1400"/>
              <a:buChar char="○"/>
            </a:pPr>
            <a:r>
              <a:rPr lang="en"/>
              <a:t>Cover all the instances for all input sizes</a:t>
            </a:r>
            <a:endParaRPr/>
          </a:p>
          <a:p>
            <a:pPr indent="-317500" lvl="1" marL="914400" rtl="0" algn="l">
              <a:spcBef>
                <a:spcPts val="0"/>
              </a:spcBef>
              <a:spcAft>
                <a:spcPts val="0"/>
              </a:spcAft>
              <a:buSzPts val="1400"/>
              <a:buChar char="○"/>
            </a:pPr>
            <a:r>
              <a:rPr lang="en"/>
              <a:t>Base case should not make recursive calls</a:t>
            </a:r>
            <a:endParaRPr/>
          </a:p>
          <a:p>
            <a:pPr indent="-317500" lvl="1" marL="914400" rtl="0" algn="l">
              <a:spcBef>
                <a:spcPts val="0"/>
              </a:spcBef>
              <a:spcAft>
                <a:spcPts val="0"/>
              </a:spcAft>
              <a:buSzPts val="1400"/>
              <a:buChar char="○"/>
            </a:pPr>
            <a:r>
              <a:rPr lang="en"/>
              <a:t>Recursive calls should call a smaller instance of original input</a:t>
            </a:r>
            <a:endParaRPr/>
          </a:p>
          <a:p>
            <a:pPr indent="-317500" lvl="1" marL="914400" rtl="0" algn="l">
              <a:spcBef>
                <a:spcPts val="0"/>
              </a:spcBef>
              <a:spcAft>
                <a:spcPts val="0"/>
              </a:spcAft>
              <a:buSzPts val="1400"/>
              <a:buChar char="○"/>
            </a:pPr>
            <a:r>
              <a:rPr lang="en"/>
              <a:t>Take that “Recursive leap of faith”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animEffect filter="fade" transition="in">
                                      <p:cBhvr>
                                        <p:cTn dur="1000"/>
                                        <p:tgtEl>
                                          <p:spTgt spid="2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animEffect filter="fade" transition="in">
                                      <p:cBhvr>
                                        <p:cTn dur="1000"/>
                                        <p:tgtEl>
                                          <p:spTgt spid="2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animEffect filter="fade" transition="in">
                                      <p:cBhvr>
                                        <p:cTn dur="1000"/>
                                        <p:tgtEl>
                                          <p:spTgt spid="2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animEffect filter="fade" transition="in">
                                      <p:cBhvr>
                                        <p:cTn dur="1000"/>
                                        <p:tgtEl>
                                          <p:spTgt spid="29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animEffect filter="fade" transition="in">
                                      <p:cBhvr>
                                        <p:cTn dur="1000"/>
                                        <p:tgtEl>
                                          <p:spTgt spid="29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5" st="5"/>
                                            </p:txEl>
                                          </p:spTgt>
                                        </p:tgtEl>
                                        <p:attrNameLst>
                                          <p:attrName>style.visibility</p:attrName>
                                        </p:attrNameLst>
                                      </p:cBhvr>
                                      <p:to>
                                        <p:strVal val="visible"/>
                                      </p:to>
                                    </p:set>
                                    <p:animEffect filter="fade" transition="in">
                                      <p:cBhvr>
                                        <p:cTn dur="1000"/>
                                        <p:tgtEl>
                                          <p:spTgt spid="29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6" st="6"/>
                                            </p:txEl>
                                          </p:spTgt>
                                        </p:tgtEl>
                                        <p:attrNameLst>
                                          <p:attrName>style.visibility</p:attrName>
                                        </p:attrNameLst>
                                      </p:cBhvr>
                                      <p:to>
                                        <p:strVal val="visible"/>
                                      </p:to>
                                    </p:set>
                                    <p:animEffect filter="fade" transition="in">
                                      <p:cBhvr>
                                        <p:cTn dur="1000"/>
                                        <p:tgtEl>
                                          <p:spTgt spid="29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7" st="7"/>
                                            </p:txEl>
                                          </p:spTgt>
                                        </p:tgtEl>
                                        <p:attrNameLst>
                                          <p:attrName>style.visibility</p:attrName>
                                        </p:attrNameLst>
                                      </p:cBhvr>
                                      <p:to>
                                        <p:strVal val="visible"/>
                                      </p:to>
                                    </p:set>
                                    <p:animEffect filter="fade" transition="in">
                                      <p:cBhvr>
                                        <p:cTn dur="1000"/>
                                        <p:tgtEl>
                                          <p:spTgt spid="29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8" st="8"/>
                                            </p:txEl>
                                          </p:spTgt>
                                        </p:tgtEl>
                                        <p:attrNameLst>
                                          <p:attrName>style.visibility</p:attrName>
                                        </p:attrNameLst>
                                      </p:cBhvr>
                                      <p:to>
                                        <p:strVal val="visible"/>
                                      </p:to>
                                    </p:set>
                                    <p:animEffect filter="fade" transition="in">
                                      <p:cBhvr>
                                        <p:cTn dur="1000"/>
                                        <p:tgtEl>
                                          <p:spTgt spid="29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9" st="9"/>
                                            </p:txEl>
                                          </p:spTgt>
                                        </p:tgtEl>
                                        <p:attrNameLst>
                                          <p:attrName>style.visibility</p:attrName>
                                        </p:attrNameLst>
                                      </p:cBhvr>
                                      <p:to>
                                        <p:strVal val="visible"/>
                                      </p:to>
                                    </p:set>
                                    <p:animEffect filter="fade" transition="in">
                                      <p:cBhvr>
                                        <p:cTn dur="1000"/>
                                        <p:tgtEl>
                                          <p:spTgt spid="29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10" st="10"/>
                                            </p:txEl>
                                          </p:spTgt>
                                        </p:tgtEl>
                                        <p:attrNameLst>
                                          <p:attrName>style.visibility</p:attrName>
                                        </p:attrNameLst>
                                      </p:cBhvr>
                                      <p:to>
                                        <p:strVal val="visible"/>
                                      </p:to>
                                    </p:set>
                                    <p:animEffect filter="fade" transition="in">
                                      <p:cBhvr>
                                        <p:cTn dur="1000"/>
                                        <p:tgtEl>
                                          <p:spTgt spid="29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11" st="11"/>
                                            </p:txEl>
                                          </p:spTgt>
                                        </p:tgtEl>
                                        <p:attrNameLst>
                                          <p:attrName>style.visibility</p:attrName>
                                        </p:attrNameLst>
                                      </p:cBhvr>
                                      <p:to>
                                        <p:strVal val="visible"/>
                                      </p:to>
                                    </p:set>
                                    <p:animEffect filter="fade" transition="in">
                                      <p:cBhvr>
                                        <p:cTn dur="1000"/>
                                        <p:tgtEl>
                                          <p:spTgt spid="29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12" st="12"/>
                                            </p:txEl>
                                          </p:spTgt>
                                        </p:tgtEl>
                                        <p:attrNameLst>
                                          <p:attrName>style.visibility</p:attrName>
                                        </p:attrNameLst>
                                      </p:cBhvr>
                                      <p:to>
                                        <p:strVal val="visible"/>
                                      </p:to>
                                    </p:set>
                                    <p:animEffect filter="fade" transition="in">
                                      <p:cBhvr>
                                        <p:cTn dur="1000"/>
                                        <p:tgtEl>
                                          <p:spTgt spid="294">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Sorting an array</a:t>
            </a:r>
            <a:endParaRPr/>
          </a:p>
        </p:txBody>
      </p:sp>
      <p:sp>
        <p:nvSpPr>
          <p:cNvPr id="300" name="Google Shape;300;p27"/>
          <p:cNvSpPr txBox="1"/>
          <p:nvPr/>
        </p:nvSpPr>
        <p:spPr>
          <a:xfrm>
            <a:off x="2414925"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301" name="Google Shape;301;p27"/>
          <p:cNvSpPr txBox="1"/>
          <p:nvPr/>
        </p:nvSpPr>
        <p:spPr>
          <a:xfrm>
            <a:off x="3071800"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302" name="Google Shape;302;p27"/>
          <p:cNvSpPr txBox="1"/>
          <p:nvPr/>
        </p:nvSpPr>
        <p:spPr>
          <a:xfrm>
            <a:off x="3728675"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303" name="Google Shape;303;p27"/>
          <p:cNvSpPr txBox="1"/>
          <p:nvPr/>
        </p:nvSpPr>
        <p:spPr>
          <a:xfrm>
            <a:off x="4385550"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304" name="Google Shape;304;p27"/>
          <p:cNvSpPr txBox="1"/>
          <p:nvPr/>
        </p:nvSpPr>
        <p:spPr>
          <a:xfrm>
            <a:off x="5042425"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305" name="Google Shape;305;p27"/>
          <p:cNvSpPr txBox="1"/>
          <p:nvPr/>
        </p:nvSpPr>
        <p:spPr>
          <a:xfrm>
            <a:off x="5699300"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306" name="Google Shape;306;p27"/>
          <p:cNvSpPr txBox="1"/>
          <p:nvPr/>
        </p:nvSpPr>
        <p:spPr>
          <a:xfrm>
            <a:off x="1672675" y="2509025"/>
            <a:ext cx="5457000" cy="2339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solidFill>
                  <a:schemeClr val="dk2"/>
                </a:solidFill>
                <a:latin typeface="Roboto"/>
                <a:ea typeface="Roboto"/>
                <a:cs typeface="Roboto"/>
                <a:sym typeface="Roboto"/>
              </a:rPr>
              <a:t>Base Case:</a:t>
            </a:r>
            <a:endParaRPr>
              <a:solidFill>
                <a:schemeClr val="dk2"/>
              </a:solidFill>
              <a:latin typeface="Roboto"/>
              <a:ea typeface="Roboto"/>
              <a:cs typeface="Roboto"/>
              <a:sym typeface="Roboto"/>
            </a:endParaRPr>
          </a:p>
          <a:p>
            <a:pPr indent="-317500" lvl="0" marL="457200" rtl="0" algn="l">
              <a:lnSpc>
                <a:spcPct val="150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Empty array</a:t>
            </a:r>
            <a:endParaRPr>
              <a:solidFill>
                <a:schemeClr val="dk2"/>
              </a:solidFill>
              <a:latin typeface="Roboto"/>
              <a:ea typeface="Roboto"/>
              <a:cs typeface="Roboto"/>
              <a:sym typeface="Roboto"/>
            </a:endParaRPr>
          </a:p>
          <a:p>
            <a:pPr indent="-317500" lvl="0" marL="457200" rtl="0" algn="l">
              <a:lnSpc>
                <a:spcPct val="150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Array with 1 value</a:t>
            </a:r>
            <a:endParaRPr>
              <a:solidFill>
                <a:schemeClr val="dk2"/>
              </a:solidFill>
              <a:latin typeface="Roboto"/>
              <a:ea typeface="Roboto"/>
              <a:cs typeface="Roboto"/>
              <a:sym typeface="Roboto"/>
            </a:endParaRPr>
          </a:p>
          <a:p>
            <a:pPr indent="0" lvl="0" marL="0" rtl="0" algn="l">
              <a:lnSpc>
                <a:spcPct val="150000"/>
              </a:lnSpc>
              <a:spcBef>
                <a:spcPts val="0"/>
              </a:spcBef>
              <a:spcAft>
                <a:spcPts val="0"/>
              </a:spcAft>
              <a:buNone/>
            </a:pPr>
            <a:r>
              <a:rPr lang="en">
                <a:solidFill>
                  <a:schemeClr val="dk2"/>
                </a:solidFill>
                <a:latin typeface="Roboto"/>
                <a:ea typeface="Roboto"/>
                <a:cs typeface="Roboto"/>
                <a:sym typeface="Roboto"/>
              </a:rPr>
              <a:t>Recursive Case:</a:t>
            </a:r>
            <a:endParaRPr>
              <a:solidFill>
                <a:schemeClr val="dk2"/>
              </a:solidFill>
              <a:latin typeface="Roboto"/>
              <a:ea typeface="Roboto"/>
              <a:cs typeface="Roboto"/>
              <a:sym typeface="Roboto"/>
            </a:endParaRPr>
          </a:p>
          <a:p>
            <a:pPr indent="-317500" lvl="0" marL="457200" rtl="0" algn="l">
              <a:lnSpc>
                <a:spcPct val="150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Split the problem </a:t>
            </a:r>
            <a:endParaRPr>
              <a:solidFill>
                <a:schemeClr val="dk2"/>
              </a:solidFill>
              <a:latin typeface="Roboto"/>
              <a:ea typeface="Roboto"/>
              <a:cs typeface="Roboto"/>
              <a:sym typeface="Roboto"/>
            </a:endParaRPr>
          </a:p>
          <a:p>
            <a:pPr indent="-317500" lvl="0" marL="457200" rtl="0" algn="l">
              <a:lnSpc>
                <a:spcPct val="150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How?</a:t>
            </a:r>
            <a:endParaRPr>
              <a:solidFill>
                <a:schemeClr val="dk2"/>
              </a:solidFill>
              <a:latin typeface="Roboto"/>
              <a:ea typeface="Roboto"/>
              <a:cs typeface="Roboto"/>
              <a:sym typeface="Roboto"/>
            </a:endParaRPr>
          </a:p>
          <a:p>
            <a:pPr indent="0" lvl="0" marL="914400" rtl="0" algn="l">
              <a:lnSpc>
                <a:spcPct val="150000"/>
              </a:lnSpc>
              <a:spcBef>
                <a:spcPts val="0"/>
              </a:spcBef>
              <a:spcAft>
                <a:spcPts val="0"/>
              </a:spcAft>
              <a:buNone/>
            </a:pPr>
            <a:r>
              <a:t/>
            </a:r>
            <a:endParaRPr>
              <a:solidFill>
                <a:schemeClr val="dk2"/>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1000"/>
                                        <p:tgtEl>
                                          <p:spTgt spid="300"/>
                                        </p:tgtEl>
                                      </p:cBhvr>
                                    </p:animEffect>
                                  </p:childTnLst>
                                </p:cTn>
                              </p:par>
                              <p:par>
                                <p:cTn fill="hold" nodeType="with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1000"/>
                                        <p:tgtEl>
                                          <p:spTgt spid="301"/>
                                        </p:tgtEl>
                                      </p:cBhvr>
                                    </p:animEffect>
                                  </p:childTnLst>
                                </p:cTn>
                              </p:par>
                              <p:par>
                                <p:cTn fill="hold" nodeType="with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par>
                                <p:cTn fill="hold" nodeType="with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000"/>
                                        <p:tgtEl>
                                          <p:spTgt spid="303"/>
                                        </p:tgtEl>
                                      </p:cBhvr>
                                    </p:animEffect>
                                  </p:childTnLst>
                                </p:cTn>
                              </p:par>
                              <p:par>
                                <p:cTn fill="hold" nodeType="with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1000"/>
                                        <p:tgtEl>
                                          <p:spTgt spid="304"/>
                                        </p:tgtEl>
                                      </p:cBhvr>
                                    </p:animEffect>
                                  </p:childTnLst>
                                </p:cTn>
                              </p:par>
                              <p:par>
                                <p:cTn fill="hold" nodeType="with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000"/>
                                        <p:tgtEl>
                                          <p:spTgt spid="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0" st="0"/>
                                            </p:txEl>
                                          </p:spTgt>
                                        </p:tgtEl>
                                        <p:attrNameLst>
                                          <p:attrName>style.visibility</p:attrName>
                                        </p:attrNameLst>
                                      </p:cBhvr>
                                      <p:to>
                                        <p:strVal val="visible"/>
                                      </p:to>
                                    </p:set>
                                    <p:animEffect filter="fade" transition="in">
                                      <p:cBhvr>
                                        <p:cTn dur="1000"/>
                                        <p:tgtEl>
                                          <p:spTgt spid="3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1" st="1"/>
                                            </p:txEl>
                                          </p:spTgt>
                                        </p:tgtEl>
                                        <p:attrNameLst>
                                          <p:attrName>style.visibility</p:attrName>
                                        </p:attrNameLst>
                                      </p:cBhvr>
                                      <p:to>
                                        <p:strVal val="visible"/>
                                      </p:to>
                                    </p:set>
                                    <p:animEffect filter="fade" transition="in">
                                      <p:cBhvr>
                                        <p:cTn dur="1000"/>
                                        <p:tgtEl>
                                          <p:spTgt spid="3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2" st="2"/>
                                            </p:txEl>
                                          </p:spTgt>
                                        </p:tgtEl>
                                        <p:attrNameLst>
                                          <p:attrName>style.visibility</p:attrName>
                                        </p:attrNameLst>
                                      </p:cBhvr>
                                      <p:to>
                                        <p:strVal val="visible"/>
                                      </p:to>
                                    </p:set>
                                    <p:animEffect filter="fade" transition="in">
                                      <p:cBhvr>
                                        <p:cTn dur="1000"/>
                                        <p:tgtEl>
                                          <p:spTgt spid="3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3" st="3"/>
                                            </p:txEl>
                                          </p:spTgt>
                                        </p:tgtEl>
                                        <p:attrNameLst>
                                          <p:attrName>style.visibility</p:attrName>
                                        </p:attrNameLst>
                                      </p:cBhvr>
                                      <p:to>
                                        <p:strVal val="visible"/>
                                      </p:to>
                                    </p:set>
                                    <p:animEffect filter="fade" transition="in">
                                      <p:cBhvr>
                                        <p:cTn dur="1000"/>
                                        <p:tgtEl>
                                          <p:spTgt spid="3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4" st="4"/>
                                            </p:txEl>
                                          </p:spTgt>
                                        </p:tgtEl>
                                        <p:attrNameLst>
                                          <p:attrName>style.visibility</p:attrName>
                                        </p:attrNameLst>
                                      </p:cBhvr>
                                      <p:to>
                                        <p:strVal val="visible"/>
                                      </p:to>
                                    </p:set>
                                    <p:animEffect filter="fade" transition="in">
                                      <p:cBhvr>
                                        <p:cTn dur="1000"/>
                                        <p:tgtEl>
                                          <p:spTgt spid="3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5" st="5"/>
                                            </p:txEl>
                                          </p:spTgt>
                                        </p:tgtEl>
                                        <p:attrNameLst>
                                          <p:attrName>style.visibility</p:attrName>
                                        </p:attrNameLst>
                                      </p:cBhvr>
                                      <p:to>
                                        <p:strVal val="visible"/>
                                      </p:to>
                                    </p:set>
                                    <p:animEffect filter="fade" transition="in">
                                      <p:cBhvr>
                                        <p:cTn dur="1000"/>
                                        <p:tgtEl>
                                          <p:spTgt spid="3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6" st="6"/>
                                            </p:txEl>
                                          </p:spTgt>
                                        </p:tgtEl>
                                        <p:attrNameLst>
                                          <p:attrName>style.visibility</p:attrName>
                                        </p:attrNameLst>
                                      </p:cBhvr>
                                      <p:to>
                                        <p:strVal val="visible"/>
                                      </p:to>
                                    </p:set>
                                    <p:animEffect filter="fade" transition="in">
                                      <p:cBhvr>
                                        <p:cTn dur="1000"/>
                                        <p:tgtEl>
                                          <p:spTgt spid="30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Insertion Sort</a:t>
            </a:r>
            <a:endParaRPr/>
          </a:p>
        </p:txBody>
      </p:sp>
      <p:sp>
        <p:nvSpPr>
          <p:cNvPr id="312" name="Google Shape;312;p28"/>
          <p:cNvSpPr txBox="1"/>
          <p:nvPr/>
        </p:nvSpPr>
        <p:spPr>
          <a:xfrm>
            <a:off x="2414925"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313" name="Google Shape;313;p28"/>
          <p:cNvSpPr txBox="1"/>
          <p:nvPr/>
        </p:nvSpPr>
        <p:spPr>
          <a:xfrm>
            <a:off x="3071800"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314" name="Google Shape;314;p28"/>
          <p:cNvSpPr txBox="1"/>
          <p:nvPr/>
        </p:nvSpPr>
        <p:spPr>
          <a:xfrm>
            <a:off x="3728675"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315" name="Google Shape;315;p28"/>
          <p:cNvSpPr txBox="1"/>
          <p:nvPr/>
        </p:nvSpPr>
        <p:spPr>
          <a:xfrm>
            <a:off x="4385550"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316" name="Google Shape;316;p28"/>
          <p:cNvSpPr txBox="1"/>
          <p:nvPr/>
        </p:nvSpPr>
        <p:spPr>
          <a:xfrm>
            <a:off x="5042425"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317" name="Google Shape;317;p28"/>
          <p:cNvSpPr txBox="1"/>
          <p:nvPr/>
        </p:nvSpPr>
        <p:spPr>
          <a:xfrm>
            <a:off x="5699300"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318" name="Google Shape;318;p28"/>
          <p:cNvSpPr txBox="1"/>
          <p:nvPr/>
        </p:nvSpPr>
        <p:spPr>
          <a:xfrm>
            <a:off x="1677375" y="2571750"/>
            <a:ext cx="5457000" cy="2016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solidFill>
                  <a:schemeClr val="dk2"/>
                </a:solidFill>
                <a:latin typeface="Roboto"/>
                <a:ea typeface="Roboto"/>
                <a:cs typeface="Roboto"/>
                <a:sym typeface="Roboto"/>
              </a:rPr>
              <a:t>Recursive Case:</a:t>
            </a:r>
            <a:endParaRPr>
              <a:solidFill>
                <a:schemeClr val="dk2"/>
              </a:solidFill>
              <a:latin typeface="Roboto"/>
              <a:ea typeface="Roboto"/>
              <a:cs typeface="Roboto"/>
              <a:sym typeface="Roboto"/>
            </a:endParaRPr>
          </a:p>
          <a:p>
            <a:pPr indent="-317500" lvl="0" marL="457200" rtl="0" algn="l">
              <a:lnSpc>
                <a:spcPct val="150000"/>
              </a:lnSpc>
              <a:spcBef>
                <a:spcPts val="0"/>
              </a:spcBef>
              <a:spcAft>
                <a:spcPts val="0"/>
              </a:spcAft>
              <a:buClr>
                <a:schemeClr val="dk2"/>
              </a:buClr>
              <a:buSzPts val="1400"/>
              <a:buFont typeface="Roboto"/>
              <a:buChar char="●"/>
            </a:pPr>
            <a:r>
              <a:rPr b="1" lang="en">
                <a:solidFill>
                  <a:srgbClr val="674EA7"/>
                </a:solidFill>
                <a:latin typeface="Roboto"/>
                <a:ea typeface="Roboto"/>
                <a:cs typeface="Roboto"/>
                <a:sym typeface="Roboto"/>
              </a:rPr>
              <a:t>Split</a:t>
            </a:r>
            <a:r>
              <a:rPr lang="en">
                <a:solidFill>
                  <a:schemeClr val="dk2"/>
                </a:solidFill>
                <a:latin typeface="Roboto"/>
                <a:ea typeface="Roboto"/>
                <a:cs typeface="Roboto"/>
                <a:sym typeface="Roboto"/>
              </a:rPr>
              <a:t> the array such that first entry into first subarray</a:t>
            </a:r>
            <a:endParaRPr>
              <a:solidFill>
                <a:schemeClr val="dk2"/>
              </a:solidFill>
              <a:latin typeface="Roboto"/>
              <a:ea typeface="Roboto"/>
              <a:cs typeface="Roboto"/>
              <a:sym typeface="Roboto"/>
            </a:endParaRPr>
          </a:p>
          <a:p>
            <a:pPr indent="-317500" lvl="0" marL="457200" rtl="0" algn="l">
              <a:lnSpc>
                <a:spcPct val="150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Remaining into second subarray</a:t>
            </a:r>
            <a:endParaRPr>
              <a:solidFill>
                <a:schemeClr val="dk2"/>
              </a:solidFill>
              <a:latin typeface="Roboto"/>
              <a:ea typeface="Roboto"/>
              <a:cs typeface="Roboto"/>
              <a:sym typeface="Roboto"/>
            </a:endParaRPr>
          </a:p>
          <a:p>
            <a:pPr indent="-317500" lvl="0" marL="457200" rtl="0" algn="l">
              <a:lnSpc>
                <a:spcPct val="150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Recursively </a:t>
            </a:r>
            <a:r>
              <a:rPr b="1" lang="en">
                <a:solidFill>
                  <a:srgbClr val="674EA7"/>
                </a:solidFill>
                <a:latin typeface="Roboto"/>
                <a:ea typeface="Roboto"/>
                <a:cs typeface="Roboto"/>
                <a:sym typeface="Roboto"/>
              </a:rPr>
              <a:t>sort</a:t>
            </a:r>
            <a:r>
              <a:rPr lang="en">
                <a:solidFill>
                  <a:schemeClr val="dk2"/>
                </a:solidFill>
                <a:latin typeface="Roboto"/>
                <a:ea typeface="Roboto"/>
                <a:cs typeface="Roboto"/>
                <a:sym typeface="Roboto"/>
              </a:rPr>
              <a:t> each subarray</a:t>
            </a:r>
            <a:endParaRPr>
              <a:solidFill>
                <a:schemeClr val="dk2"/>
              </a:solidFill>
              <a:latin typeface="Roboto"/>
              <a:ea typeface="Roboto"/>
              <a:cs typeface="Roboto"/>
              <a:sym typeface="Roboto"/>
            </a:endParaRPr>
          </a:p>
          <a:p>
            <a:pPr indent="-317500" lvl="0" marL="457200" rtl="0" algn="l">
              <a:lnSpc>
                <a:spcPct val="150000"/>
              </a:lnSpc>
              <a:spcBef>
                <a:spcPts val="0"/>
              </a:spcBef>
              <a:spcAft>
                <a:spcPts val="0"/>
              </a:spcAft>
              <a:buClr>
                <a:schemeClr val="dk2"/>
              </a:buClr>
              <a:buSzPts val="1400"/>
              <a:buFont typeface="Roboto"/>
              <a:buChar char="●"/>
            </a:pPr>
            <a:r>
              <a:rPr b="1" lang="en">
                <a:solidFill>
                  <a:srgbClr val="674EA7"/>
                </a:solidFill>
                <a:latin typeface="Roboto"/>
                <a:ea typeface="Roboto"/>
                <a:cs typeface="Roboto"/>
                <a:sym typeface="Roboto"/>
              </a:rPr>
              <a:t>Merge</a:t>
            </a:r>
            <a:r>
              <a:rPr lang="en">
                <a:solidFill>
                  <a:schemeClr val="dk2"/>
                </a:solidFill>
                <a:latin typeface="Roboto"/>
                <a:ea typeface="Roboto"/>
                <a:cs typeface="Roboto"/>
                <a:sym typeface="Roboto"/>
              </a:rPr>
              <a:t> sorted subarrays to build larger subarrays</a:t>
            </a:r>
            <a:endParaRPr>
              <a:solidFill>
                <a:schemeClr val="dk2"/>
              </a:solidFill>
              <a:latin typeface="Roboto"/>
              <a:ea typeface="Roboto"/>
              <a:cs typeface="Roboto"/>
              <a:sym typeface="Roboto"/>
            </a:endParaRPr>
          </a:p>
          <a:p>
            <a:pPr indent="0" lvl="0" marL="914400" rtl="0" algn="l">
              <a:lnSpc>
                <a:spcPct val="150000"/>
              </a:lnSpc>
              <a:spcBef>
                <a:spcPts val="0"/>
              </a:spcBef>
              <a:spcAft>
                <a:spcPts val="0"/>
              </a:spcAft>
              <a:buNone/>
            </a:pPr>
            <a:r>
              <a:t/>
            </a:r>
            <a:endParaRPr>
              <a:solidFill>
                <a:schemeClr val="dk2"/>
              </a:solidFill>
              <a:latin typeface="Roboto"/>
              <a:ea typeface="Roboto"/>
              <a:cs typeface="Roboto"/>
              <a:sym typeface="Roboto"/>
            </a:endParaRPr>
          </a:p>
        </p:txBody>
      </p:sp>
      <p:sp>
        <p:nvSpPr>
          <p:cNvPr id="319" name="Google Shape;319;p28"/>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1000"/>
                                        <p:tgtEl>
                                          <p:spTgt spid="312"/>
                                        </p:tgtEl>
                                      </p:cBhvr>
                                    </p:animEffect>
                                  </p:childTnLst>
                                </p:cTn>
                              </p:par>
                              <p:par>
                                <p:cTn fill="hold" nodeType="with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1000"/>
                                        <p:tgtEl>
                                          <p:spTgt spid="313"/>
                                        </p:tgtEl>
                                      </p:cBhvr>
                                    </p:animEffect>
                                  </p:childTnLst>
                                </p:cTn>
                              </p:par>
                              <p:par>
                                <p:cTn fill="hold" nodeType="with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1000"/>
                                        <p:tgtEl>
                                          <p:spTgt spid="314"/>
                                        </p:tgtEl>
                                      </p:cBhvr>
                                    </p:animEffect>
                                  </p:childTnLst>
                                </p:cTn>
                              </p:par>
                              <p:par>
                                <p:cTn fill="hold" nodeType="with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par>
                                <p:cTn fill="hold" nodeType="with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par>
                                <p:cTn fill="hold" nodeType="with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000"/>
                                        <p:tgtEl>
                                          <p:spTgt spid="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0" st="0"/>
                                            </p:txEl>
                                          </p:spTgt>
                                        </p:tgtEl>
                                        <p:attrNameLst>
                                          <p:attrName>style.visibility</p:attrName>
                                        </p:attrNameLst>
                                      </p:cBhvr>
                                      <p:to>
                                        <p:strVal val="visible"/>
                                      </p:to>
                                    </p:set>
                                    <p:animEffect filter="fade" transition="in">
                                      <p:cBhvr>
                                        <p:cTn dur="1000"/>
                                        <p:tgtEl>
                                          <p:spTgt spid="3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1" st="1"/>
                                            </p:txEl>
                                          </p:spTgt>
                                        </p:tgtEl>
                                        <p:attrNameLst>
                                          <p:attrName>style.visibility</p:attrName>
                                        </p:attrNameLst>
                                      </p:cBhvr>
                                      <p:to>
                                        <p:strVal val="visible"/>
                                      </p:to>
                                    </p:set>
                                    <p:animEffect filter="fade" transition="in">
                                      <p:cBhvr>
                                        <p:cTn dur="1000"/>
                                        <p:tgtEl>
                                          <p:spTgt spid="3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2" st="2"/>
                                            </p:txEl>
                                          </p:spTgt>
                                        </p:tgtEl>
                                        <p:attrNameLst>
                                          <p:attrName>style.visibility</p:attrName>
                                        </p:attrNameLst>
                                      </p:cBhvr>
                                      <p:to>
                                        <p:strVal val="visible"/>
                                      </p:to>
                                    </p:set>
                                    <p:animEffect filter="fade" transition="in">
                                      <p:cBhvr>
                                        <p:cTn dur="1000"/>
                                        <p:tgtEl>
                                          <p:spTgt spid="3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3" st="3"/>
                                            </p:txEl>
                                          </p:spTgt>
                                        </p:tgtEl>
                                        <p:attrNameLst>
                                          <p:attrName>style.visibility</p:attrName>
                                        </p:attrNameLst>
                                      </p:cBhvr>
                                      <p:to>
                                        <p:strVal val="visible"/>
                                      </p:to>
                                    </p:set>
                                    <p:animEffect filter="fade" transition="in">
                                      <p:cBhvr>
                                        <p:cTn dur="1000"/>
                                        <p:tgtEl>
                                          <p:spTgt spid="3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4" st="4"/>
                                            </p:txEl>
                                          </p:spTgt>
                                        </p:tgtEl>
                                        <p:attrNameLst>
                                          <p:attrName>style.visibility</p:attrName>
                                        </p:attrNameLst>
                                      </p:cBhvr>
                                      <p:to>
                                        <p:strVal val="visible"/>
                                      </p:to>
                                    </p:set>
                                    <p:animEffect filter="fade" transition="in">
                                      <p:cBhvr>
                                        <p:cTn dur="1000"/>
                                        <p:tgtEl>
                                          <p:spTgt spid="31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5" st="5"/>
                                            </p:txEl>
                                          </p:spTgt>
                                        </p:tgtEl>
                                        <p:attrNameLst>
                                          <p:attrName>style.visibility</p:attrName>
                                        </p:attrNameLst>
                                      </p:cBhvr>
                                      <p:to>
                                        <p:strVal val="visible"/>
                                      </p:to>
                                    </p:set>
                                    <p:animEffect filter="fade" transition="in">
                                      <p:cBhvr>
                                        <p:cTn dur="1000"/>
                                        <p:tgtEl>
                                          <p:spTgt spid="318">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Insertion Sort</a:t>
            </a:r>
            <a:endParaRPr/>
          </a:p>
        </p:txBody>
      </p:sp>
      <p:sp>
        <p:nvSpPr>
          <p:cNvPr id="325" name="Google Shape;325;p29"/>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Insertion Sort</a:t>
            </a:r>
            <a:endParaRPr/>
          </a:p>
        </p:txBody>
      </p:sp>
      <p:sp>
        <p:nvSpPr>
          <p:cNvPr id="331" name="Google Shape;331;p30"/>
          <p:cNvSpPr txBox="1"/>
          <p:nvPr/>
        </p:nvSpPr>
        <p:spPr>
          <a:xfrm>
            <a:off x="151525"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332" name="Google Shape;332;p30"/>
          <p:cNvSpPr txBox="1"/>
          <p:nvPr/>
        </p:nvSpPr>
        <p:spPr>
          <a:xfrm>
            <a:off x="808400"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333" name="Google Shape;333;p30"/>
          <p:cNvSpPr txBox="1"/>
          <p:nvPr/>
        </p:nvSpPr>
        <p:spPr>
          <a:xfrm>
            <a:off x="1465275"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334" name="Google Shape;334;p30"/>
          <p:cNvSpPr txBox="1"/>
          <p:nvPr/>
        </p:nvSpPr>
        <p:spPr>
          <a:xfrm>
            <a:off x="2122150"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335" name="Google Shape;335;p30"/>
          <p:cNvSpPr txBox="1"/>
          <p:nvPr/>
        </p:nvSpPr>
        <p:spPr>
          <a:xfrm>
            <a:off x="2779025"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336" name="Google Shape;336;p30"/>
          <p:cNvSpPr txBox="1"/>
          <p:nvPr/>
        </p:nvSpPr>
        <p:spPr>
          <a:xfrm>
            <a:off x="3435900"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337" name="Google Shape;337;p30"/>
          <p:cNvSpPr txBox="1"/>
          <p:nvPr/>
        </p:nvSpPr>
        <p:spPr>
          <a:xfrm>
            <a:off x="5066700" y="1975850"/>
            <a:ext cx="4077300" cy="1877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100">
                <a:solidFill>
                  <a:schemeClr val="dk2"/>
                </a:solidFill>
                <a:latin typeface="Roboto"/>
                <a:ea typeface="Roboto"/>
                <a:cs typeface="Roboto"/>
                <a:sym typeface="Roboto"/>
              </a:rPr>
              <a:t>Recursive Case:</a:t>
            </a:r>
            <a:endParaRPr sz="1100">
              <a:solidFill>
                <a:schemeClr val="dk2"/>
              </a:solidFill>
              <a:latin typeface="Roboto"/>
              <a:ea typeface="Roboto"/>
              <a:cs typeface="Roboto"/>
              <a:sym typeface="Roboto"/>
            </a:endParaRPr>
          </a:p>
          <a:p>
            <a:pPr indent="-298450" lvl="0" marL="457200" rtl="0" algn="l">
              <a:lnSpc>
                <a:spcPct val="150000"/>
              </a:lnSpc>
              <a:spcBef>
                <a:spcPts val="0"/>
              </a:spcBef>
              <a:spcAft>
                <a:spcPts val="0"/>
              </a:spcAft>
              <a:buClr>
                <a:schemeClr val="dk2"/>
              </a:buClr>
              <a:buSzPts val="1100"/>
              <a:buFont typeface="Roboto"/>
              <a:buChar char="●"/>
            </a:pPr>
            <a:r>
              <a:rPr b="1" lang="en" sz="1100">
                <a:solidFill>
                  <a:srgbClr val="674EA7"/>
                </a:solidFill>
                <a:latin typeface="Roboto"/>
                <a:ea typeface="Roboto"/>
                <a:cs typeface="Roboto"/>
                <a:sym typeface="Roboto"/>
              </a:rPr>
              <a:t>Split</a:t>
            </a:r>
            <a:r>
              <a:rPr lang="en" sz="1100">
                <a:solidFill>
                  <a:schemeClr val="dk2"/>
                </a:solidFill>
                <a:latin typeface="Roboto"/>
                <a:ea typeface="Roboto"/>
                <a:cs typeface="Roboto"/>
                <a:sym typeface="Roboto"/>
              </a:rPr>
              <a:t> the array such that </a:t>
            </a:r>
            <a:endParaRPr sz="1100">
              <a:solidFill>
                <a:schemeClr val="dk2"/>
              </a:solidFill>
              <a:latin typeface="Roboto"/>
              <a:ea typeface="Roboto"/>
              <a:cs typeface="Roboto"/>
              <a:sym typeface="Roboto"/>
            </a:endParaRPr>
          </a:p>
          <a:p>
            <a:pPr indent="-298450" lvl="1" marL="914400" rtl="0" algn="l">
              <a:lnSpc>
                <a:spcPct val="150000"/>
              </a:lnSpc>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first entry into first subarray</a:t>
            </a:r>
            <a:endParaRPr sz="1100">
              <a:solidFill>
                <a:schemeClr val="dk2"/>
              </a:solidFill>
              <a:latin typeface="Roboto"/>
              <a:ea typeface="Roboto"/>
              <a:cs typeface="Roboto"/>
              <a:sym typeface="Roboto"/>
            </a:endParaRPr>
          </a:p>
          <a:p>
            <a:pPr indent="-298450" lvl="1" marL="914400" rtl="0" algn="l">
              <a:lnSpc>
                <a:spcPct val="150000"/>
              </a:lnSpc>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Remaining into second subarray</a:t>
            </a:r>
            <a:endParaRPr sz="1100">
              <a:solidFill>
                <a:schemeClr val="dk2"/>
              </a:solidFill>
              <a:latin typeface="Roboto"/>
              <a:ea typeface="Roboto"/>
              <a:cs typeface="Roboto"/>
              <a:sym typeface="Roboto"/>
            </a:endParaRPr>
          </a:p>
          <a:p>
            <a:pPr indent="-298450" lvl="0" marL="457200" rtl="0" algn="l">
              <a:lnSpc>
                <a:spcPct val="150000"/>
              </a:lnSpc>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Recursively </a:t>
            </a:r>
            <a:r>
              <a:rPr b="1" lang="en" sz="1100">
                <a:solidFill>
                  <a:srgbClr val="674EA7"/>
                </a:solidFill>
                <a:latin typeface="Roboto"/>
                <a:ea typeface="Roboto"/>
                <a:cs typeface="Roboto"/>
                <a:sym typeface="Roboto"/>
              </a:rPr>
              <a:t>sort</a:t>
            </a:r>
            <a:r>
              <a:rPr lang="en" sz="1100">
                <a:solidFill>
                  <a:schemeClr val="dk2"/>
                </a:solidFill>
                <a:latin typeface="Roboto"/>
                <a:ea typeface="Roboto"/>
                <a:cs typeface="Roboto"/>
                <a:sym typeface="Roboto"/>
              </a:rPr>
              <a:t> each subarray</a:t>
            </a:r>
            <a:endParaRPr sz="1100">
              <a:solidFill>
                <a:schemeClr val="dk2"/>
              </a:solidFill>
              <a:latin typeface="Roboto"/>
              <a:ea typeface="Roboto"/>
              <a:cs typeface="Roboto"/>
              <a:sym typeface="Roboto"/>
            </a:endParaRPr>
          </a:p>
          <a:p>
            <a:pPr indent="-298450" lvl="0" marL="457200" rtl="0" algn="l">
              <a:lnSpc>
                <a:spcPct val="150000"/>
              </a:lnSpc>
              <a:spcBef>
                <a:spcPts val="0"/>
              </a:spcBef>
              <a:spcAft>
                <a:spcPts val="0"/>
              </a:spcAft>
              <a:buClr>
                <a:schemeClr val="dk2"/>
              </a:buClr>
              <a:buSzPts val="1100"/>
              <a:buFont typeface="Roboto"/>
              <a:buChar char="●"/>
            </a:pPr>
            <a:r>
              <a:rPr b="1" lang="en" sz="1100">
                <a:solidFill>
                  <a:srgbClr val="674EA7"/>
                </a:solidFill>
                <a:latin typeface="Roboto"/>
                <a:ea typeface="Roboto"/>
                <a:cs typeface="Roboto"/>
                <a:sym typeface="Roboto"/>
              </a:rPr>
              <a:t>Merge</a:t>
            </a:r>
            <a:r>
              <a:rPr lang="en" sz="1100">
                <a:solidFill>
                  <a:schemeClr val="dk2"/>
                </a:solidFill>
                <a:latin typeface="Roboto"/>
                <a:ea typeface="Roboto"/>
                <a:cs typeface="Roboto"/>
                <a:sym typeface="Roboto"/>
              </a:rPr>
              <a:t> sorted subarrays to build larger subarrays</a:t>
            </a:r>
            <a:endParaRPr sz="1100">
              <a:solidFill>
                <a:schemeClr val="dk2"/>
              </a:solidFill>
              <a:latin typeface="Roboto"/>
              <a:ea typeface="Roboto"/>
              <a:cs typeface="Roboto"/>
              <a:sym typeface="Roboto"/>
            </a:endParaRPr>
          </a:p>
          <a:p>
            <a:pPr indent="0" lvl="0" marL="914400" rtl="0" algn="l">
              <a:lnSpc>
                <a:spcPct val="150000"/>
              </a:lnSpc>
              <a:spcBef>
                <a:spcPts val="0"/>
              </a:spcBef>
              <a:spcAft>
                <a:spcPts val="0"/>
              </a:spcAft>
              <a:buNone/>
            </a:pPr>
            <a:r>
              <a:t/>
            </a:r>
            <a:endParaRPr sz="1100">
              <a:solidFill>
                <a:schemeClr val="dk2"/>
              </a:solidFill>
              <a:latin typeface="Roboto"/>
              <a:ea typeface="Roboto"/>
              <a:cs typeface="Roboto"/>
              <a:sym typeface="Roboto"/>
            </a:endParaRPr>
          </a:p>
        </p:txBody>
      </p:sp>
      <p:sp>
        <p:nvSpPr>
          <p:cNvPr id="338" name="Google Shape;338;p30"/>
          <p:cNvSpPr txBox="1"/>
          <p:nvPr/>
        </p:nvSpPr>
        <p:spPr>
          <a:xfrm>
            <a:off x="151525"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339" name="Google Shape;339;p30"/>
          <p:cNvSpPr txBox="1"/>
          <p:nvPr/>
        </p:nvSpPr>
        <p:spPr>
          <a:xfrm>
            <a:off x="994825"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340" name="Google Shape;340;p30"/>
          <p:cNvSpPr txBox="1"/>
          <p:nvPr/>
        </p:nvSpPr>
        <p:spPr>
          <a:xfrm>
            <a:off x="1651700"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341" name="Google Shape;341;p30"/>
          <p:cNvSpPr txBox="1"/>
          <p:nvPr/>
        </p:nvSpPr>
        <p:spPr>
          <a:xfrm>
            <a:off x="2308575"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342" name="Google Shape;342;p30"/>
          <p:cNvSpPr txBox="1"/>
          <p:nvPr/>
        </p:nvSpPr>
        <p:spPr>
          <a:xfrm>
            <a:off x="2965450"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343" name="Google Shape;343;p30"/>
          <p:cNvSpPr txBox="1"/>
          <p:nvPr/>
        </p:nvSpPr>
        <p:spPr>
          <a:xfrm>
            <a:off x="3622325"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344" name="Google Shape;344;p30"/>
          <p:cNvSpPr txBox="1"/>
          <p:nvPr/>
        </p:nvSpPr>
        <p:spPr>
          <a:xfrm>
            <a:off x="162900"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345" name="Google Shape;345;p30"/>
          <p:cNvSpPr txBox="1"/>
          <p:nvPr/>
        </p:nvSpPr>
        <p:spPr>
          <a:xfrm>
            <a:off x="994825"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346" name="Google Shape;346;p30"/>
          <p:cNvSpPr txBox="1"/>
          <p:nvPr/>
        </p:nvSpPr>
        <p:spPr>
          <a:xfrm>
            <a:off x="1826750"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347" name="Google Shape;347;p30"/>
          <p:cNvSpPr txBox="1"/>
          <p:nvPr/>
        </p:nvSpPr>
        <p:spPr>
          <a:xfrm>
            <a:off x="2483625"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348" name="Google Shape;348;p30"/>
          <p:cNvSpPr txBox="1"/>
          <p:nvPr/>
        </p:nvSpPr>
        <p:spPr>
          <a:xfrm>
            <a:off x="3140500"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349" name="Google Shape;349;p30"/>
          <p:cNvSpPr txBox="1"/>
          <p:nvPr/>
        </p:nvSpPr>
        <p:spPr>
          <a:xfrm>
            <a:off x="3797375"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350" name="Google Shape;350;p30"/>
          <p:cNvSpPr txBox="1"/>
          <p:nvPr/>
        </p:nvSpPr>
        <p:spPr>
          <a:xfrm>
            <a:off x="151525"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351" name="Google Shape;351;p30"/>
          <p:cNvSpPr txBox="1"/>
          <p:nvPr/>
        </p:nvSpPr>
        <p:spPr>
          <a:xfrm>
            <a:off x="983450"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352" name="Google Shape;352;p30"/>
          <p:cNvSpPr txBox="1"/>
          <p:nvPr/>
        </p:nvSpPr>
        <p:spPr>
          <a:xfrm>
            <a:off x="1815375"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353" name="Google Shape;353;p30"/>
          <p:cNvSpPr txBox="1"/>
          <p:nvPr/>
        </p:nvSpPr>
        <p:spPr>
          <a:xfrm>
            <a:off x="2647300"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354" name="Google Shape;354;p30"/>
          <p:cNvSpPr txBox="1"/>
          <p:nvPr/>
        </p:nvSpPr>
        <p:spPr>
          <a:xfrm>
            <a:off x="3304175"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355" name="Google Shape;355;p30"/>
          <p:cNvSpPr txBox="1"/>
          <p:nvPr/>
        </p:nvSpPr>
        <p:spPr>
          <a:xfrm>
            <a:off x="3961050"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356" name="Google Shape;356;p30"/>
          <p:cNvSpPr txBox="1"/>
          <p:nvPr/>
        </p:nvSpPr>
        <p:spPr>
          <a:xfrm>
            <a:off x="151525"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357" name="Google Shape;357;p30"/>
          <p:cNvSpPr txBox="1"/>
          <p:nvPr/>
        </p:nvSpPr>
        <p:spPr>
          <a:xfrm>
            <a:off x="983450"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358" name="Google Shape;358;p30"/>
          <p:cNvSpPr txBox="1"/>
          <p:nvPr/>
        </p:nvSpPr>
        <p:spPr>
          <a:xfrm>
            <a:off x="1815375"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359" name="Google Shape;359;p30"/>
          <p:cNvSpPr txBox="1"/>
          <p:nvPr/>
        </p:nvSpPr>
        <p:spPr>
          <a:xfrm>
            <a:off x="2647300"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360" name="Google Shape;360;p30"/>
          <p:cNvSpPr txBox="1"/>
          <p:nvPr/>
        </p:nvSpPr>
        <p:spPr>
          <a:xfrm>
            <a:off x="3479225"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361" name="Google Shape;361;p30"/>
          <p:cNvSpPr txBox="1"/>
          <p:nvPr/>
        </p:nvSpPr>
        <p:spPr>
          <a:xfrm>
            <a:off x="4136100"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362" name="Google Shape;362;p30"/>
          <p:cNvSpPr txBox="1"/>
          <p:nvPr/>
        </p:nvSpPr>
        <p:spPr>
          <a:xfrm>
            <a:off x="151525"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363" name="Google Shape;363;p30"/>
          <p:cNvSpPr txBox="1"/>
          <p:nvPr/>
        </p:nvSpPr>
        <p:spPr>
          <a:xfrm>
            <a:off x="983450"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364" name="Google Shape;364;p30"/>
          <p:cNvSpPr txBox="1"/>
          <p:nvPr/>
        </p:nvSpPr>
        <p:spPr>
          <a:xfrm>
            <a:off x="1815375"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365" name="Google Shape;365;p30"/>
          <p:cNvSpPr txBox="1"/>
          <p:nvPr/>
        </p:nvSpPr>
        <p:spPr>
          <a:xfrm>
            <a:off x="2647300"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366" name="Google Shape;366;p30"/>
          <p:cNvSpPr txBox="1"/>
          <p:nvPr/>
        </p:nvSpPr>
        <p:spPr>
          <a:xfrm>
            <a:off x="3479225"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367" name="Google Shape;367;p30"/>
          <p:cNvSpPr txBox="1"/>
          <p:nvPr/>
        </p:nvSpPr>
        <p:spPr>
          <a:xfrm>
            <a:off x="4311150"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368" name="Google Shape;368;p30"/>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1000"/>
                                        <p:tgtEl>
                                          <p:spTgt spid="331"/>
                                        </p:tgtEl>
                                      </p:cBhvr>
                                    </p:animEffect>
                                  </p:childTnLst>
                                </p:cTn>
                              </p:par>
                              <p:par>
                                <p:cTn fill="hold" nodeType="with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1000"/>
                                        <p:tgtEl>
                                          <p:spTgt spid="332"/>
                                        </p:tgtEl>
                                      </p:cBhvr>
                                    </p:animEffect>
                                  </p:childTnLst>
                                </p:cTn>
                              </p:par>
                              <p:par>
                                <p:cTn fill="hold" nodeType="with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1000"/>
                                        <p:tgtEl>
                                          <p:spTgt spid="333"/>
                                        </p:tgtEl>
                                      </p:cBhvr>
                                    </p:animEffect>
                                  </p:childTnLst>
                                </p:cTn>
                              </p:par>
                              <p:par>
                                <p:cTn fill="hold" nodeType="with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1000"/>
                                        <p:tgtEl>
                                          <p:spTgt spid="334"/>
                                        </p:tgtEl>
                                      </p:cBhvr>
                                    </p:animEffect>
                                  </p:childTnLst>
                                </p:cTn>
                              </p:par>
                              <p:par>
                                <p:cTn fill="hold" nodeType="with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1000"/>
                                        <p:tgtEl>
                                          <p:spTgt spid="335"/>
                                        </p:tgtEl>
                                      </p:cBhvr>
                                    </p:animEffect>
                                  </p:childTnLst>
                                </p:cTn>
                              </p:par>
                              <p:par>
                                <p:cTn fill="hold" nodeType="with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1000"/>
                                        <p:tgtEl>
                                          <p:spTgt spid="3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par>
                                <p:cTn fill="hold" nodeType="with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1000"/>
                                        <p:tgtEl>
                                          <p:spTgt spid="339"/>
                                        </p:tgtEl>
                                      </p:cBhvr>
                                    </p:animEffect>
                                  </p:childTnLst>
                                </p:cTn>
                              </p:par>
                              <p:par>
                                <p:cTn fill="hold" nodeType="with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1000"/>
                                        <p:tgtEl>
                                          <p:spTgt spid="340"/>
                                        </p:tgtEl>
                                      </p:cBhvr>
                                    </p:animEffect>
                                  </p:childTnLst>
                                </p:cTn>
                              </p:par>
                              <p:par>
                                <p:cTn fill="hold" nodeType="with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1000"/>
                                        <p:tgtEl>
                                          <p:spTgt spid="341"/>
                                        </p:tgtEl>
                                      </p:cBhvr>
                                    </p:animEffect>
                                  </p:childTnLst>
                                </p:cTn>
                              </p:par>
                              <p:par>
                                <p:cTn fill="hold" nodeType="with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1000"/>
                                        <p:tgtEl>
                                          <p:spTgt spid="342"/>
                                        </p:tgtEl>
                                      </p:cBhvr>
                                    </p:animEffect>
                                  </p:childTnLst>
                                </p:cTn>
                              </p:par>
                              <p:par>
                                <p:cTn fill="hold" nodeType="with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1000"/>
                                        <p:tgtEl>
                                          <p:spTgt spid="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par>
                                <p:cTn fill="hold" nodeType="with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1000"/>
                                        <p:tgtEl>
                                          <p:spTgt spid="345"/>
                                        </p:tgtEl>
                                      </p:cBhvr>
                                    </p:animEffect>
                                  </p:childTnLst>
                                </p:cTn>
                              </p:par>
                              <p:par>
                                <p:cTn fill="hold" nodeType="with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1000"/>
                                        <p:tgtEl>
                                          <p:spTgt spid="346"/>
                                        </p:tgtEl>
                                      </p:cBhvr>
                                    </p:animEffect>
                                  </p:childTnLst>
                                </p:cTn>
                              </p:par>
                              <p:par>
                                <p:cTn fill="hold" nodeType="with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1000"/>
                                        <p:tgtEl>
                                          <p:spTgt spid="347"/>
                                        </p:tgtEl>
                                      </p:cBhvr>
                                    </p:animEffect>
                                  </p:childTnLst>
                                </p:cTn>
                              </p:par>
                              <p:par>
                                <p:cTn fill="hold" nodeType="with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par>
                                <p:cTn fill="hold" nodeType="with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1000"/>
                                        <p:tgtEl>
                                          <p:spTgt spid="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1000"/>
                                        <p:tgtEl>
                                          <p:spTgt spid="350"/>
                                        </p:tgtEl>
                                      </p:cBhvr>
                                    </p:animEffect>
                                  </p:childTnLst>
                                </p:cTn>
                              </p:par>
                              <p:par>
                                <p:cTn fill="hold" nodeType="with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par>
                                <p:cTn fill="hold" nodeType="with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par>
                                <p:cTn fill="hold" nodeType="with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par>
                                <p:cTn fill="hold" nodeType="with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1000"/>
                                        <p:tgtEl>
                                          <p:spTgt spid="354"/>
                                        </p:tgtEl>
                                      </p:cBhvr>
                                    </p:animEffect>
                                  </p:childTnLst>
                                </p:cTn>
                              </p:par>
                              <p:par>
                                <p:cTn fill="hold" nodeType="with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1000"/>
                                        <p:tgtEl>
                                          <p:spTgt spid="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000"/>
                                        <p:tgtEl>
                                          <p:spTgt spid="356"/>
                                        </p:tgtEl>
                                      </p:cBhvr>
                                    </p:animEffect>
                                  </p:childTnLst>
                                </p:cTn>
                              </p:par>
                              <p:par>
                                <p:cTn fill="hold" nodeType="with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1000"/>
                                        <p:tgtEl>
                                          <p:spTgt spid="357"/>
                                        </p:tgtEl>
                                      </p:cBhvr>
                                    </p:animEffect>
                                  </p:childTnLst>
                                </p:cTn>
                              </p:par>
                              <p:par>
                                <p:cTn fill="hold" nodeType="with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1000"/>
                                        <p:tgtEl>
                                          <p:spTgt spid="358"/>
                                        </p:tgtEl>
                                      </p:cBhvr>
                                    </p:animEffect>
                                  </p:childTnLst>
                                </p:cTn>
                              </p:par>
                              <p:par>
                                <p:cTn fill="hold" nodeType="with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1000"/>
                                        <p:tgtEl>
                                          <p:spTgt spid="359"/>
                                        </p:tgtEl>
                                      </p:cBhvr>
                                    </p:animEffect>
                                  </p:childTnLst>
                                </p:cTn>
                              </p:par>
                              <p:par>
                                <p:cTn fill="hold" nodeType="with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par>
                                <p:cTn fill="hold" nodeType="with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1000"/>
                                        <p:tgtEl>
                                          <p:spTgt spid="3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1000"/>
                                        <p:tgtEl>
                                          <p:spTgt spid="362"/>
                                        </p:tgtEl>
                                      </p:cBhvr>
                                    </p:animEffect>
                                  </p:childTnLst>
                                </p:cTn>
                              </p:par>
                              <p:par>
                                <p:cTn fill="hold" nodeType="with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1000"/>
                                        <p:tgtEl>
                                          <p:spTgt spid="363"/>
                                        </p:tgtEl>
                                      </p:cBhvr>
                                    </p:animEffect>
                                  </p:childTnLst>
                                </p:cTn>
                              </p:par>
                              <p:par>
                                <p:cTn fill="hold" nodeType="with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1000"/>
                                        <p:tgtEl>
                                          <p:spTgt spid="364"/>
                                        </p:tgtEl>
                                      </p:cBhvr>
                                    </p:animEffect>
                                  </p:childTnLst>
                                </p:cTn>
                              </p:par>
                              <p:par>
                                <p:cTn fill="hold" nodeType="with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1000"/>
                                        <p:tgtEl>
                                          <p:spTgt spid="365"/>
                                        </p:tgtEl>
                                      </p:cBhvr>
                                    </p:animEffect>
                                  </p:childTnLst>
                                </p:cTn>
                              </p:par>
                              <p:par>
                                <p:cTn fill="hold" nodeType="with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1000"/>
                                        <p:tgtEl>
                                          <p:spTgt spid="366"/>
                                        </p:tgtEl>
                                      </p:cBhvr>
                                    </p:animEffect>
                                  </p:childTnLst>
                                </p:cTn>
                              </p:par>
                              <p:par>
                                <p:cTn fill="hold" nodeType="with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1000"/>
                                        <p:tgtEl>
                                          <p:spTgt spid="3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Insertion Sort</a:t>
            </a:r>
            <a:endParaRPr/>
          </a:p>
        </p:txBody>
      </p:sp>
      <p:sp>
        <p:nvSpPr>
          <p:cNvPr id="374" name="Google Shape;374;p31"/>
          <p:cNvSpPr txBox="1"/>
          <p:nvPr/>
        </p:nvSpPr>
        <p:spPr>
          <a:xfrm>
            <a:off x="151525"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375" name="Google Shape;375;p31"/>
          <p:cNvSpPr txBox="1"/>
          <p:nvPr/>
        </p:nvSpPr>
        <p:spPr>
          <a:xfrm>
            <a:off x="808400"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376" name="Google Shape;376;p31"/>
          <p:cNvSpPr txBox="1"/>
          <p:nvPr/>
        </p:nvSpPr>
        <p:spPr>
          <a:xfrm>
            <a:off x="1465275"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377" name="Google Shape;377;p31"/>
          <p:cNvSpPr txBox="1"/>
          <p:nvPr/>
        </p:nvSpPr>
        <p:spPr>
          <a:xfrm>
            <a:off x="2122150"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378" name="Google Shape;378;p31"/>
          <p:cNvSpPr txBox="1"/>
          <p:nvPr/>
        </p:nvSpPr>
        <p:spPr>
          <a:xfrm>
            <a:off x="2779025"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379" name="Google Shape;379;p31"/>
          <p:cNvSpPr txBox="1"/>
          <p:nvPr/>
        </p:nvSpPr>
        <p:spPr>
          <a:xfrm>
            <a:off x="3435900"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380" name="Google Shape;380;p31"/>
          <p:cNvSpPr txBox="1"/>
          <p:nvPr/>
        </p:nvSpPr>
        <p:spPr>
          <a:xfrm>
            <a:off x="5257425" y="1975850"/>
            <a:ext cx="3848100" cy="1877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100">
                <a:solidFill>
                  <a:schemeClr val="dk2"/>
                </a:solidFill>
                <a:latin typeface="Roboto"/>
                <a:ea typeface="Roboto"/>
                <a:cs typeface="Roboto"/>
                <a:sym typeface="Roboto"/>
              </a:rPr>
              <a:t>Recursive Case:</a:t>
            </a:r>
            <a:endParaRPr sz="1100">
              <a:solidFill>
                <a:schemeClr val="dk2"/>
              </a:solidFill>
              <a:latin typeface="Roboto"/>
              <a:ea typeface="Roboto"/>
              <a:cs typeface="Roboto"/>
              <a:sym typeface="Roboto"/>
            </a:endParaRPr>
          </a:p>
          <a:p>
            <a:pPr indent="-298450" lvl="0" marL="457200" rtl="0" algn="l">
              <a:lnSpc>
                <a:spcPct val="150000"/>
              </a:lnSpc>
              <a:spcBef>
                <a:spcPts val="0"/>
              </a:spcBef>
              <a:spcAft>
                <a:spcPts val="0"/>
              </a:spcAft>
              <a:buClr>
                <a:schemeClr val="dk2"/>
              </a:buClr>
              <a:buSzPts val="1100"/>
              <a:buFont typeface="Roboto"/>
              <a:buChar char="●"/>
            </a:pPr>
            <a:r>
              <a:rPr b="1" lang="en" sz="1100">
                <a:solidFill>
                  <a:srgbClr val="674EA7"/>
                </a:solidFill>
                <a:latin typeface="Roboto"/>
                <a:ea typeface="Roboto"/>
                <a:cs typeface="Roboto"/>
                <a:sym typeface="Roboto"/>
              </a:rPr>
              <a:t>Split</a:t>
            </a:r>
            <a:r>
              <a:rPr lang="en" sz="1100">
                <a:solidFill>
                  <a:schemeClr val="dk2"/>
                </a:solidFill>
                <a:latin typeface="Roboto"/>
                <a:ea typeface="Roboto"/>
                <a:cs typeface="Roboto"/>
                <a:sym typeface="Roboto"/>
              </a:rPr>
              <a:t> the array such that </a:t>
            </a:r>
            <a:endParaRPr sz="1100">
              <a:solidFill>
                <a:schemeClr val="dk2"/>
              </a:solidFill>
              <a:latin typeface="Roboto"/>
              <a:ea typeface="Roboto"/>
              <a:cs typeface="Roboto"/>
              <a:sym typeface="Roboto"/>
            </a:endParaRPr>
          </a:p>
          <a:p>
            <a:pPr indent="-298450" lvl="1" marL="914400" rtl="0" algn="l">
              <a:lnSpc>
                <a:spcPct val="150000"/>
              </a:lnSpc>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first entry into first subarray</a:t>
            </a:r>
            <a:endParaRPr sz="1100">
              <a:solidFill>
                <a:schemeClr val="dk2"/>
              </a:solidFill>
              <a:latin typeface="Roboto"/>
              <a:ea typeface="Roboto"/>
              <a:cs typeface="Roboto"/>
              <a:sym typeface="Roboto"/>
            </a:endParaRPr>
          </a:p>
          <a:p>
            <a:pPr indent="-298450" lvl="1" marL="914400" rtl="0" algn="l">
              <a:lnSpc>
                <a:spcPct val="150000"/>
              </a:lnSpc>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Remaining into second subarray</a:t>
            </a:r>
            <a:endParaRPr sz="1100">
              <a:solidFill>
                <a:schemeClr val="dk2"/>
              </a:solidFill>
              <a:latin typeface="Roboto"/>
              <a:ea typeface="Roboto"/>
              <a:cs typeface="Roboto"/>
              <a:sym typeface="Roboto"/>
            </a:endParaRPr>
          </a:p>
          <a:p>
            <a:pPr indent="-298450" lvl="0" marL="457200" rtl="0" algn="l">
              <a:lnSpc>
                <a:spcPct val="150000"/>
              </a:lnSpc>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Recursively </a:t>
            </a:r>
            <a:r>
              <a:rPr b="1" lang="en" sz="1100">
                <a:solidFill>
                  <a:srgbClr val="674EA7"/>
                </a:solidFill>
                <a:latin typeface="Roboto"/>
                <a:ea typeface="Roboto"/>
                <a:cs typeface="Roboto"/>
                <a:sym typeface="Roboto"/>
              </a:rPr>
              <a:t>sort</a:t>
            </a:r>
            <a:r>
              <a:rPr lang="en" sz="1100">
                <a:solidFill>
                  <a:schemeClr val="dk2"/>
                </a:solidFill>
                <a:latin typeface="Roboto"/>
                <a:ea typeface="Roboto"/>
                <a:cs typeface="Roboto"/>
                <a:sym typeface="Roboto"/>
              </a:rPr>
              <a:t> each subarray</a:t>
            </a:r>
            <a:endParaRPr sz="1100">
              <a:solidFill>
                <a:schemeClr val="dk2"/>
              </a:solidFill>
              <a:latin typeface="Roboto"/>
              <a:ea typeface="Roboto"/>
              <a:cs typeface="Roboto"/>
              <a:sym typeface="Roboto"/>
            </a:endParaRPr>
          </a:p>
          <a:p>
            <a:pPr indent="-298450" lvl="0" marL="457200" rtl="0" algn="l">
              <a:lnSpc>
                <a:spcPct val="150000"/>
              </a:lnSpc>
              <a:spcBef>
                <a:spcPts val="0"/>
              </a:spcBef>
              <a:spcAft>
                <a:spcPts val="0"/>
              </a:spcAft>
              <a:buClr>
                <a:schemeClr val="dk2"/>
              </a:buClr>
              <a:buSzPts val="1100"/>
              <a:buFont typeface="Roboto"/>
              <a:buChar char="●"/>
            </a:pPr>
            <a:r>
              <a:rPr b="1" lang="en" sz="1100">
                <a:solidFill>
                  <a:srgbClr val="674EA7"/>
                </a:solidFill>
                <a:latin typeface="Roboto"/>
                <a:ea typeface="Roboto"/>
                <a:cs typeface="Roboto"/>
                <a:sym typeface="Roboto"/>
              </a:rPr>
              <a:t>Merge</a:t>
            </a:r>
            <a:r>
              <a:rPr lang="en" sz="1100">
                <a:solidFill>
                  <a:schemeClr val="dk2"/>
                </a:solidFill>
                <a:latin typeface="Roboto"/>
                <a:ea typeface="Roboto"/>
                <a:cs typeface="Roboto"/>
                <a:sym typeface="Roboto"/>
              </a:rPr>
              <a:t> sorted subarrays to build larger subarrays</a:t>
            </a:r>
            <a:endParaRPr sz="1100">
              <a:solidFill>
                <a:schemeClr val="dk2"/>
              </a:solidFill>
              <a:latin typeface="Roboto"/>
              <a:ea typeface="Roboto"/>
              <a:cs typeface="Roboto"/>
              <a:sym typeface="Roboto"/>
            </a:endParaRPr>
          </a:p>
          <a:p>
            <a:pPr indent="0" lvl="0" marL="914400" rtl="0" algn="l">
              <a:lnSpc>
                <a:spcPct val="150000"/>
              </a:lnSpc>
              <a:spcBef>
                <a:spcPts val="0"/>
              </a:spcBef>
              <a:spcAft>
                <a:spcPts val="0"/>
              </a:spcAft>
              <a:buNone/>
            </a:pPr>
            <a:r>
              <a:t/>
            </a:r>
            <a:endParaRPr sz="1100">
              <a:solidFill>
                <a:schemeClr val="dk2"/>
              </a:solidFill>
              <a:latin typeface="Roboto"/>
              <a:ea typeface="Roboto"/>
              <a:cs typeface="Roboto"/>
              <a:sym typeface="Roboto"/>
            </a:endParaRPr>
          </a:p>
        </p:txBody>
      </p:sp>
      <p:sp>
        <p:nvSpPr>
          <p:cNvPr id="381" name="Google Shape;381;p31"/>
          <p:cNvSpPr txBox="1"/>
          <p:nvPr/>
        </p:nvSpPr>
        <p:spPr>
          <a:xfrm>
            <a:off x="151525"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382" name="Google Shape;382;p31"/>
          <p:cNvSpPr txBox="1"/>
          <p:nvPr/>
        </p:nvSpPr>
        <p:spPr>
          <a:xfrm>
            <a:off x="994825"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383" name="Google Shape;383;p31"/>
          <p:cNvSpPr txBox="1"/>
          <p:nvPr/>
        </p:nvSpPr>
        <p:spPr>
          <a:xfrm>
            <a:off x="1651700"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384" name="Google Shape;384;p31"/>
          <p:cNvSpPr txBox="1"/>
          <p:nvPr/>
        </p:nvSpPr>
        <p:spPr>
          <a:xfrm>
            <a:off x="2308575"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385" name="Google Shape;385;p31"/>
          <p:cNvSpPr txBox="1"/>
          <p:nvPr/>
        </p:nvSpPr>
        <p:spPr>
          <a:xfrm>
            <a:off x="2965450"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386" name="Google Shape;386;p31"/>
          <p:cNvSpPr txBox="1"/>
          <p:nvPr/>
        </p:nvSpPr>
        <p:spPr>
          <a:xfrm>
            <a:off x="3622325"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387" name="Google Shape;387;p31"/>
          <p:cNvSpPr txBox="1"/>
          <p:nvPr/>
        </p:nvSpPr>
        <p:spPr>
          <a:xfrm>
            <a:off x="162900"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388" name="Google Shape;388;p31"/>
          <p:cNvSpPr txBox="1"/>
          <p:nvPr/>
        </p:nvSpPr>
        <p:spPr>
          <a:xfrm>
            <a:off x="994825"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389" name="Google Shape;389;p31"/>
          <p:cNvSpPr txBox="1"/>
          <p:nvPr/>
        </p:nvSpPr>
        <p:spPr>
          <a:xfrm>
            <a:off x="1826750"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390" name="Google Shape;390;p31"/>
          <p:cNvSpPr txBox="1"/>
          <p:nvPr/>
        </p:nvSpPr>
        <p:spPr>
          <a:xfrm>
            <a:off x="2483625"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391" name="Google Shape;391;p31"/>
          <p:cNvSpPr txBox="1"/>
          <p:nvPr/>
        </p:nvSpPr>
        <p:spPr>
          <a:xfrm>
            <a:off x="3140500"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392" name="Google Shape;392;p31"/>
          <p:cNvSpPr txBox="1"/>
          <p:nvPr/>
        </p:nvSpPr>
        <p:spPr>
          <a:xfrm>
            <a:off x="3797375"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393" name="Google Shape;393;p31"/>
          <p:cNvSpPr txBox="1"/>
          <p:nvPr/>
        </p:nvSpPr>
        <p:spPr>
          <a:xfrm>
            <a:off x="151525"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394" name="Google Shape;394;p31"/>
          <p:cNvSpPr txBox="1"/>
          <p:nvPr/>
        </p:nvSpPr>
        <p:spPr>
          <a:xfrm>
            <a:off x="983450"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395" name="Google Shape;395;p31"/>
          <p:cNvSpPr txBox="1"/>
          <p:nvPr/>
        </p:nvSpPr>
        <p:spPr>
          <a:xfrm>
            <a:off x="1815375"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396" name="Google Shape;396;p31"/>
          <p:cNvSpPr txBox="1"/>
          <p:nvPr/>
        </p:nvSpPr>
        <p:spPr>
          <a:xfrm>
            <a:off x="2647300"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397" name="Google Shape;397;p31"/>
          <p:cNvSpPr txBox="1"/>
          <p:nvPr/>
        </p:nvSpPr>
        <p:spPr>
          <a:xfrm>
            <a:off x="3304175"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398" name="Google Shape;398;p31"/>
          <p:cNvSpPr txBox="1"/>
          <p:nvPr/>
        </p:nvSpPr>
        <p:spPr>
          <a:xfrm>
            <a:off x="3961050"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399" name="Google Shape;399;p31"/>
          <p:cNvSpPr txBox="1"/>
          <p:nvPr/>
        </p:nvSpPr>
        <p:spPr>
          <a:xfrm>
            <a:off x="151525"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400" name="Google Shape;400;p31"/>
          <p:cNvSpPr txBox="1"/>
          <p:nvPr/>
        </p:nvSpPr>
        <p:spPr>
          <a:xfrm>
            <a:off x="983450"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401" name="Google Shape;401;p31"/>
          <p:cNvSpPr txBox="1"/>
          <p:nvPr/>
        </p:nvSpPr>
        <p:spPr>
          <a:xfrm>
            <a:off x="1815375"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402" name="Google Shape;402;p31"/>
          <p:cNvSpPr txBox="1"/>
          <p:nvPr/>
        </p:nvSpPr>
        <p:spPr>
          <a:xfrm>
            <a:off x="2647300"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403" name="Google Shape;403;p31"/>
          <p:cNvSpPr txBox="1"/>
          <p:nvPr/>
        </p:nvSpPr>
        <p:spPr>
          <a:xfrm>
            <a:off x="3479225"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404" name="Google Shape;404;p31"/>
          <p:cNvSpPr txBox="1"/>
          <p:nvPr/>
        </p:nvSpPr>
        <p:spPr>
          <a:xfrm>
            <a:off x="4136100"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405" name="Google Shape;405;p31"/>
          <p:cNvSpPr txBox="1"/>
          <p:nvPr/>
        </p:nvSpPr>
        <p:spPr>
          <a:xfrm>
            <a:off x="151525"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406" name="Google Shape;406;p31"/>
          <p:cNvSpPr txBox="1"/>
          <p:nvPr/>
        </p:nvSpPr>
        <p:spPr>
          <a:xfrm>
            <a:off x="983450"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407" name="Google Shape;407;p31"/>
          <p:cNvSpPr txBox="1"/>
          <p:nvPr/>
        </p:nvSpPr>
        <p:spPr>
          <a:xfrm>
            <a:off x="1815375"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408" name="Google Shape;408;p31"/>
          <p:cNvSpPr txBox="1"/>
          <p:nvPr/>
        </p:nvSpPr>
        <p:spPr>
          <a:xfrm>
            <a:off x="2647300"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409" name="Google Shape;409;p31"/>
          <p:cNvSpPr txBox="1"/>
          <p:nvPr/>
        </p:nvSpPr>
        <p:spPr>
          <a:xfrm>
            <a:off x="3479225"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410" name="Google Shape;410;p31"/>
          <p:cNvSpPr txBox="1"/>
          <p:nvPr/>
        </p:nvSpPr>
        <p:spPr>
          <a:xfrm>
            <a:off x="4311150"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411" name="Google Shape;411;p31"/>
          <p:cNvSpPr/>
          <p:nvPr/>
        </p:nvSpPr>
        <p:spPr>
          <a:xfrm>
            <a:off x="5018025" y="2376050"/>
            <a:ext cx="239400" cy="2728500"/>
          </a:xfrm>
          <a:prstGeom prst="upArrow">
            <a:avLst>
              <a:gd fmla="val 50000" name="adj1"/>
              <a:gd fmla="val 50000" name="adj2"/>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1"/>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1000"/>
                                        <p:tgtEl>
                                          <p:spTgt spid="405"/>
                                        </p:tgtEl>
                                      </p:cBhvr>
                                    </p:animEffect>
                                  </p:childTnLst>
                                </p:cTn>
                              </p:par>
                              <p:par>
                                <p:cTn fill="hold" nodeType="with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1000"/>
                                        <p:tgtEl>
                                          <p:spTgt spid="406"/>
                                        </p:tgtEl>
                                      </p:cBhvr>
                                    </p:animEffect>
                                  </p:childTnLst>
                                </p:cTn>
                              </p:par>
                              <p:par>
                                <p:cTn fill="hold" nodeType="with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1000"/>
                                        <p:tgtEl>
                                          <p:spTgt spid="407"/>
                                        </p:tgtEl>
                                      </p:cBhvr>
                                    </p:animEffect>
                                  </p:childTnLst>
                                </p:cTn>
                              </p:par>
                              <p:par>
                                <p:cTn fill="hold" nodeType="with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1000"/>
                                        <p:tgtEl>
                                          <p:spTgt spid="408"/>
                                        </p:tgtEl>
                                      </p:cBhvr>
                                    </p:animEffect>
                                  </p:childTnLst>
                                </p:cTn>
                              </p:par>
                              <p:par>
                                <p:cTn fill="hold" nodeType="with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1000"/>
                                        <p:tgtEl>
                                          <p:spTgt spid="409"/>
                                        </p:tgtEl>
                                      </p:cBhvr>
                                    </p:animEffect>
                                  </p:childTnLst>
                                </p:cTn>
                              </p:par>
                              <p:par>
                                <p:cTn fill="hold" nodeType="with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1000"/>
                                        <p:tgtEl>
                                          <p:spTgt spid="4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000"/>
                                        <p:tgtEl>
                                          <p:spTgt spid="399"/>
                                        </p:tgtEl>
                                      </p:cBhvr>
                                    </p:animEffect>
                                  </p:childTnLst>
                                </p:cTn>
                              </p:par>
                              <p:par>
                                <p:cTn fill="hold" nodeType="with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par>
                                <p:cTn fill="hold" nodeType="with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1000"/>
                                        <p:tgtEl>
                                          <p:spTgt spid="401"/>
                                        </p:tgtEl>
                                      </p:cBhvr>
                                    </p:animEffect>
                                  </p:childTnLst>
                                </p:cTn>
                              </p:par>
                              <p:par>
                                <p:cTn fill="hold" nodeType="with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1000"/>
                                        <p:tgtEl>
                                          <p:spTgt spid="402"/>
                                        </p:tgtEl>
                                      </p:cBhvr>
                                    </p:animEffect>
                                  </p:childTnLst>
                                </p:cTn>
                              </p:par>
                              <p:par>
                                <p:cTn fill="hold" nodeType="with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1000"/>
                                        <p:tgtEl>
                                          <p:spTgt spid="403"/>
                                        </p:tgtEl>
                                      </p:cBhvr>
                                    </p:animEffect>
                                  </p:childTnLst>
                                </p:cTn>
                              </p:par>
                              <p:par>
                                <p:cTn fill="hold" nodeType="with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1000"/>
                                        <p:tgtEl>
                                          <p:spTgt spid="4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1000"/>
                                        <p:tgtEl>
                                          <p:spTgt spid="393"/>
                                        </p:tgtEl>
                                      </p:cBhvr>
                                    </p:animEffect>
                                  </p:childTnLst>
                                </p:cTn>
                              </p:par>
                              <p:par>
                                <p:cTn fill="hold" nodeType="with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1000"/>
                                        <p:tgtEl>
                                          <p:spTgt spid="394"/>
                                        </p:tgtEl>
                                      </p:cBhvr>
                                    </p:animEffect>
                                  </p:childTnLst>
                                </p:cTn>
                              </p:par>
                              <p:par>
                                <p:cTn fill="hold" nodeType="with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1000"/>
                                        <p:tgtEl>
                                          <p:spTgt spid="395"/>
                                        </p:tgtEl>
                                      </p:cBhvr>
                                    </p:animEffect>
                                  </p:childTnLst>
                                </p:cTn>
                              </p:par>
                              <p:par>
                                <p:cTn fill="hold" nodeType="with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1000"/>
                                        <p:tgtEl>
                                          <p:spTgt spid="396"/>
                                        </p:tgtEl>
                                      </p:cBhvr>
                                    </p:animEffect>
                                  </p:childTnLst>
                                </p:cTn>
                              </p:par>
                              <p:par>
                                <p:cTn fill="hold" nodeType="with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1000"/>
                                        <p:tgtEl>
                                          <p:spTgt spid="397"/>
                                        </p:tgtEl>
                                      </p:cBhvr>
                                    </p:animEffect>
                                  </p:childTnLst>
                                </p:cTn>
                              </p:par>
                              <p:par>
                                <p:cTn fill="hold" nodeType="with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000"/>
                                        <p:tgtEl>
                                          <p:spTgt spid="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1000"/>
                                        <p:tgtEl>
                                          <p:spTgt spid="387"/>
                                        </p:tgtEl>
                                      </p:cBhvr>
                                    </p:animEffect>
                                  </p:childTnLst>
                                </p:cTn>
                              </p:par>
                              <p:par>
                                <p:cTn fill="hold" nodeType="with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000"/>
                                        <p:tgtEl>
                                          <p:spTgt spid="388"/>
                                        </p:tgtEl>
                                      </p:cBhvr>
                                    </p:animEffect>
                                  </p:childTnLst>
                                </p:cTn>
                              </p:par>
                              <p:par>
                                <p:cTn fill="hold" nodeType="with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1000"/>
                                        <p:tgtEl>
                                          <p:spTgt spid="389"/>
                                        </p:tgtEl>
                                      </p:cBhvr>
                                    </p:animEffect>
                                  </p:childTnLst>
                                </p:cTn>
                              </p:par>
                              <p:par>
                                <p:cTn fill="hold" nodeType="with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1000"/>
                                        <p:tgtEl>
                                          <p:spTgt spid="390"/>
                                        </p:tgtEl>
                                      </p:cBhvr>
                                    </p:animEffect>
                                  </p:childTnLst>
                                </p:cTn>
                              </p:par>
                              <p:par>
                                <p:cTn fill="hold" nodeType="with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par>
                                <p:cTn fill="hold" nodeType="with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1000"/>
                                        <p:tgtEl>
                                          <p:spTgt spid="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1000"/>
                                        <p:tgtEl>
                                          <p:spTgt spid="381"/>
                                        </p:tgtEl>
                                      </p:cBhvr>
                                    </p:animEffect>
                                  </p:childTnLst>
                                </p:cTn>
                              </p:par>
                              <p:par>
                                <p:cTn fill="hold" nodeType="with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1000"/>
                                        <p:tgtEl>
                                          <p:spTgt spid="382"/>
                                        </p:tgtEl>
                                      </p:cBhvr>
                                    </p:animEffect>
                                  </p:childTnLst>
                                </p:cTn>
                              </p:par>
                              <p:par>
                                <p:cTn fill="hold" nodeType="with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1000"/>
                                        <p:tgtEl>
                                          <p:spTgt spid="383"/>
                                        </p:tgtEl>
                                      </p:cBhvr>
                                    </p:animEffect>
                                  </p:childTnLst>
                                </p:cTn>
                              </p:par>
                              <p:par>
                                <p:cTn fill="hold" nodeType="with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par>
                                <p:cTn fill="hold" nodeType="with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1000"/>
                                        <p:tgtEl>
                                          <p:spTgt spid="385"/>
                                        </p:tgtEl>
                                      </p:cBhvr>
                                    </p:animEffect>
                                  </p:childTnLst>
                                </p:cTn>
                              </p:par>
                              <p:par>
                                <p:cTn fill="hold" nodeType="with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1000"/>
                                        <p:tgtEl>
                                          <p:spTgt spid="3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1000"/>
                                        <p:tgtEl>
                                          <p:spTgt spid="374"/>
                                        </p:tgtEl>
                                      </p:cBhvr>
                                    </p:animEffect>
                                  </p:childTnLst>
                                </p:cTn>
                              </p:par>
                              <p:par>
                                <p:cTn fill="hold" nodeType="with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1000"/>
                                        <p:tgtEl>
                                          <p:spTgt spid="375"/>
                                        </p:tgtEl>
                                      </p:cBhvr>
                                    </p:animEffect>
                                  </p:childTnLst>
                                </p:cTn>
                              </p:par>
                              <p:par>
                                <p:cTn fill="hold" nodeType="with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1000"/>
                                        <p:tgtEl>
                                          <p:spTgt spid="376"/>
                                        </p:tgtEl>
                                      </p:cBhvr>
                                    </p:animEffect>
                                  </p:childTnLst>
                                </p:cTn>
                              </p:par>
                              <p:par>
                                <p:cTn fill="hold" nodeType="with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1000"/>
                                        <p:tgtEl>
                                          <p:spTgt spid="377"/>
                                        </p:tgtEl>
                                      </p:cBhvr>
                                    </p:animEffect>
                                  </p:childTnLst>
                                </p:cTn>
                              </p:par>
                              <p:par>
                                <p:cTn fill="hold" nodeType="with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1000"/>
                                        <p:tgtEl>
                                          <p:spTgt spid="378"/>
                                        </p:tgtEl>
                                      </p:cBhvr>
                                    </p:animEffect>
                                  </p:childTnLst>
                                </p:cTn>
                              </p:par>
                              <p:par>
                                <p:cTn fill="hold" nodeType="with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Complexity of Insertion Sort</a:t>
            </a:r>
            <a:endParaRPr/>
          </a:p>
        </p:txBody>
      </p:sp>
      <p:sp>
        <p:nvSpPr>
          <p:cNvPr id="418" name="Google Shape;418;p32"/>
          <p:cNvSpPr txBox="1"/>
          <p:nvPr>
            <p:ph idx="1" type="body"/>
          </p:nvPr>
        </p:nvSpPr>
        <p:spPr>
          <a:xfrm>
            <a:off x="5286175" y="1515850"/>
            <a:ext cx="3721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19" name="Google Shape;419;p32"/>
          <p:cNvSpPr txBox="1"/>
          <p:nvPr/>
        </p:nvSpPr>
        <p:spPr>
          <a:xfrm>
            <a:off x="151525"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420" name="Google Shape;420;p32"/>
          <p:cNvSpPr txBox="1"/>
          <p:nvPr/>
        </p:nvSpPr>
        <p:spPr>
          <a:xfrm>
            <a:off x="808400"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421" name="Google Shape;421;p32"/>
          <p:cNvSpPr txBox="1"/>
          <p:nvPr/>
        </p:nvSpPr>
        <p:spPr>
          <a:xfrm>
            <a:off x="1465275"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422" name="Google Shape;422;p32"/>
          <p:cNvSpPr txBox="1"/>
          <p:nvPr/>
        </p:nvSpPr>
        <p:spPr>
          <a:xfrm>
            <a:off x="2122150"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423" name="Google Shape;423;p32"/>
          <p:cNvSpPr txBox="1"/>
          <p:nvPr/>
        </p:nvSpPr>
        <p:spPr>
          <a:xfrm>
            <a:off x="2779025"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424" name="Google Shape;424;p32"/>
          <p:cNvSpPr txBox="1"/>
          <p:nvPr/>
        </p:nvSpPr>
        <p:spPr>
          <a:xfrm>
            <a:off x="3435900" y="13590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425" name="Google Shape;425;p32"/>
          <p:cNvSpPr txBox="1"/>
          <p:nvPr/>
        </p:nvSpPr>
        <p:spPr>
          <a:xfrm>
            <a:off x="151525"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426" name="Google Shape;426;p32"/>
          <p:cNvSpPr txBox="1"/>
          <p:nvPr/>
        </p:nvSpPr>
        <p:spPr>
          <a:xfrm>
            <a:off x="994825"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427" name="Google Shape;427;p32"/>
          <p:cNvSpPr txBox="1"/>
          <p:nvPr/>
        </p:nvSpPr>
        <p:spPr>
          <a:xfrm>
            <a:off x="1651700"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428" name="Google Shape;428;p32"/>
          <p:cNvSpPr txBox="1"/>
          <p:nvPr/>
        </p:nvSpPr>
        <p:spPr>
          <a:xfrm>
            <a:off x="2308575"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429" name="Google Shape;429;p32"/>
          <p:cNvSpPr txBox="1"/>
          <p:nvPr/>
        </p:nvSpPr>
        <p:spPr>
          <a:xfrm>
            <a:off x="2965450"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430" name="Google Shape;430;p32"/>
          <p:cNvSpPr txBox="1"/>
          <p:nvPr/>
        </p:nvSpPr>
        <p:spPr>
          <a:xfrm>
            <a:off x="3622325" y="19758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431" name="Google Shape;431;p32"/>
          <p:cNvSpPr txBox="1"/>
          <p:nvPr/>
        </p:nvSpPr>
        <p:spPr>
          <a:xfrm>
            <a:off x="162900"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432" name="Google Shape;432;p32"/>
          <p:cNvSpPr txBox="1"/>
          <p:nvPr/>
        </p:nvSpPr>
        <p:spPr>
          <a:xfrm>
            <a:off x="994825"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433" name="Google Shape;433;p32"/>
          <p:cNvSpPr txBox="1"/>
          <p:nvPr/>
        </p:nvSpPr>
        <p:spPr>
          <a:xfrm>
            <a:off x="1826750"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434" name="Google Shape;434;p32"/>
          <p:cNvSpPr txBox="1"/>
          <p:nvPr/>
        </p:nvSpPr>
        <p:spPr>
          <a:xfrm>
            <a:off x="2483625"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435" name="Google Shape;435;p32"/>
          <p:cNvSpPr txBox="1"/>
          <p:nvPr/>
        </p:nvSpPr>
        <p:spPr>
          <a:xfrm>
            <a:off x="3140500"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436" name="Google Shape;436;p32"/>
          <p:cNvSpPr txBox="1"/>
          <p:nvPr/>
        </p:nvSpPr>
        <p:spPr>
          <a:xfrm>
            <a:off x="3797375" y="25926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437" name="Google Shape;437;p32"/>
          <p:cNvSpPr txBox="1"/>
          <p:nvPr/>
        </p:nvSpPr>
        <p:spPr>
          <a:xfrm>
            <a:off x="151525"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438" name="Google Shape;438;p32"/>
          <p:cNvSpPr txBox="1"/>
          <p:nvPr/>
        </p:nvSpPr>
        <p:spPr>
          <a:xfrm>
            <a:off x="983450"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439" name="Google Shape;439;p32"/>
          <p:cNvSpPr txBox="1"/>
          <p:nvPr/>
        </p:nvSpPr>
        <p:spPr>
          <a:xfrm>
            <a:off x="1815375"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440" name="Google Shape;440;p32"/>
          <p:cNvSpPr txBox="1"/>
          <p:nvPr/>
        </p:nvSpPr>
        <p:spPr>
          <a:xfrm>
            <a:off x="2647300"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441" name="Google Shape;441;p32"/>
          <p:cNvSpPr txBox="1"/>
          <p:nvPr/>
        </p:nvSpPr>
        <p:spPr>
          <a:xfrm>
            <a:off x="3304175"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442" name="Google Shape;442;p32"/>
          <p:cNvSpPr txBox="1"/>
          <p:nvPr/>
        </p:nvSpPr>
        <p:spPr>
          <a:xfrm>
            <a:off x="3961050" y="32095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443" name="Google Shape;443;p32"/>
          <p:cNvSpPr txBox="1"/>
          <p:nvPr/>
        </p:nvSpPr>
        <p:spPr>
          <a:xfrm>
            <a:off x="151525"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444" name="Google Shape;444;p32"/>
          <p:cNvSpPr txBox="1"/>
          <p:nvPr/>
        </p:nvSpPr>
        <p:spPr>
          <a:xfrm>
            <a:off x="983450"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445" name="Google Shape;445;p32"/>
          <p:cNvSpPr txBox="1"/>
          <p:nvPr/>
        </p:nvSpPr>
        <p:spPr>
          <a:xfrm>
            <a:off x="1815375"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446" name="Google Shape;446;p32"/>
          <p:cNvSpPr txBox="1"/>
          <p:nvPr/>
        </p:nvSpPr>
        <p:spPr>
          <a:xfrm>
            <a:off x="2647300"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447" name="Google Shape;447;p32"/>
          <p:cNvSpPr txBox="1"/>
          <p:nvPr/>
        </p:nvSpPr>
        <p:spPr>
          <a:xfrm>
            <a:off x="3479225"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448" name="Google Shape;448;p32"/>
          <p:cNvSpPr txBox="1"/>
          <p:nvPr/>
        </p:nvSpPr>
        <p:spPr>
          <a:xfrm>
            <a:off x="4136100" y="38263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449" name="Google Shape;449;p32"/>
          <p:cNvSpPr txBox="1"/>
          <p:nvPr/>
        </p:nvSpPr>
        <p:spPr>
          <a:xfrm>
            <a:off x="151525"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450" name="Google Shape;450;p32"/>
          <p:cNvSpPr txBox="1"/>
          <p:nvPr/>
        </p:nvSpPr>
        <p:spPr>
          <a:xfrm>
            <a:off x="983450"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451" name="Google Shape;451;p32"/>
          <p:cNvSpPr txBox="1"/>
          <p:nvPr/>
        </p:nvSpPr>
        <p:spPr>
          <a:xfrm>
            <a:off x="1815375"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452" name="Google Shape;452;p32"/>
          <p:cNvSpPr txBox="1"/>
          <p:nvPr/>
        </p:nvSpPr>
        <p:spPr>
          <a:xfrm>
            <a:off x="2647300"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453" name="Google Shape;453;p32"/>
          <p:cNvSpPr txBox="1"/>
          <p:nvPr/>
        </p:nvSpPr>
        <p:spPr>
          <a:xfrm>
            <a:off x="3479225"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454" name="Google Shape;454;p32"/>
          <p:cNvSpPr txBox="1"/>
          <p:nvPr/>
        </p:nvSpPr>
        <p:spPr>
          <a:xfrm>
            <a:off x="4311150" y="44431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455" name="Google Shape;455;p32"/>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Insertion sort intuitive idea</a:t>
            </a:r>
            <a:endParaRPr/>
          </a:p>
        </p:txBody>
      </p:sp>
      <p:sp>
        <p:nvSpPr>
          <p:cNvPr id="461" name="Google Shape;461;p33"/>
          <p:cNvSpPr txBox="1"/>
          <p:nvPr>
            <p:ph idx="1" type="body"/>
          </p:nvPr>
        </p:nvSpPr>
        <p:spPr>
          <a:xfrm>
            <a:off x="311700" y="11524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Sorting set of cards in our hand</a:t>
            </a:r>
            <a:endParaRPr/>
          </a:p>
        </p:txBody>
      </p:sp>
      <p:sp>
        <p:nvSpPr>
          <p:cNvPr id="462" name="Google Shape;462;p33"/>
          <p:cNvSpPr txBox="1"/>
          <p:nvPr/>
        </p:nvSpPr>
        <p:spPr>
          <a:xfrm>
            <a:off x="391975" y="19132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 ❤</a:t>
            </a:r>
            <a:endParaRPr/>
          </a:p>
        </p:txBody>
      </p:sp>
      <p:sp>
        <p:nvSpPr>
          <p:cNvPr id="463" name="Google Shape;463;p33"/>
          <p:cNvSpPr txBox="1"/>
          <p:nvPr/>
        </p:nvSpPr>
        <p:spPr>
          <a:xfrm>
            <a:off x="1223900" y="19132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 ♣</a:t>
            </a:r>
            <a:endParaRPr/>
          </a:p>
        </p:txBody>
      </p:sp>
      <p:sp>
        <p:nvSpPr>
          <p:cNvPr id="464" name="Google Shape;464;p33"/>
          <p:cNvSpPr txBox="1"/>
          <p:nvPr/>
        </p:nvSpPr>
        <p:spPr>
          <a:xfrm>
            <a:off x="2055825" y="19132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 ♠</a:t>
            </a:r>
            <a:endParaRPr/>
          </a:p>
        </p:txBody>
      </p:sp>
      <p:sp>
        <p:nvSpPr>
          <p:cNvPr id="465" name="Google Shape;465;p33"/>
          <p:cNvSpPr txBox="1"/>
          <p:nvPr/>
        </p:nvSpPr>
        <p:spPr>
          <a:xfrm>
            <a:off x="2887750" y="19132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 </a:t>
            </a:r>
            <a:r>
              <a:rPr lang="en">
                <a:solidFill>
                  <a:schemeClr val="dk1"/>
                </a:solidFill>
              </a:rPr>
              <a:t>♦</a:t>
            </a:r>
            <a:endParaRPr/>
          </a:p>
        </p:txBody>
      </p:sp>
      <p:sp>
        <p:nvSpPr>
          <p:cNvPr id="466" name="Google Shape;466;p33"/>
          <p:cNvSpPr txBox="1"/>
          <p:nvPr/>
        </p:nvSpPr>
        <p:spPr>
          <a:xfrm>
            <a:off x="3719675" y="19132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 </a:t>
            </a:r>
            <a:r>
              <a:rPr lang="en">
                <a:solidFill>
                  <a:schemeClr val="dk1"/>
                </a:solidFill>
              </a:rPr>
              <a:t>❤</a:t>
            </a:r>
            <a:endParaRPr/>
          </a:p>
        </p:txBody>
      </p:sp>
      <p:sp>
        <p:nvSpPr>
          <p:cNvPr id="467" name="Google Shape;467;p33"/>
          <p:cNvSpPr txBox="1"/>
          <p:nvPr/>
        </p:nvSpPr>
        <p:spPr>
          <a:xfrm>
            <a:off x="4551600" y="19132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 </a:t>
            </a:r>
            <a:r>
              <a:rPr lang="en">
                <a:solidFill>
                  <a:schemeClr val="dk1"/>
                </a:solidFill>
              </a:rPr>
              <a:t>♣</a:t>
            </a:r>
            <a:r>
              <a:rPr lang="en"/>
              <a:t> </a:t>
            </a:r>
            <a:endParaRPr/>
          </a:p>
        </p:txBody>
      </p:sp>
      <p:sp>
        <p:nvSpPr>
          <p:cNvPr id="468" name="Google Shape;468;p33"/>
          <p:cNvSpPr txBox="1"/>
          <p:nvPr/>
        </p:nvSpPr>
        <p:spPr>
          <a:xfrm>
            <a:off x="3203000" y="3832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 </a:t>
            </a:r>
            <a:r>
              <a:rPr lang="en">
                <a:solidFill>
                  <a:schemeClr val="dk1"/>
                </a:solidFill>
              </a:rPr>
              <a:t>♣</a:t>
            </a:r>
            <a:r>
              <a:rPr lang="en"/>
              <a:t> </a:t>
            </a:r>
            <a:endParaRPr/>
          </a:p>
        </p:txBody>
      </p:sp>
      <p:sp>
        <p:nvSpPr>
          <p:cNvPr id="469" name="Google Shape;469;p33"/>
          <p:cNvSpPr txBox="1"/>
          <p:nvPr/>
        </p:nvSpPr>
        <p:spPr>
          <a:xfrm>
            <a:off x="2253300" y="3832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 </a:t>
            </a:r>
            <a:r>
              <a:rPr lang="en">
                <a:solidFill>
                  <a:schemeClr val="dk1"/>
                </a:solidFill>
              </a:rPr>
              <a:t>❤</a:t>
            </a:r>
            <a:endParaRPr/>
          </a:p>
        </p:txBody>
      </p:sp>
      <p:sp>
        <p:nvSpPr>
          <p:cNvPr id="470" name="Google Shape;470;p33"/>
          <p:cNvSpPr txBox="1"/>
          <p:nvPr/>
        </p:nvSpPr>
        <p:spPr>
          <a:xfrm>
            <a:off x="4069050" y="3832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 </a:t>
            </a:r>
            <a:r>
              <a:rPr lang="en">
                <a:solidFill>
                  <a:schemeClr val="dk1"/>
                </a:solidFill>
              </a:rPr>
              <a:t>♦</a:t>
            </a:r>
            <a:endParaRPr/>
          </a:p>
        </p:txBody>
      </p:sp>
      <p:sp>
        <p:nvSpPr>
          <p:cNvPr id="471" name="Google Shape;471;p33"/>
          <p:cNvSpPr txBox="1"/>
          <p:nvPr/>
        </p:nvSpPr>
        <p:spPr>
          <a:xfrm>
            <a:off x="2712825" y="40519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 ♠</a:t>
            </a:r>
            <a:endParaRPr/>
          </a:p>
        </p:txBody>
      </p:sp>
      <p:sp>
        <p:nvSpPr>
          <p:cNvPr id="472" name="Google Shape;472;p33"/>
          <p:cNvSpPr txBox="1"/>
          <p:nvPr/>
        </p:nvSpPr>
        <p:spPr>
          <a:xfrm>
            <a:off x="4551600" y="40519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 ♣</a:t>
            </a:r>
            <a:endParaRPr/>
          </a:p>
        </p:txBody>
      </p:sp>
      <p:sp>
        <p:nvSpPr>
          <p:cNvPr id="473" name="Google Shape;473;p33"/>
          <p:cNvSpPr txBox="1"/>
          <p:nvPr/>
        </p:nvSpPr>
        <p:spPr>
          <a:xfrm>
            <a:off x="3632213" y="40519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 ❤</a:t>
            </a:r>
            <a:endParaRPr/>
          </a:p>
        </p:txBody>
      </p:sp>
      <p:sp>
        <p:nvSpPr>
          <p:cNvPr id="474" name="Google Shape;474;p33"/>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1000"/>
                                        <p:tgtEl>
                                          <p:spTgt spid="462"/>
                                        </p:tgtEl>
                                      </p:cBhvr>
                                    </p:animEffect>
                                  </p:childTnLst>
                                </p:cTn>
                              </p:par>
                              <p:par>
                                <p:cTn fill="hold" nodeType="withEffect" presetClass="entr" presetID="10" presetSubtype="0">
                                  <p:stCondLst>
                                    <p:cond delay="0"/>
                                  </p:stCondLst>
                                  <p:childTnLst>
                                    <p:set>
                                      <p:cBhvr>
                                        <p:cTn dur="1" fill="hold">
                                          <p:stCondLst>
                                            <p:cond delay="0"/>
                                          </p:stCondLst>
                                        </p:cTn>
                                        <p:tgtEl>
                                          <p:spTgt spid="463"/>
                                        </p:tgtEl>
                                        <p:attrNameLst>
                                          <p:attrName>style.visibility</p:attrName>
                                        </p:attrNameLst>
                                      </p:cBhvr>
                                      <p:to>
                                        <p:strVal val="visible"/>
                                      </p:to>
                                    </p:set>
                                    <p:animEffect filter="fade" transition="in">
                                      <p:cBhvr>
                                        <p:cTn dur="1000"/>
                                        <p:tgtEl>
                                          <p:spTgt spid="463"/>
                                        </p:tgtEl>
                                      </p:cBhvr>
                                    </p:animEffect>
                                  </p:childTnLst>
                                </p:cTn>
                              </p:par>
                              <p:par>
                                <p:cTn fill="hold" nodeType="with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1000"/>
                                        <p:tgtEl>
                                          <p:spTgt spid="464"/>
                                        </p:tgtEl>
                                      </p:cBhvr>
                                    </p:animEffect>
                                  </p:childTnLst>
                                </p:cTn>
                              </p:par>
                              <p:par>
                                <p:cTn fill="hold" nodeType="with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1000"/>
                                        <p:tgtEl>
                                          <p:spTgt spid="465"/>
                                        </p:tgtEl>
                                      </p:cBhvr>
                                    </p:animEffect>
                                  </p:childTnLst>
                                </p:cTn>
                              </p:par>
                              <p:par>
                                <p:cTn fill="hold" nodeType="with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1000"/>
                                        <p:tgtEl>
                                          <p:spTgt spid="466"/>
                                        </p:tgtEl>
                                      </p:cBhvr>
                                    </p:animEffect>
                                  </p:childTnLst>
                                </p:cTn>
                              </p:par>
                              <p:par>
                                <p:cTn fill="hold" nodeType="with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1000"/>
                                        <p:tgtEl>
                                          <p:spTgt spid="4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1000"/>
                                        <p:tgtEl>
                                          <p:spTgt spid="4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1000"/>
                                        <p:tgtEl>
                                          <p:spTgt spid="4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1000"/>
                                        <p:tgtEl>
                                          <p:spTgt spid="4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1000"/>
                                        <p:tgtEl>
                                          <p:spTgt spid="4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1000"/>
                                        <p:tgtEl>
                                          <p:spTgt spid="4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1000"/>
                                        <p:tgtEl>
                                          <p:spTgt spid="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Insertion Sort </a:t>
            </a:r>
            <a:endParaRPr/>
          </a:p>
        </p:txBody>
      </p:sp>
      <p:sp>
        <p:nvSpPr>
          <p:cNvPr id="480" name="Google Shape;480;p34"/>
          <p:cNvSpPr txBox="1"/>
          <p:nvPr/>
        </p:nvSpPr>
        <p:spPr>
          <a:xfrm>
            <a:off x="1588500" y="13248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481" name="Google Shape;481;p34"/>
          <p:cNvSpPr txBox="1"/>
          <p:nvPr/>
        </p:nvSpPr>
        <p:spPr>
          <a:xfrm>
            <a:off x="2245375" y="13248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482" name="Google Shape;482;p34"/>
          <p:cNvSpPr txBox="1"/>
          <p:nvPr/>
        </p:nvSpPr>
        <p:spPr>
          <a:xfrm>
            <a:off x="2902250" y="13248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483" name="Google Shape;483;p34"/>
          <p:cNvSpPr txBox="1"/>
          <p:nvPr/>
        </p:nvSpPr>
        <p:spPr>
          <a:xfrm>
            <a:off x="3559125" y="13248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484" name="Google Shape;484;p34"/>
          <p:cNvSpPr txBox="1"/>
          <p:nvPr/>
        </p:nvSpPr>
        <p:spPr>
          <a:xfrm>
            <a:off x="4216000" y="13248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485" name="Google Shape;485;p34"/>
          <p:cNvSpPr txBox="1"/>
          <p:nvPr/>
        </p:nvSpPr>
        <p:spPr>
          <a:xfrm>
            <a:off x="4872875" y="13248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486" name="Google Shape;486;p34"/>
          <p:cNvSpPr txBox="1"/>
          <p:nvPr/>
        </p:nvSpPr>
        <p:spPr>
          <a:xfrm>
            <a:off x="1588500" y="19416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487" name="Google Shape;487;p34"/>
          <p:cNvSpPr txBox="1"/>
          <p:nvPr/>
        </p:nvSpPr>
        <p:spPr>
          <a:xfrm>
            <a:off x="2245375" y="19416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488" name="Google Shape;488;p34"/>
          <p:cNvSpPr txBox="1"/>
          <p:nvPr/>
        </p:nvSpPr>
        <p:spPr>
          <a:xfrm>
            <a:off x="2902250" y="19416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489" name="Google Shape;489;p34"/>
          <p:cNvSpPr txBox="1"/>
          <p:nvPr/>
        </p:nvSpPr>
        <p:spPr>
          <a:xfrm>
            <a:off x="3559125" y="19416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490" name="Google Shape;490;p34"/>
          <p:cNvSpPr txBox="1"/>
          <p:nvPr/>
        </p:nvSpPr>
        <p:spPr>
          <a:xfrm>
            <a:off x="4216000" y="19416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491" name="Google Shape;491;p34"/>
          <p:cNvSpPr txBox="1"/>
          <p:nvPr/>
        </p:nvSpPr>
        <p:spPr>
          <a:xfrm>
            <a:off x="5059300" y="19416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492" name="Google Shape;492;p34"/>
          <p:cNvSpPr txBox="1"/>
          <p:nvPr/>
        </p:nvSpPr>
        <p:spPr>
          <a:xfrm>
            <a:off x="1599875" y="25584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493" name="Google Shape;493;p34"/>
          <p:cNvSpPr txBox="1"/>
          <p:nvPr/>
        </p:nvSpPr>
        <p:spPr>
          <a:xfrm>
            <a:off x="2245375" y="25584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494" name="Google Shape;494;p34"/>
          <p:cNvSpPr txBox="1"/>
          <p:nvPr/>
        </p:nvSpPr>
        <p:spPr>
          <a:xfrm>
            <a:off x="2902250" y="25584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495" name="Google Shape;495;p34"/>
          <p:cNvSpPr txBox="1"/>
          <p:nvPr/>
        </p:nvSpPr>
        <p:spPr>
          <a:xfrm>
            <a:off x="3559125" y="25584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496" name="Google Shape;496;p34"/>
          <p:cNvSpPr txBox="1"/>
          <p:nvPr/>
        </p:nvSpPr>
        <p:spPr>
          <a:xfrm>
            <a:off x="4396738" y="25584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497" name="Google Shape;497;p34"/>
          <p:cNvSpPr txBox="1"/>
          <p:nvPr/>
        </p:nvSpPr>
        <p:spPr>
          <a:xfrm>
            <a:off x="5234350" y="25584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498" name="Google Shape;498;p34"/>
          <p:cNvSpPr txBox="1"/>
          <p:nvPr/>
        </p:nvSpPr>
        <p:spPr>
          <a:xfrm>
            <a:off x="1588500" y="31753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499" name="Google Shape;499;p34"/>
          <p:cNvSpPr txBox="1"/>
          <p:nvPr/>
        </p:nvSpPr>
        <p:spPr>
          <a:xfrm>
            <a:off x="2245375" y="31753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500" name="Google Shape;500;p34"/>
          <p:cNvSpPr txBox="1"/>
          <p:nvPr/>
        </p:nvSpPr>
        <p:spPr>
          <a:xfrm>
            <a:off x="2902250" y="31753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501" name="Google Shape;501;p34"/>
          <p:cNvSpPr txBox="1"/>
          <p:nvPr/>
        </p:nvSpPr>
        <p:spPr>
          <a:xfrm>
            <a:off x="3745550" y="31753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502" name="Google Shape;502;p34"/>
          <p:cNvSpPr txBox="1"/>
          <p:nvPr/>
        </p:nvSpPr>
        <p:spPr>
          <a:xfrm>
            <a:off x="4571788" y="31753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503" name="Google Shape;503;p34"/>
          <p:cNvSpPr txBox="1"/>
          <p:nvPr/>
        </p:nvSpPr>
        <p:spPr>
          <a:xfrm>
            <a:off x="5398025" y="317530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504" name="Google Shape;504;p34"/>
          <p:cNvSpPr txBox="1"/>
          <p:nvPr/>
        </p:nvSpPr>
        <p:spPr>
          <a:xfrm>
            <a:off x="1588500" y="37921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505" name="Google Shape;505;p34"/>
          <p:cNvSpPr txBox="1"/>
          <p:nvPr/>
        </p:nvSpPr>
        <p:spPr>
          <a:xfrm>
            <a:off x="2245375" y="37921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506" name="Google Shape;506;p34"/>
          <p:cNvSpPr txBox="1"/>
          <p:nvPr/>
        </p:nvSpPr>
        <p:spPr>
          <a:xfrm>
            <a:off x="3252350" y="37921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507" name="Google Shape;507;p34"/>
          <p:cNvSpPr txBox="1"/>
          <p:nvPr/>
        </p:nvSpPr>
        <p:spPr>
          <a:xfrm>
            <a:off x="4084275" y="37921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508" name="Google Shape;508;p34"/>
          <p:cNvSpPr txBox="1"/>
          <p:nvPr/>
        </p:nvSpPr>
        <p:spPr>
          <a:xfrm>
            <a:off x="4916200" y="37921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509" name="Google Shape;509;p34"/>
          <p:cNvSpPr txBox="1"/>
          <p:nvPr/>
        </p:nvSpPr>
        <p:spPr>
          <a:xfrm>
            <a:off x="5748125" y="379212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510" name="Google Shape;510;p34"/>
          <p:cNvSpPr txBox="1"/>
          <p:nvPr/>
        </p:nvSpPr>
        <p:spPr>
          <a:xfrm>
            <a:off x="1588500" y="44089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511" name="Google Shape;511;p34"/>
          <p:cNvSpPr txBox="1"/>
          <p:nvPr/>
        </p:nvSpPr>
        <p:spPr>
          <a:xfrm>
            <a:off x="2420425" y="44089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512" name="Google Shape;512;p34"/>
          <p:cNvSpPr txBox="1"/>
          <p:nvPr/>
        </p:nvSpPr>
        <p:spPr>
          <a:xfrm>
            <a:off x="3252350" y="44089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513" name="Google Shape;513;p34"/>
          <p:cNvSpPr txBox="1"/>
          <p:nvPr/>
        </p:nvSpPr>
        <p:spPr>
          <a:xfrm>
            <a:off x="4084275" y="44089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514" name="Google Shape;514;p34"/>
          <p:cNvSpPr txBox="1"/>
          <p:nvPr/>
        </p:nvSpPr>
        <p:spPr>
          <a:xfrm>
            <a:off x="4916200" y="44089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515" name="Google Shape;515;p34"/>
          <p:cNvSpPr txBox="1"/>
          <p:nvPr/>
        </p:nvSpPr>
        <p:spPr>
          <a:xfrm>
            <a:off x="5748125" y="4408950"/>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516" name="Google Shape;516;p34"/>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1000"/>
                                        <p:tgtEl>
                                          <p:spTgt spid="510"/>
                                        </p:tgtEl>
                                      </p:cBhvr>
                                    </p:animEffect>
                                  </p:childTnLst>
                                </p:cTn>
                              </p:par>
                              <p:par>
                                <p:cTn fill="hold" nodeType="with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1000"/>
                                        <p:tgtEl>
                                          <p:spTgt spid="511"/>
                                        </p:tgtEl>
                                      </p:cBhvr>
                                    </p:animEffect>
                                  </p:childTnLst>
                                </p:cTn>
                              </p:par>
                              <p:par>
                                <p:cTn fill="hold" nodeType="with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1000"/>
                                        <p:tgtEl>
                                          <p:spTgt spid="512"/>
                                        </p:tgtEl>
                                      </p:cBhvr>
                                    </p:animEffect>
                                  </p:childTnLst>
                                </p:cTn>
                              </p:par>
                              <p:par>
                                <p:cTn fill="hold" nodeType="with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1000"/>
                                        <p:tgtEl>
                                          <p:spTgt spid="513"/>
                                        </p:tgtEl>
                                      </p:cBhvr>
                                    </p:animEffect>
                                  </p:childTnLst>
                                </p:cTn>
                              </p:par>
                              <p:par>
                                <p:cTn fill="hold" nodeType="with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1000"/>
                                        <p:tgtEl>
                                          <p:spTgt spid="514"/>
                                        </p:tgtEl>
                                      </p:cBhvr>
                                    </p:animEffect>
                                  </p:childTnLst>
                                </p:cTn>
                              </p:par>
                              <p:par>
                                <p:cTn fill="hold" nodeType="with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1000"/>
                                        <p:tgtEl>
                                          <p:spTgt spid="5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1000"/>
                                        <p:tgtEl>
                                          <p:spTgt spid="504"/>
                                        </p:tgtEl>
                                      </p:cBhvr>
                                    </p:animEffect>
                                  </p:childTnLst>
                                </p:cTn>
                              </p:par>
                              <p:par>
                                <p:cTn fill="hold" nodeType="with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1000"/>
                                        <p:tgtEl>
                                          <p:spTgt spid="505"/>
                                        </p:tgtEl>
                                      </p:cBhvr>
                                    </p:animEffect>
                                  </p:childTnLst>
                                </p:cTn>
                              </p:par>
                              <p:par>
                                <p:cTn fill="hold" nodeType="with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1000"/>
                                        <p:tgtEl>
                                          <p:spTgt spid="506"/>
                                        </p:tgtEl>
                                      </p:cBhvr>
                                    </p:animEffect>
                                  </p:childTnLst>
                                </p:cTn>
                              </p:par>
                              <p:par>
                                <p:cTn fill="hold" nodeType="with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1000"/>
                                        <p:tgtEl>
                                          <p:spTgt spid="507"/>
                                        </p:tgtEl>
                                      </p:cBhvr>
                                    </p:animEffect>
                                  </p:childTnLst>
                                </p:cTn>
                              </p:par>
                              <p:par>
                                <p:cTn fill="hold" nodeType="with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1000"/>
                                        <p:tgtEl>
                                          <p:spTgt spid="508"/>
                                        </p:tgtEl>
                                      </p:cBhvr>
                                    </p:animEffect>
                                  </p:childTnLst>
                                </p:cTn>
                              </p:par>
                              <p:par>
                                <p:cTn fill="hold" nodeType="with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1000"/>
                                        <p:tgtEl>
                                          <p:spTgt spid="5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1000"/>
                                        <p:tgtEl>
                                          <p:spTgt spid="498"/>
                                        </p:tgtEl>
                                      </p:cBhvr>
                                    </p:animEffect>
                                  </p:childTnLst>
                                </p:cTn>
                              </p:par>
                              <p:par>
                                <p:cTn fill="hold" nodeType="with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000"/>
                                        <p:tgtEl>
                                          <p:spTgt spid="499"/>
                                        </p:tgtEl>
                                      </p:cBhvr>
                                    </p:animEffect>
                                  </p:childTnLst>
                                </p:cTn>
                              </p:par>
                              <p:par>
                                <p:cTn fill="hold" nodeType="with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1000"/>
                                        <p:tgtEl>
                                          <p:spTgt spid="500"/>
                                        </p:tgtEl>
                                      </p:cBhvr>
                                    </p:animEffect>
                                  </p:childTnLst>
                                </p:cTn>
                              </p:par>
                              <p:par>
                                <p:cTn fill="hold" nodeType="with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1000"/>
                                        <p:tgtEl>
                                          <p:spTgt spid="501"/>
                                        </p:tgtEl>
                                      </p:cBhvr>
                                    </p:animEffect>
                                  </p:childTnLst>
                                </p:cTn>
                              </p:par>
                              <p:par>
                                <p:cTn fill="hold" nodeType="with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1000"/>
                                        <p:tgtEl>
                                          <p:spTgt spid="502"/>
                                        </p:tgtEl>
                                      </p:cBhvr>
                                    </p:animEffect>
                                  </p:childTnLst>
                                </p:cTn>
                              </p:par>
                              <p:par>
                                <p:cTn fill="hold" nodeType="with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1000"/>
                                        <p:tgtEl>
                                          <p:spTgt spid="5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1000"/>
                                        <p:tgtEl>
                                          <p:spTgt spid="492"/>
                                        </p:tgtEl>
                                      </p:cBhvr>
                                    </p:animEffect>
                                  </p:childTnLst>
                                </p:cTn>
                              </p:par>
                              <p:par>
                                <p:cTn fill="hold" nodeType="with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1000"/>
                                        <p:tgtEl>
                                          <p:spTgt spid="493"/>
                                        </p:tgtEl>
                                      </p:cBhvr>
                                    </p:animEffect>
                                  </p:childTnLst>
                                </p:cTn>
                              </p:par>
                              <p:par>
                                <p:cTn fill="hold" nodeType="with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1000"/>
                                        <p:tgtEl>
                                          <p:spTgt spid="494"/>
                                        </p:tgtEl>
                                      </p:cBhvr>
                                    </p:animEffect>
                                  </p:childTnLst>
                                </p:cTn>
                              </p:par>
                              <p:par>
                                <p:cTn fill="hold" nodeType="with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1000"/>
                                        <p:tgtEl>
                                          <p:spTgt spid="495"/>
                                        </p:tgtEl>
                                      </p:cBhvr>
                                    </p:animEffect>
                                  </p:childTnLst>
                                </p:cTn>
                              </p:par>
                              <p:par>
                                <p:cTn fill="hold" nodeType="with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1000"/>
                                        <p:tgtEl>
                                          <p:spTgt spid="496"/>
                                        </p:tgtEl>
                                      </p:cBhvr>
                                    </p:animEffect>
                                  </p:childTnLst>
                                </p:cTn>
                              </p:par>
                              <p:par>
                                <p:cTn fill="hold" nodeType="with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1000"/>
                                        <p:tgtEl>
                                          <p:spTgt spid="4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1000"/>
                                        <p:tgtEl>
                                          <p:spTgt spid="486"/>
                                        </p:tgtEl>
                                      </p:cBhvr>
                                    </p:animEffect>
                                  </p:childTnLst>
                                </p:cTn>
                              </p:par>
                              <p:par>
                                <p:cTn fill="hold" nodeType="with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1000"/>
                                        <p:tgtEl>
                                          <p:spTgt spid="487"/>
                                        </p:tgtEl>
                                      </p:cBhvr>
                                    </p:animEffect>
                                  </p:childTnLst>
                                </p:cTn>
                              </p:par>
                              <p:par>
                                <p:cTn fill="hold" nodeType="with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1000"/>
                                        <p:tgtEl>
                                          <p:spTgt spid="488"/>
                                        </p:tgtEl>
                                      </p:cBhvr>
                                    </p:animEffect>
                                  </p:childTnLst>
                                </p:cTn>
                              </p:par>
                              <p:par>
                                <p:cTn fill="hold" nodeType="with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1000"/>
                                        <p:tgtEl>
                                          <p:spTgt spid="489"/>
                                        </p:tgtEl>
                                      </p:cBhvr>
                                    </p:animEffect>
                                  </p:childTnLst>
                                </p:cTn>
                              </p:par>
                              <p:par>
                                <p:cTn fill="hold" nodeType="withEffect" presetClass="entr" presetID="10" presetSubtype="0">
                                  <p:stCondLst>
                                    <p:cond delay="0"/>
                                  </p:stCondLst>
                                  <p:childTnLst>
                                    <p:set>
                                      <p:cBhvr>
                                        <p:cTn dur="1" fill="hold">
                                          <p:stCondLst>
                                            <p:cond delay="0"/>
                                          </p:stCondLst>
                                        </p:cTn>
                                        <p:tgtEl>
                                          <p:spTgt spid="490"/>
                                        </p:tgtEl>
                                        <p:attrNameLst>
                                          <p:attrName>style.visibility</p:attrName>
                                        </p:attrNameLst>
                                      </p:cBhvr>
                                      <p:to>
                                        <p:strVal val="visible"/>
                                      </p:to>
                                    </p:set>
                                    <p:animEffect filter="fade" transition="in">
                                      <p:cBhvr>
                                        <p:cTn dur="1000"/>
                                        <p:tgtEl>
                                          <p:spTgt spid="490"/>
                                        </p:tgtEl>
                                      </p:cBhvr>
                                    </p:animEffect>
                                  </p:childTnLst>
                                </p:cTn>
                              </p:par>
                              <p:par>
                                <p:cTn fill="hold" nodeType="with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1000"/>
                                        <p:tgtEl>
                                          <p:spTgt spid="4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1000"/>
                                        <p:tgtEl>
                                          <p:spTgt spid="480"/>
                                        </p:tgtEl>
                                      </p:cBhvr>
                                    </p:animEffect>
                                  </p:childTnLst>
                                </p:cTn>
                              </p:par>
                              <p:par>
                                <p:cTn fill="hold" nodeType="with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1000"/>
                                        <p:tgtEl>
                                          <p:spTgt spid="481"/>
                                        </p:tgtEl>
                                      </p:cBhvr>
                                    </p:animEffect>
                                  </p:childTnLst>
                                </p:cTn>
                              </p:par>
                              <p:par>
                                <p:cTn fill="hold" nodeType="with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1000"/>
                                        <p:tgtEl>
                                          <p:spTgt spid="482"/>
                                        </p:tgtEl>
                                      </p:cBhvr>
                                    </p:animEffect>
                                  </p:childTnLst>
                                </p:cTn>
                              </p:par>
                              <p:par>
                                <p:cTn fill="hold" nodeType="withEffect" presetClass="entr" presetID="10" presetSubtype="0">
                                  <p:stCondLst>
                                    <p:cond delay="0"/>
                                  </p:stCondLst>
                                  <p:childTnLst>
                                    <p:set>
                                      <p:cBhvr>
                                        <p:cTn dur="1" fill="hold">
                                          <p:stCondLst>
                                            <p:cond delay="0"/>
                                          </p:stCondLst>
                                        </p:cTn>
                                        <p:tgtEl>
                                          <p:spTgt spid="483"/>
                                        </p:tgtEl>
                                        <p:attrNameLst>
                                          <p:attrName>style.visibility</p:attrName>
                                        </p:attrNameLst>
                                      </p:cBhvr>
                                      <p:to>
                                        <p:strVal val="visible"/>
                                      </p:to>
                                    </p:set>
                                    <p:animEffect filter="fade" transition="in">
                                      <p:cBhvr>
                                        <p:cTn dur="1000"/>
                                        <p:tgtEl>
                                          <p:spTgt spid="483"/>
                                        </p:tgtEl>
                                      </p:cBhvr>
                                    </p:animEffect>
                                  </p:childTnLst>
                                </p:cTn>
                              </p:par>
                              <p:par>
                                <p:cTn fill="hold" nodeType="withEffect" presetClass="entr" presetID="10" presetSubtype="0">
                                  <p:stCondLst>
                                    <p:cond delay="0"/>
                                  </p:stCondLst>
                                  <p:childTnLst>
                                    <p:set>
                                      <p:cBhvr>
                                        <p:cTn dur="1" fill="hold">
                                          <p:stCondLst>
                                            <p:cond delay="0"/>
                                          </p:stCondLst>
                                        </p:cTn>
                                        <p:tgtEl>
                                          <p:spTgt spid="484"/>
                                        </p:tgtEl>
                                        <p:attrNameLst>
                                          <p:attrName>style.visibility</p:attrName>
                                        </p:attrNameLst>
                                      </p:cBhvr>
                                      <p:to>
                                        <p:strVal val="visible"/>
                                      </p:to>
                                    </p:set>
                                    <p:animEffect filter="fade" transition="in">
                                      <p:cBhvr>
                                        <p:cTn dur="1000"/>
                                        <p:tgtEl>
                                          <p:spTgt spid="484"/>
                                        </p:tgtEl>
                                      </p:cBhvr>
                                    </p:animEffect>
                                  </p:childTnLst>
                                </p:cTn>
                              </p:par>
                              <p:par>
                                <p:cTn fill="hold" nodeType="with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1000"/>
                                        <p:tgtEl>
                                          <p:spTgt spid="4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35"/>
          <p:cNvSpPr txBox="1"/>
          <p:nvPr>
            <p:ph type="title"/>
          </p:nvPr>
        </p:nvSpPr>
        <p:spPr>
          <a:xfrm>
            <a:off x="363975" y="204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Insertion Sort </a:t>
            </a:r>
            <a:r>
              <a:rPr lang="en"/>
              <a:t>Pseudocode</a:t>
            </a:r>
            <a:endParaRPr/>
          </a:p>
        </p:txBody>
      </p:sp>
      <p:sp>
        <p:nvSpPr>
          <p:cNvPr id="522" name="Google Shape;522;p35"/>
          <p:cNvSpPr txBox="1"/>
          <p:nvPr>
            <p:ph idx="1" type="body"/>
          </p:nvPr>
        </p:nvSpPr>
        <p:spPr>
          <a:xfrm>
            <a:off x="271400" y="2064025"/>
            <a:ext cx="4494300" cy="1649700"/>
          </a:xfrm>
          <a:prstGeom prst="rect">
            <a:avLst/>
          </a:prstGeom>
        </p:spPr>
        <p:txBody>
          <a:bodyPr anchorCtr="0" anchor="t" bIns="91425" lIns="91425" spcFirstLastPara="1" rIns="91425" wrap="square" tIns="91425">
            <a:normAutofit fontScale="85000" lnSpcReduction="10000"/>
          </a:bodyPr>
          <a:lstStyle/>
          <a:p>
            <a:pPr indent="0" lvl="0" marL="0" rtl="0" algn="l">
              <a:lnSpc>
                <a:spcPct val="150000"/>
              </a:lnSpc>
              <a:spcBef>
                <a:spcPts val="0"/>
              </a:spcBef>
              <a:spcAft>
                <a:spcPts val="0"/>
              </a:spcAft>
              <a:buNone/>
            </a:pPr>
            <a:r>
              <a:rPr b="1" lang="en" sz="1200">
                <a:solidFill>
                  <a:srgbClr val="333333"/>
                </a:solidFill>
                <a:highlight>
                  <a:srgbClr val="FFFFFF"/>
                </a:highlight>
                <a:latin typeface="Roboto"/>
                <a:ea typeface="Roboto"/>
                <a:cs typeface="Roboto"/>
                <a:sym typeface="Roboto"/>
              </a:rPr>
              <a:t>Solution Steps</a:t>
            </a:r>
            <a:endParaRPr b="1" sz="1200">
              <a:solidFill>
                <a:srgbClr val="333333"/>
              </a:solidFill>
              <a:highlight>
                <a:srgbClr val="FFFFFF"/>
              </a:highlight>
              <a:latin typeface="Roboto"/>
              <a:ea typeface="Roboto"/>
              <a:cs typeface="Roboto"/>
              <a:sym typeface="Roboto"/>
            </a:endParaRPr>
          </a:p>
          <a:p>
            <a:pPr indent="-293370" lvl="0" marL="457200" rtl="0" algn="l">
              <a:lnSpc>
                <a:spcPct val="150000"/>
              </a:lnSpc>
              <a:spcBef>
                <a:spcPts val="0"/>
              </a:spcBef>
              <a:spcAft>
                <a:spcPts val="0"/>
              </a:spcAft>
              <a:buClr>
                <a:srgbClr val="333333"/>
              </a:buClr>
              <a:buSzPct val="100000"/>
              <a:buFont typeface="Roboto"/>
              <a:buChar char="●"/>
            </a:pPr>
            <a:r>
              <a:rPr lang="en" sz="1200">
                <a:solidFill>
                  <a:srgbClr val="333333"/>
                </a:solidFill>
                <a:highlight>
                  <a:srgbClr val="FFFFFF"/>
                </a:highlight>
                <a:latin typeface="Roboto"/>
                <a:ea typeface="Roboto"/>
                <a:cs typeface="Roboto"/>
                <a:sym typeface="Roboto"/>
              </a:rPr>
              <a:t>Base Case: </a:t>
            </a:r>
            <a:endParaRPr sz="1200">
              <a:solidFill>
                <a:srgbClr val="333333"/>
              </a:solidFill>
              <a:highlight>
                <a:srgbClr val="FFFFFF"/>
              </a:highlight>
              <a:latin typeface="Roboto"/>
              <a:ea typeface="Roboto"/>
              <a:cs typeface="Roboto"/>
              <a:sym typeface="Roboto"/>
            </a:endParaRPr>
          </a:p>
          <a:p>
            <a:pPr indent="-293369" lvl="1" marL="914400" rtl="0" algn="l">
              <a:lnSpc>
                <a:spcPct val="150000"/>
              </a:lnSpc>
              <a:spcBef>
                <a:spcPts val="0"/>
              </a:spcBef>
              <a:spcAft>
                <a:spcPts val="0"/>
              </a:spcAft>
              <a:buClr>
                <a:schemeClr val="dk1"/>
              </a:buClr>
              <a:buSzPct val="100000"/>
              <a:buFont typeface="Roboto"/>
              <a:buChar char="○"/>
            </a:pPr>
            <a:r>
              <a:rPr lang="en" sz="1200">
                <a:solidFill>
                  <a:srgbClr val="333333"/>
                </a:solidFill>
                <a:highlight>
                  <a:srgbClr val="FFFFFF"/>
                </a:highlight>
                <a:latin typeface="Roboto"/>
                <a:ea typeface="Roboto"/>
                <a:cs typeface="Roboto"/>
                <a:sym typeface="Roboto"/>
              </a:rPr>
              <a:t>If array size is 1 or smaller, return.</a:t>
            </a:r>
            <a:endParaRPr sz="1200">
              <a:solidFill>
                <a:srgbClr val="333333"/>
              </a:solidFill>
              <a:highlight>
                <a:srgbClr val="FFFFFF"/>
              </a:highlight>
              <a:latin typeface="Roboto"/>
              <a:ea typeface="Roboto"/>
              <a:cs typeface="Roboto"/>
              <a:sym typeface="Roboto"/>
            </a:endParaRPr>
          </a:p>
          <a:p>
            <a:pPr indent="-293370" lvl="0" marL="457200" rtl="0" algn="l">
              <a:lnSpc>
                <a:spcPct val="150000"/>
              </a:lnSpc>
              <a:spcBef>
                <a:spcPts val="0"/>
              </a:spcBef>
              <a:spcAft>
                <a:spcPts val="0"/>
              </a:spcAft>
              <a:buClr>
                <a:srgbClr val="333333"/>
              </a:buClr>
              <a:buSzPct val="100000"/>
              <a:buFont typeface="Roboto"/>
              <a:buChar char="●"/>
            </a:pPr>
            <a:r>
              <a:rPr lang="en" sz="1200">
                <a:solidFill>
                  <a:srgbClr val="333333"/>
                </a:solidFill>
                <a:highlight>
                  <a:srgbClr val="FFFFFF"/>
                </a:highlight>
                <a:latin typeface="Roboto"/>
                <a:ea typeface="Roboto"/>
                <a:cs typeface="Roboto"/>
                <a:sym typeface="Roboto"/>
              </a:rPr>
              <a:t>Recursive case:</a:t>
            </a:r>
            <a:endParaRPr sz="1200">
              <a:solidFill>
                <a:srgbClr val="333333"/>
              </a:solidFill>
              <a:highlight>
                <a:srgbClr val="FFFFFF"/>
              </a:highlight>
              <a:latin typeface="Roboto"/>
              <a:ea typeface="Roboto"/>
              <a:cs typeface="Roboto"/>
              <a:sym typeface="Roboto"/>
            </a:endParaRPr>
          </a:p>
          <a:p>
            <a:pPr indent="-293369" lvl="1" marL="914400" rtl="0" algn="l">
              <a:lnSpc>
                <a:spcPct val="150000"/>
              </a:lnSpc>
              <a:spcBef>
                <a:spcPts val="0"/>
              </a:spcBef>
              <a:spcAft>
                <a:spcPts val="0"/>
              </a:spcAft>
              <a:buClr>
                <a:schemeClr val="dk1"/>
              </a:buClr>
              <a:buSzPct val="100000"/>
              <a:buFont typeface="Roboto"/>
              <a:buChar char="○"/>
            </a:pPr>
            <a:r>
              <a:rPr lang="en" sz="1200">
                <a:solidFill>
                  <a:srgbClr val="333333"/>
                </a:solidFill>
                <a:highlight>
                  <a:srgbClr val="FFFFFF"/>
                </a:highlight>
                <a:latin typeface="Roboto"/>
                <a:ea typeface="Roboto"/>
                <a:cs typeface="Roboto"/>
                <a:sym typeface="Roboto"/>
              </a:rPr>
              <a:t>Recursively sort first n-1 elements.</a:t>
            </a:r>
            <a:endParaRPr sz="1200">
              <a:solidFill>
                <a:srgbClr val="333333"/>
              </a:solidFill>
              <a:highlight>
                <a:srgbClr val="FFFFFF"/>
              </a:highlight>
              <a:latin typeface="Roboto"/>
              <a:ea typeface="Roboto"/>
              <a:cs typeface="Roboto"/>
              <a:sym typeface="Roboto"/>
            </a:endParaRPr>
          </a:p>
          <a:p>
            <a:pPr indent="-293369" lvl="1" marL="914400" rtl="0" algn="l">
              <a:lnSpc>
                <a:spcPct val="150000"/>
              </a:lnSpc>
              <a:spcBef>
                <a:spcPts val="0"/>
              </a:spcBef>
              <a:spcAft>
                <a:spcPts val="1000"/>
              </a:spcAft>
              <a:buClr>
                <a:schemeClr val="dk1"/>
              </a:buClr>
              <a:buSzPct val="100000"/>
              <a:buFont typeface="Roboto"/>
              <a:buChar char="○"/>
            </a:pPr>
            <a:r>
              <a:rPr lang="en" sz="1200">
                <a:solidFill>
                  <a:srgbClr val="333333"/>
                </a:solidFill>
                <a:highlight>
                  <a:srgbClr val="FFFFFF"/>
                </a:highlight>
                <a:latin typeface="Roboto"/>
                <a:ea typeface="Roboto"/>
                <a:cs typeface="Roboto"/>
                <a:sym typeface="Roboto"/>
              </a:rPr>
              <a:t>Insert the last element at its correct position in the sorted array.</a:t>
            </a:r>
            <a:endParaRPr sz="1200">
              <a:solidFill>
                <a:srgbClr val="333333"/>
              </a:solidFill>
              <a:highlight>
                <a:srgbClr val="FFFFFF"/>
              </a:highlight>
              <a:latin typeface="Roboto"/>
              <a:ea typeface="Roboto"/>
              <a:cs typeface="Roboto"/>
              <a:sym typeface="Roboto"/>
            </a:endParaRPr>
          </a:p>
        </p:txBody>
      </p:sp>
      <p:sp>
        <p:nvSpPr>
          <p:cNvPr id="523" name="Google Shape;523;p35"/>
          <p:cNvSpPr txBox="1"/>
          <p:nvPr>
            <p:ph idx="1" type="body"/>
          </p:nvPr>
        </p:nvSpPr>
        <p:spPr>
          <a:xfrm>
            <a:off x="4904000" y="1344850"/>
            <a:ext cx="3681900" cy="29886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InsertionSort(int arr [], int n)</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t>
            </a:r>
            <a:r>
              <a:rPr lang="en" sz="850">
                <a:solidFill>
                  <a:srgbClr val="6AA84F"/>
                </a:solidFill>
                <a:highlight>
                  <a:srgbClr val="FFFFFF"/>
                </a:highlight>
                <a:latin typeface="Roboto Mono"/>
                <a:ea typeface="Roboto Mono"/>
                <a:cs typeface="Roboto Mono"/>
                <a:sym typeface="Roboto Mono"/>
              </a:rPr>
              <a:t> // Base case </a:t>
            </a:r>
            <a:endParaRPr sz="850">
              <a:solidFill>
                <a:srgbClr val="6AA84F"/>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if (n &lt;= 1) </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return</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t>
            </a:r>
            <a:r>
              <a:rPr lang="en" sz="850">
                <a:solidFill>
                  <a:srgbClr val="6AA84F"/>
                </a:solidFill>
                <a:highlight>
                  <a:srgbClr val="FFFFFF"/>
                </a:highlight>
                <a:latin typeface="Roboto Mono"/>
                <a:ea typeface="Roboto Mono"/>
                <a:cs typeface="Roboto Mono"/>
                <a:sym typeface="Roboto Mono"/>
              </a:rPr>
              <a:t>// Sort first n-1 elements </a:t>
            </a:r>
            <a:endParaRPr sz="850">
              <a:solidFill>
                <a:srgbClr val="6AA84F"/>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InsertionSort( arr, n-1 )</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int </a:t>
            </a:r>
            <a:r>
              <a:rPr lang="en" sz="850">
                <a:solidFill>
                  <a:srgbClr val="333333"/>
                </a:solidFill>
                <a:highlight>
                  <a:schemeClr val="lt1"/>
                </a:highlight>
                <a:latin typeface="Roboto Mono"/>
                <a:ea typeface="Roboto Mono"/>
                <a:cs typeface="Roboto Mono"/>
                <a:sym typeface="Roboto Mono"/>
              </a:rPr>
              <a:t>key</a:t>
            </a:r>
            <a:r>
              <a:rPr lang="en" sz="850">
                <a:solidFill>
                  <a:srgbClr val="333333"/>
                </a:solidFill>
                <a:highlight>
                  <a:srgbClr val="FFFFFF"/>
                </a:highlight>
                <a:latin typeface="Roboto Mono"/>
                <a:ea typeface="Roboto Mono"/>
                <a:cs typeface="Roboto Mono"/>
                <a:sym typeface="Roboto Mono"/>
              </a:rPr>
              <a:t> = arr[n-1]</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int pos = n-2</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    while (pos &gt;= 0 &amp;&amp; arr[pos] &gt; </a:t>
            </a:r>
            <a:r>
              <a:rPr lang="en" sz="850">
                <a:solidFill>
                  <a:srgbClr val="333333"/>
                </a:solidFill>
                <a:highlight>
                  <a:schemeClr val="lt1"/>
                </a:highlight>
                <a:latin typeface="Roboto Mono"/>
                <a:ea typeface="Roboto Mono"/>
                <a:cs typeface="Roboto Mono"/>
                <a:sym typeface="Roboto Mono"/>
              </a:rPr>
              <a:t>key</a:t>
            </a:r>
            <a:r>
              <a:rPr lang="en" sz="850">
                <a:solidFill>
                  <a:srgbClr val="333333"/>
                </a:solidFill>
                <a:highlight>
                  <a:srgbClr val="FFFFFF"/>
                </a:highlight>
                <a:latin typeface="Roboto Mono"/>
                <a:ea typeface="Roboto Mono"/>
                <a:cs typeface="Roboto Mono"/>
                <a:sym typeface="Roboto Mono"/>
              </a:rPr>
              <a:t>) </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 </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arr[pos+1] = arr[pos]</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pos = pos - 1</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 </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arr[pos+1] = </a:t>
            </a:r>
            <a:r>
              <a:rPr lang="en" sz="850">
                <a:solidFill>
                  <a:srgbClr val="333333"/>
                </a:solidFill>
                <a:highlight>
                  <a:schemeClr val="lt1"/>
                </a:highlight>
                <a:latin typeface="Roboto Mono"/>
                <a:ea typeface="Roboto Mono"/>
                <a:cs typeface="Roboto Mono"/>
                <a:sym typeface="Roboto Mono"/>
              </a:rPr>
              <a:t>key</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a:t>
            </a:r>
            <a:endParaRPr sz="850">
              <a:solidFill>
                <a:srgbClr val="333333"/>
              </a:solidFill>
              <a:highlight>
                <a:srgbClr val="FFFFFF"/>
              </a:highlight>
              <a:latin typeface="Roboto Mono"/>
              <a:ea typeface="Roboto Mono"/>
              <a:cs typeface="Roboto Mono"/>
              <a:sym typeface="Roboto Mono"/>
            </a:endParaRPr>
          </a:p>
        </p:txBody>
      </p:sp>
      <p:sp>
        <p:nvSpPr>
          <p:cNvPr id="524" name="Google Shape;524;p35"/>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xEl>
                                              <p:pRg end="0" st="0"/>
                                            </p:txEl>
                                          </p:spTgt>
                                        </p:tgtEl>
                                        <p:attrNameLst>
                                          <p:attrName>style.visibility</p:attrName>
                                        </p:attrNameLst>
                                      </p:cBhvr>
                                      <p:to>
                                        <p:strVal val="visible"/>
                                      </p:to>
                                    </p:set>
                                    <p:animEffect filter="fade" transition="in">
                                      <p:cBhvr>
                                        <p:cTn dur="1000"/>
                                        <p:tgtEl>
                                          <p:spTgt spid="5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xEl>
                                              <p:pRg end="1" st="1"/>
                                            </p:txEl>
                                          </p:spTgt>
                                        </p:tgtEl>
                                        <p:attrNameLst>
                                          <p:attrName>style.visibility</p:attrName>
                                        </p:attrNameLst>
                                      </p:cBhvr>
                                      <p:to>
                                        <p:strVal val="visible"/>
                                      </p:to>
                                    </p:set>
                                    <p:animEffect filter="fade" transition="in">
                                      <p:cBhvr>
                                        <p:cTn dur="1000"/>
                                        <p:tgtEl>
                                          <p:spTgt spid="5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xEl>
                                              <p:pRg end="2" st="2"/>
                                            </p:txEl>
                                          </p:spTgt>
                                        </p:tgtEl>
                                        <p:attrNameLst>
                                          <p:attrName>style.visibility</p:attrName>
                                        </p:attrNameLst>
                                      </p:cBhvr>
                                      <p:to>
                                        <p:strVal val="visible"/>
                                      </p:to>
                                    </p:set>
                                    <p:animEffect filter="fade" transition="in">
                                      <p:cBhvr>
                                        <p:cTn dur="1000"/>
                                        <p:tgtEl>
                                          <p:spTgt spid="5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xEl>
                                              <p:pRg end="3" st="3"/>
                                            </p:txEl>
                                          </p:spTgt>
                                        </p:tgtEl>
                                        <p:attrNameLst>
                                          <p:attrName>style.visibility</p:attrName>
                                        </p:attrNameLst>
                                      </p:cBhvr>
                                      <p:to>
                                        <p:strVal val="visible"/>
                                      </p:to>
                                    </p:set>
                                    <p:animEffect filter="fade" transition="in">
                                      <p:cBhvr>
                                        <p:cTn dur="1000"/>
                                        <p:tgtEl>
                                          <p:spTgt spid="5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xEl>
                                              <p:pRg end="4" st="4"/>
                                            </p:txEl>
                                          </p:spTgt>
                                        </p:tgtEl>
                                        <p:attrNameLst>
                                          <p:attrName>style.visibility</p:attrName>
                                        </p:attrNameLst>
                                      </p:cBhvr>
                                      <p:to>
                                        <p:strVal val="visible"/>
                                      </p:to>
                                    </p:set>
                                    <p:animEffect filter="fade" transition="in">
                                      <p:cBhvr>
                                        <p:cTn dur="1000"/>
                                        <p:tgtEl>
                                          <p:spTgt spid="5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xEl>
                                              <p:pRg end="5" st="5"/>
                                            </p:txEl>
                                          </p:spTgt>
                                        </p:tgtEl>
                                        <p:attrNameLst>
                                          <p:attrName>style.visibility</p:attrName>
                                        </p:attrNameLst>
                                      </p:cBhvr>
                                      <p:to>
                                        <p:strVal val="visible"/>
                                      </p:to>
                                    </p:set>
                                    <p:animEffect filter="fade" transition="in">
                                      <p:cBhvr>
                                        <p:cTn dur="1000"/>
                                        <p:tgtEl>
                                          <p:spTgt spid="5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1000"/>
                                        <p:tgtEl>
                                          <p:spTgt spid="5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 splitting the array</a:t>
            </a:r>
            <a:endParaRPr/>
          </a:p>
        </p:txBody>
      </p:sp>
      <p:sp>
        <p:nvSpPr>
          <p:cNvPr id="530" name="Google Shape;530;p36"/>
          <p:cNvSpPr txBox="1"/>
          <p:nvPr/>
        </p:nvSpPr>
        <p:spPr>
          <a:xfrm>
            <a:off x="563575" y="1212700"/>
            <a:ext cx="5289900" cy="332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arr = [ </a:t>
            </a:r>
            <a:r>
              <a:rPr lang="en" sz="1200">
                <a:solidFill>
                  <a:srgbClr val="008080"/>
                </a:solidFill>
                <a:latin typeface="Roboto Mono"/>
                <a:ea typeface="Roboto Mono"/>
                <a:cs typeface="Roboto Mono"/>
                <a:sym typeface="Roboto Mono"/>
              </a:rPr>
              <a:t>7, 9, 4, 8, 3, 5 </a:t>
            </a:r>
            <a:r>
              <a:rPr lang="en" sz="1200">
                <a:solidFill>
                  <a:srgbClr val="333333"/>
                </a:solidFill>
                <a:latin typeface="Roboto Mono"/>
                <a:ea typeface="Roboto Mono"/>
                <a:cs typeface="Roboto Mono"/>
                <a:sym typeface="Roboto Mono"/>
              </a:rPr>
              <a:t>], size = </a:t>
            </a:r>
            <a:r>
              <a:rPr lang="en" sz="1200">
                <a:solidFill>
                  <a:srgbClr val="008080"/>
                </a:solidFill>
                <a:latin typeface="Roboto Mono"/>
                <a:ea typeface="Roboto Mono"/>
                <a:cs typeface="Roboto Mono"/>
                <a:sym typeface="Roboto Mono"/>
              </a:rPr>
              <a:t>6</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insertion-sort(arr, </a:t>
            </a:r>
            <a:r>
              <a:rPr lang="en" sz="1200">
                <a:solidFill>
                  <a:srgbClr val="008080"/>
                </a:solidFill>
                <a:latin typeface="Roboto Mono"/>
                <a:ea typeface="Roboto Mono"/>
                <a:cs typeface="Roboto Mono"/>
                <a:sym typeface="Roboto Mono"/>
              </a:rPr>
              <a:t>6</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    </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insertion-sort(arr, </a:t>
            </a:r>
            <a:r>
              <a:rPr lang="en" sz="1200">
                <a:solidFill>
                  <a:srgbClr val="008080"/>
                </a:solidFill>
                <a:latin typeface="Roboto Mono"/>
                <a:ea typeface="Roboto Mono"/>
                <a:cs typeface="Roboto Mono"/>
                <a:sym typeface="Roboto Mono"/>
              </a:rPr>
              <a:t>5</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    </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insertion-sort(arr, </a:t>
            </a:r>
            <a:r>
              <a:rPr lang="en" sz="1200">
                <a:solidFill>
                  <a:srgbClr val="008080"/>
                </a:solidFill>
                <a:latin typeface="Roboto Mono"/>
                <a:ea typeface="Roboto Mono"/>
                <a:cs typeface="Roboto Mono"/>
                <a:sym typeface="Roboto Mono"/>
              </a:rPr>
              <a:t>4</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    </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insertion-sort(arr, </a:t>
            </a:r>
            <a:r>
              <a:rPr lang="en" sz="1200">
                <a:solidFill>
                  <a:srgbClr val="008080"/>
                </a:solidFill>
                <a:latin typeface="Roboto Mono"/>
                <a:ea typeface="Roboto Mono"/>
                <a:cs typeface="Roboto Mono"/>
                <a:sym typeface="Roboto Mono"/>
              </a:rPr>
              <a:t>3</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    </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insertion-sort(arr, </a:t>
            </a:r>
            <a:r>
              <a:rPr lang="en" sz="1200">
                <a:solidFill>
                  <a:srgbClr val="008080"/>
                </a:solidFill>
                <a:latin typeface="Roboto Mono"/>
                <a:ea typeface="Roboto Mono"/>
                <a:cs typeface="Roboto Mono"/>
                <a:sym typeface="Roboto Mono"/>
              </a:rPr>
              <a:t>2</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 </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insertion-sort(arr, </a:t>
            </a:r>
            <a:r>
              <a:rPr lang="en" sz="1200">
                <a:solidFill>
                  <a:srgbClr val="008080"/>
                </a:solidFill>
                <a:latin typeface="Roboto Mono"/>
                <a:ea typeface="Roboto Mono"/>
                <a:cs typeface="Roboto Mono"/>
                <a:sym typeface="Roboto Mono"/>
              </a:rPr>
              <a:t>1</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    </a:t>
            </a:r>
            <a:endParaRPr>
              <a:latin typeface="Roboto Mono"/>
              <a:ea typeface="Roboto Mono"/>
              <a:cs typeface="Roboto Mono"/>
              <a:sym typeface="Roboto Mono"/>
            </a:endParaRPr>
          </a:p>
        </p:txBody>
      </p:sp>
      <p:sp>
        <p:nvSpPr>
          <p:cNvPr id="531" name="Google Shape;531;p36"/>
          <p:cNvSpPr txBox="1"/>
          <p:nvPr>
            <p:ph idx="1" type="body"/>
          </p:nvPr>
        </p:nvSpPr>
        <p:spPr>
          <a:xfrm>
            <a:off x="5068600" y="1078950"/>
            <a:ext cx="3681900" cy="37869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InsertionSort(int arr [], int n)</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t>
            </a:r>
            <a:r>
              <a:rPr lang="en" sz="850">
                <a:solidFill>
                  <a:srgbClr val="6AA84F"/>
                </a:solidFill>
                <a:highlight>
                  <a:srgbClr val="FFFFFF"/>
                </a:highlight>
                <a:latin typeface="Roboto Mono"/>
                <a:ea typeface="Roboto Mono"/>
                <a:cs typeface="Roboto Mono"/>
                <a:sym typeface="Roboto Mono"/>
              </a:rPr>
              <a:t>// Base case </a:t>
            </a:r>
            <a:endParaRPr sz="850">
              <a:solidFill>
                <a:srgbClr val="6AA84F"/>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if (n &lt;= 1) </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return</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t>
            </a:r>
            <a:r>
              <a:rPr lang="en" sz="850">
                <a:solidFill>
                  <a:srgbClr val="6AA84F"/>
                </a:solidFill>
                <a:highlight>
                  <a:srgbClr val="FFFFFF"/>
                </a:highlight>
                <a:latin typeface="Roboto Mono"/>
                <a:ea typeface="Roboto Mono"/>
                <a:cs typeface="Roboto Mono"/>
                <a:sym typeface="Roboto Mono"/>
              </a:rPr>
              <a:t> // Sort first n-1 elements </a:t>
            </a:r>
            <a:endParaRPr sz="850">
              <a:solidFill>
                <a:srgbClr val="6AA84F"/>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InsertionSort( arr, n-1 )</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int key = arr[n-1]</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int pos = n-2</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    while (pos &gt;= 0 &amp;&amp; arr[pos] &gt; key) </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 </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arr[pos+1] = arr[pos]</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pos = pos - 1</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 </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arr[pos+1] = key</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main()</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   InsertionSort(arr = [ 7, 9, 4, 8, 3, 5 ], 6)</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SzPts val="688"/>
              <a:buNone/>
            </a:pPr>
            <a:r>
              <a:t/>
            </a:r>
            <a:endParaRPr sz="850">
              <a:solidFill>
                <a:srgbClr val="333333"/>
              </a:solidFill>
              <a:highlight>
                <a:srgbClr val="FFFFFF"/>
              </a:highlight>
              <a:latin typeface="Roboto Mono"/>
              <a:ea typeface="Roboto Mono"/>
              <a:cs typeface="Roboto Mono"/>
              <a:sym typeface="Roboto Mono"/>
            </a:endParaRPr>
          </a:p>
        </p:txBody>
      </p:sp>
      <p:sp>
        <p:nvSpPr>
          <p:cNvPr id="532" name="Google Shape;532;p36"/>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0" st="0"/>
                                            </p:txEl>
                                          </p:spTgt>
                                        </p:tgtEl>
                                        <p:attrNameLst>
                                          <p:attrName>style.visibility</p:attrName>
                                        </p:attrNameLst>
                                      </p:cBhvr>
                                      <p:to>
                                        <p:strVal val="visible"/>
                                      </p:to>
                                    </p:set>
                                    <p:animEffect filter="fade" transition="in">
                                      <p:cBhvr>
                                        <p:cTn dur="1000"/>
                                        <p:tgtEl>
                                          <p:spTgt spid="5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1" st="1"/>
                                            </p:txEl>
                                          </p:spTgt>
                                        </p:tgtEl>
                                        <p:attrNameLst>
                                          <p:attrName>style.visibility</p:attrName>
                                        </p:attrNameLst>
                                      </p:cBhvr>
                                      <p:to>
                                        <p:strVal val="visible"/>
                                      </p:to>
                                    </p:set>
                                    <p:animEffect filter="fade" transition="in">
                                      <p:cBhvr>
                                        <p:cTn dur="1000"/>
                                        <p:tgtEl>
                                          <p:spTgt spid="5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2" st="2"/>
                                            </p:txEl>
                                          </p:spTgt>
                                        </p:tgtEl>
                                        <p:attrNameLst>
                                          <p:attrName>style.visibility</p:attrName>
                                        </p:attrNameLst>
                                      </p:cBhvr>
                                      <p:to>
                                        <p:strVal val="visible"/>
                                      </p:to>
                                    </p:set>
                                    <p:animEffect filter="fade" transition="in">
                                      <p:cBhvr>
                                        <p:cTn dur="1000"/>
                                        <p:tgtEl>
                                          <p:spTgt spid="5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3" st="3"/>
                                            </p:txEl>
                                          </p:spTgt>
                                        </p:tgtEl>
                                        <p:attrNameLst>
                                          <p:attrName>style.visibility</p:attrName>
                                        </p:attrNameLst>
                                      </p:cBhvr>
                                      <p:to>
                                        <p:strVal val="visible"/>
                                      </p:to>
                                    </p:set>
                                    <p:animEffect filter="fade" transition="in">
                                      <p:cBhvr>
                                        <p:cTn dur="1000"/>
                                        <p:tgtEl>
                                          <p:spTgt spid="5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4" st="4"/>
                                            </p:txEl>
                                          </p:spTgt>
                                        </p:tgtEl>
                                        <p:attrNameLst>
                                          <p:attrName>style.visibility</p:attrName>
                                        </p:attrNameLst>
                                      </p:cBhvr>
                                      <p:to>
                                        <p:strVal val="visible"/>
                                      </p:to>
                                    </p:set>
                                    <p:animEffect filter="fade" transition="in">
                                      <p:cBhvr>
                                        <p:cTn dur="1000"/>
                                        <p:tgtEl>
                                          <p:spTgt spid="5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5" st="5"/>
                                            </p:txEl>
                                          </p:spTgt>
                                        </p:tgtEl>
                                        <p:attrNameLst>
                                          <p:attrName>style.visibility</p:attrName>
                                        </p:attrNameLst>
                                      </p:cBhvr>
                                      <p:to>
                                        <p:strVal val="visible"/>
                                      </p:to>
                                    </p:set>
                                    <p:animEffect filter="fade" transition="in">
                                      <p:cBhvr>
                                        <p:cTn dur="1000"/>
                                        <p:tgtEl>
                                          <p:spTgt spid="53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6" st="6"/>
                                            </p:txEl>
                                          </p:spTgt>
                                        </p:tgtEl>
                                        <p:attrNameLst>
                                          <p:attrName>style.visibility</p:attrName>
                                        </p:attrNameLst>
                                      </p:cBhvr>
                                      <p:to>
                                        <p:strVal val="visible"/>
                                      </p:to>
                                    </p:set>
                                    <p:animEffect filter="fade" transition="in">
                                      <p:cBhvr>
                                        <p:cTn dur="1000"/>
                                        <p:tgtEl>
                                          <p:spTgt spid="53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7" st="7"/>
                                            </p:txEl>
                                          </p:spTgt>
                                        </p:tgtEl>
                                        <p:attrNameLst>
                                          <p:attrName>style.visibility</p:attrName>
                                        </p:attrNameLst>
                                      </p:cBhvr>
                                      <p:to>
                                        <p:strVal val="visible"/>
                                      </p:to>
                                    </p:set>
                                    <p:animEffect filter="fade" transition="in">
                                      <p:cBhvr>
                                        <p:cTn dur="1000"/>
                                        <p:tgtEl>
                                          <p:spTgt spid="53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8" st="8"/>
                                            </p:txEl>
                                          </p:spTgt>
                                        </p:tgtEl>
                                        <p:attrNameLst>
                                          <p:attrName>style.visibility</p:attrName>
                                        </p:attrNameLst>
                                      </p:cBhvr>
                                      <p:to>
                                        <p:strVal val="visible"/>
                                      </p:to>
                                    </p:set>
                                    <p:animEffect filter="fade" transition="in">
                                      <p:cBhvr>
                                        <p:cTn dur="1000"/>
                                        <p:tgtEl>
                                          <p:spTgt spid="53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9" st="9"/>
                                            </p:txEl>
                                          </p:spTgt>
                                        </p:tgtEl>
                                        <p:attrNameLst>
                                          <p:attrName>style.visibility</p:attrName>
                                        </p:attrNameLst>
                                      </p:cBhvr>
                                      <p:to>
                                        <p:strVal val="visible"/>
                                      </p:to>
                                    </p:set>
                                    <p:animEffect filter="fade" transition="in">
                                      <p:cBhvr>
                                        <p:cTn dur="1000"/>
                                        <p:tgtEl>
                                          <p:spTgt spid="53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10" st="10"/>
                                            </p:txEl>
                                          </p:spTgt>
                                        </p:tgtEl>
                                        <p:attrNameLst>
                                          <p:attrName>style.visibility</p:attrName>
                                        </p:attrNameLst>
                                      </p:cBhvr>
                                      <p:to>
                                        <p:strVal val="visible"/>
                                      </p:to>
                                    </p:set>
                                    <p:animEffect filter="fade" transition="in">
                                      <p:cBhvr>
                                        <p:cTn dur="1000"/>
                                        <p:tgtEl>
                                          <p:spTgt spid="53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11" st="11"/>
                                            </p:txEl>
                                          </p:spTgt>
                                        </p:tgtEl>
                                        <p:attrNameLst>
                                          <p:attrName>style.visibility</p:attrName>
                                        </p:attrNameLst>
                                      </p:cBhvr>
                                      <p:to>
                                        <p:strVal val="visible"/>
                                      </p:to>
                                    </p:set>
                                    <p:animEffect filter="fade" transition="in">
                                      <p:cBhvr>
                                        <p:cTn dur="1000"/>
                                        <p:tgtEl>
                                          <p:spTgt spid="53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12" st="12"/>
                                            </p:txEl>
                                          </p:spTgt>
                                        </p:tgtEl>
                                        <p:attrNameLst>
                                          <p:attrName>style.visibility</p:attrName>
                                        </p:attrNameLst>
                                      </p:cBhvr>
                                      <p:to>
                                        <p:strVal val="visible"/>
                                      </p:to>
                                    </p:set>
                                    <p:animEffect filter="fade" transition="in">
                                      <p:cBhvr>
                                        <p:cTn dur="1000"/>
                                        <p:tgtEl>
                                          <p:spTgt spid="530">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13" st="13"/>
                                            </p:txEl>
                                          </p:spTgt>
                                        </p:tgtEl>
                                        <p:attrNameLst>
                                          <p:attrName>style.visibility</p:attrName>
                                        </p:attrNameLst>
                                      </p:cBhvr>
                                      <p:to>
                                        <p:strVal val="visible"/>
                                      </p:to>
                                    </p:set>
                                    <p:animEffect filter="fade" transition="in">
                                      <p:cBhvr>
                                        <p:cTn dur="1000"/>
                                        <p:tgtEl>
                                          <p:spTgt spid="530">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14" st="14"/>
                                            </p:txEl>
                                          </p:spTgt>
                                        </p:tgtEl>
                                        <p:attrNameLst>
                                          <p:attrName>style.visibility</p:attrName>
                                        </p:attrNameLst>
                                      </p:cBhvr>
                                      <p:to>
                                        <p:strVal val="visible"/>
                                      </p:to>
                                    </p:set>
                                    <p:animEffect filter="fade" transition="in">
                                      <p:cBhvr>
                                        <p:cTn dur="1000"/>
                                        <p:tgtEl>
                                          <p:spTgt spid="530">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15" st="15"/>
                                            </p:txEl>
                                          </p:spTgt>
                                        </p:tgtEl>
                                        <p:attrNameLst>
                                          <p:attrName>style.visibility</p:attrName>
                                        </p:attrNameLst>
                                      </p:cBhvr>
                                      <p:to>
                                        <p:strVal val="visible"/>
                                      </p:to>
                                    </p:set>
                                    <p:animEffect filter="fade" transition="in">
                                      <p:cBhvr>
                                        <p:cTn dur="1000"/>
                                        <p:tgtEl>
                                          <p:spTgt spid="530">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16" st="16"/>
                                            </p:txEl>
                                          </p:spTgt>
                                        </p:tgtEl>
                                        <p:attrNameLst>
                                          <p:attrName>style.visibility</p:attrName>
                                        </p:attrNameLst>
                                      </p:cBhvr>
                                      <p:to>
                                        <p:strVal val="visible"/>
                                      </p:to>
                                    </p:set>
                                    <p:animEffect filter="fade" transition="in">
                                      <p:cBhvr>
                                        <p:cTn dur="1000"/>
                                        <p:tgtEl>
                                          <p:spTgt spid="530">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sp>
        <p:nvSpPr>
          <p:cNvPr id="538" name="Google Shape;538;p37"/>
          <p:cNvSpPr txBox="1"/>
          <p:nvPr/>
        </p:nvSpPr>
        <p:spPr>
          <a:xfrm>
            <a:off x="126875" y="1356700"/>
            <a:ext cx="43992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arr = [ </a:t>
            </a:r>
            <a:r>
              <a:rPr lang="en" sz="1200">
                <a:solidFill>
                  <a:srgbClr val="008080"/>
                </a:solidFill>
                <a:latin typeface="Roboto Mono"/>
                <a:ea typeface="Roboto Mono"/>
                <a:cs typeface="Roboto Mono"/>
                <a:sym typeface="Roboto Mono"/>
              </a:rPr>
              <a:t>7, 9, 4, 8, 3, 5 </a:t>
            </a:r>
            <a:r>
              <a:rPr lang="en" sz="1200">
                <a:solidFill>
                  <a:srgbClr val="333333"/>
                </a:solidFill>
                <a:latin typeface="Roboto Mono"/>
                <a:ea typeface="Roboto Mono"/>
                <a:cs typeface="Roboto Mono"/>
                <a:sym typeface="Roboto Mono"/>
              </a:rPr>
              <a:t>], size = </a:t>
            </a:r>
            <a:r>
              <a:rPr lang="en" sz="1200">
                <a:solidFill>
                  <a:srgbClr val="008080"/>
                </a:solidFill>
                <a:latin typeface="Roboto Mono"/>
                <a:ea typeface="Roboto Mono"/>
                <a:cs typeface="Roboto Mono"/>
                <a:sym typeface="Roboto Mono"/>
              </a:rPr>
              <a:t>6</a:t>
            </a:r>
            <a:endParaRPr sz="1200">
              <a:solidFill>
                <a:srgbClr val="008080"/>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solidFill>
                  <a:srgbClr val="333333"/>
                </a:solidFill>
                <a:latin typeface="Roboto Mono"/>
                <a:ea typeface="Roboto Mono"/>
                <a:cs typeface="Roboto Mono"/>
                <a:sym typeface="Roboto Mono"/>
              </a:rPr>
              <a:t>insertion-sort(arr, </a:t>
            </a:r>
            <a:r>
              <a:rPr lang="en" sz="1200">
                <a:solidFill>
                  <a:srgbClr val="008080"/>
                </a:solidFill>
                <a:latin typeface="Roboto Mono"/>
                <a:ea typeface="Roboto Mono"/>
                <a:cs typeface="Roboto Mono"/>
                <a:sym typeface="Roboto Mono"/>
              </a:rPr>
              <a:t>1</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solidFill>
                  <a:srgbClr val="333333"/>
                </a:solidFill>
                <a:latin typeface="Roboto Mono"/>
                <a:ea typeface="Roboto Mono"/>
                <a:cs typeface="Roboto Mono"/>
                <a:sym typeface="Roboto Mono"/>
              </a:rPr>
              <a:t>    insert </a:t>
            </a:r>
            <a:r>
              <a:rPr lang="en" sz="1200">
                <a:solidFill>
                  <a:srgbClr val="008080"/>
                </a:solidFill>
                <a:latin typeface="Roboto Mono"/>
                <a:ea typeface="Roboto Mono"/>
                <a:cs typeface="Roboto Mono"/>
                <a:sym typeface="Roboto Mono"/>
              </a:rPr>
              <a:t>9</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solidFill>
                  <a:srgbClr val="333333"/>
                </a:solidFill>
                <a:latin typeface="Roboto Mono"/>
                <a:ea typeface="Roboto Mono"/>
                <a:cs typeface="Roboto Mono"/>
                <a:sym typeface="Roboto Mono"/>
              </a:rPr>
              <a:t>    </a:t>
            </a:r>
            <a:r>
              <a:rPr b="1" lang="en" sz="1200">
                <a:solidFill>
                  <a:srgbClr val="333333"/>
                </a:solidFill>
                <a:latin typeface="Roboto Mono"/>
                <a:ea typeface="Roboto Mono"/>
                <a:cs typeface="Roboto Mono"/>
                <a:sym typeface="Roboto Mono"/>
              </a:rPr>
              <a:t>return</a:t>
            </a:r>
            <a:r>
              <a:rPr lang="en" sz="1200">
                <a:solidFill>
                  <a:srgbClr val="333333"/>
                </a:solidFill>
                <a:latin typeface="Roboto Mono"/>
                <a:ea typeface="Roboto Mono"/>
                <a:cs typeface="Roboto Mono"/>
                <a:sym typeface="Roboto Mono"/>
              </a:rPr>
              <a:t> arr = [</a:t>
            </a:r>
            <a:r>
              <a:rPr lang="en" sz="1200">
                <a:solidFill>
                  <a:srgbClr val="008080"/>
                </a:solidFill>
                <a:latin typeface="Roboto Mono"/>
                <a:ea typeface="Roboto Mono"/>
                <a:cs typeface="Roboto Mono"/>
                <a:sym typeface="Roboto Mono"/>
              </a:rPr>
              <a:t>7, 9</a:t>
            </a:r>
            <a:r>
              <a:rPr lang="en" sz="1200">
                <a:solidFill>
                  <a:srgbClr val="333333"/>
                </a:solidFill>
                <a:latin typeface="Roboto Mono"/>
                <a:ea typeface="Roboto Mono"/>
                <a:cs typeface="Roboto Mono"/>
                <a:sym typeface="Roboto Mono"/>
              </a:rPr>
              <a:t>]</a:t>
            </a:r>
            <a:endParaRPr sz="1200">
              <a:solidFill>
                <a:srgbClr val="008080"/>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insertion-sort(arr, </a:t>
            </a:r>
            <a:r>
              <a:rPr lang="en" sz="1200">
                <a:solidFill>
                  <a:srgbClr val="008080"/>
                </a:solidFill>
                <a:latin typeface="Roboto Mono"/>
                <a:ea typeface="Roboto Mono"/>
                <a:cs typeface="Roboto Mono"/>
                <a:sym typeface="Roboto Mono"/>
              </a:rPr>
              <a:t>2</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    insert </a:t>
            </a:r>
            <a:r>
              <a:rPr lang="en" sz="1200">
                <a:solidFill>
                  <a:srgbClr val="008080"/>
                </a:solidFill>
                <a:latin typeface="Roboto Mono"/>
                <a:ea typeface="Roboto Mono"/>
                <a:cs typeface="Roboto Mono"/>
                <a:sym typeface="Roboto Mono"/>
              </a:rPr>
              <a:t>4</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    </a:t>
            </a:r>
            <a:r>
              <a:rPr b="1" lang="en" sz="1200">
                <a:solidFill>
                  <a:srgbClr val="333333"/>
                </a:solidFill>
                <a:latin typeface="Roboto Mono"/>
                <a:ea typeface="Roboto Mono"/>
                <a:cs typeface="Roboto Mono"/>
                <a:sym typeface="Roboto Mono"/>
              </a:rPr>
              <a:t>return</a:t>
            </a:r>
            <a:r>
              <a:rPr lang="en" sz="1200">
                <a:solidFill>
                  <a:srgbClr val="333333"/>
                </a:solidFill>
                <a:latin typeface="Roboto Mono"/>
                <a:ea typeface="Roboto Mono"/>
                <a:cs typeface="Roboto Mono"/>
                <a:sym typeface="Roboto Mono"/>
              </a:rPr>
              <a:t> arr = </a:t>
            </a:r>
            <a:r>
              <a:rPr lang="en" sz="1200">
                <a:solidFill>
                  <a:srgbClr val="333333"/>
                </a:solidFill>
                <a:latin typeface="Roboto Mono"/>
                <a:ea typeface="Roboto Mono"/>
                <a:cs typeface="Roboto Mono"/>
                <a:sym typeface="Roboto Mono"/>
              </a:rPr>
              <a:t>[</a:t>
            </a:r>
            <a:r>
              <a:rPr lang="en" sz="1200">
                <a:solidFill>
                  <a:srgbClr val="008080"/>
                </a:solidFill>
                <a:latin typeface="Roboto Mono"/>
                <a:ea typeface="Roboto Mono"/>
                <a:cs typeface="Roboto Mono"/>
                <a:sym typeface="Roboto Mono"/>
              </a:rPr>
              <a:t>4, 7, 9</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insertion-sort(arr, </a:t>
            </a:r>
            <a:r>
              <a:rPr lang="en" sz="1200">
                <a:solidFill>
                  <a:srgbClr val="008080"/>
                </a:solidFill>
                <a:latin typeface="Roboto Mono"/>
                <a:ea typeface="Roboto Mono"/>
                <a:cs typeface="Roboto Mono"/>
                <a:sym typeface="Roboto Mono"/>
              </a:rPr>
              <a:t>3</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    insert </a:t>
            </a:r>
            <a:r>
              <a:rPr lang="en" sz="1200">
                <a:solidFill>
                  <a:srgbClr val="008080"/>
                </a:solidFill>
                <a:latin typeface="Roboto Mono"/>
                <a:ea typeface="Roboto Mono"/>
                <a:cs typeface="Roboto Mono"/>
                <a:sym typeface="Roboto Mono"/>
              </a:rPr>
              <a:t>8</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    </a:t>
            </a:r>
            <a:r>
              <a:rPr b="1" lang="en" sz="1200">
                <a:solidFill>
                  <a:srgbClr val="333333"/>
                </a:solidFill>
                <a:latin typeface="Roboto Mono"/>
                <a:ea typeface="Roboto Mono"/>
                <a:cs typeface="Roboto Mono"/>
                <a:sym typeface="Roboto Mono"/>
              </a:rPr>
              <a:t>return</a:t>
            </a:r>
            <a:r>
              <a:rPr lang="en" sz="1200">
                <a:solidFill>
                  <a:srgbClr val="333333"/>
                </a:solidFill>
                <a:latin typeface="Roboto Mono"/>
                <a:ea typeface="Roboto Mono"/>
                <a:cs typeface="Roboto Mono"/>
                <a:sym typeface="Roboto Mono"/>
              </a:rPr>
              <a:t> arr = [</a:t>
            </a:r>
            <a:r>
              <a:rPr lang="en" sz="1200">
                <a:solidFill>
                  <a:srgbClr val="008080"/>
                </a:solidFill>
                <a:latin typeface="Roboto Mono"/>
                <a:ea typeface="Roboto Mono"/>
                <a:cs typeface="Roboto Mono"/>
                <a:sym typeface="Roboto Mono"/>
              </a:rPr>
              <a:t>4, 7, 8, 9</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insertion-sort(arr, </a:t>
            </a:r>
            <a:r>
              <a:rPr lang="en" sz="1200">
                <a:solidFill>
                  <a:srgbClr val="008080"/>
                </a:solidFill>
                <a:latin typeface="Roboto Mono"/>
                <a:ea typeface="Roboto Mono"/>
                <a:cs typeface="Roboto Mono"/>
                <a:sym typeface="Roboto Mono"/>
              </a:rPr>
              <a:t>4</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    insert </a:t>
            </a:r>
            <a:r>
              <a:rPr lang="en" sz="1200">
                <a:solidFill>
                  <a:srgbClr val="008080"/>
                </a:solidFill>
                <a:latin typeface="Roboto Mono"/>
                <a:ea typeface="Roboto Mono"/>
                <a:cs typeface="Roboto Mono"/>
                <a:sym typeface="Roboto Mono"/>
              </a:rPr>
              <a:t>3</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    </a:t>
            </a:r>
            <a:r>
              <a:rPr b="1" lang="en" sz="1200">
                <a:solidFill>
                  <a:srgbClr val="333333"/>
                </a:solidFill>
                <a:latin typeface="Roboto Mono"/>
                <a:ea typeface="Roboto Mono"/>
                <a:cs typeface="Roboto Mono"/>
                <a:sym typeface="Roboto Mono"/>
              </a:rPr>
              <a:t>return</a:t>
            </a:r>
            <a:r>
              <a:rPr lang="en" sz="1200">
                <a:solidFill>
                  <a:srgbClr val="333333"/>
                </a:solidFill>
                <a:latin typeface="Roboto Mono"/>
                <a:ea typeface="Roboto Mono"/>
                <a:cs typeface="Roboto Mono"/>
                <a:sym typeface="Roboto Mono"/>
              </a:rPr>
              <a:t> arr = [</a:t>
            </a:r>
            <a:r>
              <a:rPr lang="en" sz="1200">
                <a:solidFill>
                  <a:srgbClr val="008080"/>
                </a:solidFill>
                <a:latin typeface="Roboto Mono"/>
                <a:ea typeface="Roboto Mono"/>
                <a:cs typeface="Roboto Mono"/>
                <a:sym typeface="Roboto Mono"/>
              </a:rPr>
              <a:t>3, 4, 7, 8, 9</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insertion-sort(arr, </a:t>
            </a:r>
            <a:r>
              <a:rPr lang="en" sz="1200">
                <a:solidFill>
                  <a:srgbClr val="008080"/>
                </a:solidFill>
                <a:latin typeface="Roboto Mono"/>
                <a:ea typeface="Roboto Mono"/>
                <a:cs typeface="Roboto Mono"/>
                <a:sym typeface="Roboto Mono"/>
              </a:rPr>
              <a:t>5</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    insert </a:t>
            </a:r>
            <a:r>
              <a:rPr lang="en" sz="1200">
                <a:solidFill>
                  <a:srgbClr val="008080"/>
                </a:solidFill>
                <a:latin typeface="Roboto Mono"/>
                <a:ea typeface="Roboto Mono"/>
                <a:cs typeface="Roboto Mono"/>
                <a:sym typeface="Roboto Mono"/>
              </a:rPr>
              <a:t>5</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    </a:t>
            </a:r>
            <a:r>
              <a:rPr b="1" lang="en" sz="1200">
                <a:solidFill>
                  <a:srgbClr val="333333"/>
                </a:solidFill>
                <a:latin typeface="Roboto Mono"/>
                <a:ea typeface="Roboto Mono"/>
                <a:cs typeface="Roboto Mono"/>
                <a:sym typeface="Roboto Mono"/>
              </a:rPr>
              <a:t>return</a:t>
            </a:r>
            <a:r>
              <a:rPr lang="en" sz="1200">
                <a:solidFill>
                  <a:srgbClr val="333333"/>
                </a:solidFill>
                <a:latin typeface="Roboto Mono"/>
                <a:ea typeface="Roboto Mono"/>
                <a:cs typeface="Roboto Mono"/>
                <a:sym typeface="Roboto Mono"/>
              </a:rPr>
              <a:t> arr = [</a:t>
            </a:r>
            <a:r>
              <a:rPr lang="en" sz="1200">
                <a:solidFill>
                  <a:srgbClr val="008080"/>
                </a:solidFill>
                <a:latin typeface="Roboto Mono"/>
                <a:ea typeface="Roboto Mono"/>
                <a:cs typeface="Roboto Mono"/>
                <a:sym typeface="Roboto Mono"/>
              </a:rPr>
              <a:t>3, 4, 5, 7, 8, 9</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insertion-sort(arr, </a:t>
            </a:r>
            <a:r>
              <a:rPr lang="en" sz="1200">
                <a:solidFill>
                  <a:srgbClr val="008080"/>
                </a:solidFill>
                <a:latin typeface="Roboto Mono"/>
                <a:ea typeface="Roboto Mono"/>
                <a:cs typeface="Roboto Mono"/>
                <a:sym typeface="Roboto Mono"/>
              </a:rPr>
              <a:t>6</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    </a:t>
            </a:r>
            <a:endParaRPr>
              <a:latin typeface="Roboto Mono"/>
              <a:ea typeface="Roboto Mono"/>
              <a:cs typeface="Roboto Mono"/>
              <a:sym typeface="Roboto Mono"/>
            </a:endParaRPr>
          </a:p>
        </p:txBody>
      </p:sp>
      <p:sp>
        <p:nvSpPr>
          <p:cNvPr id="539" name="Google Shape;539;p37"/>
          <p:cNvSpPr txBox="1"/>
          <p:nvPr>
            <p:ph idx="1" type="body"/>
          </p:nvPr>
        </p:nvSpPr>
        <p:spPr>
          <a:xfrm>
            <a:off x="4711250" y="1161800"/>
            <a:ext cx="3681900" cy="37554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InsertionSort(int arr [], int n)</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t>
            </a:r>
            <a:r>
              <a:rPr lang="en" sz="850">
                <a:solidFill>
                  <a:srgbClr val="6AA84F"/>
                </a:solidFill>
                <a:highlight>
                  <a:srgbClr val="FFFFFF"/>
                </a:highlight>
                <a:latin typeface="Roboto Mono"/>
                <a:ea typeface="Roboto Mono"/>
                <a:cs typeface="Roboto Mono"/>
                <a:sym typeface="Roboto Mono"/>
              </a:rPr>
              <a:t>// Base case </a:t>
            </a:r>
            <a:endParaRPr sz="850">
              <a:solidFill>
                <a:srgbClr val="6AA84F"/>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if (n &lt;= 1) </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return</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t>
            </a:r>
            <a:r>
              <a:rPr lang="en" sz="850">
                <a:solidFill>
                  <a:srgbClr val="6AA84F"/>
                </a:solidFill>
                <a:highlight>
                  <a:srgbClr val="FFFFFF"/>
                </a:highlight>
                <a:latin typeface="Roboto Mono"/>
                <a:ea typeface="Roboto Mono"/>
                <a:cs typeface="Roboto Mono"/>
                <a:sym typeface="Roboto Mono"/>
              </a:rPr>
              <a:t>// Sort first n-1 elements </a:t>
            </a:r>
            <a:endParaRPr sz="850">
              <a:solidFill>
                <a:srgbClr val="6AA84F"/>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InsertionSort( arr, n-1 )</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int key = arr[n-1]</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int pos = n-2</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    while (pos &gt;= 0 &amp;&amp; arr[pos] &gt; </a:t>
            </a:r>
            <a:r>
              <a:rPr lang="en" sz="850">
                <a:solidFill>
                  <a:srgbClr val="333333"/>
                </a:solidFill>
                <a:highlight>
                  <a:schemeClr val="lt1"/>
                </a:highlight>
                <a:latin typeface="Roboto Mono"/>
                <a:ea typeface="Roboto Mono"/>
                <a:cs typeface="Roboto Mono"/>
                <a:sym typeface="Roboto Mono"/>
              </a:rPr>
              <a:t>key</a:t>
            </a:r>
            <a:r>
              <a:rPr lang="en" sz="850">
                <a:solidFill>
                  <a:srgbClr val="333333"/>
                </a:solidFill>
                <a:highlight>
                  <a:srgbClr val="FFFFFF"/>
                </a:highlight>
                <a:latin typeface="Roboto Mono"/>
                <a:ea typeface="Roboto Mono"/>
                <a:cs typeface="Roboto Mono"/>
                <a:sym typeface="Roboto Mono"/>
              </a:rPr>
              <a:t>) </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 </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arr[pos+1] = arr[pos]</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pos = pos - 1</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 </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arr[pos+1] = </a:t>
            </a:r>
            <a:r>
              <a:rPr lang="en" sz="850">
                <a:solidFill>
                  <a:srgbClr val="333333"/>
                </a:solidFill>
                <a:highlight>
                  <a:schemeClr val="lt1"/>
                </a:highlight>
                <a:latin typeface="Roboto Mono"/>
                <a:ea typeface="Roboto Mono"/>
                <a:cs typeface="Roboto Mono"/>
                <a:sym typeface="Roboto Mono"/>
              </a:rPr>
              <a:t>key</a:t>
            </a:r>
            <a:endParaRPr sz="850">
              <a:solidFill>
                <a:srgbClr val="333333"/>
              </a:solidFill>
              <a:highlight>
                <a:srgbClr val="FFFFFF"/>
              </a:highlight>
              <a:latin typeface="Roboto Mono"/>
              <a:ea typeface="Roboto Mono"/>
              <a:cs typeface="Roboto Mono"/>
              <a:sym typeface="Roboto Mono"/>
            </a:endParaRPr>
          </a:p>
          <a:p>
            <a:pPr indent="0" lvl="0" marL="45720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1100"/>
              <a:buFont typeface="Arial"/>
              <a:buNone/>
            </a:pPr>
            <a:r>
              <a:rPr lang="en" sz="850">
                <a:solidFill>
                  <a:srgbClr val="333333"/>
                </a:solidFill>
                <a:highlight>
                  <a:srgbClr val="FFFFFF"/>
                </a:highlight>
                <a:latin typeface="Roboto Mono"/>
                <a:ea typeface="Roboto Mono"/>
                <a:cs typeface="Roboto Mono"/>
                <a:sym typeface="Roboto Mono"/>
              </a:rPr>
              <a:t>main()</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1100"/>
              <a:buFont typeface="Arial"/>
              <a:buNone/>
            </a:pPr>
            <a:r>
              <a:rPr lang="en" sz="850">
                <a:solidFill>
                  <a:srgbClr val="333333"/>
                </a:solidFill>
                <a:highlight>
                  <a:srgbClr val="FFFFFF"/>
                </a:highlight>
                <a:latin typeface="Roboto Mono"/>
                <a:ea typeface="Roboto Mono"/>
                <a:cs typeface="Roboto Mono"/>
                <a:sym typeface="Roboto Mono"/>
              </a:rPr>
              <a:t>{</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1100"/>
              <a:buFont typeface="Arial"/>
              <a:buNone/>
            </a:pPr>
            <a:r>
              <a:rPr lang="en" sz="850">
                <a:solidFill>
                  <a:srgbClr val="333333"/>
                </a:solidFill>
                <a:highlight>
                  <a:srgbClr val="FFFFFF"/>
                </a:highlight>
                <a:latin typeface="Roboto Mono"/>
                <a:ea typeface="Roboto Mono"/>
                <a:cs typeface="Roboto Mono"/>
                <a:sym typeface="Roboto Mono"/>
              </a:rPr>
              <a:t>   InsertionSort(arr = [ 7, 9, 4, 8, 3, 5 ], 6)</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1100"/>
              <a:buFont typeface="Arial"/>
              <a:buNone/>
            </a:pPr>
            <a:r>
              <a:rPr lang="en" sz="850">
                <a:solidFill>
                  <a:srgbClr val="333333"/>
                </a:solidFill>
                <a:highlight>
                  <a:srgbClr val="FFFFFF"/>
                </a:highlight>
                <a:latin typeface="Roboto Mono"/>
                <a:ea typeface="Roboto Mono"/>
                <a:cs typeface="Roboto Mono"/>
                <a:sym typeface="Roboto Mono"/>
              </a:rPr>
              <a:t>}</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1100"/>
              <a:buFont typeface="Arial"/>
              <a:buNone/>
            </a:pPr>
            <a:r>
              <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SzPts val="688"/>
              <a:buNone/>
            </a:pPr>
            <a:r>
              <a:t/>
            </a:r>
            <a:endParaRPr sz="850">
              <a:solidFill>
                <a:srgbClr val="333333"/>
              </a:solidFill>
              <a:highlight>
                <a:srgbClr val="FFFFFF"/>
              </a:highlight>
              <a:latin typeface="Roboto Mono"/>
              <a:ea typeface="Roboto Mono"/>
              <a:cs typeface="Roboto Mono"/>
              <a:sym typeface="Roboto Mono"/>
            </a:endParaRPr>
          </a:p>
        </p:txBody>
      </p:sp>
      <p:sp>
        <p:nvSpPr>
          <p:cNvPr id="540" name="Google Shape;540;p37"/>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0" st="0"/>
                                            </p:txEl>
                                          </p:spTgt>
                                        </p:tgtEl>
                                        <p:attrNameLst>
                                          <p:attrName>style.visibility</p:attrName>
                                        </p:attrNameLst>
                                      </p:cBhvr>
                                      <p:to>
                                        <p:strVal val="visible"/>
                                      </p:to>
                                    </p:set>
                                    <p:animEffect filter="fade" transition="in">
                                      <p:cBhvr>
                                        <p:cTn dur="1000"/>
                                        <p:tgtEl>
                                          <p:spTgt spid="5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 st="1"/>
                                            </p:txEl>
                                          </p:spTgt>
                                        </p:tgtEl>
                                        <p:attrNameLst>
                                          <p:attrName>style.visibility</p:attrName>
                                        </p:attrNameLst>
                                      </p:cBhvr>
                                      <p:to>
                                        <p:strVal val="visible"/>
                                      </p:to>
                                    </p:set>
                                    <p:animEffect filter="fade" transition="in">
                                      <p:cBhvr>
                                        <p:cTn dur="1000"/>
                                        <p:tgtEl>
                                          <p:spTgt spid="5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2" st="2"/>
                                            </p:txEl>
                                          </p:spTgt>
                                        </p:tgtEl>
                                        <p:attrNameLst>
                                          <p:attrName>style.visibility</p:attrName>
                                        </p:attrNameLst>
                                      </p:cBhvr>
                                      <p:to>
                                        <p:strVal val="visible"/>
                                      </p:to>
                                    </p:set>
                                    <p:animEffect filter="fade" transition="in">
                                      <p:cBhvr>
                                        <p:cTn dur="1000"/>
                                        <p:tgtEl>
                                          <p:spTgt spid="5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3" st="3"/>
                                            </p:txEl>
                                          </p:spTgt>
                                        </p:tgtEl>
                                        <p:attrNameLst>
                                          <p:attrName>style.visibility</p:attrName>
                                        </p:attrNameLst>
                                      </p:cBhvr>
                                      <p:to>
                                        <p:strVal val="visible"/>
                                      </p:to>
                                    </p:set>
                                    <p:animEffect filter="fade" transition="in">
                                      <p:cBhvr>
                                        <p:cTn dur="1000"/>
                                        <p:tgtEl>
                                          <p:spTgt spid="53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4" st="4"/>
                                            </p:txEl>
                                          </p:spTgt>
                                        </p:tgtEl>
                                        <p:attrNameLst>
                                          <p:attrName>style.visibility</p:attrName>
                                        </p:attrNameLst>
                                      </p:cBhvr>
                                      <p:to>
                                        <p:strVal val="visible"/>
                                      </p:to>
                                    </p:set>
                                    <p:animEffect filter="fade" transition="in">
                                      <p:cBhvr>
                                        <p:cTn dur="1000"/>
                                        <p:tgtEl>
                                          <p:spTgt spid="53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5" st="5"/>
                                            </p:txEl>
                                          </p:spTgt>
                                        </p:tgtEl>
                                        <p:attrNameLst>
                                          <p:attrName>style.visibility</p:attrName>
                                        </p:attrNameLst>
                                      </p:cBhvr>
                                      <p:to>
                                        <p:strVal val="visible"/>
                                      </p:to>
                                    </p:set>
                                    <p:animEffect filter="fade" transition="in">
                                      <p:cBhvr>
                                        <p:cTn dur="1000"/>
                                        <p:tgtEl>
                                          <p:spTgt spid="53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6" st="6"/>
                                            </p:txEl>
                                          </p:spTgt>
                                        </p:tgtEl>
                                        <p:attrNameLst>
                                          <p:attrName>style.visibility</p:attrName>
                                        </p:attrNameLst>
                                      </p:cBhvr>
                                      <p:to>
                                        <p:strVal val="visible"/>
                                      </p:to>
                                    </p:set>
                                    <p:animEffect filter="fade" transition="in">
                                      <p:cBhvr>
                                        <p:cTn dur="1000"/>
                                        <p:tgtEl>
                                          <p:spTgt spid="53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7" st="7"/>
                                            </p:txEl>
                                          </p:spTgt>
                                        </p:tgtEl>
                                        <p:attrNameLst>
                                          <p:attrName>style.visibility</p:attrName>
                                        </p:attrNameLst>
                                      </p:cBhvr>
                                      <p:to>
                                        <p:strVal val="visible"/>
                                      </p:to>
                                    </p:set>
                                    <p:animEffect filter="fade" transition="in">
                                      <p:cBhvr>
                                        <p:cTn dur="1000"/>
                                        <p:tgtEl>
                                          <p:spTgt spid="53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8" st="8"/>
                                            </p:txEl>
                                          </p:spTgt>
                                        </p:tgtEl>
                                        <p:attrNameLst>
                                          <p:attrName>style.visibility</p:attrName>
                                        </p:attrNameLst>
                                      </p:cBhvr>
                                      <p:to>
                                        <p:strVal val="visible"/>
                                      </p:to>
                                    </p:set>
                                    <p:animEffect filter="fade" transition="in">
                                      <p:cBhvr>
                                        <p:cTn dur="1000"/>
                                        <p:tgtEl>
                                          <p:spTgt spid="53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9" st="9"/>
                                            </p:txEl>
                                          </p:spTgt>
                                        </p:tgtEl>
                                        <p:attrNameLst>
                                          <p:attrName>style.visibility</p:attrName>
                                        </p:attrNameLst>
                                      </p:cBhvr>
                                      <p:to>
                                        <p:strVal val="visible"/>
                                      </p:to>
                                    </p:set>
                                    <p:animEffect filter="fade" transition="in">
                                      <p:cBhvr>
                                        <p:cTn dur="1000"/>
                                        <p:tgtEl>
                                          <p:spTgt spid="53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0" st="10"/>
                                            </p:txEl>
                                          </p:spTgt>
                                        </p:tgtEl>
                                        <p:attrNameLst>
                                          <p:attrName>style.visibility</p:attrName>
                                        </p:attrNameLst>
                                      </p:cBhvr>
                                      <p:to>
                                        <p:strVal val="visible"/>
                                      </p:to>
                                    </p:set>
                                    <p:animEffect filter="fade" transition="in">
                                      <p:cBhvr>
                                        <p:cTn dur="1000"/>
                                        <p:tgtEl>
                                          <p:spTgt spid="53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1" st="11"/>
                                            </p:txEl>
                                          </p:spTgt>
                                        </p:tgtEl>
                                        <p:attrNameLst>
                                          <p:attrName>style.visibility</p:attrName>
                                        </p:attrNameLst>
                                      </p:cBhvr>
                                      <p:to>
                                        <p:strVal val="visible"/>
                                      </p:to>
                                    </p:set>
                                    <p:animEffect filter="fade" transition="in">
                                      <p:cBhvr>
                                        <p:cTn dur="1000"/>
                                        <p:tgtEl>
                                          <p:spTgt spid="53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2" st="12"/>
                                            </p:txEl>
                                          </p:spTgt>
                                        </p:tgtEl>
                                        <p:attrNameLst>
                                          <p:attrName>style.visibility</p:attrName>
                                        </p:attrNameLst>
                                      </p:cBhvr>
                                      <p:to>
                                        <p:strVal val="visible"/>
                                      </p:to>
                                    </p:set>
                                    <p:animEffect filter="fade" transition="in">
                                      <p:cBhvr>
                                        <p:cTn dur="1000"/>
                                        <p:tgtEl>
                                          <p:spTgt spid="53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3" st="13"/>
                                            </p:txEl>
                                          </p:spTgt>
                                        </p:tgtEl>
                                        <p:attrNameLst>
                                          <p:attrName>style.visibility</p:attrName>
                                        </p:attrNameLst>
                                      </p:cBhvr>
                                      <p:to>
                                        <p:strVal val="visible"/>
                                      </p:to>
                                    </p:set>
                                    <p:animEffect filter="fade" transition="in">
                                      <p:cBhvr>
                                        <p:cTn dur="1000"/>
                                        <p:tgtEl>
                                          <p:spTgt spid="53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4" st="14"/>
                                            </p:txEl>
                                          </p:spTgt>
                                        </p:tgtEl>
                                        <p:attrNameLst>
                                          <p:attrName>style.visibility</p:attrName>
                                        </p:attrNameLst>
                                      </p:cBhvr>
                                      <p:to>
                                        <p:strVal val="visible"/>
                                      </p:to>
                                    </p:set>
                                    <p:animEffect filter="fade" transition="in">
                                      <p:cBhvr>
                                        <p:cTn dur="1000"/>
                                        <p:tgtEl>
                                          <p:spTgt spid="538">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5" st="15"/>
                                            </p:txEl>
                                          </p:spTgt>
                                        </p:tgtEl>
                                        <p:attrNameLst>
                                          <p:attrName>style.visibility</p:attrName>
                                        </p:attrNameLst>
                                      </p:cBhvr>
                                      <p:to>
                                        <p:strVal val="visible"/>
                                      </p:to>
                                    </p:set>
                                    <p:animEffect filter="fade" transition="in">
                                      <p:cBhvr>
                                        <p:cTn dur="1000"/>
                                        <p:tgtEl>
                                          <p:spTgt spid="538">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6" st="16"/>
                                            </p:txEl>
                                          </p:spTgt>
                                        </p:tgtEl>
                                        <p:attrNameLst>
                                          <p:attrName>style.visibility</p:attrName>
                                        </p:attrNameLst>
                                      </p:cBhvr>
                                      <p:to>
                                        <p:strVal val="visible"/>
                                      </p:to>
                                    </p:set>
                                    <p:animEffect filter="fade" transition="in">
                                      <p:cBhvr>
                                        <p:cTn dur="1000"/>
                                        <p:tgtEl>
                                          <p:spTgt spid="538">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7" st="17"/>
                                            </p:txEl>
                                          </p:spTgt>
                                        </p:tgtEl>
                                        <p:attrNameLst>
                                          <p:attrName>style.visibility</p:attrName>
                                        </p:attrNameLst>
                                      </p:cBhvr>
                                      <p:to>
                                        <p:strVal val="visible"/>
                                      </p:to>
                                    </p:set>
                                    <p:animEffect filter="fade" transition="in">
                                      <p:cBhvr>
                                        <p:cTn dur="1000"/>
                                        <p:tgtEl>
                                          <p:spTgt spid="538">
                                            <p:txEl>
                                              <p:pRg end="17" st="1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38"/>
          <p:cNvSpPr txBox="1"/>
          <p:nvPr>
            <p:ph type="title"/>
          </p:nvPr>
        </p:nvSpPr>
        <p:spPr>
          <a:xfrm>
            <a:off x="311700" y="383325"/>
            <a:ext cx="2057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Insertion sort</a:t>
            </a:r>
            <a:endParaRPr/>
          </a:p>
        </p:txBody>
      </p:sp>
      <p:sp>
        <p:nvSpPr>
          <p:cNvPr id="546" name="Google Shape;546;p38"/>
          <p:cNvSpPr txBox="1"/>
          <p:nvPr>
            <p:ph idx="1" type="body"/>
          </p:nvPr>
        </p:nvSpPr>
        <p:spPr>
          <a:xfrm>
            <a:off x="311700" y="1017725"/>
            <a:ext cx="3334200" cy="37554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InsertionSort(int arr [], int n)</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t>
            </a:r>
            <a:r>
              <a:rPr lang="en" sz="850">
                <a:solidFill>
                  <a:srgbClr val="38761D"/>
                </a:solidFill>
                <a:highlight>
                  <a:srgbClr val="FFFFFF"/>
                </a:highlight>
                <a:latin typeface="Roboto Mono"/>
                <a:ea typeface="Roboto Mono"/>
                <a:cs typeface="Roboto Mono"/>
                <a:sym typeface="Roboto Mono"/>
              </a:rPr>
              <a:t> // Base case </a:t>
            </a:r>
            <a:endParaRPr sz="850">
              <a:solidFill>
                <a:srgbClr val="38761D"/>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if (n &lt;= 1) </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return</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t>
            </a:r>
            <a:r>
              <a:rPr lang="en" sz="850">
                <a:solidFill>
                  <a:srgbClr val="38761D"/>
                </a:solidFill>
                <a:highlight>
                  <a:srgbClr val="FFFFFF"/>
                </a:highlight>
                <a:latin typeface="Roboto Mono"/>
                <a:ea typeface="Roboto Mono"/>
                <a:cs typeface="Roboto Mono"/>
                <a:sym typeface="Roboto Mono"/>
              </a:rPr>
              <a:t>// Sort first n-1 elements </a:t>
            </a:r>
            <a:endParaRPr sz="850">
              <a:solidFill>
                <a:srgbClr val="38761D"/>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t>
            </a:r>
            <a:r>
              <a:rPr lang="en" sz="850">
                <a:solidFill>
                  <a:srgbClr val="333333"/>
                </a:solidFill>
                <a:latin typeface="Roboto Mono"/>
                <a:ea typeface="Roboto Mono"/>
                <a:cs typeface="Roboto Mono"/>
                <a:sym typeface="Roboto Mono"/>
              </a:rPr>
              <a:t> </a:t>
            </a:r>
            <a:r>
              <a:rPr lang="en" sz="850">
                <a:solidFill>
                  <a:srgbClr val="333333"/>
                </a:solidFill>
                <a:highlight>
                  <a:srgbClr val="FFF2CC"/>
                </a:highlight>
                <a:latin typeface="Roboto Mono"/>
                <a:ea typeface="Roboto Mono"/>
                <a:cs typeface="Roboto Mono"/>
                <a:sym typeface="Roboto Mono"/>
              </a:rPr>
              <a:t>InsertionSort( arr, n-1 )</a:t>
            </a:r>
            <a:endParaRPr sz="850">
              <a:solidFill>
                <a:srgbClr val="333333"/>
              </a:solidFill>
              <a:highlight>
                <a:srgbClr val="FFF2CC"/>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t>
            </a:r>
            <a:r>
              <a:rPr lang="en" sz="850">
                <a:solidFill>
                  <a:srgbClr val="333333"/>
                </a:solidFill>
                <a:highlight>
                  <a:srgbClr val="D9EAD3"/>
                </a:highlight>
                <a:latin typeface="Roboto Mono"/>
                <a:ea typeface="Roboto Mono"/>
                <a:cs typeface="Roboto Mono"/>
                <a:sym typeface="Roboto Mono"/>
              </a:rPr>
              <a:t>int key = arr[n-1]</a:t>
            </a:r>
            <a:endParaRPr sz="850">
              <a:solidFill>
                <a:srgbClr val="333333"/>
              </a:solidFill>
              <a:highlight>
                <a:srgbClr val="D9EAD3"/>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t>
            </a:r>
            <a:r>
              <a:rPr lang="en" sz="850">
                <a:solidFill>
                  <a:srgbClr val="333333"/>
                </a:solidFill>
                <a:highlight>
                  <a:srgbClr val="D9EAD3"/>
                </a:highlight>
                <a:latin typeface="Roboto Mono"/>
                <a:ea typeface="Roboto Mono"/>
                <a:cs typeface="Roboto Mono"/>
                <a:sym typeface="Roboto Mono"/>
              </a:rPr>
              <a:t>int pos = n-2</a:t>
            </a:r>
            <a:endParaRPr sz="850">
              <a:solidFill>
                <a:srgbClr val="333333"/>
              </a:solidFill>
              <a:highlight>
                <a:srgbClr val="D9EAD3"/>
              </a:highlight>
              <a:latin typeface="Roboto Mono"/>
              <a:ea typeface="Roboto Mono"/>
              <a:cs typeface="Roboto Mono"/>
              <a:sym typeface="Roboto Mono"/>
            </a:endParaRPr>
          </a:p>
          <a:p>
            <a:pPr indent="0" lvl="0" marL="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    </a:t>
            </a:r>
            <a:r>
              <a:rPr lang="en" sz="850">
                <a:solidFill>
                  <a:srgbClr val="333333"/>
                </a:solidFill>
                <a:highlight>
                  <a:srgbClr val="CFE2F3"/>
                </a:highlight>
                <a:latin typeface="Roboto Mono"/>
                <a:ea typeface="Roboto Mono"/>
                <a:cs typeface="Roboto Mono"/>
                <a:sym typeface="Roboto Mono"/>
              </a:rPr>
              <a:t>while (pos &gt;= 0 &amp;&amp; arr[pos] &gt; key) </a:t>
            </a:r>
            <a:endParaRPr sz="850">
              <a:solidFill>
                <a:srgbClr val="333333"/>
              </a:solidFill>
              <a:highlight>
                <a:srgbClr val="CFE2F3"/>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 </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t>
            </a:r>
            <a:r>
              <a:rPr lang="en" sz="850">
                <a:solidFill>
                  <a:srgbClr val="333333"/>
                </a:solidFill>
                <a:highlight>
                  <a:srgbClr val="C9DAF8"/>
                </a:highlight>
                <a:latin typeface="Roboto Mono"/>
                <a:ea typeface="Roboto Mono"/>
                <a:cs typeface="Roboto Mono"/>
                <a:sym typeface="Roboto Mono"/>
              </a:rPr>
              <a:t>arr[pos+1] = arr[pos]</a:t>
            </a:r>
            <a:endParaRPr sz="850">
              <a:solidFill>
                <a:srgbClr val="333333"/>
              </a:solidFill>
              <a:highlight>
                <a:srgbClr val="C9DAF8"/>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50">
                <a:solidFill>
                  <a:srgbClr val="333333"/>
                </a:solidFill>
                <a:latin typeface="Roboto Mono"/>
                <a:ea typeface="Roboto Mono"/>
                <a:cs typeface="Roboto Mono"/>
                <a:sym typeface="Roboto Mono"/>
              </a:rPr>
              <a:t>        </a:t>
            </a:r>
            <a:r>
              <a:rPr lang="en" sz="850">
                <a:solidFill>
                  <a:srgbClr val="333333"/>
                </a:solidFill>
                <a:highlight>
                  <a:srgbClr val="C9DAF8"/>
                </a:highlight>
                <a:latin typeface="Roboto Mono"/>
                <a:ea typeface="Roboto Mono"/>
                <a:cs typeface="Roboto Mono"/>
                <a:sym typeface="Roboto Mono"/>
              </a:rPr>
              <a:t>pos = pos - 1</a:t>
            </a:r>
            <a:endParaRPr sz="850">
              <a:solidFill>
                <a:srgbClr val="333333"/>
              </a:solidFill>
              <a:highlight>
                <a:srgbClr val="C9DAF8"/>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 </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50">
                <a:solidFill>
                  <a:srgbClr val="333333"/>
                </a:solidFill>
                <a:highlight>
                  <a:srgbClr val="FFFFFF"/>
                </a:highlight>
                <a:latin typeface="Roboto Mono"/>
                <a:ea typeface="Roboto Mono"/>
                <a:cs typeface="Roboto Mono"/>
                <a:sym typeface="Roboto Mono"/>
              </a:rPr>
              <a:t>    </a:t>
            </a:r>
            <a:r>
              <a:rPr lang="en" sz="850">
                <a:solidFill>
                  <a:srgbClr val="333333"/>
                </a:solidFill>
                <a:highlight>
                  <a:srgbClr val="F4CCCC"/>
                </a:highlight>
                <a:latin typeface="Roboto Mono"/>
                <a:ea typeface="Roboto Mono"/>
                <a:cs typeface="Roboto Mono"/>
                <a:sym typeface="Roboto Mono"/>
              </a:rPr>
              <a:t>arr[pos+1] = key</a:t>
            </a:r>
            <a:endParaRPr sz="850">
              <a:solidFill>
                <a:srgbClr val="333333"/>
              </a:solidFill>
              <a:highlight>
                <a:srgbClr val="F4CCCC"/>
              </a:highlight>
              <a:latin typeface="Roboto Mono"/>
              <a:ea typeface="Roboto Mono"/>
              <a:cs typeface="Roboto Mono"/>
              <a:sym typeface="Roboto Mono"/>
            </a:endParaRPr>
          </a:p>
          <a:p>
            <a:pPr indent="0" lvl="0" marL="0" rtl="0" algn="l">
              <a:lnSpc>
                <a:spcPct val="140000"/>
              </a:lnSpc>
              <a:spcBef>
                <a:spcPts val="0"/>
              </a:spcBef>
              <a:spcAft>
                <a:spcPts val="0"/>
              </a:spcAft>
              <a:buSzPts val="688"/>
              <a:buNone/>
            </a:pPr>
            <a:r>
              <a:rPr lang="en" sz="850">
                <a:solidFill>
                  <a:srgbClr val="333333"/>
                </a:solidFill>
                <a:highlight>
                  <a:srgbClr val="FFFFFF"/>
                </a:highlight>
                <a:latin typeface="Roboto Mono"/>
                <a:ea typeface="Roboto Mono"/>
                <a:cs typeface="Roboto Mono"/>
                <a:sym typeface="Roboto Mono"/>
              </a:rPr>
              <a:t>}</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SzPts val="1100"/>
              <a:buNone/>
            </a:pPr>
            <a:r>
              <a:rPr lang="en" sz="850">
                <a:solidFill>
                  <a:srgbClr val="333333"/>
                </a:solidFill>
                <a:highlight>
                  <a:srgbClr val="FFFFFF"/>
                </a:highlight>
                <a:latin typeface="Roboto Mono"/>
                <a:ea typeface="Roboto Mono"/>
                <a:cs typeface="Roboto Mono"/>
                <a:sym typeface="Roboto Mono"/>
              </a:rPr>
              <a:t>main()</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SzPts val="1100"/>
              <a:buNone/>
            </a:pPr>
            <a:r>
              <a:rPr lang="en" sz="850">
                <a:solidFill>
                  <a:srgbClr val="333333"/>
                </a:solidFill>
                <a:highlight>
                  <a:srgbClr val="FFFFFF"/>
                </a:highlight>
                <a:latin typeface="Roboto Mono"/>
                <a:ea typeface="Roboto Mono"/>
                <a:cs typeface="Roboto Mono"/>
                <a:sym typeface="Roboto Mono"/>
              </a:rPr>
              <a:t>{</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SzPts val="1100"/>
              <a:buNone/>
            </a:pPr>
            <a:r>
              <a:rPr lang="en" sz="850">
                <a:solidFill>
                  <a:srgbClr val="333333"/>
                </a:solidFill>
                <a:highlight>
                  <a:srgbClr val="FFFFFF"/>
                </a:highlight>
                <a:latin typeface="Roboto Mono"/>
                <a:ea typeface="Roboto Mono"/>
                <a:cs typeface="Roboto Mono"/>
                <a:sym typeface="Roboto Mono"/>
              </a:rPr>
              <a:t>   InsertionSort(arr = [ 7, 9, 4, 8, 3, 5 ], 6)</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SzPts val="1100"/>
              <a:buNone/>
            </a:pPr>
            <a:r>
              <a:rPr lang="en" sz="850">
                <a:solidFill>
                  <a:srgbClr val="333333"/>
                </a:solidFill>
                <a:highlight>
                  <a:srgbClr val="FFFFFF"/>
                </a:highlight>
                <a:latin typeface="Roboto Mono"/>
                <a:ea typeface="Roboto Mono"/>
                <a:cs typeface="Roboto Mono"/>
                <a:sym typeface="Roboto Mono"/>
              </a:rPr>
              <a:t>}</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SzPts val="1100"/>
              <a:buNone/>
            </a:pPr>
            <a:r>
              <a:t/>
            </a:r>
            <a:endParaRPr sz="850">
              <a:solidFill>
                <a:srgbClr val="333333"/>
              </a:solidFill>
              <a:highlight>
                <a:srgbClr val="FFFFFF"/>
              </a:highlight>
              <a:latin typeface="Roboto Mono"/>
              <a:ea typeface="Roboto Mono"/>
              <a:cs typeface="Roboto Mono"/>
              <a:sym typeface="Roboto Mono"/>
            </a:endParaRPr>
          </a:p>
          <a:p>
            <a:pPr indent="0" lvl="0" marL="0" rtl="0" algn="l">
              <a:lnSpc>
                <a:spcPct val="140000"/>
              </a:lnSpc>
              <a:spcBef>
                <a:spcPts val="0"/>
              </a:spcBef>
              <a:spcAft>
                <a:spcPts val="0"/>
              </a:spcAft>
              <a:buSzPts val="688"/>
              <a:buNone/>
            </a:pPr>
            <a:r>
              <a:t/>
            </a:r>
            <a:endParaRPr sz="850">
              <a:solidFill>
                <a:srgbClr val="333333"/>
              </a:solidFill>
              <a:highlight>
                <a:srgbClr val="FFFFFF"/>
              </a:highlight>
              <a:latin typeface="Roboto Mono"/>
              <a:ea typeface="Roboto Mono"/>
              <a:cs typeface="Roboto Mono"/>
              <a:sym typeface="Roboto Mono"/>
            </a:endParaRPr>
          </a:p>
        </p:txBody>
      </p:sp>
      <p:sp>
        <p:nvSpPr>
          <p:cNvPr id="547" name="Google Shape;547;p38"/>
          <p:cNvSpPr txBox="1"/>
          <p:nvPr/>
        </p:nvSpPr>
        <p:spPr>
          <a:xfrm>
            <a:off x="4406450" y="619175"/>
            <a:ext cx="4399200" cy="424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arr = [ </a:t>
            </a:r>
            <a:r>
              <a:rPr lang="en" sz="1200">
                <a:solidFill>
                  <a:srgbClr val="008080"/>
                </a:solidFill>
                <a:latin typeface="Roboto Mono"/>
                <a:ea typeface="Roboto Mono"/>
                <a:cs typeface="Roboto Mono"/>
                <a:sym typeface="Roboto Mono"/>
              </a:rPr>
              <a:t>7, 9, 4, 8, 3, 5 </a:t>
            </a:r>
            <a:r>
              <a:rPr lang="en" sz="1200">
                <a:solidFill>
                  <a:srgbClr val="333333"/>
                </a:solidFill>
                <a:latin typeface="Roboto Mono"/>
                <a:ea typeface="Roboto Mono"/>
                <a:cs typeface="Roboto Mono"/>
                <a:sym typeface="Roboto Mono"/>
              </a:rPr>
              <a:t>], size = </a:t>
            </a:r>
            <a:r>
              <a:rPr lang="en" sz="1200">
                <a:solidFill>
                  <a:srgbClr val="008080"/>
                </a:solidFill>
                <a:latin typeface="Roboto Mono"/>
                <a:ea typeface="Roboto Mono"/>
                <a:cs typeface="Roboto Mono"/>
                <a:sym typeface="Roboto Mono"/>
              </a:rPr>
              <a:t>6</a:t>
            </a:r>
            <a:endParaRPr sz="1200">
              <a:solidFill>
                <a:srgbClr val="008080"/>
              </a:solidFill>
              <a:latin typeface="Roboto Mono"/>
              <a:ea typeface="Roboto Mono"/>
              <a:cs typeface="Roboto Mono"/>
              <a:sym typeface="Roboto Mono"/>
            </a:endParaRPr>
          </a:p>
          <a:p>
            <a:pPr indent="0" lvl="0" marL="0" rtl="0" algn="l">
              <a:spcBef>
                <a:spcPts val="0"/>
              </a:spcBef>
              <a:spcAft>
                <a:spcPts val="0"/>
              </a:spcAft>
              <a:buNone/>
            </a:pPr>
            <a:r>
              <a:t/>
            </a:r>
            <a:endParaRPr sz="1200">
              <a:solidFill>
                <a:srgbClr val="008080"/>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solidFill>
                  <a:srgbClr val="333333"/>
                </a:solidFill>
                <a:highlight>
                  <a:srgbClr val="FFF2CC"/>
                </a:highlight>
                <a:latin typeface="Roboto Mono"/>
                <a:ea typeface="Roboto Mono"/>
                <a:cs typeface="Roboto Mono"/>
                <a:sym typeface="Roboto Mono"/>
              </a:rPr>
              <a:t>insertion-sort(arr, </a:t>
            </a:r>
            <a:r>
              <a:rPr lang="en" sz="1200">
                <a:solidFill>
                  <a:srgbClr val="008080"/>
                </a:solidFill>
                <a:highlight>
                  <a:srgbClr val="FFF2CC"/>
                </a:highlight>
                <a:latin typeface="Roboto Mono"/>
                <a:ea typeface="Roboto Mono"/>
                <a:cs typeface="Roboto Mono"/>
                <a:sym typeface="Roboto Mono"/>
              </a:rPr>
              <a:t>1</a:t>
            </a:r>
            <a:r>
              <a:rPr lang="en" sz="1200">
                <a:solidFill>
                  <a:srgbClr val="333333"/>
                </a:solidFill>
                <a:highlight>
                  <a:srgbClr val="FFF2CC"/>
                </a:highlight>
                <a:latin typeface="Roboto Mono"/>
                <a:ea typeface="Roboto Mono"/>
                <a:cs typeface="Roboto Mono"/>
                <a:sym typeface="Roboto Mono"/>
              </a:rPr>
              <a:t>)</a:t>
            </a:r>
            <a:endParaRPr sz="1200">
              <a:solidFill>
                <a:srgbClr val="333333"/>
              </a:solidFill>
              <a:highlight>
                <a:srgbClr val="FFF2CC"/>
              </a:highlight>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 sz="1200">
                <a:solidFill>
                  <a:srgbClr val="333333"/>
                </a:solidFill>
                <a:highlight>
                  <a:srgbClr val="D9EAD3"/>
                </a:highlight>
                <a:latin typeface="Roboto Mono"/>
                <a:ea typeface="Roboto Mono"/>
                <a:cs typeface="Roboto Mono"/>
                <a:sym typeface="Roboto Mono"/>
              </a:rPr>
              <a:t>key = arr[1] = 9</a:t>
            </a:r>
            <a:endParaRPr sz="1200">
              <a:solidFill>
                <a:srgbClr val="333333"/>
              </a:solidFill>
              <a:highlight>
                <a:srgbClr val="D9EAD3"/>
              </a:highlight>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 sz="1200">
                <a:solidFill>
                  <a:srgbClr val="333333"/>
                </a:solidFill>
                <a:highlight>
                  <a:srgbClr val="D9EAD3"/>
                </a:highlight>
                <a:latin typeface="Roboto Mono"/>
                <a:ea typeface="Roboto Mono"/>
                <a:cs typeface="Roboto Mono"/>
                <a:sym typeface="Roboto Mono"/>
              </a:rPr>
              <a:t>pos = 0</a:t>
            </a:r>
            <a:endParaRPr sz="1200">
              <a:solidFill>
                <a:srgbClr val="333333"/>
              </a:solidFill>
              <a:highlight>
                <a:srgbClr val="D9EAD3"/>
              </a:highlight>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 sz="1200">
                <a:solidFill>
                  <a:srgbClr val="333333"/>
                </a:solidFill>
                <a:highlight>
                  <a:srgbClr val="CFE2F3"/>
                </a:highlight>
                <a:latin typeface="Roboto Mono"/>
                <a:ea typeface="Roboto Mono"/>
                <a:cs typeface="Roboto Mono"/>
                <a:sym typeface="Roboto Mono"/>
              </a:rPr>
              <a:t>while (0 &gt;= 0 &amp;&amp; arr[0] &gt; 9)</a:t>
            </a:r>
            <a:endParaRPr sz="1200">
              <a:solidFill>
                <a:srgbClr val="333333"/>
              </a:solidFill>
              <a:highlight>
                <a:srgbClr val="CFE2F3"/>
              </a:highlight>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 sz="1200">
                <a:solidFill>
                  <a:srgbClr val="333333"/>
                </a:solidFill>
                <a:highlight>
                  <a:srgbClr val="CFE2F3"/>
                </a:highlight>
                <a:latin typeface="Roboto Mono"/>
                <a:ea typeface="Roboto Mono"/>
                <a:cs typeface="Roboto Mono"/>
                <a:sym typeface="Roboto Mono"/>
              </a:rPr>
              <a:t>{</a:t>
            </a:r>
            <a:endParaRPr sz="1200">
              <a:solidFill>
                <a:srgbClr val="333333"/>
              </a:solidFill>
              <a:highlight>
                <a:srgbClr val="CFE2F3"/>
              </a:highlight>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 sz="1200">
                <a:solidFill>
                  <a:srgbClr val="333333"/>
                </a:solidFill>
                <a:highlight>
                  <a:srgbClr val="CFE2F3"/>
                </a:highlight>
                <a:latin typeface="Roboto Mono"/>
                <a:ea typeface="Roboto Mono"/>
                <a:cs typeface="Roboto Mono"/>
                <a:sym typeface="Roboto Mono"/>
              </a:rPr>
              <a:t>   </a:t>
            </a:r>
            <a:endParaRPr sz="1200">
              <a:solidFill>
                <a:srgbClr val="333333"/>
              </a:solidFill>
              <a:highlight>
                <a:srgbClr val="CFE2F3"/>
              </a:highlight>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 sz="1200">
                <a:solidFill>
                  <a:srgbClr val="333333"/>
                </a:solidFill>
                <a:highlight>
                  <a:srgbClr val="CFE2F3"/>
                </a:highlight>
                <a:latin typeface="Roboto Mono"/>
                <a:ea typeface="Roboto Mono"/>
                <a:cs typeface="Roboto Mono"/>
                <a:sym typeface="Roboto Mono"/>
              </a:rPr>
              <a:t>}</a:t>
            </a:r>
            <a:r>
              <a:rPr lang="en" sz="1200">
                <a:solidFill>
                  <a:srgbClr val="333333"/>
                </a:solidFill>
                <a:highlight>
                  <a:srgbClr val="CFE2F3"/>
                </a:highlight>
                <a:latin typeface="Roboto Mono"/>
                <a:ea typeface="Roboto Mono"/>
                <a:cs typeface="Roboto Mono"/>
                <a:sym typeface="Roboto Mono"/>
              </a:rPr>
              <a:t> </a:t>
            </a:r>
            <a:endParaRPr sz="1200">
              <a:solidFill>
                <a:srgbClr val="333333"/>
              </a:solidFill>
              <a:highlight>
                <a:srgbClr val="CFE2F3"/>
              </a:highlight>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 sz="1200">
                <a:solidFill>
                  <a:srgbClr val="333333"/>
                </a:solidFill>
                <a:highlight>
                  <a:srgbClr val="F4CCCC"/>
                </a:highlight>
                <a:latin typeface="Roboto Mono"/>
                <a:ea typeface="Roboto Mono"/>
                <a:cs typeface="Roboto Mono"/>
                <a:sym typeface="Roboto Mono"/>
              </a:rPr>
              <a:t>arr[0+1] =  9</a:t>
            </a:r>
            <a:endParaRPr b="1" sz="1200">
              <a:solidFill>
                <a:srgbClr val="333333"/>
              </a:solidFill>
              <a:latin typeface="Roboto Mono"/>
              <a:ea typeface="Roboto Mono"/>
              <a:cs typeface="Roboto Mono"/>
              <a:sym typeface="Roboto Mono"/>
            </a:endParaRPr>
          </a:p>
          <a:p>
            <a:pPr indent="457200" lvl="0" marL="0" rtl="0" algn="l">
              <a:spcBef>
                <a:spcPts val="0"/>
              </a:spcBef>
              <a:spcAft>
                <a:spcPts val="0"/>
              </a:spcAft>
              <a:buClr>
                <a:schemeClr val="dk1"/>
              </a:buClr>
              <a:buSzPts val="1100"/>
              <a:buFont typeface="Arial"/>
              <a:buNone/>
            </a:pPr>
            <a:r>
              <a:rPr lang="en" sz="1200">
                <a:solidFill>
                  <a:srgbClr val="333333"/>
                </a:solidFill>
                <a:latin typeface="Roboto Mono"/>
                <a:ea typeface="Roboto Mono"/>
                <a:cs typeface="Roboto Mono"/>
                <a:sym typeface="Roboto Mono"/>
              </a:rPr>
              <a:t>arr = [</a:t>
            </a:r>
            <a:r>
              <a:rPr lang="en" sz="1200">
                <a:solidFill>
                  <a:srgbClr val="008080"/>
                </a:solidFill>
                <a:latin typeface="Roboto Mono"/>
                <a:ea typeface="Roboto Mono"/>
                <a:cs typeface="Roboto Mono"/>
                <a:sym typeface="Roboto Mono"/>
              </a:rPr>
              <a:t>7, 9</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a:p>
            <a:pPr indent="457200" lvl="0" marL="0" rtl="0" algn="l">
              <a:spcBef>
                <a:spcPts val="0"/>
              </a:spcBef>
              <a:spcAft>
                <a:spcPts val="0"/>
              </a:spcAft>
              <a:buClr>
                <a:schemeClr val="dk1"/>
              </a:buClr>
              <a:buSzPts val="1100"/>
              <a:buFont typeface="Arial"/>
              <a:buNone/>
            </a:pPr>
            <a:r>
              <a:t/>
            </a:r>
            <a:endParaRPr sz="12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highlight>
                  <a:srgbClr val="FFF2CC"/>
                </a:highlight>
                <a:latin typeface="Roboto Mono"/>
                <a:ea typeface="Roboto Mono"/>
                <a:cs typeface="Roboto Mono"/>
                <a:sym typeface="Roboto Mono"/>
              </a:rPr>
              <a:t>insertion-sort(arr, </a:t>
            </a:r>
            <a:r>
              <a:rPr lang="en" sz="1200">
                <a:solidFill>
                  <a:srgbClr val="008080"/>
                </a:solidFill>
                <a:highlight>
                  <a:srgbClr val="FFF2CC"/>
                </a:highlight>
                <a:latin typeface="Roboto Mono"/>
                <a:ea typeface="Roboto Mono"/>
                <a:cs typeface="Roboto Mono"/>
                <a:sym typeface="Roboto Mono"/>
              </a:rPr>
              <a:t>2</a:t>
            </a:r>
            <a:r>
              <a:rPr lang="en" sz="1200">
                <a:solidFill>
                  <a:srgbClr val="333333"/>
                </a:solidFill>
                <a:highlight>
                  <a:srgbClr val="FFF2CC"/>
                </a:highlight>
                <a:latin typeface="Roboto Mono"/>
                <a:ea typeface="Roboto Mono"/>
                <a:cs typeface="Roboto Mono"/>
                <a:sym typeface="Roboto Mono"/>
              </a:rPr>
              <a:t>)</a:t>
            </a:r>
            <a:endParaRPr sz="1200">
              <a:solidFill>
                <a:srgbClr val="333333"/>
              </a:solidFill>
              <a:highlight>
                <a:srgbClr val="FFF2CC"/>
              </a:highlight>
              <a:latin typeface="Roboto Mono"/>
              <a:ea typeface="Roboto Mono"/>
              <a:cs typeface="Roboto Mono"/>
              <a:sym typeface="Roboto Mono"/>
            </a:endParaRPr>
          </a:p>
          <a:p>
            <a:pPr indent="0" lvl="0" marL="0" rtl="0" algn="l">
              <a:spcBef>
                <a:spcPts val="0"/>
              </a:spcBef>
              <a:spcAft>
                <a:spcPts val="0"/>
              </a:spcAft>
              <a:buNone/>
            </a:pPr>
            <a:r>
              <a:rPr lang="en" sz="1200">
                <a:solidFill>
                  <a:srgbClr val="333333"/>
                </a:solidFill>
                <a:latin typeface="Roboto Mono"/>
                <a:ea typeface="Roboto Mono"/>
                <a:cs typeface="Roboto Mono"/>
                <a:sym typeface="Roboto Mono"/>
              </a:rPr>
              <a:t>     </a:t>
            </a:r>
            <a:r>
              <a:rPr lang="en" sz="1200">
                <a:solidFill>
                  <a:srgbClr val="333333"/>
                </a:solidFill>
                <a:highlight>
                  <a:srgbClr val="D9EAD3"/>
                </a:highlight>
                <a:latin typeface="Roboto Mono"/>
                <a:ea typeface="Roboto Mono"/>
                <a:cs typeface="Roboto Mono"/>
                <a:sym typeface="Roboto Mono"/>
              </a:rPr>
              <a:t>key = arr[2] = 4</a:t>
            </a:r>
            <a:endParaRPr sz="1200">
              <a:solidFill>
                <a:srgbClr val="333333"/>
              </a:solidFill>
              <a:highlight>
                <a:srgbClr val="D9EAD3"/>
              </a:highlight>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 sz="1200">
                <a:solidFill>
                  <a:srgbClr val="333333"/>
                </a:solidFill>
                <a:highlight>
                  <a:srgbClr val="D9EAD3"/>
                </a:highlight>
                <a:latin typeface="Roboto Mono"/>
                <a:ea typeface="Roboto Mono"/>
                <a:cs typeface="Roboto Mono"/>
                <a:sym typeface="Roboto Mono"/>
              </a:rPr>
              <a:t>pos = 1</a:t>
            </a:r>
            <a:endParaRPr sz="1200">
              <a:solidFill>
                <a:srgbClr val="333333"/>
              </a:solidFill>
              <a:highlight>
                <a:srgbClr val="D9EAD3"/>
              </a:highlight>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 sz="1200">
                <a:solidFill>
                  <a:srgbClr val="333333"/>
                </a:solidFill>
                <a:highlight>
                  <a:srgbClr val="CFE2F3"/>
                </a:highlight>
                <a:latin typeface="Roboto Mono"/>
                <a:ea typeface="Roboto Mono"/>
                <a:cs typeface="Roboto Mono"/>
                <a:sym typeface="Roboto Mono"/>
              </a:rPr>
              <a:t>while (pos &gt;= 0 &amp;&amp; arr[pos] &gt; 4)</a:t>
            </a:r>
            <a:endParaRPr sz="1200">
              <a:solidFill>
                <a:srgbClr val="333333"/>
              </a:solidFill>
              <a:highlight>
                <a:srgbClr val="CFE2F3"/>
              </a:highlight>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 sz="1200">
                <a:solidFill>
                  <a:srgbClr val="333333"/>
                </a:solidFill>
                <a:highlight>
                  <a:srgbClr val="CFE2F3"/>
                </a:highlight>
                <a:latin typeface="Roboto Mono"/>
                <a:ea typeface="Roboto Mono"/>
                <a:cs typeface="Roboto Mono"/>
                <a:sym typeface="Roboto Mono"/>
              </a:rPr>
              <a:t>{</a:t>
            </a:r>
            <a:endParaRPr sz="1200">
              <a:solidFill>
                <a:srgbClr val="333333"/>
              </a:solidFill>
              <a:highlight>
                <a:srgbClr val="CFE2F3"/>
              </a:highlight>
              <a:latin typeface="Roboto Mono"/>
              <a:ea typeface="Roboto Mono"/>
              <a:cs typeface="Roboto Mono"/>
              <a:sym typeface="Roboto Mono"/>
            </a:endParaRPr>
          </a:p>
          <a:p>
            <a:pPr indent="0" lvl="0" marL="457200" rtl="0" algn="l">
              <a:spcBef>
                <a:spcPts val="0"/>
              </a:spcBef>
              <a:spcAft>
                <a:spcPts val="0"/>
              </a:spcAft>
              <a:buNone/>
            </a:pPr>
            <a:r>
              <a:rPr lang="en" sz="1200">
                <a:solidFill>
                  <a:srgbClr val="333333"/>
                </a:solidFill>
                <a:latin typeface="Roboto Mono"/>
                <a:ea typeface="Roboto Mono"/>
                <a:cs typeface="Roboto Mono"/>
                <a:sym typeface="Roboto Mono"/>
              </a:rPr>
              <a:t>   </a:t>
            </a:r>
            <a:r>
              <a:rPr lang="en" sz="1200">
                <a:solidFill>
                  <a:srgbClr val="333333"/>
                </a:solidFill>
                <a:highlight>
                  <a:srgbClr val="CFE2F3"/>
                </a:highlight>
                <a:latin typeface="Roboto Mono"/>
                <a:ea typeface="Roboto Mono"/>
                <a:cs typeface="Roboto Mono"/>
                <a:sym typeface="Roboto Mono"/>
              </a:rPr>
              <a:t>arr[pos+1] = arr[pos]</a:t>
            </a:r>
            <a:endParaRPr sz="1200">
              <a:solidFill>
                <a:srgbClr val="333333"/>
              </a:solidFill>
              <a:highlight>
                <a:srgbClr val="CFE2F3"/>
              </a:highlight>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 sz="1200">
                <a:solidFill>
                  <a:srgbClr val="333333"/>
                </a:solidFill>
                <a:latin typeface="Roboto Mono"/>
                <a:ea typeface="Roboto Mono"/>
                <a:cs typeface="Roboto Mono"/>
                <a:sym typeface="Roboto Mono"/>
              </a:rPr>
              <a:t>   </a:t>
            </a:r>
            <a:r>
              <a:rPr lang="en" sz="1200">
                <a:solidFill>
                  <a:srgbClr val="333333"/>
                </a:solidFill>
                <a:highlight>
                  <a:srgbClr val="CFE2F3"/>
                </a:highlight>
                <a:latin typeface="Roboto Mono"/>
                <a:ea typeface="Roboto Mono"/>
                <a:cs typeface="Roboto Mono"/>
                <a:sym typeface="Roboto Mono"/>
              </a:rPr>
              <a:t>pos = pos - 1</a:t>
            </a:r>
            <a:endParaRPr sz="1200">
              <a:solidFill>
                <a:srgbClr val="333333"/>
              </a:solidFill>
              <a:highlight>
                <a:srgbClr val="CFE2F3"/>
              </a:highlight>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 sz="1200">
                <a:solidFill>
                  <a:srgbClr val="333333"/>
                </a:solidFill>
                <a:highlight>
                  <a:srgbClr val="CFE2F3"/>
                </a:highlight>
                <a:latin typeface="Roboto Mono"/>
                <a:ea typeface="Roboto Mono"/>
                <a:cs typeface="Roboto Mono"/>
                <a:sym typeface="Roboto Mono"/>
              </a:rPr>
              <a:t>} </a:t>
            </a:r>
            <a:endParaRPr sz="1200">
              <a:solidFill>
                <a:srgbClr val="333333"/>
              </a:solidFill>
              <a:highlight>
                <a:srgbClr val="CFE2F3"/>
              </a:highlight>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lang="en" sz="1200">
                <a:solidFill>
                  <a:srgbClr val="333333"/>
                </a:solidFill>
                <a:highlight>
                  <a:srgbClr val="F4CCCC"/>
                </a:highlight>
                <a:latin typeface="Roboto Mono"/>
                <a:ea typeface="Roboto Mono"/>
                <a:cs typeface="Roboto Mono"/>
                <a:sym typeface="Roboto Mono"/>
              </a:rPr>
              <a:t>arr[-1+1] =  4</a:t>
            </a:r>
            <a:endParaRPr b="1" sz="1200">
              <a:solidFill>
                <a:srgbClr val="333333"/>
              </a:solidFill>
              <a:highlight>
                <a:srgbClr val="F4CCCC"/>
              </a:highlight>
              <a:latin typeface="Roboto Mono"/>
              <a:ea typeface="Roboto Mono"/>
              <a:cs typeface="Roboto Mono"/>
              <a:sym typeface="Roboto Mono"/>
            </a:endParaRPr>
          </a:p>
          <a:p>
            <a:pPr indent="457200" lvl="0" marL="0" rtl="0" algn="l">
              <a:spcBef>
                <a:spcPts val="0"/>
              </a:spcBef>
              <a:spcAft>
                <a:spcPts val="0"/>
              </a:spcAft>
              <a:buClr>
                <a:schemeClr val="dk1"/>
              </a:buClr>
              <a:buSzPts val="1100"/>
              <a:buFont typeface="Arial"/>
              <a:buNone/>
            </a:pPr>
            <a:r>
              <a:rPr lang="en" sz="1200">
                <a:solidFill>
                  <a:srgbClr val="333333"/>
                </a:solidFill>
                <a:latin typeface="Roboto Mono"/>
                <a:ea typeface="Roboto Mono"/>
                <a:cs typeface="Roboto Mono"/>
                <a:sym typeface="Roboto Mono"/>
              </a:rPr>
              <a:t>arr = [</a:t>
            </a:r>
            <a:r>
              <a:rPr lang="en" sz="1200">
                <a:solidFill>
                  <a:srgbClr val="008080"/>
                </a:solidFill>
                <a:latin typeface="Roboto Mono"/>
                <a:ea typeface="Roboto Mono"/>
                <a:cs typeface="Roboto Mono"/>
                <a:sym typeface="Roboto Mono"/>
              </a:rPr>
              <a:t>4, 7, 9</a:t>
            </a:r>
            <a:r>
              <a:rPr lang="en" sz="1200">
                <a:solidFill>
                  <a:srgbClr val="333333"/>
                </a:solidFill>
                <a:latin typeface="Roboto Mono"/>
                <a:ea typeface="Roboto Mono"/>
                <a:cs typeface="Roboto Mono"/>
                <a:sym typeface="Roboto Mono"/>
              </a:rPr>
              <a:t>]</a:t>
            </a:r>
            <a:endParaRPr sz="1200">
              <a:solidFill>
                <a:srgbClr val="333333"/>
              </a:solidFill>
              <a:latin typeface="Roboto Mono"/>
              <a:ea typeface="Roboto Mono"/>
              <a:cs typeface="Roboto Mono"/>
              <a:sym typeface="Roboto Mono"/>
            </a:endParaRPr>
          </a:p>
        </p:txBody>
      </p:sp>
      <p:sp>
        <p:nvSpPr>
          <p:cNvPr id="548" name="Google Shape;548;p38"/>
          <p:cNvSpPr txBox="1"/>
          <p:nvPr/>
        </p:nvSpPr>
        <p:spPr>
          <a:xfrm>
            <a:off x="2889900" y="-13675"/>
            <a:ext cx="12762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rgbClr val="333333"/>
                </a:solidFill>
                <a:latin typeface="Roboto Mono"/>
                <a:ea typeface="Roboto Mono"/>
                <a:cs typeface="Roboto Mono"/>
                <a:sym typeface="Roboto Mono"/>
              </a:rPr>
              <a:t>insertion-sort(arr, </a:t>
            </a:r>
            <a:r>
              <a:rPr lang="en" sz="500">
                <a:solidFill>
                  <a:srgbClr val="008080"/>
                </a:solidFill>
                <a:latin typeface="Roboto Mono"/>
                <a:ea typeface="Roboto Mono"/>
                <a:cs typeface="Roboto Mono"/>
                <a:sym typeface="Roboto Mono"/>
              </a:rPr>
              <a:t>6</a:t>
            </a:r>
            <a:r>
              <a:rPr lang="en" sz="500">
                <a:solidFill>
                  <a:srgbClr val="333333"/>
                </a:solidFill>
                <a:latin typeface="Roboto Mono"/>
                <a:ea typeface="Roboto Mono"/>
                <a:cs typeface="Roboto Mono"/>
                <a:sym typeface="Roboto Mono"/>
              </a:rPr>
              <a:t>)</a:t>
            </a:r>
            <a:endParaRPr sz="5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500">
                <a:solidFill>
                  <a:srgbClr val="333333"/>
                </a:solidFill>
                <a:latin typeface="Roboto Mono"/>
                <a:ea typeface="Roboto Mono"/>
                <a:cs typeface="Roboto Mono"/>
                <a:sym typeface="Roboto Mono"/>
              </a:rPr>
              <a:t>    </a:t>
            </a:r>
            <a:endParaRPr sz="5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500">
                <a:solidFill>
                  <a:srgbClr val="333333"/>
                </a:solidFill>
                <a:latin typeface="Roboto Mono"/>
                <a:ea typeface="Roboto Mono"/>
                <a:cs typeface="Roboto Mono"/>
                <a:sym typeface="Roboto Mono"/>
              </a:rPr>
              <a:t>insertion-sort(arr, </a:t>
            </a:r>
            <a:r>
              <a:rPr lang="en" sz="500">
                <a:solidFill>
                  <a:srgbClr val="008080"/>
                </a:solidFill>
                <a:latin typeface="Roboto Mono"/>
                <a:ea typeface="Roboto Mono"/>
                <a:cs typeface="Roboto Mono"/>
                <a:sym typeface="Roboto Mono"/>
              </a:rPr>
              <a:t>5</a:t>
            </a:r>
            <a:r>
              <a:rPr lang="en" sz="500">
                <a:solidFill>
                  <a:srgbClr val="333333"/>
                </a:solidFill>
                <a:latin typeface="Roboto Mono"/>
                <a:ea typeface="Roboto Mono"/>
                <a:cs typeface="Roboto Mono"/>
                <a:sym typeface="Roboto Mono"/>
              </a:rPr>
              <a:t>)</a:t>
            </a:r>
            <a:endParaRPr sz="5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500">
                <a:solidFill>
                  <a:srgbClr val="333333"/>
                </a:solidFill>
                <a:latin typeface="Roboto Mono"/>
                <a:ea typeface="Roboto Mono"/>
                <a:cs typeface="Roboto Mono"/>
                <a:sym typeface="Roboto Mono"/>
              </a:rPr>
              <a:t>    </a:t>
            </a:r>
            <a:endParaRPr sz="5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500">
                <a:solidFill>
                  <a:srgbClr val="333333"/>
                </a:solidFill>
                <a:latin typeface="Roboto Mono"/>
                <a:ea typeface="Roboto Mono"/>
                <a:cs typeface="Roboto Mono"/>
                <a:sym typeface="Roboto Mono"/>
              </a:rPr>
              <a:t>insertion-sort(arr, </a:t>
            </a:r>
            <a:r>
              <a:rPr lang="en" sz="500">
                <a:solidFill>
                  <a:srgbClr val="008080"/>
                </a:solidFill>
                <a:latin typeface="Roboto Mono"/>
                <a:ea typeface="Roboto Mono"/>
                <a:cs typeface="Roboto Mono"/>
                <a:sym typeface="Roboto Mono"/>
              </a:rPr>
              <a:t>4</a:t>
            </a:r>
            <a:r>
              <a:rPr lang="en" sz="500">
                <a:solidFill>
                  <a:srgbClr val="333333"/>
                </a:solidFill>
                <a:latin typeface="Roboto Mono"/>
                <a:ea typeface="Roboto Mono"/>
                <a:cs typeface="Roboto Mono"/>
                <a:sym typeface="Roboto Mono"/>
              </a:rPr>
              <a:t>)</a:t>
            </a:r>
            <a:endParaRPr sz="5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500">
                <a:solidFill>
                  <a:srgbClr val="333333"/>
                </a:solidFill>
                <a:latin typeface="Roboto Mono"/>
                <a:ea typeface="Roboto Mono"/>
                <a:cs typeface="Roboto Mono"/>
                <a:sym typeface="Roboto Mono"/>
              </a:rPr>
              <a:t>    </a:t>
            </a:r>
            <a:endParaRPr sz="5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500">
                <a:solidFill>
                  <a:srgbClr val="333333"/>
                </a:solidFill>
                <a:latin typeface="Roboto Mono"/>
                <a:ea typeface="Roboto Mono"/>
                <a:cs typeface="Roboto Mono"/>
                <a:sym typeface="Roboto Mono"/>
              </a:rPr>
              <a:t>insertion-sort(arr, </a:t>
            </a:r>
            <a:r>
              <a:rPr lang="en" sz="500">
                <a:solidFill>
                  <a:srgbClr val="008080"/>
                </a:solidFill>
                <a:latin typeface="Roboto Mono"/>
                <a:ea typeface="Roboto Mono"/>
                <a:cs typeface="Roboto Mono"/>
                <a:sym typeface="Roboto Mono"/>
              </a:rPr>
              <a:t>3</a:t>
            </a:r>
            <a:r>
              <a:rPr lang="en" sz="500">
                <a:solidFill>
                  <a:srgbClr val="333333"/>
                </a:solidFill>
                <a:latin typeface="Roboto Mono"/>
                <a:ea typeface="Roboto Mono"/>
                <a:cs typeface="Roboto Mono"/>
                <a:sym typeface="Roboto Mono"/>
              </a:rPr>
              <a:t>)</a:t>
            </a:r>
            <a:endParaRPr sz="5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500">
                <a:solidFill>
                  <a:srgbClr val="333333"/>
                </a:solidFill>
                <a:latin typeface="Roboto Mono"/>
                <a:ea typeface="Roboto Mono"/>
                <a:cs typeface="Roboto Mono"/>
                <a:sym typeface="Roboto Mono"/>
              </a:rPr>
              <a:t>    </a:t>
            </a:r>
            <a:endParaRPr sz="5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500">
                <a:solidFill>
                  <a:srgbClr val="333333"/>
                </a:solidFill>
                <a:latin typeface="Roboto Mono"/>
                <a:ea typeface="Roboto Mono"/>
                <a:cs typeface="Roboto Mono"/>
                <a:sym typeface="Roboto Mono"/>
              </a:rPr>
              <a:t>insertion-sort(arr, </a:t>
            </a:r>
            <a:r>
              <a:rPr lang="en" sz="500">
                <a:solidFill>
                  <a:srgbClr val="008080"/>
                </a:solidFill>
                <a:latin typeface="Roboto Mono"/>
                <a:ea typeface="Roboto Mono"/>
                <a:cs typeface="Roboto Mono"/>
                <a:sym typeface="Roboto Mono"/>
              </a:rPr>
              <a:t>2</a:t>
            </a:r>
            <a:r>
              <a:rPr lang="en" sz="500">
                <a:solidFill>
                  <a:srgbClr val="333333"/>
                </a:solidFill>
                <a:latin typeface="Roboto Mono"/>
                <a:ea typeface="Roboto Mono"/>
                <a:cs typeface="Roboto Mono"/>
                <a:sym typeface="Roboto Mono"/>
              </a:rPr>
              <a:t>)</a:t>
            </a:r>
            <a:endParaRPr sz="5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500">
                <a:solidFill>
                  <a:srgbClr val="333333"/>
                </a:solidFill>
                <a:latin typeface="Roboto Mono"/>
                <a:ea typeface="Roboto Mono"/>
                <a:cs typeface="Roboto Mono"/>
                <a:sym typeface="Roboto Mono"/>
              </a:rPr>
              <a:t> </a:t>
            </a:r>
            <a:endParaRPr sz="500">
              <a:solidFill>
                <a:srgbClr val="333333"/>
              </a:solidFill>
              <a:latin typeface="Roboto Mono"/>
              <a:ea typeface="Roboto Mono"/>
              <a:cs typeface="Roboto Mono"/>
              <a:sym typeface="Roboto Mono"/>
            </a:endParaRPr>
          </a:p>
          <a:p>
            <a:pPr indent="0" lvl="0" marL="0" rtl="0" algn="l">
              <a:spcBef>
                <a:spcPts val="0"/>
              </a:spcBef>
              <a:spcAft>
                <a:spcPts val="0"/>
              </a:spcAft>
              <a:buNone/>
            </a:pPr>
            <a:r>
              <a:rPr lang="en" sz="500">
                <a:solidFill>
                  <a:srgbClr val="333333"/>
                </a:solidFill>
                <a:latin typeface="Roboto Mono"/>
                <a:ea typeface="Roboto Mono"/>
                <a:cs typeface="Roboto Mono"/>
                <a:sym typeface="Roboto Mono"/>
              </a:rPr>
              <a:t>insertion-sort(arr, </a:t>
            </a:r>
            <a:r>
              <a:rPr lang="en" sz="500">
                <a:solidFill>
                  <a:srgbClr val="008080"/>
                </a:solidFill>
                <a:latin typeface="Roboto Mono"/>
                <a:ea typeface="Roboto Mono"/>
                <a:cs typeface="Roboto Mono"/>
                <a:sym typeface="Roboto Mono"/>
              </a:rPr>
              <a:t>1</a:t>
            </a:r>
            <a:r>
              <a:rPr lang="en" sz="500">
                <a:solidFill>
                  <a:srgbClr val="333333"/>
                </a:solidFill>
                <a:latin typeface="Roboto Mono"/>
                <a:ea typeface="Roboto Mono"/>
                <a:cs typeface="Roboto Mono"/>
                <a:sym typeface="Roboto Mono"/>
              </a:rPr>
              <a:t>)</a:t>
            </a:r>
            <a:endParaRPr sz="500">
              <a:latin typeface="Roboto Mono"/>
              <a:ea typeface="Roboto Mono"/>
              <a:cs typeface="Roboto Mono"/>
              <a:sym typeface="Roboto Mono"/>
            </a:endParaRPr>
          </a:p>
        </p:txBody>
      </p:sp>
      <p:sp>
        <p:nvSpPr>
          <p:cNvPr id="549" name="Google Shape;549;p38"/>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1000"/>
                                        <p:tgtEl>
                                          <p:spTgt spid="5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0" st="0"/>
                                            </p:txEl>
                                          </p:spTgt>
                                        </p:tgtEl>
                                        <p:attrNameLst>
                                          <p:attrName>style.visibility</p:attrName>
                                        </p:attrNameLst>
                                      </p:cBhvr>
                                      <p:to>
                                        <p:strVal val="visible"/>
                                      </p:to>
                                    </p:set>
                                    <p:animEffect filter="fade" transition="in">
                                      <p:cBhvr>
                                        <p:cTn dur="1000"/>
                                        <p:tgtEl>
                                          <p:spTgt spid="5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1" st="1"/>
                                            </p:txEl>
                                          </p:spTgt>
                                        </p:tgtEl>
                                        <p:attrNameLst>
                                          <p:attrName>style.visibility</p:attrName>
                                        </p:attrNameLst>
                                      </p:cBhvr>
                                      <p:to>
                                        <p:strVal val="visible"/>
                                      </p:to>
                                    </p:set>
                                    <p:animEffect filter="fade" transition="in">
                                      <p:cBhvr>
                                        <p:cTn dur="1000"/>
                                        <p:tgtEl>
                                          <p:spTgt spid="5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2" st="2"/>
                                            </p:txEl>
                                          </p:spTgt>
                                        </p:tgtEl>
                                        <p:attrNameLst>
                                          <p:attrName>style.visibility</p:attrName>
                                        </p:attrNameLst>
                                      </p:cBhvr>
                                      <p:to>
                                        <p:strVal val="visible"/>
                                      </p:to>
                                    </p:set>
                                    <p:animEffect filter="fade" transition="in">
                                      <p:cBhvr>
                                        <p:cTn dur="1000"/>
                                        <p:tgtEl>
                                          <p:spTgt spid="54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3" st="3"/>
                                            </p:txEl>
                                          </p:spTgt>
                                        </p:tgtEl>
                                        <p:attrNameLst>
                                          <p:attrName>style.visibility</p:attrName>
                                        </p:attrNameLst>
                                      </p:cBhvr>
                                      <p:to>
                                        <p:strVal val="visible"/>
                                      </p:to>
                                    </p:set>
                                    <p:animEffect filter="fade" transition="in">
                                      <p:cBhvr>
                                        <p:cTn dur="1000"/>
                                        <p:tgtEl>
                                          <p:spTgt spid="54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4" st="4"/>
                                            </p:txEl>
                                          </p:spTgt>
                                        </p:tgtEl>
                                        <p:attrNameLst>
                                          <p:attrName>style.visibility</p:attrName>
                                        </p:attrNameLst>
                                      </p:cBhvr>
                                      <p:to>
                                        <p:strVal val="visible"/>
                                      </p:to>
                                    </p:set>
                                    <p:animEffect filter="fade" transition="in">
                                      <p:cBhvr>
                                        <p:cTn dur="1000"/>
                                        <p:tgtEl>
                                          <p:spTgt spid="54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5" st="5"/>
                                            </p:txEl>
                                          </p:spTgt>
                                        </p:tgtEl>
                                        <p:attrNameLst>
                                          <p:attrName>style.visibility</p:attrName>
                                        </p:attrNameLst>
                                      </p:cBhvr>
                                      <p:to>
                                        <p:strVal val="visible"/>
                                      </p:to>
                                    </p:set>
                                    <p:animEffect filter="fade" transition="in">
                                      <p:cBhvr>
                                        <p:cTn dur="1000"/>
                                        <p:tgtEl>
                                          <p:spTgt spid="54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6" st="6"/>
                                            </p:txEl>
                                          </p:spTgt>
                                        </p:tgtEl>
                                        <p:attrNameLst>
                                          <p:attrName>style.visibility</p:attrName>
                                        </p:attrNameLst>
                                      </p:cBhvr>
                                      <p:to>
                                        <p:strVal val="visible"/>
                                      </p:to>
                                    </p:set>
                                    <p:animEffect filter="fade" transition="in">
                                      <p:cBhvr>
                                        <p:cTn dur="1000"/>
                                        <p:tgtEl>
                                          <p:spTgt spid="54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7" st="7"/>
                                            </p:txEl>
                                          </p:spTgt>
                                        </p:tgtEl>
                                        <p:attrNameLst>
                                          <p:attrName>style.visibility</p:attrName>
                                        </p:attrNameLst>
                                      </p:cBhvr>
                                      <p:to>
                                        <p:strVal val="visible"/>
                                      </p:to>
                                    </p:set>
                                    <p:animEffect filter="fade" transition="in">
                                      <p:cBhvr>
                                        <p:cTn dur="1000"/>
                                        <p:tgtEl>
                                          <p:spTgt spid="54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8" st="8"/>
                                            </p:txEl>
                                          </p:spTgt>
                                        </p:tgtEl>
                                        <p:attrNameLst>
                                          <p:attrName>style.visibility</p:attrName>
                                        </p:attrNameLst>
                                      </p:cBhvr>
                                      <p:to>
                                        <p:strVal val="visible"/>
                                      </p:to>
                                    </p:set>
                                    <p:animEffect filter="fade" transition="in">
                                      <p:cBhvr>
                                        <p:cTn dur="1000"/>
                                        <p:tgtEl>
                                          <p:spTgt spid="54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9" st="9"/>
                                            </p:txEl>
                                          </p:spTgt>
                                        </p:tgtEl>
                                        <p:attrNameLst>
                                          <p:attrName>style.visibility</p:attrName>
                                        </p:attrNameLst>
                                      </p:cBhvr>
                                      <p:to>
                                        <p:strVal val="visible"/>
                                      </p:to>
                                    </p:set>
                                    <p:animEffect filter="fade" transition="in">
                                      <p:cBhvr>
                                        <p:cTn dur="1000"/>
                                        <p:tgtEl>
                                          <p:spTgt spid="54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10" st="10"/>
                                            </p:txEl>
                                          </p:spTgt>
                                        </p:tgtEl>
                                        <p:attrNameLst>
                                          <p:attrName>style.visibility</p:attrName>
                                        </p:attrNameLst>
                                      </p:cBhvr>
                                      <p:to>
                                        <p:strVal val="visible"/>
                                      </p:to>
                                    </p:set>
                                    <p:animEffect filter="fade" transition="in">
                                      <p:cBhvr>
                                        <p:cTn dur="1000"/>
                                        <p:tgtEl>
                                          <p:spTgt spid="54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11" st="11"/>
                                            </p:txEl>
                                          </p:spTgt>
                                        </p:tgtEl>
                                        <p:attrNameLst>
                                          <p:attrName>style.visibility</p:attrName>
                                        </p:attrNameLst>
                                      </p:cBhvr>
                                      <p:to>
                                        <p:strVal val="visible"/>
                                      </p:to>
                                    </p:set>
                                    <p:animEffect filter="fade" transition="in">
                                      <p:cBhvr>
                                        <p:cTn dur="1000"/>
                                        <p:tgtEl>
                                          <p:spTgt spid="54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12" st="12"/>
                                            </p:txEl>
                                          </p:spTgt>
                                        </p:tgtEl>
                                        <p:attrNameLst>
                                          <p:attrName>style.visibility</p:attrName>
                                        </p:attrNameLst>
                                      </p:cBhvr>
                                      <p:to>
                                        <p:strVal val="visible"/>
                                      </p:to>
                                    </p:set>
                                    <p:animEffect filter="fade" transition="in">
                                      <p:cBhvr>
                                        <p:cTn dur="1000"/>
                                        <p:tgtEl>
                                          <p:spTgt spid="547">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13" st="13"/>
                                            </p:txEl>
                                          </p:spTgt>
                                        </p:tgtEl>
                                        <p:attrNameLst>
                                          <p:attrName>style.visibility</p:attrName>
                                        </p:attrNameLst>
                                      </p:cBhvr>
                                      <p:to>
                                        <p:strVal val="visible"/>
                                      </p:to>
                                    </p:set>
                                    <p:animEffect filter="fade" transition="in">
                                      <p:cBhvr>
                                        <p:cTn dur="1000"/>
                                        <p:tgtEl>
                                          <p:spTgt spid="547">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14" st="14"/>
                                            </p:txEl>
                                          </p:spTgt>
                                        </p:tgtEl>
                                        <p:attrNameLst>
                                          <p:attrName>style.visibility</p:attrName>
                                        </p:attrNameLst>
                                      </p:cBhvr>
                                      <p:to>
                                        <p:strVal val="visible"/>
                                      </p:to>
                                    </p:set>
                                    <p:animEffect filter="fade" transition="in">
                                      <p:cBhvr>
                                        <p:cTn dur="1000"/>
                                        <p:tgtEl>
                                          <p:spTgt spid="547">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15" st="15"/>
                                            </p:txEl>
                                          </p:spTgt>
                                        </p:tgtEl>
                                        <p:attrNameLst>
                                          <p:attrName>style.visibility</p:attrName>
                                        </p:attrNameLst>
                                      </p:cBhvr>
                                      <p:to>
                                        <p:strVal val="visible"/>
                                      </p:to>
                                    </p:set>
                                    <p:animEffect filter="fade" transition="in">
                                      <p:cBhvr>
                                        <p:cTn dur="1000"/>
                                        <p:tgtEl>
                                          <p:spTgt spid="547">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16" st="16"/>
                                            </p:txEl>
                                          </p:spTgt>
                                        </p:tgtEl>
                                        <p:attrNameLst>
                                          <p:attrName>style.visibility</p:attrName>
                                        </p:attrNameLst>
                                      </p:cBhvr>
                                      <p:to>
                                        <p:strVal val="visible"/>
                                      </p:to>
                                    </p:set>
                                    <p:animEffect filter="fade" transition="in">
                                      <p:cBhvr>
                                        <p:cTn dur="1000"/>
                                        <p:tgtEl>
                                          <p:spTgt spid="547">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17" st="17"/>
                                            </p:txEl>
                                          </p:spTgt>
                                        </p:tgtEl>
                                        <p:attrNameLst>
                                          <p:attrName>style.visibility</p:attrName>
                                        </p:attrNameLst>
                                      </p:cBhvr>
                                      <p:to>
                                        <p:strVal val="visible"/>
                                      </p:to>
                                    </p:set>
                                    <p:animEffect filter="fade" transition="in">
                                      <p:cBhvr>
                                        <p:cTn dur="1000"/>
                                        <p:tgtEl>
                                          <p:spTgt spid="547">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18" st="18"/>
                                            </p:txEl>
                                          </p:spTgt>
                                        </p:tgtEl>
                                        <p:attrNameLst>
                                          <p:attrName>style.visibility</p:attrName>
                                        </p:attrNameLst>
                                      </p:cBhvr>
                                      <p:to>
                                        <p:strVal val="visible"/>
                                      </p:to>
                                    </p:set>
                                    <p:animEffect filter="fade" transition="in">
                                      <p:cBhvr>
                                        <p:cTn dur="1000"/>
                                        <p:tgtEl>
                                          <p:spTgt spid="547">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19" st="19"/>
                                            </p:txEl>
                                          </p:spTgt>
                                        </p:tgtEl>
                                        <p:attrNameLst>
                                          <p:attrName>style.visibility</p:attrName>
                                        </p:attrNameLst>
                                      </p:cBhvr>
                                      <p:to>
                                        <p:strVal val="visible"/>
                                      </p:to>
                                    </p:set>
                                    <p:animEffect filter="fade" transition="in">
                                      <p:cBhvr>
                                        <p:cTn dur="1000"/>
                                        <p:tgtEl>
                                          <p:spTgt spid="547">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20" st="20"/>
                                            </p:txEl>
                                          </p:spTgt>
                                        </p:tgtEl>
                                        <p:attrNameLst>
                                          <p:attrName>style.visibility</p:attrName>
                                        </p:attrNameLst>
                                      </p:cBhvr>
                                      <p:to>
                                        <p:strVal val="visible"/>
                                      </p:to>
                                    </p:set>
                                    <p:animEffect filter="fade" transition="in">
                                      <p:cBhvr>
                                        <p:cTn dur="1000"/>
                                        <p:tgtEl>
                                          <p:spTgt spid="547">
                                            <p:txEl>
                                              <p:pRg end="20" st="2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21" st="21"/>
                                            </p:txEl>
                                          </p:spTgt>
                                        </p:tgtEl>
                                        <p:attrNameLst>
                                          <p:attrName>style.visibility</p:attrName>
                                        </p:attrNameLst>
                                      </p:cBhvr>
                                      <p:to>
                                        <p:strVal val="visible"/>
                                      </p:to>
                                    </p:set>
                                    <p:animEffect filter="fade" transition="in">
                                      <p:cBhvr>
                                        <p:cTn dur="1000"/>
                                        <p:tgtEl>
                                          <p:spTgt spid="547">
                                            <p:txEl>
                                              <p:pRg end="21" st="2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3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Quick</a:t>
            </a:r>
            <a:r>
              <a:rPr lang="en"/>
              <a:t> Sort</a:t>
            </a:r>
            <a:endParaRPr/>
          </a:p>
        </p:txBody>
      </p:sp>
      <p:sp>
        <p:nvSpPr>
          <p:cNvPr id="555" name="Google Shape;555;p39"/>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Quicksort</a:t>
            </a:r>
            <a:endParaRPr/>
          </a:p>
        </p:txBody>
      </p:sp>
      <p:sp>
        <p:nvSpPr>
          <p:cNvPr id="561" name="Google Shape;561;p40"/>
          <p:cNvSpPr txBox="1"/>
          <p:nvPr/>
        </p:nvSpPr>
        <p:spPr>
          <a:xfrm>
            <a:off x="2414925"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562" name="Google Shape;562;p40"/>
          <p:cNvSpPr txBox="1"/>
          <p:nvPr/>
        </p:nvSpPr>
        <p:spPr>
          <a:xfrm>
            <a:off x="3071800"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563" name="Google Shape;563;p40"/>
          <p:cNvSpPr txBox="1"/>
          <p:nvPr/>
        </p:nvSpPr>
        <p:spPr>
          <a:xfrm>
            <a:off x="3728675"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564" name="Google Shape;564;p40"/>
          <p:cNvSpPr txBox="1"/>
          <p:nvPr/>
        </p:nvSpPr>
        <p:spPr>
          <a:xfrm>
            <a:off x="4385550"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565" name="Google Shape;565;p40"/>
          <p:cNvSpPr txBox="1"/>
          <p:nvPr/>
        </p:nvSpPr>
        <p:spPr>
          <a:xfrm>
            <a:off x="5042425"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566" name="Google Shape;566;p40"/>
          <p:cNvSpPr txBox="1"/>
          <p:nvPr/>
        </p:nvSpPr>
        <p:spPr>
          <a:xfrm>
            <a:off x="5699300"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567" name="Google Shape;567;p40"/>
          <p:cNvSpPr txBox="1"/>
          <p:nvPr/>
        </p:nvSpPr>
        <p:spPr>
          <a:xfrm>
            <a:off x="1774725" y="2344600"/>
            <a:ext cx="5457000" cy="2662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solidFill>
                  <a:schemeClr val="dk2"/>
                </a:solidFill>
                <a:latin typeface="Roboto"/>
                <a:ea typeface="Roboto"/>
                <a:cs typeface="Roboto"/>
                <a:sym typeface="Roboto"/>
              </a:rPr>
              <a:t>Recursive Case:</a:t>
            </a:r>
            <a:endParaRPr>
              <a:solidFill>
                <a:schemeClr val="dk2"/>
              </a:solidFill>
              <a:latin typeface="Roboto"/>
              <a:ea typeface="Roboto"/>
              <a:cs typeface="Roboto"/>
              <a:sym typeface="Roboto"/>
            </a:endParaRPr>
          </a:p>
          <a:p>
            <a:pPr indent="-317500" lvl="0" marL="457200" rtl="0" algn="l">
              <a:lnSpc>
                <a:spcPct val="150000"/>
              </a:lnSpc>
              <a:spcBef>
                <a:spcPts val="0"/>
              </a:spcBef>
              <a:spcAft>
                <a:spcPts val="0"/>
              </a:spcAft>
              <a:buClr>
                <a:schemeClr val="dk2"/>
              </a:buClr>
              <a:buSzPts val="1400"/>
              <a:buFont typeface="Roboto"/>
              <a:buChar char="●"/>
            </a:pPr>
            <a:r>
              <a:rPr b="1" lang="en">
                <a:solidFill>
                  <a:srgbClr val="674EA7"/>
                </a:solidFill>
                <a:latin typeface="Roboto"/>
                <a:ea typeface="Roboto"/>
                <a:cs typeface="Roboto"/>
                <a:sym typeface="Roboto"/>
              </a:rPr>
              <a:t>Pivot </a:t>
            </a:r>
            <a:r>
              <a:rPr lang="en">
                <a:solidFill>
                  <a:schemeClr val="dk2"/>
                </a:solidFill>
                <a:latin typeface="Roboto"/>
                <a:ea typeface="Roboto"/>
                <a:cs typeface="Roboto"/>
                <a:sym typeface="Roboto"/>
              </a:rPr>
              <a:t>is chosen at random</a:t>
            </a:r>
            <a:r>
              <a:rPr b="1" lang="en">
                <a:solidFill>
                  <a:srgbClr val="674EA7"/>
                </a:solidFill>
                <a:latin typeface="Roboto"/>
                <a:ea typeface="Roboto"/>
                <a:cs typeface="Roboto"/>
                <a:sym typeface="Roboto"/>
              </a:rPr>
              <a:t> </a:t>
            </a:r>
            <a:endParaRPr>
              <a:solidFill>
                <a:schemeClr val="dk2"/>
              </a:solidFill>
              <a:latin typeface="Roboto"/>
              <a:ea typeface="Roboto"/>
              <a:cs typeface="Roboto"/>
              <a:sym typeface="Roboto"/>
            </a:endParaRPr>
          </a:p>
          <a:p>
            <a:pPr indent="-317500" lvl="0" marL="457200" rtl="0" algn="l">
              <a:lnSpc>
                <a:spcPct val="150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Two subarrays are created: </a:t>
            </a:r>
            <a:endParaRPr>
              <a:solidFill>
                <a:schemeClr val="dk2"/>
              </a:solidFill>
              <a:latin typeface="Roboto"/>
              <a:ea typeface="Roboto"/>
              <a:cs typeface="Roboto"/>
              <a:sym typeface="Roboto"/>
            </a:endParaRPr>
          </a:p>
          <a:p>
            <a:pPr indent="-317500" lvl="1" marL="914400" rtl="0" algn="l">
              <a:lnSpc>
                <a:spcPct val="150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One subarray with all entries ≤ </a:t>
            </a:r>
            <a:r>
              <a:rPr b="1" lang="en">
                <a:solidFill>
                  <a:srgbClr val="674EA7"/>
                </a:solidFill>
                <a:latin typeface="Roboto"/>
                <a:ea typeface="Roboto"/>
                <a:cs typeface="Roboto"/>
                <a:sym typeface="Roboto"/>
              </a:rPr>
              <a:t>Pivot</a:t>
            </a:r>
            <a:endParaRPr b="1">
              <a:solidFill>
                <a:srgbClr val="674EA7"/>
              </a:solidFill>
              <a:latin typeface="Roboto"/>
              <a:ea typeface="Roboto"/>
              <a:cs typeface="Roboto"/>
              <a:sym typeface="Roboto"/>
            </a:endParaRPr>
          </a:p>
          <a:p>
            <a:pPr indent="-317500" lvl="1" marL="914400" rtl="0" algn="l">
              <a:lnSpc>
                <a:spcPct val="150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Another subarray with entries &gt; </a:t>
            </a:r>
            <a:r>
              <a:rPr b="1" lang="en">
                <a:solidFill>
                  <a:srgbClr val="674EA7"/>
                </a:solidFill>
                <a:latin typeface="Roboto"/>
                <a:ea typeface="Roboto"/>
                <a:cs typeface="Roboto"/>
                <a:sym typeface="Roboto"/>
              </a:rPr>
              <a:t>Pivot</a:t>
            </a:r>
            <a:endParaRPr b="1">
              <a:solidFill>
                <a:srgbClr val="674EA7"/>
              </a:solidFill>
              <a:latin typeface="Roboto"/>
              <a:ea typeface="Roboto"/>
              <a:cs typeface="Roboto"/>
              <a:sym typeface="Roboto"/>
            </a:endParaRPr>
          </a:p>
          <a:p>
            <a:pPr indent="-317500" lvl="0" marL="457200" rtl="0" algn="l">
              <a:lnSpc>
                <a:spcPct val="150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Recursively </a:t>
            </a:r>
            <a:r>
              <a:rPr b="1" lang="en">
                <a:solidFill>
                  <a:srgbClr val="674EA7"/>
                </a:solidFill>
                <a:latin typeface="Roboto"/>
                <a:ea typeface="Roboto"/>
                <a:cs typeface="Roboto"/>
                <a:sym typeface="Roboto"/>
              </a:rPr>
              <a:t>sort</a:t>
            </a:r>
            <a:r>
              <a:rPr lang="en">
                <a:solidFill>
                  <a:schemeClr val="dk2"/>
                </a:solidFill>
                <a:latin typeface="Roboto"/>
                <a:ea typeface="Roboto"/>
                <a:cs typeface="Roboto"/>
                <a:sym typeface="Roboto"/>
              </a:rPr>
              <a:t> each subarray until the base case is reached</a:t>
            </a:r>
            <a:endParaRPr>
              <a:solidFill>
                <a:schemeClr val="dk2"/>
              </a:solidFill>
              <a:latin typeface="Roboto"/>
              <a:ea typeface="Roboto"/>
              <a:cs typeface="Roboto"/>
              <a:sym typeface="Roboto"/>
            </a:endParaRPr>
          </a:p>
          <a:p>
            <a:pPr indent="-317500" lvl="0" marL="457200" rtl="0" algn="l">
              <a:lnSpc>
                <a:spcPct val="150000"/>
              </a:lnSpc>
              <a:spcBef>
                <a:spcPts val="0"/>
              </a:spcBef>
              <a:spcAft>
                <a:spcPts val="0"/>
              </a:spcAft>
              <a:buClr>
                <a:schemeClr val="dk2"/>
              </a:buClr>
              <a:buSzPts val="1400"/>
              <a:buFont typeface="Roboto"/>
              <a:buChar char="●"/>
            </a:pPr>
            <a:r>
              <a:rPr b="1" lang="en">
                <a:solidFill>
                  <a:srgbClr val="674EA7"/>
                </a:solidFill>
                <a:latin typeface="Roboto"/>
                <a:ea typeface="Roboto"/>
                <a:cs typeface="Roboto"/>
                <a:sym typeface="Roboto"/>
              </a:rPr>
              <a:t>Merge</a:t>
            </a:r>
            <a:r>
              <a:rPr lang="en">
                <a:solidFill>
                  <a:schemeClr val="dk2"/>
                </a:solidFill>
                <a:latin typeface="Roboto"/>
                <a:ea typeface="Roboto"/>
                <a:cs typeface="Roboto"/>
                <a:sym typeface="Roboto"/>
              </a:rPr>
              <a:t> sorted subarrays to build larger subarrays</a:t>
            </a:r>
            <a:endParaRPr>
              <a:solidFill>
                <a:schemeClr val="dk2"/>
              </a:solidFill>
              <a:latin typeface="Roboto"/>
              <a:ea typeface="Roboto"/>
              <a:cs typeface="Roboto"/>
              <a:sym typeface="Roboto"/>
            </a:endParaRPr>
          </a:p>
          <a:p>
            <a:pPr indent="0" lvl="0" marL="914400" rtl="0" algn="l">
              <a:lnSpc>
                <a:spcPct val="150000"/>
              </a:lnSpc>
              <a:spcBef>
                <a:spcPts val="0"/>
              </a:spcBef>
              <a:spcAft>
                <a:spcPts val="0"/>
              </a:spcAft>
              <a:buNone/>
            </a:pPr>
            <a:r>
              <a:t/>
            </a:r>
            <a:endParaRPr>
              <a:solidFill>
                <a:schemeClr val="dk2"/>
              </a:solidFill>
              <a:latin typeface="Roboto"/>
              <a:ea typeface="Roboto"/>
              <a:cs typeface="Roboto"/>
              <a:sym typeface="Roboto"/>
            </a:endParaRPr>
          </a:p>
        </p:txBody>
      </p:sp>
      <p:sp>
        <p:nvSpPr>
          <p:cNvPr id="568" name="Google Shape;568;p40"/>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Quicksort</a:t>
            </a:r>
            <a:endParaRPr/>
          </a:p>
        </p:txBody>
      </p:sp>
      <p:sp>
        <p:nvSpPr>
          <p:cNvPr id="574" name="Google Shape;574;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Roboto"/>
              <a:buChar char="●"/>
            </a:pPr>
            <a:r>
              <a:rPr lang="en">
                <a:latin typeface="Roboto"/>
                <a:ea typeface="Roboto"/>
                <a:cs typeface="Roboto"/>
                <a:sym typeface="Roboto"/>
              </a:rPr>
              <a:t>Idea of Quicksort</a:t>
            </a:r>
            <a:endParaRPr>
              <a:latin typeface="Roboto"/>
              <a:ea typeface="Roboto"/>
              <a:cs typeface="Roboto"/>
              <a:sym typeface="Roboto"/>
            </a:endParaRPr>
          </a:p>
          <a:p>
            <a:pPr indent="-317500" lvl="1" marL="914400" rtl="0" algn="l">
              <a:spcBef>
                <a:spcPts val="0"/>
              </a:spcBef>
              <a:spcAft>
                <a:spcPts val="0"/>
              </a:spcAft>
              <a:buSzPts val="1400"/>
              <a:buFont typeface="Roboto"/>
              <a:buChar char="○"/>
            </a:pPr>
            <a:r>
              <a:rPr lang="en">
                <a:latin typeface="Roboto"/>
                <a:ea typeface="Roboto"/>
                <a:cs typeface="Roboto"/>
                <a:sym typeface="Roboto"/>
              </a:rPr>
              <a:t>Partition array A into A[1..q − 1], A[q], and A[q + 1..n] such that</a:t>
            </a:r>
            <a:endParaRPr>
              <a:latin typeface="Roboto"/>
              <a:ea typeface="Roboto"/>
              <a:cs typeface="Roboto"/>
              <a:sym typeface="Roboto"/>
            </a:endParaRPr>
          </a:p>
          <a:p>
            <a:pPr indent="-317500" lvl="2" marL="1371600" rtl="0" algn="l">
              <a:spcBef>
                <a:spcPts val="0"/>
              </a:spcBef>
              <a:spcAft>
                <a:spcPts val="0"/>
              </a:spcAft>
              <a:buSzPts val="1400"/>
              <a:buFont typeface="Roboto"/>
              <a:buChar char="■"/>
            </a:pPr>
            <a:r>
              <a:rPr lang="en">
                <a:latin typeface="Roboto"/>
                <a:ea typeface="Roboto"/>
                <a:cs typeface="Roboto"/>
                <a:sym typeface="Roboto"/>
              </a:rPr>
              <a:t>Each element in A[1..q − 1] is ≤ A[q].</a:t>
            </a:r>
            <a:endParaRPr>
              <a:latin typeface="Roboto"/>
              <a:ea typeface="Roboto"/>
              <a:cs typeface="Roboto"/>
              <a:sym typeface="Roboto"/>
            </a:endParaRPr>
          </a:p>
          <a:p>
            <a:pPr indent="-317500" lvl="2" marL="1371600" rtl="0" algn="l">
              <a:spcBef>
                <a:spcPts val="0"/>
              </a:spcBef>
              <a:spcAft>
                <a:spcPts val="0"/>
              </a:spcAft>
              <a:buSzPts val="1400"/>
              <a:buFont typeface="Roboto"/>
              <a:buChar char="■"/>
            </a:pPr>
            <a:r>
              <a:rPr lang="en">
                <a:latin typeface="Roboto"/>
                <a:ea typeface="Roboto"/>
                <a:cs typeface="Roboto"/>
                <a:sym typeface="Roboto"/>
              </a:rPr>
              <a:t>Each element in A[q + 1..n] is &gt; A[q].</a:t>
            </a:r>
            <a:endParaRPr>
              <a:latin typeface="Roboto"/>
              <a:ea typeface="Roboto"/>
              <a:cs typeface="Roboto"/>
              <a:sym typeface="Roboto"/>
            </a:endParaRPr>
          </a:p>
          <a:p>
            <a:pPr indent="-317500" lvl="1" marL="914400" rtl="0" algn="l">
              <a:spcBef>
                <a:spcPts val="0"/>
              </a:spcBef>
              <a:spcAft>
                <a:spcPts val="0"/>
              </a:spcAft>
              <a:buSzPts val="1400"/>
              <a:buFont typeface="Roboto"/>
              <a:buChar char="○"/>
            </a:pPr>
            <a:r>
              <a:rPr lang="en">
                <a:latin typeface="Roboto"/>
                <a:ea typeface="Roboto"/>
                <a:cs typeface="Roboto"/>
                <a:sym typeface="Roboto"/>
              </a:rPr>
              <a:t>The element A[q] is called </a:t>
            </a:r>
            <a:r>
              <a:rPr b="1" lang="en">
                <a:solidFill>
                  <a:srgbClr val="674EA7"/>
                </a:solidFill>
                <a:latin typeface="Roboto"/>
                <a:ea typeface="Roboto"/>
                <a:cs typeface="Roboto"/>
                <a:sym typeface="Roboto"/>
              </a:rPr>
              <a:t>pivot</a:t>
            </a:r>
            <a:r>
              <a:rPr lang="en">
                <a:latin typeface="Roboto"/>
                <a:ea typeface="Roboto"/>
                <a:cs typeface="Roboto"/>
                <a:sym typeface="Roboto"/>
              </a:rPr>
              <a:t>.</a:t>
            </a:r>
            <a:endParaRPr>
              <a:latin typeface="Roboto"/>
              <a:ea typeface="Roboto"/>
              <a:cs typeface="Roboto"/>
              <a:sym typeface="Roboto"/>
            </a:endParaRPr>
          </a:p>
          <a:p>
            <a:pPr indent="-317500" lvl="1" marL="914400" rtl="0" algn="l">
              <a:spcBef>
                <a:spcPts val="0"/>
              </a:spcBef>
              <a:spcAft>
                <a:spcPts val="0"/>
              </a:spcAft>
              <a:buSzPts val="1400"/>
              <a:buFont typeface="Roboto"/>
              <a:buChar char="○"/>
            </a:pPr>
            <a:r>
              <a:rPr lang="en">
                <a:latin typeface="Roboto"/>
                <a:ea typeface="Roboto"/>
                <a:cs typeface="Roboto"/>
                <a:sym typeface="Roboto"/>
              </a:rPr>
              <a:t>Recursively sort (in place) each subarray.</a:t>
            </a: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Average complexity:</a:t>
            </a:r>
            <a:endParaRPr>
              <a:latin typeface="Roboto"/>
              <a:ea typeface="Roboto"/>
              <a:cs typeface="Roboto"/>
              <a:sym typeface="Roboto"/>
            </a:endParaRPr>
          </a:p>
          <a:p>
            <a:pPr indent="-317500" lvl="1" marL="914400" rtl="0" algn="l">
              <a:spcBef>
                <a:spcPts val="0"/>
              </a:spcBef>
              <a:spcAft>
                <a:spcPts val="0"/>
              </a:spcAft>
              <a:buSzPts val="1400"/>
              <a:buFont typeface="Roboto"/>
              <a:buChar char="○"/>
            </a:pPr>
            <a:r>
              <a:rPr i="1" lang="en">
                <a:latin typeface="Roboto"/>
                <a:ea typeface="Roboto"/>
                <a:cs typeface="Roboto"/>
                <a:sym typeface="Roboto"/>
              </a:rPr>
              <a:t>O(n log n)</a:t>
            </a:r>
            <a:endParaRPr i="1">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Worst case complexity:</a:t>
            </a:r>
            <a:endParaRPr>
              <a:latin typeface="Roboto"/>
              <a:ea typeface="Roboto"/>
              <a:cs typeface="Roboto"/>
              <a:sym typeface="Roboto"/>
            </a:endParaRPr>
          </a:p>
          <a:p>
            <a:pPr indent="-317500" lvl="1" marL="914400" rtl="0" algn="l">
              <a:spcBef>
                <a:spcPts val="0"/>
              </a:spcBef>
              <a:spcAft>
                <a:spcPts val="0"/>
              </a:spcAft>
              <a:buSzPts val="1400"/>
              <a:buFont typeface="Roboto"/>
              <a:buChar char="○"/>
            </a:pPr>
            <a:r>
              <a:rPr i="1" lang="en">
                <a:latin typeface="Roboto"/>
                <a:ea typeface="Roboto"/>
                <a:cs typeface="Roboto"/>
                <a:sym typeface="Roboto"/>
              </a:rPr>
              <a:t>O(n</a:t>
            </a:r>
            <a:r>
              <a:rPr baseline="30000" i="1" lang="en">
                <a:latin typeface="Roboto"/>
                <a:ea typeface="Roboto"/>
                <a:cs typeface="Roboto"/>
                <a:sym typeface="Roboto"/>
              </a:rPr>
              <a:t>2</a:t>
            </a:r>
            <a:r>
              <a:rPr i="1" lang="en">
                <a:latin typeface="Roboto"/>
                <a:ea typeface="Roboto"/>
                <a:cs typeface="Roboto"/>
                <a:sym typeface="Roboto"/>
              </a:rPr>
              <a:t>)</a:t>
            </a:r>
            <a:endParaRPr i="1">
              <a:latin typeface="Roboto"/>
              <a:ea typeface="Roboto"/>
              <a:cs typeface="Roboto"/>
              <a:sym typeface="Roboto"/>
            </a:endParaRPr>
          </a:p>
        </p:txBody>
      </p:sp>
      <p:sp>
        <p:nvSpPr>
          <p:cNvPr id="575" name="Google Shape;575;p41"/>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xEl>
                                              <p:pRg end="0" st="0"/>
                                            </p:txEl>
                                          </p:spTgt>
                                        </p:tgtEl>
                                        <p:attrNameLst>
                                          <p:attrName>style.visibility</p:attrName>
                                        </p:attrNameLst>
                                      </p:cBhvr>
                                      <p:to>
                                        <p:strVal val="visible"/>
                                      </p:to>
                                    </p:set>
                                    <p:animEffect filter="fade" transition="in">
                                      <p:cBhvr>
                                        <p:cTn dur="1000"/>
                                        <p:tgtEl>
                                          <p:spTgt spid="5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xEl>
                                              <p:pRg end="1" st="1"/>
                                            </p:txEl>
                                          </p:spTgt>
                                        </p:tgtEl>
                                        <p:attrNameLst>
                                          <p:attrName>style.visibility</p:attrName>
                                        </p:attrNameLst>
                                      </p:cBhvr>
                                      <p:to>
                                        <p:strVal val="visible"/>
                                      </p:to>
                                    </p:set>
                                    <p:animEffect filter="fade" transition="in">
                                      <p:cBhvr>
                                        <p:cTn dur="1000"/>
                                        <p:tgtEl>
                                          <p:spTgt spid="5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xEl>
                                              <p:pRg end="2" st="2"/>
                                            </p:txEl>
                                          </p:spTgt>
                                        </p:tgtEl>
                                        <p:attrNameLst>
                                          <p:attrName>style.visibility</p:attrName>
                                        </p:attrNameLst>
                                      </p:cBhvr>
                                      <p:to>
                                        <p:strVal val="visible"/>
                                      </p:to>
                                    </p:set>
                                    <p:animEffect filter="fade" transition="in">
                                      <p:cBhvr>
                                        <p:cTn dur="1000"/>
                                        <p:tgtEl>
                                          <p:spTgt spid="5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xEl>
                                              <p:pRg end="3" st="3"/>
                                            </p:txEl>
                                          </p:spTgt>
                                        </p:tgtEl>
                                        <p:attrNameLst>
                                          <p:attrName>style.visibility</p:attrName>
                                        </p:attrNameLst>
                                      </p:cBhvr>
                                      <p:to>
                                        <p:strVal val="visible"/>
                                      </p:to>
                                    </p:set>
                                    <p:animEffect filter="fade" transition="in">
                                      <p:cBhvr>
                                        <p:cTn dur="1000"/>
                                        <p:tgtEl>
                                          <p:spTgt spid="5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xEl>
                                              <p:pRg end="4" st="4"/>
                                            </p:txEl>
                                          </p:spTgt>
                                        </p:tgtEl>
                                        <p:attrNameLst>
                                          <p:attrName>style.visibility</p:attrName>
                                        </p:attrNameLst>
                                      </p:cBhvr>
                                      <p:to>
                                        <p:strVal val="visible"/>
                                      </p:to>
                                    </p:set>
                                    <p:animEffect filter="fade" transition="in">
                                      <p:cBhvr>
                                        <p:cTn dur="1000"/>
                                        <p:tgtEl>
                                          <p:spTgt spid="5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xEl>
                                              <p:pRg end="5" st="5"/>
                                            </p:txEl>
                                          </p:spTgt>
                                        </p:tgtEl>
                                        <p:attrNameLst>
                                          <p:attrName>style.visibility</p:attrName>
                                        </p:attrNameLst>
                                      </p:cBhvr>
                                      <p:to>
                                        <p:strVal val="visible"/>
                                      </p:to>
                                    </p:set>
                                    <p:animEffect filter="fade" transition="in">
                                      <p:cBhvr>
                                        <p:cTn dur="1000"/>
                                        <p:tgtEl>
                                          <p:spTgt spid="57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xEl>
                                              <p:pRg end="6" st="6"/>
                                            </p:txEl>
                                          </p:spTgt>
                                        </p:tgtEl>
                                        <p:attrNameLst>
                                          <p:attrName>style.visibility</p:attrName>
                                        </p:attrNameLst>
                                      </p:cBhvr>
                                      <p:to>
                                        <p:strVal val="visible"/>
                                      </p:to>
                                    </p:set>
                                    <p:animEffect filter="fade" transition="in">
                                      <p:cBhvr>
                                        <p:cTn dur="1000"/>
                                        <p:tgtEl>
                                          <p:spTgt spid="57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xEl>
                                              <p:pRg end="7" st="7"/>
                                            </p:txEl>
                                          </p:spTgt>
                                        </p:tgtEl>
                                        <p:attrNameLst>
                                          <p:attrName>style.visibility</p:attrName>
                                        </p:attrNameLst>
                                      </p:cBhvr>
                                      <p:to>
                                        <p:strVal val="visible"/>
                                      </p:to>
                                    </p:set>
                                    <p:animEffect filter="fade" transition="in">
                                      <p:cBhvr>
                                        <p:cTn dur="1000"/>
                                        <p:tgtEl>
                                          <p:spTgt spid="57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xEl>
                                              <p:pRg end="8" st="8"/>
                                            </p:txEl>
                                          </p:spTgt>
                                        </p:tgtEl>
                                        <p:attrNameLst>
                                          <p:attrName>style.visibility</p:attrName>
                                        </p:attrNameLst>
                                      </p:cBhvr>
                                      <p:to>
                                        <p:strVal val="visible"/>
                                      </p:to>
                                    </p:set>
                                    <p:animEffect filter="fade" transition="in">
                                      <p:cBhvr>
                                        <p:cTn dur="1000"/>
                                        <p:tgtEl>
                                          <p:spTgt spid="57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xEl>
                                              <p:pRg end="9" st="9"/>
                                            </p:txEl>
                                          </p:spTgt>
                                        </p:tgtEl>
                                        <p:attrNameLst>
                                          <p:attrName>style.visibility</p:attrName>
                                        </p:attrNameLst>
                                      </p:cBhvr>
                                      <p:to>
                                        <p:strVal val="visible"/>
                                      </p:to>
                                    </p:set>
                                    <p:animEffect filter="fade" transition="in">
                                      <p:cBhvr>
                                        <p:cTn dur="1000"/>
                                        <p:tgtEl>
                                          <p:spTgt spid="57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Quicksort Example</a:t>
            </a:r>
            <a:endParaRPr/>
          </a:p>
        </p:txBody>
      </p:sp>
      <p:grpSp>
        <p:nvGrpSpPr>
          <p:cNvPr id="581" name="Google Shape;581;p42"/>
          <p:cNvGrpSpPr/>
          <p:nvPr/>
        </p:nvGrpSpPr>
        <p:grpSpPr>
          <a:xfrm>
            <a:off x="1231883" y="1444281"/>
            <a:ext cx="2515281" cy="381852"/>
            <a:chOff x="221525" y="1459280"/>
            <a:chExt cx="3615467" cy="507917"/>
          </a:xfrm>
        </p:grpSpPr>
        <p:sp>
          <p:nvSpPr>
            <p:cNvPr id="582" name="Google Shape;582;p42"/>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583" name="Google Shape;583;p42"/>
            <p:cNvSpPr/>
            <p:nvPr/>
          </p:nvSpPr>
          <p:spPr>
            <a:xfrm>
              <a:off x="3320392"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584" name="Google Shape;584;p42"/>
            <p:cNvSpPr/>
            <p:nvPr/>
          </p:nvSpPr>
          <p:spPr>
            <a:xfrm>
              <a:off x="2812966"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sp>
          <p:nvSpPr>
            <p:cNvPr id="585" name="Google Shape;585;p42"/>
            <p:cNvSpPr/>
            <p:nvPr/>
          </p:nvSpPr>
          <p:spPr>
            <a:xfrm>
              <a:off x="2296488"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sp>
          <p:nvSpPr>
            <p:cNvPr id="586" name="Google Shape;586;p42"/>
            <p:cNvSpPr/>
            <p:nvPr/>
          </p:nvSpPr>
          <p:spPr>
            <a:xfrm>
              <a:off x="1780011"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587" name="Google Shape;587;p42"/>
            <p:cNvSpPr/>
            <p:nvPr/>
          </p:nvSpPr>
          <p:spPr>
            <a:xfrm>
              <a:off x="1259007"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588" name="Google Shape;588;p42"/>
            <p:cNvSpPr/>
            <p:nvPr/>
          </p:nvSpPr>
          <p:spPr>
            <a:xfrm>
              <a:off x="738003" y="1459280"/>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grpSp>
      <p:grpSp>
        <p:nvGrpSpPr>
          <p:cNvPr id="589" name="Google Shape;589;p42"/>
          <p:cNvGrpSpPr/>
          <p:nvPr/>
        </p:nvGrpSpPr>
        <p:grpSpPr>
          <a:xfrm>
            <a:off x="1231883" y="1975676"/>
            <a:ext cx="2515281" cy="381852"/>
            <a:chOff x="221525" y="1459280"/>
            <a:chExt cx="3615467" cy="507917"/>
          </a:xfrm>
        </p:grpSpPr>
        <p:sp>
          <p:nvSpPr>
            <p:cNvPr id="590" name="Google Shape;590;p42"/>
            <p:cNvSpPr/>
            <p:nvPr/>
          </p:nvSpPr>
          <p:spPr>
            <a:xfrm>
              <a:off x="221525"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591" name="Google Shape;591;p42"/>
            <p:cNvSpPr/>
            <p:nvPr/>
          </p:nvSpPr>
          <p:spPr>
            <a:xfrm>
              <a:off x="3320392"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592" name="Google Shape;592;p42"/>
            <p:cNvSpPr/>
            <p:nvPr/>
          </p:nvSpPr>
          <p:spPr>
            <a:xfrm>
              <a:off x="2812966"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sp>
          <p:nvSpPr>
            <p:cNvPr id="593" name="Google Shape;593;p42"/>
            <p:cNvSpPr/>
            <p:nvPr/>
          </p:nvSpPr>
          <p:spPr>
            <a:xfrm>
              <a:off x="2296488"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sp>
          <p:nvSpPr>
            <p:cNvPr id="594" name="Google Shape;594;p42"/>
            <p:cNvSpPr/>
            <p:nvPr/>
          </p:nvSpPr>
          <p:spPr>
            <a:xfrm>
              <a:off x="1780011"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595" name="Google Shape;595;p42"/>
            <p:cNvSpPr/>
            <p:nvPr/>
          </p:nvSpPr>
          <p:spPr>
            <a:xfrm>
              <a:off x="1259007"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596" name="Google Shape;596;p42"/>
            <p:cNvSpPr/>
            <p:nvPr/>
          </p:nvSpPr>
          <p:spPr>
            <a:xfrm>
              <a:off x="738003" y="1459280"/>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grpSp>
      <p:grpSp>
        <p:nvGrpSpPr>
          <p:cNvPr id="597" name="Google Shape;597;p42"/>
          <p:cNvGrpSpPr/>
          <p:nvPr/>
        </p:nvGrpSpPr>
        <p:grpSpPr>
          <a:xfrm>
            <a:off x="1256275" y="3599040"/>
            <a:ext cx="2515281" cy="381852"/>
            <a:chOff x="221525" y="1459280"/>
            <a:chExt cx="3615467" cy="507917"/>
          </a:xfrm>
        </p:grpSpPr>
        <p:sp>
          <p:nvSpPr>
            <p:cNvPr id="598" name="Google Shape;598;p42"/>
            <p:cNvSpPr/>
            <p:nvPr/>
          </p:nvSpPr>
          <p:spPr>
            <a:xfrm>
              <a:off x="221525"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599" name="Google Shape;599;p42"/>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sp>
          <p:nvSpPr>
            <p:cNvPr id="600" name="Google Shape;600;p42"/>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601" name="Google Shape;601;p42"/>
            <p:cNvSpPr/>
            <p:nvPr/>
          </p:nvSpPr>
          <p:spPr>
            <a:xfrm>
              <a:off x="2296488"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sp>
          <p:nvSpPr>
            <p:cNvPr id="602" name="Google Shape;602;p42"/>
            <p:cNvSpPr/>
            <p:nvPr/>
          </p:nvSpPr>
          <p:spPr>
            <a:xfrm>
              <a:off x="1780011"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603" name="Google Shape;603;p42"/>
            <p:cNvSpPr/>
            <p:nvPr/>
          </p:nvSpPr>
          <p:spPr>
            <a:xfrm>
              <a:off x="1259007"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604" name="Google Shape;604;p42"/>
            <p:cNvSpPr/>
            <p:nvPr/>
          </p:nvSpPr>
          <p:spPr>
            <a:xfrm>
              <a:off x="738003" y="1459280"/>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grpSp>
      <p:sp>
        <p:nvSpPr>
          <p:cNvPr id="605" name="Google Shape;605;p42"/>
          <p:cNvSpPr txBox="1"/>
          <p:nvPr/>
        </p:nvSpPr>
        <p:spPr>
          <a:xfrm>
            <a:off x="244675" y="3610311"/>
            <a:ext cx="795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Roboto"/>
                <a:ea typeface="Roboto"/>
                <a:cs typeface="Roboto"/>
                <a:sym typeface="Roboto"/>
              </a:rPr>
              <a:t>Final result:</a:t>
            </a:r>
            <a:endParaRPr sz="1000">
              <a:latin typeface="Roboto"/>
              <a:ea typeface="Roboto"/>
              <a:cs typeface="Roboto"/>
              <a:sym typeface="Roboto"/>
            </a:endParaRPr>
          </a:p>
        </p:txBody>
      </p:sp>
      <p:grpSp>
        <p:nvGrpSpPr>
          <p:cNvPr id="606" name="Google Shape;606;p42"/>
          <p:cNvGrpSpPr/>
          <p:nvPr/>
        </p:nvGrpSpPr>
        <p:grpSpPr>
          <a:xfrm>
            <a:off x="1231883" y="2507071"/>
            <a:ext cx="2515281" cy="381852"/>
            <a:chOff x="221525" y="1459280"/>
            <a:chExt cx="3615467" cy="507917"/>
          </a:xfrm>
        </p:grpSpPr>
        <p:sp>
          <p:nvSpPr>
            <p:cNvPr id="607" name="Google Shape;607;p42"/>
            <p:cNvSpPr/>
            <p:nvPr/>
          </p:nvSpPr>
          <p:spPr>
            <a:xfrm>
              <a:off x="221525"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608" name="Google Shape;608;p42"/>
            <p:cNvSpPr/>
            <p:nvPr/>
          </p:nvSpPr>
          <p:spPr>
            <a:xfrm>
              <a:off x="3320392"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sp>
          <p:nvSpPr>
            <p:cNvPr id="609" name="Google Shape;609;p42"/>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610" name="Google Shape;610;p42"/>
            <p:cNvSpPr/>
            <p:nvPr/>
          </p:nvSpPr>
          <p:spPr>
            <a:xfrm>
              <a:off x="2296488"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sp>
          <p:nvSpPr>
            <p:cNvPr id="611" name="Google Shape;611;p42"/>
            <p:cNvSpPr/>
            <p:nvPr/>
          </p:nvSpPr>
          <p:spPr>
            <a:xfrm>
              <a:off x="1780011"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612" name="Google Shape;612;p42"/>
            <p:cNvSpPr/>
            <p:nvPr/>
          </p:nvSpPr>
          <p:spPr>
            <a:xfrm>
              <a:off x="1259007"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613" name="Google Shape;613;p42"/>
            <p:cNvSpPr/>
            <p:nvPr/>
          </p:nvSpPr>
          <p:spPr>
            <a:xfrm>
              <a:off x="738003" y="1459280"/>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grpSp>
      <p:sp>
        <p:nvSpPr>
          <p:cNvPr id="614" name="Google Shape;614;p42"/>
          <p:cNvSpPr txBox="1"/>
          <p:nvPr/>
        </p:nvSpPr>
        <p:spPr>
          <a:xfrm>
            <a:off x="409619" y="1484740"/>
            <a:ext cx="795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Roboto"/>
                <a:ea typeface="Roboto"/>
                <a:cs typeface="Roboto"/>
                <a:sym typeface="Roboto"/>
              </a:rPr>
              <a:t>Pivot: 4</a:t>
            </a:r>
            <a:endParaRPr sz="1000">
              <a:latin typeface="Roboto"/>
              <a:ea typeface="Roboto"/>
              <a:cs typeface="Roboto"/>
              <a:sym typeface="Roboto"/>
            </a:endParaRPr>
          </a:p>
        </p:txBody>
      </p:sp>
      <p:sp>
        <p:nvSpPr>
          <p:cNvPr id="615" name="Google Shape;615;p42"/>
          <p:cNvSpPr txBox="1"/>
          <p:nvPr/>
        </p:nvSpPr>
        <p:spPr>
          <a:xfrm>
            <a:off x="409619" y="2547521"/>
            <a:ext cx="795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Roboto"/>
                <a:ea typeface="Roboto"/>
                <a:cs typeface="Roboto"/>
                <a:sym typeface="Roboto"/>
              </a:rPr>
              <a:t>Pivot: 2</a:t>
            </a:r>
            <a:endParaRPr sz="1000">
              <a:latin typeface="Roboto"/>
              <a:ea typeface="Roboto"/>
              <a:cs typeface="Roboto"/>
              <a:sym typeface="Roboto"/>
            </a:endParaRPr>
          </a:p>
        </p:txBody>
      </p:sp>
      <p:sp>
        <p:nvSpPr>
          <p:cNvPr id="616" name="Google Shape;616;p42"/>
          <p:cNvSpPr txBox="1"/>
          <p:nvPr/>
        </p:nvSpPr>
        <p:spPr>
          <a:xfrm>
            <a:off x="3710259" y="2562133"/>
            <a:ext cx="795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Roboto"/>
                <a:ea typeface="Roboto"/>
                <a:cs typeface="Roboto"/>
                <a:sym typeface="Roboto"/>
              </a:rPr>
              <a:t>Pivot: 6</a:t>
            </a:r>
            <a:endParaRPr sz="1000">
              <a:latin typeface="Roboto"/>
              <a:ea typeface="Roboto"/>
              <a:cs typeface="Roboto"/>
              <a:sym typeface="Roboto"/>
            </a:endParaRPr>
          </a:p>
        </p:txBody>
      </p:sp>
      <p:sp>
        <p:nvSpPr>
          <p:cNvPr id="617" name="Google Shape;617;p42"/>
          <p:cNvSpPr txBox="1"/>
          <p:nvPr>
            <p:ph idx="1" type="body"/>
          </p:nvPr>
        </p:nvSpPr>
        <p:spPr>
          <a:xfrm>
            <a:off x="4455675" y="1616275"/>
            <a:ext cx="4618200" cy="22320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1018"/>
              <a:buNone/>
            </a:pPr>
            <a:r>
              <a:rPr lang="en" sz="765">
                <a:latin typeface="Roboto Mono"/>
                <a:ea typeface="Roboto Mono"/>
                <a:cs typeface="Roboto Mono"/>
                <a:sym typeface="Roboto Mono"/>
              </a:rPr>
              <a:t>quickSort(arr[], start, end)</a:t>
            </a:r>
            <a:endParaRPr sz="765">
              <a:latin typeface="Roboto Mono"/>
              <a:ea typeface="Roboto Mono"/>
              <a:cs typeface="Roboto Mono"/>
              <a:sym typeface="Roboto Mono"/>
            </a:endParaRPr>
          </a:p>
          <a:p>
            <a:pPr indent="0" lvl="0" marL="0" rtl="0" algn="l">
              <a:lnSpc>
                <a:spcPct val="150000"/>
              </a:lnSpc>
              <a:spcBef>
                <a:spcPts val="0"/>
              </a:spcBef>
              <a:spcAft>
                <a:spcPts val="0"/>
              </a:spcAft>
              <a:buSzPts val="1018"/>
              <a:buNone/>
            </a:pPr>
            <a:r>
              <a:rPr lang="en" sz="765">
                <a:latin typeface="Roboto Mono"/>
                <a:ea typeface="Roboto Mono"/>
                <a:cs typeface="Roboto Mono"/>
                <a:sym typeface="Roboto Mono"/>
              </a:rPr>
              <a:t>{</a:t>
            </a:r>
            <a:endParaRPr sz="765">
              <a:latin typeface="Roboto Mono"/>
              <a:ea typeface="Roboto Mono"/>
              <a:cs typeface="Roboto Mono"/>
              <a:sym typeface="Roboto Mono"/>
            </a:endParaRPr>
          </a:p>
          <a:p>
            <a:pPr indent="0" lvl="0" marL="0" rtl="0" algn="l">
              <a:lnSpc>
                <a:spcPct val="150000"/>
              </a:lnSpc>
              <a:spcBef>
                <a:spcPts val="0"/>
              </a:spcBef>
              <a:spcAft>
                <a:spcPts val="0"/>
              </a:spcAft>
              <a:buSzPts val="1018"/>
              <a:buNone/>
            </a:pPr>
            <a:r>
              <a:rPr lang="en" sz="765">
                <a:latin typeface="Roboto Mono"/>
                <a:ea typeface="Roboto Mono"/>
                <a:cs typeface="Roboto Mono"/>
                <a:sym typeface="Roboto Mono"/>
              </a:rPr>
              <a:t>    if (start &lt; end)</a:t>
            </a:r>
            <a:endParaRPr sz="765">
              <a:latin typeface="Roboto Mono"/>
              <a:ea typeface="Roboto Mono"/>
              <a:cs typeface="Roboto Mono"/>
              <a:sym typeface="Roboto Mono"/>
            </a:endParaRPr>
          </a:p>
          <a:p>
            <a:pPr indent="0" lvl="0" marL="0" rtl="0" algn="l">
              <a:lnSpc>
                <a:spcPct val="150000"/>
              </a:lnSpc>
              <a:spcBef>
                <a:spcPts val="0"/>
              </a:spcBef>
              <a:spcAft>
                <a:spcPts val="0"/>
              </a:spcAft>
              <a:buSzPts val="1018"/>
              <a:buNone/>
            </a:pPr>
            <a:r>
              <a:rPr lang="en" sz="765">
                <a:latin typeface="Roboto Mono"/>
                <a:ea typeface="Roboto Mono"/>
                <a:cs typeface="Roboto Mono"/>
                <a:sym typeface="Roboto Mono"/>
              </a:rPr>
              <a:t>    {</a:t>
            </a:r>
            <a:endParaRPr sz="765">
              <a:latin typeface="Roboto Mono"/>
              <a:ea typeface="Roboto Mono"/>
              <a:cs typeface="Roboto Mono"/>
              <a:sym typeface="Roboto Mono"/>
            </a:endParaRPr>
          </a:p>
          <a:p>
            <a:pPr indent="0" lvl="0" marL="0" rtl="0" algn="l">
              <a:lnSpc>
                <a:spcPct val="150000"/>
              </a:lnSpc>
              <a:spcBef>
                <a:spcPts val="0"/>
              </a:spcBef>
              <a:spcAft>
                <a:spcPts val="0"/>
              </a:spcAft>
              <a:buSzPts val="1018"/>
              <a:buNone/>
            </a:pPr>
            <a:r>
              <a:rPr lang="en" sz="765">
                <a:latin typeface="Roboto Mono"/>
                <a:ea typeface="Roboto Mono"/>
                <a:cs typeface="Roboto Mono"/>
                <a:sym typeface="Roboto Mono"/>
              </a:rPr>
              <a:t>        /* pIndex partitioning index, arr[pIndex] is now at right place */</a:t>
            </a:r>
            <a:endParaRPr sz="765">
              <a:latin typeface="Roboto Mono"/>
              <a:ea typeface="Roboto Mono"/>
              <a:cs typeface="Roboto Mono"/>
              <a:sym typeface="Roboto Mono"/>
            </a:endParaRPr>
          </a:p>
          <a:p>
            <a:pPr indent="0" lvl="0" marL="0" rtl="0" algn="l">
              <a:lnSpc>
                <a:spcPct val="150000"/>
              </a:lnSpc>
              <a:spcBef>
                <a:spcPts val="0"/>
              </a:spcBef>
              <a:spcAft>
                <a:spcPts val="0"/>
              </a:spcAft>
              <a:buSzPts val="1018"/>
              <a:buNone/>
            </a:pPr>
            <a:r>
              <a:rPr lang="en" sz="765">
                <a:latin typeface="Roboto Mono"/>
                <a:ea typeface="Roboto Mono"/>
                <a:cs typeface="Roboto Mono"/>
                <a:sym typeface="Roboto Mono"/>
              </a:rPr>
              <a:t>        pIndex = partition(arr, start, end);</a:t>
            </a:r>
            <a:endParaRPr sz="765">
              <a:latin typeface="Roboto Mono"/>
              <a:ea typeface="Roboto Mono"/>
              <a:cs typeface="Roboto Mono"/>
              <a:sym typeface="Roboto Mono"/>
            </a:endParaRPr>
          </a:p>
          <a:p>
            <a:pPr indent="0" lvl="0" marL="0" rtl="0" algn="l">
              <a:lnSpc>
                <a:spcPct val="150000"/>
              </a:lnSpc>
              <a:spcBef>
                <a:spcPts val="0"/>
              </a:spcBef>
              <a:spcAft>
                <a:spcPts val="0"/>
              </a:spcAft>
              <a:buSzPts val="1018"/>
              <a:buNone/>
            </a:pPr>
            <a:r>
              <a:t/>
            </a:r>
            <a:endParaRPr sz="765">
              <a:latin typeface="Roboto Mono"/>
              <a:ea typeface="Roboto Mono"/>
              <a:cs typeface="Roboto Mono"/>
              <a:sym typeface="Roboto Mono"/>
            </a:endParaRPr>
          </a:p>
          <a:p>
            <a:pPr indent="0" lvl="0" marL="0" rtl="0" algn="l">
              <a:lnSpc>
                <a:spcPct val="150000"/>
              </a:lnSpc>
              <a:spcBef>
                <a:spcPts val="0"/>
              </a:spcBef>
              <a:spcAft>
                <a:spcPts val="0"/>
              </a:spcAft>
              <a:buSzPts val="1018"/>
              <a:buNone/>
            </a:pPr>
            <a:r>
              <a:rPr lang="en" sz="765">
                <a:latin typeface="Roboto Mono"/>
                <a:ea typeface="Roboto Mono"/>
                <a:cs typeface="Roboto Mono"/>
                <a:sym typeface="Roboto Mono"/>
              </a:rPr>
              <a:t>        quickSort(arr, start, pIndex - 1);  // Before pIndex</a:t>
            </a:r>
            <a:endParaRPr sz="765">
              <a:latin typeface="Roboto Mono"/>
              <a:ea typeface="Roboto Mono"/>
              <a:cs typeface="Roboto Mono"/>
              <a:sym typeface="Roboto Mono"/>
            </a:endParaRPr>
          </a:p>
          <a:p>
            <a:pPr indent="0" lvl="0" marL="0" rtl="0" algn="l">
              <a:lnSpc>
                <a:spcPct val="150000"/>
              </a:lnSpc>
              <a:spcBef>
                <a:spcPts val="0"/>
              </a:spcBef>
              <a:spcAft>
                <a:spcPts val="0"/>
              </a:spcAft>
              <a:buSzPts val="1018"/>
              <a:buNone/>
            </a:pPr>
            <a:r>
              <a:rPr lang="en" sz="765">
                <a:latin typeface="Roboto Mono"/>
                <a:ea typeface="Roboto Mono"/>
                <a:cs typeface="Roboto Mono"/>
                <a:sym typeface="Roboto Mono"/>
              </a:rPr>
              <a:t>        quickSort(arr, pIndex + 1, end); // After pIndex</a:t>
            </a:r>
            <a:endParaRPr sz="765">
              <a:latin typeface="Roboto Mono"/>
              <a:ea typeface="Roboto Mono"/>
              <a:cs typeface="Roboto Mono"/>
              <a:sym typeface="Roboto Mono"/>
            </a:endParaRPr>
          </a:p>
          <a:p>
            <a:pPr indent="0" lvl="0" marL="0" rtl="0" algn="l">
              <a:lnSpc>
                <a:spcPct val="150000"/>
              </a:lnSpc>
              <a:spcBef>
                <a:spcPts val="0"/>
              </a:spcBef>
              <a:spcAft>
                <a:spcPts val="0"/>
              </a:spcAft>
              <a:buSzPts val="1018"/>
              <a:buNone/>
            </a:pPr>
            <a:r>
              <a:rPr lang="en" sz="765">
                <a:latin typeface="Roboto Mono"/>
                <a:ea typeface="Roboto Mono"/>
                <a:cs typeface="Roboto Mono"/>
                <a:sym typeface="Roboto Mono"/>
              </a:rPr>
              <a:t>    }</a:t>
            </a:r>
            <a:endParaRPr sz="765">
              <a:latin typeface="Roboto Mono"/>
              <a:ea typeface="Roboto Mono"/>
              <a:cs typeface="Roboto Mono"/>
              <a:sym typeface="Roboto Mono"/>
            </a:endParaRPr>
          </a:p>
          <a:p>
            <a:pPr indent="0" lvl="0" marL="0" rtl="0" algn="l">
              <a:lnSpc>
                <a:spcPct val="150000"/>
              </a:lnSpc>
              <a:spcBef>
                <a:spcPts val="0"/>
              </a:spcBef>
              <a:spcAft>
                <a:spcPts val="0"/>
              </a:spcAft>
              <a:buSzPts val="1018"/>
              <a:buNone/>
            </a:pPr>
            <a:r>
              <a:rPr lang="en" sz="765">
                <a:latin typeface="Roboto Mono"/>
                <a:ea typeface="Roboto Mono"/>
                <a:cs typeface="Roboto Mono"/>
                <a:sym typeface="Roboto Mono"/>
              </a:rPr>
              <a:t>}</a:t>
            </a:r>
            <a:endParaRPr sz="765">
              <a:latin typeface="Roboto Mono"/>
              <a:ea typeface="Roboto Mono"/>
              <a:cs typeface="Roboto Mono"/>
              <a:sym typeface="Roboto Mono"/>
            </a:endParaRPr>
          </a:p>
        </p:txBody>
      </p:sp>
      <p:sp>
        <p:nvSpPr>
          <p:cNvPr id="618" name="Google Shape;618;p42"/>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xEl>
                                              <p:pRg end="0" st="0"/>
                                            </p:txEl>
                                          </p:spTgt>
                                        </p:tgtEl>
                                        <p:attrNameLst>
                                          <p:attrName>style.visibility</p:attrName>
                                        </p:attrNameLst>
                                      </p:cBhvr>
                                      <p:to>
                                        <p:strVal val="visible"/>
                                      </p:to>
                                    </p:set>
                                    <p:animEffect filter="fade" transition="in">
                                      <p:cBhvr>
                                        <p:cTn dur="1000"/>
                                        <p:tgtEl>
                                          <p:spTgt spid="6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xEl>
                                              <p:pRg end="1" st="1"/>
                                            </p:txEl>
                                          </p:spTgt>
                                        </p:tgtEl>
                                        <p:attrNameLst>
                                          <p:attrName>style.visibility</p:attrName>
                                        </p:attrNameLst>
                                      </p:cBhvr>
                                      <p:to>
                                        <p:strVal val="visible"/>
                                      </p:to>
                                    </p:set>
                                    <p:animEffect filter="fade" transition="in">
                                      <p:cBhvr>
                                        <p:cTn dur="1000"/>
                                        <p:tgtEl>
                                          <p:spTgt spid="6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xEl>
                                              <p:pRg end="2" st="2"/>
                                            </p:txEl>
                                          </p:spTgt>
                                        </p:tgtEl>
                                        <p:attrNameLst>
                                          <p:attrName>style.visibility</p:attrName>
                                        </p:attrNameLst>
                                      </p:cBhvr>
                                      <p:to>
                                        <p:strVal val="visible"/>
                                      </p:to>
                                    </p:set>
                                    <p:animEffect filter="fade" transition="in">
                                      <p:cBhvr>
                                        <p:cTn dur="1000"/>
                                        <p:tgtEl>
                                          <p:spTgt spid="6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xEl>
                                              <p:pRg end="3" st="3"/>
                                            </p:txEl>
                                          </p:spTgt>
                                        </p:tgtEl>
                                        <p:attrNameLst>
                                          <p:attrName>style.visibility</p:attrName>
                                        </p:attrNameLst>
                                      </p:cBhvr>
                                      <p:to>
                                        <p:strVal val="visible"/>
                                      </p:to>
                                    </p:set>
                                    <p:animEffect filter="fade" transition="in">
                                      <p:cBhvr>
                                        <p:cTn dur="1000"/>
                                        <p:tgtEl>
                                          <p:spTgt spid="6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xEl>
                                              <p:pRg end="4" st="4"/>
                                            </p:txEl>
                                          </p:spTgt>
                                        </p:tgtEl>
                                        <p:attrNameLst>
                                          <p:attrName>style.visibility</p:attrName>
                                        </p:attrNameLst>
                                      </p:cBhvr>
                                      <p:to>
                                        <p:strVal val="visible"/>
                                      </p:to>
                                    </p:set>
                                    <p:animEffect filter="fade" transition="in">
                                      <p:cBhvr>
                                        <p:cTn dur="1000"/>
                                        <p:tgtEl>
                                          <p:spTgt spid="61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xEl>
                                              <p:pRg end="5" st="5"/>
                                            </p:txEl>
                                          </p:spTgt>
                                        </p:tgtEl>
                                        <p:attrNameLst>
                                          <p:attrName>style.visibility</p:attrName>
                                        </p:attrNameLst>
                                      </p:cBhvr>
                                      <p:to>
                                        <p:strVal val="visible"/>
                                      </p:to>
                                    </p:set>
                                    <p:animEffect filter="fade" transition="in">
                                      <p:cBhvr>
                                        <p:cTn dur="1000"/>
                                        <p:tgtEl>
                                          <p:spTgt spid="61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xEl>
                                              <p:pRg end="6" st="6"/>
                                            </p:txEl>
                                          </p:spTgt>
                                        </p:tgtEl>
                                        <p:attrNameLst>
                                          <p:attrName>style.visibility</p:attrName>
                                        </p:attrNameLst>
                                      </p:cBhvr>
                                      <p:to>
                                        <p:strVal val="visible"/>
                                      </p:to>
                                    </p:set>
                                    <p:animEffect filter="fade" transition="in">
                                      <p:cBhvr>
                                        <p:cTn dur="1000"/>
                                        <p:tgtEl>
                                          <p:spTgt spid="61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xEl>
                                              <p:pRg end="7" st="7"/>
                                            </p:txEl>
                                          </p:spTgt>
                                        </p:tgtEl>
                                        <p:attrNameLst>
                                          <p:attrName>style.visibility</p:attrName>
                                        </p:attrNameLst>
                                      </p:cBhvr>
                                      <p:to>
                                        <p:strVal val="visible"/>
                                      </p:to>
                                    </p:set>
                                    <p:animEffect filter="fade" transition="in">
                                      <p:cBhvr>
                                        <p:cTn dur="1000"/>
                                        <p:tgtEl>
                                          <p:spTgt spid="61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xEl>
                                              <p:pRg end="8" st="8"/>
                                            </p:txEl>
                                          </p:spTgt>
                                        </p:tgtEl>
                                        <p:attrNameLst>
                                          <p:attrName>style.visibility</p:attrName>
                                        </p:attrNameLst>
                                      </p:cBhvr>
                                      <p:to>
                                        <p:strVal val="visible"/>
                                      </p:to>
                                    </p:set>
                                    <p:animEffect filter="fade" transition="in">
                                      <p:cBhvr>
                                        <p:cTn dur="1000"/>
                                        <p:tgtEl>
                                          <p:spTgt spid="61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xEl>
                                              <p:pRg end="9" st="9"/>
                                            </p:txEl>
                                          </p:spTgt>
                                        </p:tgtEl>
                                        <p:attrNameLst>
                                          <p:attrName>style.visibility</p:attrName>
                                        </p:attrNameLst>
                                      </p:cBhvr>
                                      <p:to>
                                        <p:strVal val="visible"/>
                                      </p:to>
                                    </p:set>
                                    <p:animEffect filter="fade" transition="in">
                                      <p:cBhvr>
                                        <p:cTn dur="1000"/>
                                        <p:tgtEl>
                                          <p:spTgt spid="61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xEl>
                                              <p:pRg end="10" st="10"/>
                                            </p:txEl>
                                          </p:spTgt>
                                        </p:tgtEl>
                                        <p:attrNameLst>
                                          <p:attrName>style.visibility</p:attrName>
                                        </p:attrNameLst>
                                      </p:cBhvr>
                                      <p:to>
                                        <p:strVal val="visible"/>
                                      </p:to>
                                    </p:set>
                                    <p:animEffect filter="fade" transition="in">
                                      <p:cBhvr>
                                        <p:cTn dur="1000"/>
                                        <p:tgtEl>
                                          <p:spTgt spid="61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1000"/>
                                        <p:tgtEl>
                                          <p:spTgt spid="581"/>
                                        </p:tgtEl>
                                      </p:cBhvr>
                                    </p:animEffect>
                                  </p:childTnLst>
                                </p:cTn>
                              </p:par>
                              <p:par>
                                <p:cTn fill="hold" nodeType="with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1000"/>
                                        <p:tgtEl>
                                          <p:spTgt spid="6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9"/>
                                        </p:tgtEl>
                                        <p:attrNameLst>
                                          <p:attrName>style.visibility</p:attrName>
                                        </p:attrNameLst>
                                      </p:cBhvr>
                                      <p:to>
                                        <p:strVal val="visible"/>
                                      </p:to>
                                    </p:set>
                                    <p:animEffect filter="fade" transition="in">
                                      <p:cBhvr>
                                        <p:cTn dur="1000"/>
                                        <p:tgtEl>
                                          <p:spTgt spid="5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1000"/>
                                        <p:tgtEl>
                                          <p:spTgt spid="606"/>
                                        </p:tgtEl>
                                      </p:cBhvr>
                                    </p:animEffect>
                                  </p:childTnLst>
                                </p:cTn>
                              </p:par>
                              <p:par>
                                <p:cTn fill="hold" nodeType="with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1000"/>
                                        <p:tgtEl>
                                          <p:spTgt spid="615"/>
                                        </p:tgtEl>
                                      </p:cBhvr>
                                    </p:animEffect>
                                  </p:childTnLst>
                                </p:cTn>
                              </p:par>
                              <p:par>
                                <p:cTn fill="hold" nodeType="with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1000"/>
                                        <p:tgtEl>
                                          <p:spTgt spid="6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7"/>
                                        </p:tgtEl>
                                        <p:attrNameLst>
                                          <p:attrName>style.visibility</p:attrName>
                                        </p:attrNameLst>
                                      </p:cBhvr>
                                      <p:to>
                                        <p:strVal val="visible"/>
                                      </p:to>
                                    </p:set>
                                    <p:animEffect filter="fade" transition="in">
                                      <p:cBhvr>
                                        <p:cTn dur="1000"/>
                                        <p:tgtEl>
                                          <p:spTgt spid="597"/>
                                        </p:tgtEl>
                                      </p:cBhvr>
                                    </p:animEffect>
                                  </p:childTnLst>
                                </p:cTn>
                              </p:par>
                              <p:par>
                                <p:cTn fill="hold" nodeType="with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1000"/>
                                        <p:tgtEl>
                                          <p:spTgt spid="6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3"/>
          <p:cNvSpPr txBox="1"/>
          <p:nvPr>
            <p:ph type="title"/>
          </p:nvPr>
        </p:nvSpPr>
        <p:spPr>
          <a:xfrm>
            <a:off x="280125" y="69850"/>
            <a:ext cx="2929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Quicksort Example</a:t>
            </a:r>
            <a:endParaRPr/>
          </a:p>
        </p:txBody>
      </p:sp>
      <p:grpSp>
        <p:nvGrpSpPr>
          <p:cNvPr id="624" name="Google Shape;624;p43"/>
          <p:cNvGrpSpPr/>
          <p:nvPr/>
        </p:nvGrpSpPr>
        <p:grpSpPr>
          <a:xfrm>
            <a:off x="1044778" y="653883"/>
            <a:ext cx="2418748" cy="285145"/>
            <a:chOff x="221525" y="1459280"/>
            <a:chExt cx="3615467" cy="507917"/>
          </a:xfrm>
        </p:grpSpPr>
        <p:sp>
          <p:nvSpPr>
            <p:cNvPr id="625" name="Google Shape;625;p43"/>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6</a:t>
              </a:r>
              <a:endParaRPr sz="800">
                <a:latin typeface="Roboto"/>
                <a:ea typeface="Roboto"/>
                <a:cs typeface="Roboto"/>
                <a:sym typeface="Roboto"/>
              </a:endParaRPr>
            </a:p>
          </p:txBody>
        </p:sp>
        <p:sp>
          <p:nvSpPr>
            <p:cNvPr id="626" name="Google Shape;626;p43"/>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4</a:t>
              </a:r>
              <a:endParaRPr sz="800">
                <a:latin typeface="Roboto"/>
                <a:ea typeface="Roboto"/>
                <a:cs typeface="Roboto"/>
                <a:sym typeface="Roboto"/>
              </a:endParaRPr>
            </a:p>
          </p:txBody>
        </p:sp>
        <p:sp>
          <p:nvSpPr>
            <p:cNvPr id="627" name="Google Shape;627;p43"/>
            <p:cNvSpPr/>
            <p:nvPr/>
          </p:nvSpPr>
          <p:spPr>
            <a:xfrm>
              <a:off x="2812966"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5</a:t>
              </a:r>
              <a:endParaRPr sz="800">
                <a:latin typeface="Roboto"/>
                <a:ea typeface="Roboto"/>
                <a:cs typeface="Roboto"/>
                <a:sym typeface="Roboto"/>
              </a:endParaRPr>
            </a:p>
          </p:txBody>
        </p:sp>
        <p:sp>
          <p:nvSpPr>
            <p:cNvPr id="628" name="Google Shape;628;p43"/>
            <p:cNvSpPr/>
            <p:nvPr/>
          </p:nvSpPr>
          <p:spPr>
            <a:xfrm>
              <a:off x="2296488"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7</a:t>
              </a:r>
              <a:endParaRPr sz="800">
                <a:latin typeface="Roboto"/>
                <a:ea typeface="Roboto"/>
                <a:cs typeface="Roboto"/>
                <a:sym typeface="Roboto"/>
              </a:endParaRPr>
            </a:p>
          </p:txBody>
        </p:sp>
        <p:sp>
          <p:nvSpPr>
            <p:cNvPr id="629" name="Google Shape;629;p43"/>
            <p:cNvSpPr/>
            <p:nvPr/>
          </p:nvSpPr>
          <p:spPr>
            <a:xfrm>
              <a:off x="1780011"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3</a:t>
              </a:r>
              <a:endParaRPr sz="800">
                <a:latin typeface="Roboto"/>
                <a:ea typeface="Roboto"/>
                <a:cs typeface="Roboto"/>
                <a:sym typeface="Roboto"/>
              </a:endParaRPr>
            </a:p>
          </p:txBody>
        </p:sp>
        <p:sp>
          <p:nvSpPr>
            <p:cNvPr id="630" name="Google Shape;630;p43"/>
            <p:cNvSpPr/>
            <p:nvPr/>
          </p:nvSpPr>
          <p:spPr>
            <a:xfrm>
              <a:off x="1259007"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2</a:t>
              </a:r>
              <a:endParaRPr sz="800">
                <a:latin typeface="Roboto"/>
                <a:ea typeface="Roboto"/>
                <a:cs typeface="Roboto"/>
                <a:sym typeface="Roboto"/>
              </a:endParaRPr>
            </a:p>
          </p:txBody>
        </p:sp>
        <p:sp>
          <p:nvSpPr>
            <p:cNvPr id="631" name="Google Shape;631;p43"/>
            <p:cNvSpPr/>
            <p:nvPr/>
          </p:nvSpPr>
          <p:spPr>
            <a:xfrm>
              <a:off x="738003" y="1459280"/>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1</a:t>
              </a:r>
              <a:endParaRPr sz="800">
                <a:latin typeface="Roboto"/>
                <a:ea typeface="Roboto"/>
                <a:cs typeface="Roboto"/>
                <a:sym typeface="Roboto"/>
              </a:endParaRPr>
            </a:p>
          </p:txBody>
        </p:sp>
      </p:grpSp>
      <p:sp>
        <p:nvSpPr>
          <p:cNvPr id="632" name="Google Shape;632;p43"/>
          <p:cNvSpPr txBox="1"/>
          <p:nvPr/>
        </p:nvSpPr>
        <p:spPr>
          <a:xfrm>
            <a:off x="714775" y="642550"/>
            <a:ext cx="505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Roboto"/>
                <a:ea typeface="Roboto"/>
                <a:cs typeface="Roboto"/>
                <a:sym typeface="Roboto"/>
              </a:rPr>
              <a:t>arr</a:t>
            </a:r>
            <a:endParaRPr sz="800">
              <a:latin typeface="Roboto"/>
              <a:ea typeface="Roboto"/>
              <a:cs typeface="Roboto"/>
              <a:sym typeface="Roboto"/>
            </a:endParaRPr>
          </a:p>
        </p:txBody>
      </p:sp>
      <p:sp>
        <p:nvSpPr>
          <p:cNvPr id="633" name="Google Shape;633;p43"/>
          <p:cNvSpPr txBox="1"/>
          <p:nvPr>
            <p:ph idx="1" type="body"/>
          </p:nvPr>
        </p:nvSpPr>
        <p:spPr>
          <a:xfrm>
            <a:off x="4572000" y="1886175"/>
            <a:ext cx="4429200" cy="30309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40000"/>
              </a:lnSpc>
              <a:spcBef>
                <a:spcPts val="0"/>
              </a:spcBef>
              <a:spcAft>
                <a:spcPts val="0"/>
              </a:spcAft>
              <a:buClr>
                <a:schemeClr val="dk1"/>
              </a:buClr>
              <a:buSzPts val="688"/>
              <a:buFont typeface="Arial"/>
              <a:buNone/>
            </a:pPr>
            <a:r>
              <a:rPr lang="en" sz="803">
                <a:latin typeface="Roboto Mono"/>
                <a:ea typeface="Roboto Mono"/>
                <a:cs typeface="Roboto Mono"/>
                <a:sym typeface="Roboto Mono"/>
              </a:rPr>
              <a:t>partition (arr[], start, end)</a:t>
            </a:r>
            <a:endParaRPr sz="803">
              <a:latin typeface="Roboto Mono"/>
              <a:ea typeface="Roboto Mono"/>
              <a:cs typeface="Roboto Mono"/>
              <a:sym typeface="Roboto Mono"/>
            </a:endParaRPr>
          </a:p>
          <a:p>
            <a:pPr indent="0" lvl="0" marL="0" rtl="0" algn="l">
              <a:lnSpc>
                <a:spcPct val="140000"/>
              </a:lnSpc>
              <a:spcBef>
                <a:spcPts val="0"/>
              </a:spcBef>
              <a:spcAft>
                <a:spcPts val="0"/>
              </a:spcAft>
              <a:buSzPts val="688"/>
              <a:buNone/>
            </a:pPr>
            <a:r>
              <a:rPr lang="en" sz="803">
                <a:latin typeface="Roboto Mono"/>
                <a:ea typeface="Roboto Mono"/>
                <a:cs typeface="Roboto Mono"/>
                <a:sym typeface="Roboto Mono"/>
              </a:rPr>
              <a:t>{</a:t>
            </a:r>
            <a:endParaRPr sz="803">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03">
                <a:latin typeface="Roboto Mono"/>
                <a:ea typeface="Roboto Mono"/>
                <a:cs typeface="Roboto Mono"/>
                <a:sym typeface="Roboto Mono"/>
              </a:rPr>
              <a:t>    </a:t>
            </a:r>
            <a:r>
              <a:rPr lang="en" sz="803">
                <a:highlight>
                  <a:srgbClr val="FFF2CC"/>
                </a:highlight>
                <a:latin typeface="Roboto Mono"/>
                <a:ea typeface="Roboto Mono"/>
                <a:cs typeface="Roboto Mono"/>
                <a:sym typeface="Roboto Mono"/>
              </a:rPr>
              <a:t>pivot = arr[end]</a:t>
            </a:r>
            <a:endParaRPr sz="803">
              <a:highlight>
                <a:srgbClr val="FFF2CC"/>
              </a:highlight>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03">
                <a:latin typeface="Roboto Mono"/>
                <a:ea typeface="Roboto Mono"/>
                <a:cs typeface="Roboto Mono"/>
                <a:sym typeface="Roboto Mono"/>
              </a:rPr>
              <a:t>    </a:t>
            </a:r>
            <a:r>
              <a:rPr lang="en" sz="803">
                <a:highlight>
                  <a:srgbClr val="D9EAD3"/>
                </a:highlight>
                <a:latin typeface="Roboto Mono"/>
                <a:ea typeface="Roboto Mono"/>
                <a:cs typeface="Roboto Mono"/>
                <a:sym typeface="Roboto Mono"/>
              </a:rPr>
              <a:t>pIndex = start </a:t>
            </a:r>
            <a:r>
              <a:rPr lang="en" sz="803">
                <a:latin typeface="Roboto Mono"/>
                <a:ea typeface="Roboto Mono"/>
                <a:cs typeface="Roboto Mono"/>
                <a:sym typeface="Roboto Mono"/>
              </a:rPr>
              <a:t> </a:t>
            </a:r>
            <a:endParaRPr sz="803">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03">
                <a:latin typeface="Roboto Mono"/>
                <a:ea typeface="Roboto Mono"/>
                <a:cs typeface="Roboto Mono"/>
                <a:sym typeface="Roboto Mono"/>
              </a:rPr>
              <a:t>    for (</a:t>
            </a:r>
            <a:r>
              <a:rPr lang="en" sz="803">
                <a:highlight>
                  <a:srgbClr val="C9DAF8"/>
                </a:highlight>
                <a:latin typeface="Roboto Mono"/>
                <a:ea typeface="Roboto Mono"/>
                <a:cs typeface="Roboto Mono"/>
                <a:sym typeface="Roboto Mono"/>
              </a:rPr>
              <a:t>i = start; i &lt; end - 1; i++</a:t>
            </a:r>
            <a:r>
              <a:rPr lang="en" sz="803">
                <a:latin typeface="Roboto Mono"/>
                <a:ea typeface="Roboto Mono"/>
                <a:cs typeface="Roboto Mono"/>
                <a:sym typeface="Roboto Mono"/>
              </a:rPr>
              <a:t>)</a:t>
            </a:r>
            <a:endParaRPr sz="803">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03">
                <a:latin typeface="Roboto Mono"/>
                <a:ea typeface="Roboto Mono"/>
                <a:cs typeface="Roboto Mono"/>
                <a:sym typeface="Roboto Mono"/>
              </a:rPr>
              <a:t>    {</a:t>
            </a:r>
            <a:endParaRPr sz="803">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03">
                <a:latin typeface="Roboto Mono"/>
                <a:ea typeface="Roboto Mono"/>
                <a:cs typeface="Roboto Mono"/>
                <a:sym typeface="Roboto Mono"/>
              </a:rPr>
              <a:t>        // If current element is smaller than the pivot</a:t>
            </a:r>
            <a:endParaRPr sz="803">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03">
                <a:latin typeface="Roboto Mono"/>
                <a:ea typeface="Roboto Mono"/>
                <a:cs typeface="Roboto Mono"/>
                <a:sym typeface="Roboto Mono"/>
              </a:rPr>
              <a:t>        if (</a:t>
            </a:r>
            <a:r>
              <a:rPr lang="en" sz="803">
                <a:highlight>
                  <a:srgbClr val="C9DAF8"/>
                </a:highlight>
                <a:latin typeface="Roboto Mono"/>
                <a:ea typeface="Roboto Mono"/>
                <a:cs typeface="Roboto Mono"/>
                <a:sym typeface="Roboto Mono"/>
              </a:rPr>
              <a:t>arr[i] </a:t>
            </a:r>
            <a:r>
              <a:rPr lang="en" sz="803">
                <a:latin typeface="Roboto Mono"/>
                <a:ea typeface="Roboto Mono"/>
                <a:cs typeface="Roboto Mono"/>
                <a:sym typeface="Roboto Mono"/>
              </a:rPr>
              <a:t>&lt; </a:t>
            </a:r>
            <a:r>
              <a:rPr lang="en" sz="803">
                <a:highlight>
                  <a:srgbClr val="FFF2CC"/>
                </a:highlight>
                <a:latin typeface="Roboto Mono"/>
                <a:ea typeface="Roboto Mono"/>
                <a:cs typeface="Roboto Mono"/>
                <a:sym typeface="Roboto Mono"/>
              </a:rPr>
              <a:t>pivot</a:t>
            </a:r>
            <a:r>
              <a:rPr lang="en" sz="803">
                <a:latin typeface="Roboto Mono"/>
                <a:ea typeface="Roboto Mono"/>
                <a:cs typeface="Roboto Mono"/>
                <a:sym typeface="Roboto Mono"/>
              </a:rPr>
              <a:t>)</a:t>
            </a:r>
            <a:endParaRPr sz="803">
              <a:latin typeface="Roboto Mono"/>
              <a:ea typeface="Roboto Mono"/>
              <a:cs typeface="Roboto Mono"/>
              <a:sym typeface="Roboto Mono"/>
            </a:endParaRPr>
          </a:p>
          <a:p>
            <a:pPr indent="0" lvl="0" marL="0" rtl="0" algn="l">
              <a:lnSpc>
                <a:spcPct val="140000"/>
              </a:lnSpc>
              <a:spcBef>
                <a:spcPts val="0"/>
              </a:spcBef>
              <a:spcAft>
                <a:spcPts val="0"/>
              </a:spcAft>
              <a:buClr>
                <a:schemeClr val="dk1"/>
              </a:buClr>
              <a:buSzPts val="688"/>
              <a:buFont typeface="Arial"/>
              <a:buNone/>
            </a:pPr>
            <a:r>
              <a:rPr lang="en" sz="803">
                <a:latin typeface="Roboto Mono"/>
                <a:ea typeface="Roboto Mono"/>
                <a:cs typeface="Roboto Mono"/>
                <a:sym typeface="Roboto Mono"/>
              </a:rPr>
              <a:t>        {          </a:t>
            </a:r>
            <a:endParaRPr sz="803">
              <a:latin typeface="Roboto Mono"/>
              <a:ea typeface="Roboto Mono"/>
              <a:cs typeface="Roboto Mono"/>
              <a:sym typeface="Roboto Mono"/>
            </a:endParaRPr>
          </a:p>
          <a:p>
            <a:pPr indent="0" lvl="0" marL="457200" rtl="0" algn="l">
              <a:lnSpc>
                <a:spcPct val="140000"/>
              </a:lnSpc>
              <a:spcBef>
                <a:spcPts val="0"/>
              </a:spcBef>
              <a:spcAft>
                <a:spcPts val="0"/>
              </a:spcAft>
              <a:buSzPts val="688"/>
              <a:buNone/>
            </a:pPr>
            <a:r>
              <a:rPr lang="en" sz="803">
                <a:latin typeface="Roboto Mono"/>
                <a:ea typeface="Roboto Mono"/>
                <a:cs typeface="Roboto Mono"/>
                <a:sym typeface="Roboto Mono"/>
              </a:rPr>
              <a:t>     swap </a:t>
            </a:r>
            <a:r>
              <a:rPr lang="en" sz="803">
                <a:highlight>
                  <a:srgbClr val="D9EAD3"/>
                </a:highlight>
                <a:latin typeface="Roboto Mono"/>
                <a:ea typeface="Roboto Mono"/>
                <a:cs typeface="Roboto Mono"/>
                <a:sym typeface="Roboto Mono"/>
              </a:rPr>
              <a:t>arr[pIndex]</a:t>
            </a:r>
            <a:r>
              <a:rPr lang="en" sz="803">
                <a:latin typeface="Roboto Mono"/>
                <a:ea typeface="Roboto Mono"/>
                <a:cs typeface="Roboto Mono"/>
                <a:sym typeface="Roboto Mono"/>
              </a:rPr>
              <a:t> and </a:t>
            </a:r>
            <a:r>
              <a:rPr lang="en" sz="803">
                <a:highlight>
                  <a:srgbClr val="C9DAF8"/>
                </a:highlight>
                <a:latin typeface="Roboto Mono"/>
                <a:ea typeface="Roboto Mono"/>
                <a:cs typeface="Roboto Mono"/>
                <a:sym typeface="Roboto Mono"/>
              </a:rPr>
              <a:t>arr[i]</a:t>
            </a:r>
            <a:endParaRPr sz="803">
              <a:highlight>
                <a:srgbClr val="C9DAF8"/>
              </a:highlight>
              <a:latin typeface="Roboto Mono"/>
              <a:ea typeface="Roboto Mono"/>
              <a:cs typeface="Roboto Mono"/>
              <a:sym typeface="Roboto Mono"/>
            </a:endParaRPr>
          </a:p>
          <a:p>
            <a:pPr indent="0" lvl="0" marL="457200" rtl="0" algn="l">
              <a:lnSpc>
                <a:spcPct val="140000"/>
              </a:lnSpc>
              <a:spcBef>
                <a:spcPts val="0"/>
              </a:spcBef>
              <a:spcAft>
                <a:spcPts val="0"/>
              </a:spcAft>
              <a:buSzPts val="688"/>
              <a:buNone/>
            </a:pPr>
            <a:r>
              <a:rPr lang="en" sz="803">
                <a:latin typeface="Roboto Mono"/>
                <a:ea typeface="Roboto Mono"/>
                <a:cs typeface="Roboto Mono"/>
                <a:sym typeface="Roboto Mono"/>
              </a:rPr>
              <a:t>     pIndex ++</a:t>
            </a:r>
            <a:endParaRPr sz="803">
              <a:latin typeface="Roboto Mono"/>
              <a:ea typeface="Roboto Mono"/>
              <a:cs typeface="Roboto Mono"/>
              <a:sym typeface="Roboto Mono"/>
            </a:endParaRPr>
          </a:p>
          <a:p>
            <a:pPr indent="0" lvl="0" marL="0" rtl="0" algn="l">
              <a:lnSpc>
                <a:spcPct val="140000"/>
              </a:lnSpc>
              <a:spcBef>
                <a:spcPts val="0"/>
              </a:spcBef>
              <a:spcAft>
                <a:spcPts val="0"/>
              </a:spcAft>
              <a:buSzPts val="688"/>
              <a:buNone/>
            </a:pPr>
            <a:r>
              <a:rPr lang="en" sz="803">
                <a:latin typeface="Roboto Mono"/>
                <a:ea typeface="Roboto Mono"/>
                <a:cs typeface="Roboto Mono"/>
                <a:sym typeface="Roboto Mono"/>
              </a:rPr>
              <a:t>         }</a:t>
            </a:r>
            <a:endParaRPr sz="803">
              <a:latin typeface="Roboto Mono"/>
              <a:ea typeface="Roboto Mono"/>
              <a:cs typeface="Roboto Mono"/>
              <a:sym typeface="Roboto Mono"/>
            </a:endParaRPr>
          </a:p>
          <a:p>
            <a:pPr indent="0" lvl="0" marL="0" rtl="0" algn="l">
              <a:lnSpc>
                <a:spcPct val="140000"/>
              </a:lnSpc>
              <a:spcBef>
                <a:spcPts val="0"/>
              </a:spcBef>
              <a:spcAft>
                <a:spcPts val="0"/>
              </a:spcAft>
              <a:buSzPts val="688"/>
              <a:buNone/>
            </a:pPr>
            <a:r>
              <a:rPr lang="en" sz="803">
                <a:latin typeface="Roboto Mono"/>
                <a:ea typeface="Roboto Mono"/>
                <a:cs typeface="Roboto Mono"/>
                <a:sym typeface="Roboto Mono"/>
              </a:rPr>
              <a:t>    }</a:t>
            </a:r>
            <a:endParaRPr sz="803">
              <a:latin typeface="Roboto Mono"/>
              <a:ea typeface="Roboto Mono"/>
              <a:cs typeface="Roboto Mono"/>
              <a:sym typeface="Roboto Mono"/>
            </a:endParaRPr>
          </a:p>
          <a:p>
            <a:pPr indent="0" lvl="0" marL="0" rtl="0" algn="l">
              <a:lnSpc>
                <a:spcPct val="140000"/>
              </a:lnSpc>
              <a:spcBef>
                <a:spcPts val="0"/>
              </a:spcBef>
              <a:spcAft>
                <a:spcPts val="0"/>
              </a:spcAft>
              <a:buSzPts val="688"/>
              <a:buNone/>
            </a:pPr>
            <a:r>
              <a:rPr lang="en" sz="803">
                <a:latin typeface="Roboto Mono"/>
                <a:ea typeface="Roboto Mono"/>
                <a:cs typeface="Roboto Mono"/>
                <a:sym typeface="Roboto Mono"/>
              </a:rPr>
              <a:t>    swap </a:t>
            </a:r>
            <a:r>
              <a:rPr lang="en" sz="803">
                <a:highlight>
                  <a:srgbClr val="D9EAD3"/>
                </a:highlight>
                <a:latin typeface="Roboto Mono"/>
                <a:ea typeface="Roboto Mono"/>
                <a:cs typeface="Roboto Mono"/>
                <a:sym typeface="Roboto Mono"/>
              </a:rPr>
              <a:t>arr[pIndex]</a:t>
            </a:r>
            <a:r>
              <a:rPr lang="en" sz="803">
                <a:latin typeface="Roboto Mono"/>
                <a:ea typeface="Roboto Mono"/>
                <a:cs typeface="Roboto Mono"/>
                <a:sym typeface="Roboto Mono"/>
              </a:rPr>
              <a:t> and </a:t>
            </a:r>
            <a:r>
              <a:rPr lang="en" sz="803">
                <a:highlight>
                  <a:srgbClr val="FFF2CC"/>
                </a:highlight>
                <a:latin typeface="Roboto Mono"/>
                <a:ea typeface="Roboto Mono"/>
                <a:cs typeface="Roboto Mono"/>
                <a:sym typeface="Roboto Mono"/>
              </a:rPr>
              <a:t>pivot</a:t>
            </a:r>
            <a:endParaRPr sz="803">
              <a:highlight>
                <a:srgbClr val="FFF2CC"/>
              </a:highlight>
              <a:latin typeface="Roboto Mono"/>
              <a:ea typeface="Roboto Mono"/>
              <a:cs typeface="Roboto Mono"/>
              <a:sym typeface="Roboto Mono"/>
            </a:endParaRPr>
          </a:p>
          <a:p>
            <a:pPr indent="0" lvl="0" marL="0" rtl="0" algn="l">
              <a:lnSpc>
                <a:spcPct val="140000"/>
              </a:lnSpc>
              <a:spcBef>
                <a:spcPts val="0"/>
              </a:spcBef>
              <a:spcAft>
                <a:spcPts val="0"/>
              </a:spcAft>
              <a:buSzPts val="688"/>
              <a:buNone/>
            </a:pPr>
            <a:r>
              <a:rPr lang="en" sz="803">
                <a:latin typeface="Roboto Mono"/>
                <a:ea typeface="Roboto Mono"/>
                <a:cs typeface="Roboto Mono"/>
                <a:sym typeface="Roboto Mono"/>
              </a:rPr>
              <a:t>    return pIndex</a:t>
            </a:r>
            <a:endParaRPr sz="803">
              <a:latin typeface="Roboto Mono"/>
              <a:ea typeface="Roboto Mono"/>
              <a:cs typeface="Roboto Mono"/>
              <a:sym typeface="Roboto Mono"/>
            </a:endParaRPr>
          </a:p>
          <a:p>
            <a:pPr indent="0" lvl="0" marL="0" rtl="0" algn="l">
              <a:lnSpc>
                <a:spcPct val="140000"/>
              </a:lnSpc>
              <a:spcBef>
                <a:spcPts val="0"/>
              </a:spcBef>
              <a:spcAft>
                <a:spcPts val="0"/>
              </a:spcAft>
              <a:buSzPts val="688"/>
              <a:buNone/>
            </a:pPr>
            <a:r>
              <a:rPr lang="en" sz="803">
                <a:latin typeface="Roboto Mono"/>
                <a:ea typeface="Roboto Mono"/>
                <a:cs typeface="Roboto Mono"/>
                <a:sym typeface="Roboto Mono"/>
              </a:rPr>
              <a:t>}</a:t>
            </a:r>
            <a:endParaRPr sz="803">
              <a:latin typeface="Roboto Mono"/>
              <a:ea typeface="Roboto Mono"/>
              <a:cs typeface="Roboto Mono"/>
              <a:sym typeface="Roboto Mono"/>
            </a:endParaRPr>
          </a:p>
        </p:txBody>
      </p:sp>
      <p:sp>
        <p:nvSpPr>
          <p:cNvPr id="634" name="Google Shape;634;p43"/>
          <p:cNvSpPr txBox="1"/>
          <p:nvPr>
            <p:ph idx="1" type="body"/>
          </p:nvPr>
        </p:nvSpPr>
        <p:spPr>
          <a:xfrm>
            <a:off x="4698750" y="341075"/>
            <a:ext cx="4175700" cy="14736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33006"/>
              <a:buNone/>
            </a:pPr>
            <a:r>
              <a:rPr lang="en" sz="765">
                <a:latin typeface="Roboto Mono"/>
                <a:ea typeface="Roboto Mono"/>
                <a:cs typeface="Roboto Mono"/>
                <a:sym typeface="Roboto Mono"/>
              </a:rPr>
              <a:t>quickSort(arr[],</a:t>
            </a:r>
            <a:r>
              <a:rPr lang="en" sz="765">
                <a:latin typeface="Roboto Mono"/>
                <a:ea typeface="Roboto Mono"/>
                <a:cs typeface="Roboto Mono"/>
                <a:sym typeface="Roboto Mono"/>
              </a:rPr>
              <a:t> start</a:t>
            </a:r>
            <a:r>
              <a:rPr lang="en" sz="765">
                <a:latin typeface="Roboto Mono"/>
                <a:ea typeface="Roboto Mono"/>
                <a:cs typeface="Roboto Mono"/>
                <a:sym typeface="Roboto Mono"/>
              </a:rPr>
              <a:t>, end)</a:t>
            </a:r>
            <a:endParaRPr sz="765">
              <a:latin typeface="Roboto Mono"/>
              <a:ea typeface="Roboto Mono"/>
              <a:cs typeface="Roboto Mono"/>
              <a:sym typeface="Roboto Mono"/>
            </a:endParaRPr>
          </a:p>
          <a:p>
            <a:pPr indent="0" lvl="0" marL="0" rtl="0" algn="l">
              <a:lnSpc>
                <a:spcPct val="115000"/>
              </a:lnSpc>
              <a:spcBef>
                <a:spcPts val="0"/>
              </a:spcBef>
              <a:spcAft>
                <a:spcPts val="0"/>
              </a:spcAft>
              <a:buSzPct val="133006"/>
              <a:buNone/>
            </a:pPr>
            <a:r>
              <a:rPr lang="en" sz="765">
                <a:latin typeface="Roboto Mono"/>
                <a:ea typeface="Roboto Mono"/>
                <a:cs typeface="Roboto Mono"/>
                <a:sym typeface="Roboto Mono"/>
              </a:rPr>
              <a:t>{</a:t>
            </a:r>
            <a:endParaRPr sz="765">
              <a:latin typeface="Roboto Mono"/>
              <a:ea typeface="Roboto Mono"/>
              <a:cs typeface="Roboto Mono"/>
              <a:sym typeface="Roboto Mono"/>
            </a:endParaRPr>
          </a:p>
          <a:p>
            <a:pPr indent="0" lvl="0" marL="0" rtl="0" algn="l">
              <a:lnSpc>
                <a:spcPct val="115000"/>
              </a:lnSpc>
              <a:spcBef>
                <a:spcPts val="0"/>
              </a:spcBef>
              <a:spcAft>
                <a:spcPts val="0"/>
              </a:spcAft>
              <a:buSzPct val="133006"/>
              <a:buNone/>
            </a:pPr>
            <a:r>
              <a:rPr lang="en" sz="765">
                <a:latin typeface="Roboto Mono"/>
                <a:ea typeface="Roboto Mono"/>
                <a:cs typeface="Roboto Mono"/>
                <a:sym typeface="Roboto Mono"/>
              </a:rPr>
              <a:t>    if (start &lt; end)</a:t>
            </a:r>
            <a:endParaRPr sz="765">
              <a:latin typeface="Roboto Mono"/>
              <a:ea typeface="Roboto Mono"/>
              <a:cs typeface="Roboto Mono"/>
              <a:sym typeface="Roboto Mono"/>
            </a:endParaRPr>
          </a:p>
          <a:p>
            <a:pPr indent="0" lvl="0" marL="0" rtl="0" algn="l">
              <a:lnSpc>
                <a:spcPct val="115000"/>
              </a:lnSpc>
              <a:spcBef>
                <a:spcPts val="0"/>
              </a:spcBef>
              <a:spcAft>
                <a:spcPts val="0"/>
              </a:spcAft>
              <a:buSzPct val="133006"/>
              <a:buNone/>
            </a:pPr>
            <a:r>
              <a:rPr lang="en" sz="765">
                <a:latin typeface="Roboto Mono"/>
                <a:ea typeface="Roboto Mono"/>
                <a:cs typeface="Roboto Mono"/>
                <a:sym typeface="Roboto Mono"/>
              </a:rPr>
              <a:t>    {</a:t>
            </a:r>
            <a:endParaRPr sz="765">
              <a:latin typeface="Roboto Mono"/>
              <a:ea typeface="Roboto Mono"/>
              <a:cs typeface="Roboto Mono"/>
              <a:sym typeface="Roboto Mono"/>
            </a:endParaRPr>
          </a:p>
          <a:p>
            <a:pPr indent="0" lvl="0" marL="0" rtl="0" algn="l">
              <a:lnSpc>
                <a:spcPct val="115000"/>
              </a:lnSpc>
              <a:spcBef>
                <a:spcPts val="0"/>
              </a:spcBef>
              <a:spcAft>
                <a:spcPts val="0"/>
              </a:spcAft>
              <a:buSzPct val="133006"/>
              <a:buNone/>
            </a:pPr>
            <a:r>
              <a:rPr lang="en" sz="765">
                <a:latin typeface="Roboto Mono"/>
                <a:ea typeface="Roboto Mono"/>
                <a:cs typeface="Roboto Mono"/>
                <a:sym typeface="Roboto Mono"/>
              </a:rPr>
              <a:t>        /* pIndex partitioning index, arr[pIndex] is now at right place */</a:t>
            </a:r>
            <a:endParaRPr sz="765">
              <a:latin typeface="Roboto Mono"/>
              <a:ea typeface="Roboto Mono"/>
              <a:cs typeface="Roboto Mono"/>
              <a:sym typeface="Roboto Mono"/>
            </a:endParaRPr>
          </a:p>
          <a:p>
            <a:pPr indent="0" lvl="0" marL="0" rtl="0" algn="l">
              <a:lnSpc>
                <a:spcPct val="115000"/>
              </a:lnSpc>
              <a:spcBef>
                <a:spcPts val="0"/>
              </a:spcBef>
              <a:spcAft>
                <a:spcPts val="0"/>
              </a:spcAft>
              <a:buSzPct val="133006"/>
              <a:buNone/>
            </a:pPr>
            <a:r>
              <a:rPr lang="en" sz="765">
                <a:latin typeface="Roboto Mono"/>
                <a:ea typeface="Roboto Mono"/>
                <a:cs typeface="Roboto Mono"/>
                <a:sym typeface="Roboto Mono"/>
              </a:rPr>
              <a:t>       </a:t>
            </a:r>
            <a:r>
              <a:rPr lang="en" sz="765">
                <a:latin typeface="Roboto Mono"/>
                <a:ea typeface="Roboto Mono"/>
                <a:cs typeface="Roboto Mono"/>
                <a:sym typeface="Roboto Mono"/>
              </a:rPr>
              <a:t> pIndex = </a:t>
            </a:r>
            <a:r>
              <a:rPr lang="en" sz="765">
                <a:latin typeface="Roboto Mono"/>
                <a:ea typeface="Roboto Mono"/>
                <a:cs typeface="Roboto Mono"/>
                <a:sym typeface="Roboto Mono"/>
              </a:rPr>
              <a:t>partition(arr, start, end);</a:t>
            </a:r>
            <a:endParaRPr sz="765">
              <a:latin typeface="Roboto Mono"/>
              <a:ea typeface="Roboto Mono"/>
              <a:cs typeface="Roboto Mono"/>
              <a:sym typeface="Roboto Mono"/>
            </a:endParaRPr>
          </a:p>
          <a:p>
            <a:pPr indent="0" lvl="0" marL="0" rtl="0" algn="l">
              <a:lnSpc>
                <a:spcPct val="115000"/>
              </a:lnSpc>
              <a:spcBef>
                <a:spcPts val="0"/>
              </a:spcBef>
              <a:spcAft>
                <a:spcPts val="0"/>
              </a:spcAft>
              <a:buSzPct val="133006"/>
              <a:buNone/>
            </a:pPr>
            <a:r>
              <a:t/>
            </a:r>
            <a:endParaRPr sz="765">
              <a:latin typeface="Roboto Mono"/>
              <a:ea typeface="Roboto Mono"/>
              <a:cs typeface="Roboto Mono"/>
              <a:sym typeface="Roboto Mono"/>
            </a:endParaRPr>
          </a:p>
          <a:p>
            <a:pPr indent="0" lvl="0" marL="0" rtl="0" algn="l">
              <a:lnSpc>
                <a:spcPct val="115000"/>
              </a:lnSpc>
              <a:spcBef>
                <a:spcPts val="0"/>
              </a:spcBef>
              <a:spcAft>
                <a:spcPts val="0"/>
              </a:spcAft>
              <a:buSzPct val="133006"/>
              <a:buNone/>
            </a:pPr>
            <a:r>
              <a:rPr lang="en" sz="765">
                <a:latin typeface="Roboto Mono"/>
                <a:ea typeface="Roboto Mono"/>
                <a:cs typeface="Roboto Mono"/>
                <a:sym typeface="Roboto Mono"/>
              </a:rPr>
              <a:t>        quickSort(arr, start, pIndex - 1);  // Before pIndex</a:t>
            </a:r>
            <a:endParaRPr sz="765">
              <a:latin typeface="Roboto Mono"/>
              <a:ea typeface="Roboto Mono"/>
              <a:cs typeface="Roboto Mono"/>
              <a:sym typeface="Roboto Mono"/>
            </a:endParaRPr>
          </a:p>
          <a:p>
            <a:pPr indent="0" lvl="0" marL="0" rtl="0" algn="l">
              <a:lnSpc>
                <a:spcPct val="115000"/>
              </a:lnSpc>
              <a:spcBef>
                <a:spcPts val="0"/>
              </a:spcBef>
              <a:spcAft>
                <a:spcPts val="0"/>
              </a:spcAft>
              <a:buSzPct val="133006"/>
              <a:buNone/>
            </a:pPr>
            <a:r>
              <a:rPr lang="en" sz="765">
                <a:latin typeface="Roboto Mono"/>
                <a:ea typeface="Roboto Mono"/>
                <a:cs typeface="Roboto Mono"/>
                <a:sym typeface="Roboto Mono"/>
              </a:rPr>
              <a:t>        quickSort(arr, pIndex + 1, end); // After pIndex</a:t>
            </a:r>
            <a:endParaRPr sz="765">
              <a:latin typeface="Roboto Mono"/>
              <a:ea typeface="Roboto Mono"/>
              <a:cs typeface="Roboto Mono"/>
              <a:sym typeface="Roboto Mono"/>
            </a:endParaRPr>
          </a:p>
          <a:p>
            <a:pPr indent="0" lvl="0" marL="0" rtl="0" algn="l">
              <a:lnSpc>
                <a:spcPct val="115000"/>
              </a:lnSpc>
              <a:spcBef>
                <a:spcPts val="0"/>
              </a:spcBef>
              <a:spcAft>
                <a:spcPts val="0"/>
              </a:spcAft>
              <a:buSzPct val="133006"/>
              <a:buNone/>
            </a:pPr>
            <a:r>
              <a:rPr lang="en" sz="765">
                <a:latin typeface="Roboto Mono"/>
                <a:ea typeface="Roboto Mono"/>
                <a:cs typeface="Roboto Mono"/>
                <a:sym typeface="Roboto Mono"/>
              </a:rPr>
              <a:t>    }</a:t>
            </a:r>
            <a:endParaRPr sz="765">
              <a:latin typeface="Roboto Mono"/>
              <a:ea typeface="Roboto Mono"/>
              <a:cs typeface="Roboto Mono"/>
              <a:sym typeface="Roboto Mono"/>
            </a:endParaRPr>
          </a:p>
          <a:p>
            <a:pPr indent="0" lvl="0" marL="0" rtl="0" algn="l">
              <a:lnSpc>
                <a:spcPct val="115000"/>
              </a:lnSpc>
              <a:spcBef>
                <a:spcPts val="0"/>
              </a:spcBef>
              <a:spcAft>
                <a:spcPts val="0"/>
              </a:spcAft>
              <a:buSzPct val="133006"/>
              <a:buNone/>
            </a:pPr>
            <a:r>
              <a:rPr lang="en" sz="765">
                <a:latin typeface="Roboto Mono"/>
                <a:ea typeface="Roboto Mono"/>
                <a:cs typeface="Roboto Mono"/>
                <a:sym typeface="Roboto Mono"/>
              </a:rPr>
              <a:t>}</a:t>
            </a:r>
            <a:endParaRPr sz="765">
              <a:latin typeface="Roboto Mono"/>
              <a:ea typeface="Roboto Mono"/>
              <a:cs typeface="Roboto Mono"/>
              <a:sym typeface="Roboto Mono"/>
            </a:endParaRPr>
          </a:p>
        </p:txBody>
      </p:sp>
      <p:grpSp>
        <p:nvGrpSpPr>
          <p:cNvPr id="635" name="Google Shape;635;p43"/>
          <p:cNvGrpSpPr/>
          <p:nvPr/>
        </p:nvGrpSpPr>
        <p:grpSpPr>
          <a:xfrm>
            <a:off x="1044776" y="1094363"/>
            <a:ext cx="2418748" cy="253197"/>
            <a:chOff x="221525" y="1459280"/>
            <a:chExt cx="3615467" cy="507917"/>
          </a:xfrm>
        </p:grpSpPr>
        <p:sp>
          <p:nvSpPr>
            <p:cNvPr id="636" name="Google Shape;636;p43"/>
            <p:cNvSpPr/>
            <p:nvPr/>
          </p:nvSpPr>
          <p:spPr>
            <a:xfrm>
              <a:off x="221525"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6</a:t>
              </a:r>
              <a:endParaRPr sz="800">
                <a:latin typeface="Roboto"/>
                <a:ea typeface="Roboto"/>
                <a:cs typeface="Roboto"/>
                <a:sym typeface="Roboto"/>
              </a:endParaRPr>
            </a:p>
          </p:txBody>
        </p:sp>
        <p:sp>
          <p:nvSpPr>
            <p:cNvPr id="637" name="Google Shape;637;p43"/>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4</a:t>
              </a:r>
              <a:endParaRPr sz="800">
                <a:latin typeface="Roboto"/>
                <a:ea typeface="Roboto"/>
                <a:cs typeface="Roboto"/>
                <a:sym typeface="Roboto"/>
              </a:endParaRPr>
            </a:p>
          </p:txBody>
        </p:sp>
        <p:sp>
          <p:nvSpPr>
            <p:cNvPr id="638" name="Google Shape;638;p43"/>
            <p:cNvSpPr/>
            <p:nvPr/>
          </p:nvSpPr>
          <p:spPr>
            <a:xfrm>
              <a:off x="2812966"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5</a:t>
              </a:r>
              <a:endParaRPr sz="800">
                <a:latin typeface="Roboto"/>
                <a:ea typeface="Roboto"/>
                <a:cs typeface="Roboto"/>
                <a:sym typeface="Roboto"/>
              </a:endParaRPr>
            </a:p>
          </p:txBody>
        </p:sp>
        <p:sp>
          <p:nvSpPr>
            <p:cNvPr id="639" name="Google Shape;639;p43"/>
            <p:cNvSpPr/>
            <p:nvPr/>
          </p:nvSpPr>
          <p:spPr>
            <a:xfrm>
              <a:off x="2296488"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7</a:t>
              </a:r>
              <a:endParaRPr sz="800">
                <a:latin typeface="Roboto"/>
                <a:ea typeface="Roboto"/>
                <a:cs typeface="Roboto"/>
                <a:sym typeface="Roboto"/>
              </a:endParaRPr>
            </a:p>
          </p:txBody>
        </p:sp>
        <p:sp>
          <p:nvSpPr>
            <p:cNvPr id="640" name="Google Shape;640;p43"/>
            <p:cNvSpPr/>
            <p:nvPr/>
          </p:nvSpPr>
          <p:spPr>
            <a:xfrm>
              <a:off x="1780011"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3</a:t>
              </a:r>
              <a:endParaRPr sz="800">
                <a:latin typeface="Roboto"/>
                <a:ea typeface="Roboto"/>
                <a:cs typeface="Roboto"/>
                <a:sym typeface="Roboto"/>
              </a:endParaRPr>
            </a:p>
          </p:txBody>
        </p:sp>
        <p:sp>
          <p:nvSpPr>
            <p:cNvPr id="641" name="Google Shape;641;p43"/>
            <p:cNvSpPr/>
            <p:nvPr/>
          </p:nvSpPr>
          <p:spPr>
            <a:xfrm>
              <a:off x="1259007"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2</a:t>
              </a:r>
              <a:endParaRPr sz="800">
                <a:latin typeface="Roboto"/>
                <a:ea typeface="Roboto"/>
                <a:cs typeface="Roboto"/>
                <a:sym typeface="Roboto"/>
              </a:endParaRPr>
            </a:p>
          </p:txBody>
        </p:sp>
        <p:sp>
          <p:nvSpPr>
            <p:cNvPr id="642" name="Google Shape;642;p43"/>
            <p:cNvSpPr/>
            <p:nvPr/>
          </p:nvSpPr>
          <p:spPr>
            <a:xfrm>
              <a:off x="738003" y="1459280"/>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1</a:t>
              </a:r>
              <a:endParaRPr sz="800">
                <a:latin typeface="Roboto"/>
                <a:ea typeface="Roboto"/>
                <a:cs typeface="Roboto"/>
                <a:sym typeface="Roboto"/>
              </a:endParaRPr>
            </a:p>
          </p:txBody>
        </p:sp>
      </p:grpSp>
      <p:cxnSp>
        <p:nvCxnSpPr>
          <p:cNvPr id="643" name="Google Shape;643;p43"/>
          <p:cNvCxnSpPr/>
          <p:nvPr/>
        </p:nvCxnSpPr>
        <p:spPr>
          <a:xfrm flipH="1" rot="10800000">
            <a:off x="1169750" y="1358325"/>
            <a:ext cx="6300" cy="189600"/>
          </a:xfrm>
          <a:prstGeom prst="straightConnector1">
            <a:avLst/>
          </a:prstGeom>
          <a:noFill/>
          <a:ln cap="flat" cmpd="sng" w="9525">
            <a:solidFill>
              <a:srgbClr val="38761D"/>
            </a:solidFill>
            <a:prstDash val="solid"/>
            <a:round/>
            <a:headEnd len="med" w="med" type="none"/>
            <a:tailEnd len="med" w="med" type="triangle"/>
          </a:ln>
        </p:spPr>
      </p:cxnSp>
      <p:grpSp>
        <p:nvGrpSpPr>
          <p:cNvPr id="644" name="Google Shape;644;p43"/>
          <p:cNvGrpSpPr/>
          <p:nvPr/>
        </p:nvGrpSpPr>
        <p:grpSpPr>
          <a:xfrm>
            <a:off x="714775" y="1307800"/>
            <a:ext cx="638400" cy="355625"/>
            <a:chOff x="714775" y="1291525"/>
            <a:chExt cx="638400" cy="355625"/>
          </a:xfrm>
        </p:grpSpPr>
        <p:cxnSp>
          <p:nvCxnSpPr>
            <p:cNvPr id="645" name="Google Shape;645;p43"/>
            <p:cNvCxnSpPr/>
            <p:nvPr/>
          </p:nvCxnSpPr>
          <p:spPr>
            <a:xfrm flipH="1" rot="10800000">
              <a:off x="1277900" y="1351575"/>
              <a:ext cx="6300" cy="189600"/>
            </a:xfrm>
            <a:prstGeom prst="straightConnector1">
              <a:avLst/>
            </a:prstGeom>
            <a:noFill/>
            <a:ln cap="flat" cmpd="sng" w="9525">
              <a:solidFill>
                <a:srgbClr val="1155CC"/>
              </a:solidFill>
              <a:prstDash val="solid"/>
              <a:round/>
              <a:headEnd len="med" w="med" type="none"/>
              <a:tailEnd len="med" w="med" type="triangle"/>
            </a:ln>
          </p:spPr>
        </p:cxnSp>
        <p:grpSp>
          <p:nvGrpSpPr>
            <p:cNvPr id="646" name="Google Shape;646;p43"/>
            <p:cNvGrpSpPr/>
            <p:nvPr/>
          </p:nvGrpSpPr>
          <p:grpSpPr>
            <a:xfrm>
              <a:off x="714775" y="1291525"/>
              <a:ext cx="638400" cy="355625"/>
              <a:chOff x="714775" y="1291525"/>
              <a:chExt cx="638400" cy="355625"/>
            </a:xfrm>
          </p:grpSpPr>
          <p:sp>
            <p:nvSpPr>
              <p:cNvPr id="647" name="Google Shape;647;p43"/>
              <p:cNvSpPr txBox="1"/>
              <p:nvPr/>
            </p:nvSpPr>
            <p:spPr>
              <a:xfrm>
                <a:off x="714775" y="1291525"/>
                <a:ext cx="505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8761D"/>
                    </a:solidFill>
                    <a:latin typeface="Roboto"/>
                    <a:ea typeface="Roboto"/>
                    <a:cs typeface="Roboto"/>
                    <a:sym typeface="Roboto"/>
                  </a:rPr>
                  <a:t>pIndex</a:t>
                </a:r>
                <a:endParaRPr sz="800">
                  <a:solidFill>
                    <a:srgbClr val="38761D"/>
                  </a:solidFill>
                  <a:latin typeface="Roboto"/>
                  <a:ea typeface="Roboto"/>
                  <a:cs typeface="Roboto"/>
                  <a:sym typeface="Roboto"/>
                </a:endParaRPr>
              </a:p>
            </p:txBody>
          </p:sp>
          <p:sp>
            <p:nvSpPr>
              <p:cNvPr id="648" name="Google Shape;648;p43"/>
              <p:cNvSpPr txBox="1"/>
              <p:nvPr/>
            </p:nvSpPr>
            <p:spPr>
              <a:xfrm>
                <a:off x="1132975" y="1324050"/>
                <a:ext cx="220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1155CC"/>
                    </a:solidFill>
                    <a:latin typeface="Roboto"/>
                    <a:ea typeface="Roboto"/>
                    <a:cs typeface="Roboto"/>
                    <a:sym typeface="Roboto"/>
                  </a:rPr>
                  <a:t>i</a:t>
                </a:r>
                <a:endParaRPr sz="900">
                  <a:solidFill>
                    <a:srgbClr val="1155CC"/>
                  </a:solidFill>
                  <a:latin typeface="Roboto"/>
                  <a:ea typeface="Roboto"/>
                  <a:cs typeface="Roboto"/>
                  <a:sym typeface="Roboto"/>
                </a:endParaRPr>
              </a:p>
            </p:txBody>
          </p:sp>
        </p:grpSp>
      </p:grpSp>
      <p:grpSp>
        <p:nvGrpSpPr>
          <p:cNvPr id="649" name="Google Shape;649;p43"/>
          <p:cNvGrpSpPr/>
          <p:nvPr/>
        </p:nvGrpSpPr>
        <p:grpSpPr>
          <a:xfrm>
            <a:off x="1044776" y="1617513"/>
            <a:ext cx="2418748" cy="253197"/>
            <a:chOff x="221525" y="1459280"/>
            <a:chExt cx="3615467" cy="507917"/>
          </a:xfrm>
        </p:grpSpPr>
        <p:sp>
          <p:nvSpPr>
            <p:cNvPr id="650" name="Google Shape;650;p43"/>
            <p:cNvSpPr/>
            <p:nvPr/>
          </p:nvSpPr>
          <p:spPr>
            <a:xfrm>
              <a:off x="221525"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6</a:t>
              </a:r>
              <a:endParaRPr sz="800">
                <a:latin typeface="Roboto"/>
                <a:ea typeface="Roboto"/>
                <a:cs typeface="Roboto"/>
                <a:sym typeface="Roboto"/>
              </a:endParaRPr>
            </a:p>
          </p:txBody>
        </p:sp>
        <p:sp>
          <p:nvSpPr>
            <p:cNvPr id="651" name="Google Shape;651;p43"/>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4</a:t>
              </a:r>
              <a:endParaRPr sz="800">
                <a:latin typeface="Roboto"/>
                <a:ea typeface="Roboto"/>
                <a:cs typeface="Roboto"/>
                <a:sym typeface="Roboto"/>
              </a:endParaRPr>
            </a:p>
          </p:txBody>
        </p:sp>
        <p:sp>
          <p:nvSpPr>
            <p:cNvPr id="652" name="Google Shape;652;p43"/>
            <p:cNvSpPr/>
            <p:nvPr/>
          </p:nvSpPr>
          <p:spPr>
            <a:xfrm>
              <a:off x="2812966"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5</a:t>
              </a:r>
              <a:endParaRPr sz="800">
                <a:latin typeface="Roboto"/>
                <a:ea typeface="Roboto"/>
                <a:cs typeface="Roboto"/>
                <a:sym typeface="Roboto"/>
              </a:endParaRPr>
            </a:p>
          </p:txBody>
        </p:sp>
        <p:sp>
          <p:nvSpPr>
            <p:cNvPr id="653" name="Google Shape;653;p43"/>
            <p:cNvSpPr/>
            <p:nvPr/>
          </p:nvSpPr>
          <p:spPr>
            <a:xfrm>
              <a:off x="2296488"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7</a:t>
              </a:r>
              <a:endParaRPr sz="800">
                <a:latin typeface="Roboto"/>
                <a:ea typeface="Roboto"/>
                <a:cs typeface="Roboto"/>
                <a:sym typeface="Roboto"/>
              </a:endParaRPr>
            </a:p>
          </p:txBody>
        </p:sp>
        <p:sp>
          <p:nvSpPr>
            <p:cNvPr id="654" name="Google Shape;654;p43"/>
            <p:cNvSpPr/>
            <p:nvPr/>
          </p:nvSpPr>
          <p:spPr>
            <a:xfrm>
              <a:off x="1780011"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3</a:t>
              </a:r>
              <a:endParaRPr sz="800">
                <a:latin typeface="Roboto"/>
                <a:ea typeface="Roboto"/>
                <a:cs typeface="Roboto"/>
                <a:sym typeface="Roboto"/>
              </a:endParaRPr>
            </a:p>
          </p:txBody>
        </p:sp>
        <p:sp>
          <p:nvSpPr>
            <p:cNvPr id="655" name="Google Shape;655;p43"/>
            <p:cNvSpPr/>
            <p:nvPr/>
          </p:nvSpPr>
          <p:spPr>
            <a:xfrm>
              <a:off x="1259007"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2</a:t>
              </a:r>
              <a:endParaRPr sz="800">
                <a:latin typeface="Roboto"/>
                <a:ea typeface="Roboto"/>
                <a:cs typeface="Roboto"/>
                <a:sym typeface="Roboto"/>
              </a:endParaRPr>
            </a:p>
          </p:txBody>
        </p:sp>
        <p:sp>
          <p:nvSpPr>
            <p:cNvPr id="656" name="Google Shape;656;p43"/>
            <p:cNvSpPr/>
            <p:nvPr/>
          </p:nvSpPr>
          <p:spPr>
            <a:xfrm>
              <a:off x="738003" y="1459280"/>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1</a:t>
              </a:r>
              <a:endParaRPr sz="800">
                <a:latin typeface="Roboto"/>
                <a:ea typeface="Roboto"/>
                <a:cs typeface="Roboto"/>
                <a:sym typeface="Roboto"/>
              </a:endParaRPr>
            </a:p>
          </p:txBody>
        </p:sp>
      </p:grpSp>
      <p:sp>
        <p:nvSpPr>
          <p:cNvPr id="657" name="Google Shape;657;p43"/>
          <p:cNvSpPr txBox="1"/>
          <p:nvPr/>
        </p:nvSpPr>
        <p:spPr>
          <a:xfrm>
            <a:off x="714775" y="1814675"/>
            <a:ext cx="505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8761D"/>
                </a:solidFill>
                <a:latin typeface="Roboto"/>
                <a:ea typeface="Roboto"/>
                <a:cs typeface="Roboto"/>
                <a:sym typeface="Roboto"/>
              </a:rPr>
              <a:t>pIndex</a:t>
            </a:r>
            <a:endParaRPr sz="800">
              <a:solidFill>
                <a:srgbClr val="38761D"/>
              </a:solidFill>
              <a:latin typeface="Roboto"/>
              <a:ea typeface="Roboto"/>
              <a:cs typeface="Roboto"/>
              <a:sym typeface="Roboto"/>
            </a:endParaRPr>
          </a:p>
        </p:txBody>
      </p:sp>
      <p:cxnSp>
        <p:nvCxnSpPr>
          <p:cNvPr id="658" name="Google Shape;658;p43"/>
          <p:cNvCxnSpPr/>
          <p:nvPr/>
        </p:nvCxnSpPr>
        <p:spPr>
          <a:xfrm flipH="1" rot="10800000">
            <a:off x="1638075" y="1873775"/>
            <a:ext cx="6300" cy="189600"/>
          </a:xfrm>
          <a:prstGeom prst="straightConnector1">
            <a:avLst/>
          </a:prstGeom>
          <a:noFill/>
          <a:ln cap="flat" cmpd="sng" w="9525">
            <a:solidFill>
              <a:srgbClr val="1155CC"/>
            </a:solidFill>
            <a:prstDash val="solid"/>
            <a:round/>
            <a:headEnd len="med" w="med" type="none"/>
            <a:tailEnd len="med" w="med" type="triangle"/>
          </a:ln>
        </p:spPr>
      </p:cxnSp>
      <p:cxnSp>
        <p:nvCxnSpPr>
          <p:cNvPr id="659" name="Google Shape;659;p43"/>
          <p:cNvCxnSpPr/>
          <p:nvPr/>
        </p:nvCxnSpPr>
        <p:spPr>
          <a:xfrm flipH="1" rot="10800000">
            <a:off x="1138900" y="1873775"/>
            <a:ext cx="6300" cy="189600"/>
          </a:xfrm>
          <a:prstGeom prst="straightConnector1">
            <a:avLst/>
          </a:prstGeom>
          <a:noFill/>
          <a:ln cap="flat" cmpd="sng" w="9525">
            <a:solidFill>
              <a:srgbClr val="38761D"/>
            </a:solidFill>
            <a:prstDash val="solid"/>
            <a:round/>
            <a:headEnd len="med" w="med" type="none"/>
            <a:tailEnd len="med" w="med" type="triangle"/>
          </a:ln>
        </p:spPr>
      </p:cxnSp>
      <p:sp>
        <p:nvSpPr>
          <p:cNvPr id="660" name="Google Shape;660;p43"/>
          <p:cNvSpPr txBox="1"/>
          <p:nvPr/>
        </p:nvSpPr>
        <p:spPr>
          <a:xfrm>
            <a:off x="1487575" y="1814671"/>
            <a:ext cx="207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1155CC"/>
                </a:solidFill>
                <a:latin typeface="Roboto"/>
                <a:ea typeface="Roboto"/>
                <a:cs typeface="Roboto"/>
                <a:sym typeface="Roboto"/>
              </a:rPr>
              <a:t>i</a:t>
            </a:r>
            <a:endParaRPr sz="900">
              <a:solidFill>
                <a:srgbClr val="1155CC"/>
              </a:solidFill>
              <a:latin typeface="Roboto"/>
              <a:ea typeface="Roboto"/>
              <a:cs typeface="Roboto"/>
              <a:sym typeface="Roboto"/>
            </a:endParaRPr>
          </a:p>
        </p:txBody>
      </p:sp>
      <p:grpSp>
        <p:nvGrpSpPr>
          <p:cNvPr id="661" name="Google Shape;661;p43"/>
          <p:cNvGrpSpPr/>
          <p:nvPr/>
        </p:nvGrpSpPr>
        <p:grpSpPr>
          <a:xfrm>
            <a:off x="1044776" y="2130551"/>
            <a:ext cx="2418748" cy="253197"/>
            <a:chOff x="221525" y="1459280"/>
            <a:chExt cx="3615467" cy="507917"/>
          </a:xfrm>
        </p:grpSpPr>
        <p:sp>
          <p:nvSpPr>
            <p:cNvPr id="662" name="Google Shape;662;p43"/>
            <p:cNvSpPr/>
            <p:nvPr/>
          </p:nvSpPr>
          <p:spPr>
            <a:xfrm>
              <a:off x="221525" y="1459297"/>
              <a:ext cx="516600" cy="5079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1</a:t>
              </a:r>
              <a:endParaRPr sz="800">
                <a:latin typeface="Roboto"/>
                <a:ea typeface="Roboto"/>
                <a:cs typeface="Roboto"/>
                <a:sym typeface="Roboto"/>
              </a:endParaRPr>
            </a:p>
          </p:txBody>
        </p:sp>
        <p:sp>
          <p:nvSpPr>
            <p:cNvPr id="663" name="Google Shape;663;p43"/>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4</a:t>
              </a:r>
              <a:endParaRPr sz="800">
                <a:latin typeface="Roboto"/>
                <a:ea typeface="Roboto"/>
                <a:cs typeface="Roboto"/>
                <a:sym typeface="Roboto"/>
              </a:endParaRPr>
            </a:p>
          </p:txBody>
        </p:sp>
        <p:sp>
          <p:nvSpPr>
            <p:cNvPr id="664" name="Google Shape;664;p43"/>
            <p:cNvSpPr/>
            <p:nvPr/>
          </p:nvSpPr>
          <p:spPr>
            <a:xfrm>
              <a:off x="2812966"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5</a:t>
              </a:r>
              <a:endParaRPr sz="800">
                <a:latin typeface="Roboto"/>
                <a:ea typeface="Roboto"/>
                <a:cs typeface="Roboto"/>
                <a:sym typeface="Roboto"/>
              </a:endParaRPr>
            </a:p>
          </p:txBody>
        </p:sp>
        <p:sp>
          <p:nvSpPr>
            <p:cNvPr id="665" name="Google Shape;665;p43"/>
            <p:cNvSpPr/>
            <p:nvPr/>
          </p:nvSpPr>
          <p:spPr>
            <a:xfrm>
              <a:off x="2296488"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7</a:t>
              </a:r>
              <a:endParaRPr sz="800">
                <a:latin typeface="Roboto"/>
                <a:ea typeface="Roboto"/>
                <a:cs typeface="Roboto"/>
                <a:sym typeface="Roboto"/>
              </a:endParaRPr>
            </a:p>
          </p:txBody>
        </p:sp>
        <p:sp>
          <p:nvSpPr>
            <p:cNvPr id="666" name="Google Shape;666;p43"/>
            <p:cNvSpPr/>
            <p:nvPr/>
          </p:nvSpPr>
          <p:spPr>
            <a:xfrm>
              <a:off x="1780011"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3</a:t>
              </a:r>
              <a:endParaRPr sz="800">
                <a:latin typeface="Roboto"/>
                <a:ea typeface="Roboto"/>
                <a:cs typeface="Roboto"/>
                <a:sym typeface="Roboto"/>
              </a:endParaRPr>
            </a:p>
          </p:txBody>
        </p:sp>
        <p:sp>
          <p:nvSpPr>
            <p:cNvPr id="667" name="Google Shape;667;p43"/>
            <p:cNvSpPr/>
            <p:nvPr/>
          </p:nvSpPr>
          <p:spPr>
            <a:xfrm>
              <a:off x="1259007"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2</a:t>
              </a:r>
              <a:endParaRPr sz="800">
                <a:latin typeface="Roboto"/>
                <a:ea typeface="Roboto"/>
                <a:cs typeface="Roboto"/>
                <a:sym typeface="Roboto"/>
              </a:endParaRPr>
            </a:p>
          </p:txBody>
        </p:sp>
        <p:sp>
          <p:nvSpPr>
            <p:cNvPr id="668" name="Google Shape;668;p43"/>
            <p:cNvSpPr/>
            <p:nvPr/>
          </p:nvSpPr>
          <p:spPr>
            <a:xfrm>
              <a:off x="738003" y="1459280"/>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6</a:t>
              </a:r>
              <a:endParaRPr sz="800">
                <a:latin typeface="Roboto"/>
                <a:ea typeface="Roboto"/>
                <a:cs typeface="Roboto"/>
                <a:sym typeface="Roboto"/>
              </a:endParaRPr>
            </a:p>
          </p:txBody>
        </p:sp>
      </p:grpSp>
      <p:sp>
        <p:nvSpPr>
          <p:cNvPr id="669" name="Google Shape;669;p43"/>
          <p:cNvSpPr txBox="1"/>
          <p:nvPr/>
        </p:nvSpPr>
        <p:spPr>
          <a:xfrm>
            <a:off x="1220275" y="2328663"/>
            <a:ext cx="505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8761D"/>
                </a:solidFill>
                <a:latin typeface="Roboto"/>
                <a:ea typeface="Roboto"/>
                <a:cs typeface="Roboto"/>
                <a:sym typeface="Roboto"/>
              </a:rPr>
              <a:t>pIndex</a:t>
            </a:r>
            <a:endParaRPr sz="800">
              <a:solidFill>
                <a:srgbClr val="38761D"/>
              </a:solidFill>
              <a:latin typeface="Roboto"/>
              <a:ea typeface="Roboto"/>
              <a:cs typeface="Roboto"/>
              <a:sym typeface="Roboto"/>
            </a:endParaRPr>
          </a:p>
        </p:txBody>
      </p:sp>
      <p:cxnSp>
        <p:nvCxnSpPr>
          <p:cNvPr id="670" name="Google Shape;670;p43"/>
          <p:cNvCxnSpPr/>
          <p:nvPr/>
        </p:nvCxnSpPr>
        <p:spPr>
          <a:xfrm flipH="1" rot="10800000">
            <a:off x="1998975" y="2400038"/>
            <a:ext cx="6300" cy="189600"/>
          </a:xfrm>
          <a:prstGeom prst="straightConnector1">
            <a:avLst/>
          </a:prstGeom>
          <a:noFill/>
          <a:ln cap="flat" cmpd="sng" w="9525">
            <a:solidFill>
              <a:srgbClr val="1155CC"/>
            </a:solidFill>
            <a:prstDash val="solid"/>
            <a:round/>
            <a:headEnd len="med" w="med" type="none"/>
            <a:tailEnd len="med" w="med" type="triangle"/>
          </a:ln>
        </p:spPr>
      </p:cxnSp>
      <p:cxnSp>
        <p:nvCxnSpPr>
          <p:cNvPr id="671" name="Google Shape;671;p43"/>
          <p:cNvCxnSpPr/>
          <p:nvPr/>
        </p:nvCxnSpPr>
        <p:spPr>
          <a:xfrm flipH="1" rot="10800000">
            <a:off x="1638075" y="2400038"/>
            <a:ext cx="6300" cy="189600"/>
          </a:xfrm>
          <a:prstGeom prst="straightConnector1">
            <a:avLst/>
          </a:prstGeom>
          <a:noFill/>
          <a:ln cap="flat" cmpd="sng" w="9525">
            <a:solidFill>
              <a:srgbClr val="38761D"/>
            </a:solidFill>
            <a:prstDash val="solid"/>
            <a:round/>
            <a:headEnd len="med" w="med" type="none"/>
            <a:tailEnd len="med" w="med" type="triangle"/>
          </a:ln>
        </p:spPr>
      </p:cxnSp>
      <p:sp>
        <p:nvSpPr>
          <p:cNvPr id="672" name="Google Shape;672;p43"/>
          <p:cNvSpPr txBox="1"/>
          <p:nvPr/>
        </p:nvSpPr>
        <p:spPr>
          <a:xfrm>
            <a:off x="1797375" y="2383734"/>
            <a:ext cx="207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1155CC"/>
                </a:solidFill>
                <a:latin typeface="Roboto"/>
                <a:ea typeface="Roboto"/>
                <a:cs typeface="Roboto"/>
                <a:sym typeface="Roboto"/>
              </a:rPr>
              <a:t>i</a:t>
            </a:r>
            <a:endParaRPr sz="900">
              <a:solidFill>
                <a:srgbClr val="1155CC"/>
              </a:solidFill>
              <a:latin typeface="Roboto"/>
              <a:ea typeface="Roboto"/>
              <a:cs typeface="Roboto"/>
              <a:sym typeface="Roboto"/>
            </a:endParaRPr>
          </a:p>
        </p:txBody>
      </p:sp>
      <p:grpSp>
        <p:nvGrpSpPr>
          <p:cNvPr id="673" name="Google Shape;673;p43"/>
          <p:cNvGrpSpPr/>
          <p:nvPr/>
        </p:nvGrpSpPr>
        <p:grpSpPr>
          <a:xfrm>
            <a:off x="1044776" y="2710126"/>
            <a:ext cx="2418748" cy="253197"/>
            <a:chOff x="221525" y="1459280"/>
            <a:chExt cx="3615467" cy="507917"/>
          </a:xfrm>
        </p:grpSpPr>
        <p:sp>
          <p:nvSpPr>
            <p:cNvPr id="674" name="Google Shape;674;p43"/>
            <p:cNvSpPr/>
            <p:nvPr/>
          </p:nvSpPr>
          <p:spPr>
            <a:xfrm>
              <a:off x="221525" y="1459297"/>
              <a:ext cx="516600" cy="5079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1</a:t>
              </a:r>
              <a:endParaRPr sz="800">
                <a:latin typeface="Roboto"/>
                <a:ea typeface="Roboto"/>
                <a:cs typeface="Roboto"/>
                <a:sym typeface="Roboto"/>
              </a:endParaRPr>
            </a:p>
          </p:txBody>
        </p:sp>
        <p:sp>
          <p:nvSpPr>
            <p:cNvPr id="675" name="Google Shape;675;p43"/>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4</a:t>
              </a:r>
              <a:endParaRPr sz="800">
                <a:latin typeface="Roboto"/>
                <a:ea typeface="Roboto"/>
                <a:cs typeface="Roboto"/>
                <a:sym typeface="Roboto"/>
              </a:endParaRPr>
            </a:p>
          </p:txBody>
        </p:sp>
        <p:sp>
          <p:nvSpPr>
            <p:cNvPr id="676" name="Google Shape;676;p43"/>
            <p:cNvSpPr/>
            <p:nvPr/>
          </p:nvSpPr>
          <p:spPr>
            <a:xfrm>
              <a:off x="2812966"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5</a:t>
              </a:r>
              <a:endParaRPr sz="800">
                <a:latin typeface="Roboto"/>
                <a:ea typeface="Roboto"/>
                <a:cs typeface="Roboto"/>
                <a:sym typeface="Roboto"/>
              </a:endParaRPr>
            </a:p>
          </p:txBody>
        </p:sp>
        <p:sp>
          <p:nvSpPr>
            <p:cNvPr id="677" name="Google Shape;677;p43"/>
            <p:cNvSpPr/>
            <p:nvPr/>
          </p:nvSpPr>
          <p:spPr>
            <a:xfrm>
              <a:off x="2296488"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7</a:t>
              </a:r>
              <a:endParaRPr sz="800">
                <a:latin typeface="Roboto"/>
                <a:ea typeface="Roboto"/>
                <a:cs typeface="Roboto"/>
                <a:sym typeface="Roboto"/>
              </a:endParaRPr>
            </a:p>
          </p:txBody>
        </p:sp>
        <p:sp>
          <p:nvSpPr>
            <p:cNvPr id="678" name="Google Shape;678;p43"/>
            <p:cNvSpPr/>
            <p:nvPr/>
          </p:nvSpPr>
          <p:spPr>
            <a:xfrm>
              <a:off x="1780011"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3</a:t>
              </a:r>
              <a:endParaRPr sz="800">
                <a:latin typeface="Roboto"/>
                <a:ea typeface="Roboto"/>
                <a:cs typeface="Roboto"/>
                <a:sym typeface="Roboto"/>
              </a:endParaRPr>
            </a:p>
          </p:txBody>
        </p:sp>
        <p:sp>
          <p:nvSpPr>
            <p:cNvPr id="679" name="Google Shape;679;p43"/>
            <p:cNvSpPr/>
            <p:nvPr/>
          </p:nvSpPr>
          <p:spPr>
            <a:xfrm>
              <a:off x="1259007"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6</a:t>
              </a:r>
              <a:endParaRPr sz="800">
                <a:latin typeface="Roboto"/>
                <a:ea typeface="Roboto"/>
                <a:cs typeface="Roboto"/>
                <a:sym typeface="Roboto"/>
              </a:endParaRPr>
            </a:p>
          </p:txBody>
        </p:sp>
        <p:sp>
          <p:nvSpPr>
            <p:cNvPr id="680" name="Google Shape;680;p43"/>
            <p:cNvSpPr/>
            <p:nvPr/>
          </p:nvSpPr>
          <p:spPr>
            <a:xfrm>
              <a:off x="738003" y="1459280"/>
              <a:ext cx="516600" cy="5079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2</a:t>
              </a:r>
              <a:endParaRPr sz="800">
                <a:latin typeface="Roboto"/>
                <a:ea typeface="Roboto"/>
                <a:cs typeface="Roboto"/>
                <a:sym typeface="Roboto"/>
              </a:endParaRPr>
            </a:p>
          </p:txBody>
        </p:sp>
      </p:grpSp>
      <p:sp>
        <p:nvSpPr>
          <p:cNvPr id="681" name="Google Shape;681;p43"/>
          <p:cNvSpPr txBox="1"/>
          <p:nvPr/>
        </p:nvSpPr>
        <p:spPr>
          <a:xfrm>
            <a:off x="1541775" y="2893888"/>
            <a:ext cx="505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8761D"/>
                </a:solidFill>
                <a:latin typeface="Roboto"/>
                <a:ea typeface="Roboto"/>
                <a:cs typeface="Roboto"/>
                <a:sym typeface="Roboto"/>
              </a:rPr>
              <a:t>pIndex</a:t>
            </a:r>
            <a:endParaRPr sz="800">
              <a:solidFill>
                <a:srgbClr val="38761D"/>
              </a:solidFill>
              <a:latin typeface="Roboto"/>
              <a:ea typeface="Roboto"/>
              <a:cs typeface="Roboto"/>
              <a:sym typeface="Roboto"/>
            </a:endParaRPr>
          </a:p>
        </p:txBody>
      </p:sp>
      <p:cxnSp>
        <p:nvCxnSpPr>
          <p:cNvPr id="682" name="Google Shape;682;p43"/>
          <p:cNvCxnSpPr/>
          <p:nvPr/>
        </p:nvCxnSpPr>
        <p:spPr>
          <a:xfrm flipH="1" rot="10800000">
            <a:off x="2352075" y="2967338"/>
            <a:ext cx="6300" cy="189600"/>
          </a:xfrm>
          <a:prstGeom prst="straightConnector1">
            <a:avLst/>
          </a:prstGeom>
          <a:noFill/>
          <a:ln cap="flat" cmpd="sng" w="9525">
            <a:solidFill>
              <a:srgbClr val="1155CC"/>
            </a:solidFill>
            <a:prstDash val="solid"/>
            <a:round/>
            <a:headEnd len="med" w="med" type="none"/>
            <a:tailEnd len="med" w="med" type="triangle"/>
          </a:ln>
        </p:spPr>
      </p:cxnSp>
      <p:cxnSp>
        <p:nvCxnSpPr>
          <p:cNvPr id="683" name="Google Shape;683;p43"/>
          <p:cNvCxnSpPr/>
          <p:nvPr/>
        </p:nvCxnSpPr>
        <p:spPr>
          <a:xfrm flipH="1" rot="10800000">
            <a:off x="1992675" y="2967338"/>
            <a:ext cx="6300" cy="189600"/>
          </a:xfrm>
          <a:prstGeom prst="straightConnector1">
            <a:avLst/>
          </a:prstGeom>
          <a:noFill/>
          <a:ln cap="flat" cmpd="sng" w="9525">
            <a:solidFill>
              <a:srgbClr val="38761D"/>
            </a:solidFill>
            <a:prstDash val="solid"/>
            <a:round/>
            <a:headEnd len="med" w="med" type="none"/>
            <a:tailEnd len="med" w="med" type="triangle"/>
          </a:ln>
        </p:spPr>
      </p:cxnSp>
      <p:sp>
        <p:nvSpPr>
          <p:cNvPr id="684" name="Google Shape;684;p43"/>
          <p:cNvSpPr txBox="1"/>
          <p:nvPr/>
        </p:nvSpPr>
        <p:spPr>
          <a:xfrm>
            <a:off x="2176225" y="2963309"/>
            <a:ext cx="207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1155CC"/>
                </a:solidFill>
                <a:latin typeface="Roboto"/>
                <a:ea typeface="Roboto"/>
                <a:cs typeface="Roboto"/>
                <a:sym typeface="Roboto"/>
              </a:rPr>
              <a:t>i</a:t>
            </a:r>
            <a:endParaRPr sz="900">
              <a:solidFill>
                <a:srgbClr val="1155CC"/>
              </a:solidFill>
              <a:latin typeface="Roboto"/>
              <a:ea typeface="Roboto"/>
              <a:cs typeface="Roboto"/>
              <a:sym typeface="Roboto"/>
            </a:endParaRPr>
          </a:p>
        </p:txBody>
      </p:sp>
      <p:grpSp>
        <p:nvGrpSpPr>
          <p:cNvPr id="685" name="Google Shape;685;p43"/>
          <p:cNvGrpSpPr/>
          <p:nvPr/>
        </p:nvGrpSpPr>
        <p:grpSpPr>
          <a:xfrm>
            <a:off x="1044776" y="3216663"/>
            <a:ext cx="2418748" cy="253197"/>
            <a:chOff x="221525" y="1459280"/>
            <a:chExt cx="3615467" cy="507917"/>
          </a:xfrm>
        </p:grpSpPr>
        <p:sp>
          <p:nvSpPr>
            <p:cNvPr id="686" name="Google Shape;686;p43"/>
            <p:cNvSpPr/>
            <p:nvPr/>
          </p:nvSpPr>
          <p:spPr>
            <a:xfrm>
              <a:off x="221525" y="1459297"/>
              <a:ext cx="516600" cy="5079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1</a:t>
              </a:r>
              <a:endParaRPr sz="800">
                <a:latin typeface="Roboto"/>
                <a:ea typeface="Roboto"/>
                <a:cs typeface="Roboto"/>
                <a:sym typeface="Roboto"/>
              </a:endParaRPr>
            </a:p>
          </p:txBody>
        </p:sp>
        <p:sp>
          <p:nvSpPr>
            <p:cNvPr id="687" name="Google Shape;687;p43"/>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4</a:t>
              </a:r>
              <a:endParaRPr sz="800">
                <a:latin typeface="Roboto"/>
                <a:ea typeface="Roboto"/>
                <a:cs typeface="Roboto"/>
                <a:sym typeface="Roboto"/>
              </a:endParaRPr>
            </a:p>
          </p:txBody>
        </p:sp>
        <p:sp>
          <p:nvSpPr>
            <p:cNvPr id="688" name="Google Shape;688;p43"/>
            <p:cNvSpPr/>
            <p:nvPr/>
          </p:nvSpPr>
          <p:spPr>
            <a:xfrm>
              <a:off x="2812966"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5</a:t>
              </a:r>
              <a:endParaRPr sz="800">
                <a:latin typeface="Roboto"/>
                <a:ea typeface="Roboto"/>
                <a:cs typeface="Roboto"/>
                <a:sym typeface="Roboto"/>
              </a:endParaRPr>
            </a:p>
          </p:txBody>
        </p:sp>
        <p:sp>
          <p:nvSpPr>
            <p:cNvPr id="689" name="Google Shape;689;p43"/>
            <p:cNvSpPr/>
            <p:nvPr/>
          </p:nvSpPr>
          <p:spPr>
            <a:xfrm>
              <a:off x="2296488" y="1459297"/>
              <a:ext cx="516600" cy="5079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7</a:t>
              </a:r>
              <a:endParaRPr sz="800">
                <a:latin typeface="Roboto"/>
                <a:ea typeface="Roboto"/>
                <a:cs typeface="Roboto"/>
                <a:sym typeface="Roboto"/>
              </a:endParaRPr>
            </a:p>
          </p:txBody>
        </p:sp>
        <p:sp>
          <p:nvSpPr>
            <p:cNvPr id="690" name="Google Shape;690;p43"/>
            <p:cNvSpPr/>
            <p:nvPr/>
          </p:nvSpPr>
          <p:spPr>
            <a:xfrm>
              <a:off x="1780011"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6</a:t>
              </a:r>
              <a:endParaRPr sz="800">
                <a:latin typeface="Roboto"/>
                <a:ea typeface="Roboto"/>
                <a:cs typeface="Roboto"/>
                <a:sym typeface="Roboto"/>
              </a:endParaRPr>
            </a:p>
          </p:txBody>
        </p:sp>
        <p:sp>
          <p:nvSpPr>
            <p:cNvPr id="691" name="Google Shape;691;p43"/>
            <p:cNvSpPr/>
            <p:nvPr/>
          </p:nvSpPr>
          <p:spPr>
            <a:xfrm>
              <a:off x="1259007" y="1459297"/>
              <a:ext cx="516600" cy="5079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3</a:t>
              </a:r>
              <a:endParaRPr sz="800">
                <a:latin typeface="Roboto"/>
                <a:ea typeface="Roboto"/>
                <a:cs typeface="Roboto"/>
                <a:sym typeface="Roboto"/>
              </a:endParaRPr>
            </a:p>
          </p:txBody>
        </p:sp>
        <p:sp>
          <p:nvSpPr>
            <p:cNvPr id="692" name="Google Shape;692;p43"/>
            <p:cNvSpPr/>
            <p:nvPr/>
          </p:nvSpPr>
          <p:spPr>
            <a:xfrm>
              <a:off x="738003" y="1459280"/>
              <a:ext cx="516600" cy="5079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2</a:t>
              </a:r>
              <a:endParaRPr sz="800">
                <a:latin typeface="Roboto"/>
                <a:ea typeface="Roboto"/>
                <a:cs typeface="Roboto"/>
                <a:sym typeface="Roboto"/>
              </a:endParaRPr>
            </a:p>
          </p:txBody>
        </p:sp>
      </p:grpSp>
      <p:sp>
        <p:nvSpPr>
          <p:cNvPr id="693" name="Google Shape;693;p43"/>
          <p:cNvSpPr txBox="1"/>
          <p:nvPr/>
        </p:nvSpPr>
        <p:spPr>
          <a:xfrm>
            <a:off x="1883725" y="3432900"/>
            <a:ext cx="505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8761D"/>
                </a:solidFill>
                <a:latin typeface="Roboto"/>
                <a:ea typeface="Roboto"/>
                <a:cs typeface="Roboto"/>
                <a:sym typeface="Roboto"/>
              </a:rPr>
              <a:t>pIndex</a:t>
            </a:r>
            <a:endParaRPr sz="800">
              <a:solidFill>
                <a:srgbClr val="38761D"/>
              </a:solidFill>
              <a:latin typeface="Roboto"/>
              <a:ea typeface="Roboto"/>
              <a:cs typeface="Roboto"/>
              <a:sym typeface="Roboto"/>
            </a:endParaRPr>
          </a:p>
        </p:txBody>
      </p:sp>
      <p:cxnSp>
        <p:nvCxnSpPr>
          <p:cNvPr id="694" name="Google Shape;694;p43"/>
          <p:cNvCxnSpPr/>
          <p:nvPr/>
        </p:nvCxnSpPr>
        <p:spPr>
          <a:xfrm flipH="1" rot="10800000">
            <a:off x="2687425" y="3473875"/>
            <a:ext cx="6300" cy="189600"/>
          </a:xfrm>
          <a:prstGeom prst="straightConnector1">
            <a:avLst/>
          </a:prstGeom>
          <a:noFill/>
          <a:ln cap="flat" cmpd="sng" w="9525">
            <a:solidFill>
              <a:srgbClr val="1155CC"/>
            </a:solidFill>
            <a:prstDash val="solid"/>
            <a:round/>
            <a:headEnd len="med" w="med" type="none"/>
            <a:tailEnd len="med" w="med" type="triangle"/>
          </a:ln>
        </p:spPr>
      </p:cxnSp>
      <p:cxnSp>
        <p:nvCxnSpPr>
          <p:cNvPr id="695" name="Google Shape;695;p43"/>
          <p:cNvCxnSpPr/>
          <p:nvPr/>
        </p:nvCxnSpPr>
        <p:spPr>
          <a:xfrm flipH="1" rot="10800000">
            <a:off x="2307875" y="3459525"/>
            <a:ext cx="6300" cy="189600"/>
          </a:xfrm>
          <a:prstGeom prst="straightConnector1">
            <a:avLst/>
          </a:prstGeom>
          <a:noFill/>
          <a:ln cap="flat" cmpd="sng" w="9525">
            <a:solidFill>
              <a:srgbClr val="38761D"/>
            </a:solidFill>
            <a:prstDash val="solid"/>
            <a:round/>
            <a:headEnd len="med" w="med" type="none"/>
            <a:tailEnd len="med" w="med" type="triangle"/>
          </a:ln>
        </p:spPr>
      </p:cxnSp>
      <p:sp>
        <p:nvSpPr>
          <p:cNvPr id="696" name="Google Shape;696;p43"/>
          <p:cNvSpPr txBox="1"/>
          <p:nvPr/>
        </p:nvSpPr>
        <p:spPr>
          <a:xfrm>
            <a:off x="2485825" y="3407121"/>
            <a:ext cx="207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1155CC"/>
                </a:solidFill>
                <a:latin typeface="Roboto"/>
                <a:ea typeface="Roboto"/>
                <a:cs typeface="Roboto"/>
                <a:sym typeface="Roboto"/>
              </a:rPr>
              <a:t>i</a:t>
            </a:r>
            <a:endParaRPr sz="900">
              <a:solidFill>
                <a:srgbClr val="1155CC"/>
              </a:solidFill>
              <a:latin typeface="Roboto"/>
              <a:ea typeface="Roboto"/>
              <a:cs typeface="Roboto"/>
              <a:sym typeface="Roboto"/>
            </a:endParaRPr>
          </a:p>
        </p:txBody>
      </p:sp>
      <p:grpSp>
        <p:nvGrpSpPr>
          <p:cNvPr id="697" name="Google Shape;697;p43"/>
          <p:cNvGrpSpPr/>
          <p:nvPr/>
        </p:nvGrpSpPr>
        <p:grpSpPr>
          <a:xfrm>
            <a:off x="1013926" y="3753213"/>
            <a:ext cx="2418748" cy="253197"/>
            <a:chOff x="221525" y="1459280"/>
            <a:chExt cx="3615467" cy="507917"/>
          </a:xfrm>
        </p:grpSpPr>
        <p:sp>
          <p:nvSpPr>
            <p:cNvPr id="698" name="Google Shape;698;p43"/>
            <p:cNvSpPr/>
            <p:nvPr/>
          </p:nvSpPr>
          <p:spPr>
            <a:xfrm>
              <a:off x="221525" y="1459297"/>
              <a:ext cx="516600" cy="5079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1</a:t>
              </a:r>
              <a:endParaRPr sz="800">
                <a:latin typeface="Roboto"/>
                <a:ea typeface="Roboto"/>
                <a:cs typeface="Roboto"/>
                <a:sym typeface="Roboto"/>
              </a:endParaRPr>
            </a:p>
          </p:txBody>
        </p:sp>
        <p:sp>
          <p:nvSpPr>
            <p:cNvPr id="699" name="Google Shape;699;p43"/>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4</a:t>
              </a:r>
              <a:endParaRPr sz="800">
                <a:latin typeface="Roboto"/>
                <a:ea typeface="Roboto"/>
                <a:cs typeface="Roboto"/>
                <a:sym typeface="Roboto"/>
              </a:endParaRPr>
            </a:p>
          </p:txBody>
        </p:sp>
        <p:sp>
          <p:nvSpPr>
            <p:cNvPr id="700" name="Google Shape;700;p43"/>
            <p:cNvSpPr/>
            <p:nvPr/>
          </p:nvSpPr>
          <p:spPr>
            <a:xfrm>
              <a:off x="2812966"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5</a:t>
              </a:r>
              <a:endParaRPr sz="800">
                <a:latin typeface="Roboto"/>
                <a:ea typeface="Roboto"/>
                <a:cs typeface="Roboto"/>
                <a:sym typeface="Roboto"/>
              </a:endParaRPr>
            </a:p>
          </p:txBody>
        </p:sp>
        <p:sp>
          <p:nvSpPr>
            <p:cNvPr id="701" name="Google Shape;701;p43"/>
            <p:cNvSpPr/>
            <p:nvPr/>
          </p:nvSpPr>
          <p:spPr>
            <a:xfrm>
              <a:off x="2296488" y="1459297"/>
              <a:ext cx="516600" cy="5079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7</a:t>
              </a:r>
              <a:endParaRPr sz="800">
                <a:latin typeface="Roboto"/>
                <a:ea typeface="Roboto"/>
                <a:cs typeface="Roboto"/>
                <a:sym typeface="Roboto"/>
              </a:endParaRPr>
            </a:p>
          </p:txBody>
        </p:sp>
        <p:sp>
          <p:nvSpPr>
            <p:cNvPr id="702" name="Google Shape;702;p43"/>
            <p:cNvSpPr/>
            <p:nvPr/>
          </p:nvSpPr>
          <p:spPr>
            <a:xfrm>
              <a:off x="1780011"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6</a:t>
              </a:r>
              <a:endParaRPr sz="800">
                <a:latin typeface="Roboto"/>
                <a:ea typeface="Roboto"/>
                <a:cs typeface="Roboto"/>
                <a:sym typeface="Roboto"/>
              </a:endParaRPr>
            </a:p>
          </p:txBody>
        </p:sp>
        <p:sp>
          <p:nvSpPr>
            <p:cNvPr id="703" name="Google Shape;703;p43"/>
            <p:cNvSpPr/>
            <p:nvPr/>
          </p:nvSpPr>
          <p:spPr>
            <a:xfrm>
              <a:off x="1259007" y="1459297"/>
              <a:ext cx="516600" cy="5079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3</a:t>
              </a:r>
              <a:endParaRPr sz="800">
                <a:latin typeface="Roboto"/>
                <a:ea typeface="Roboto"/>
                <a:cs typeface="Roboto"/>
                <a:sym typeface="Roboto"/>
              </a:endParaRPr>
            </a:p>
          </p:txBody>
        </p:sp>
        <p:sp>
          <p:nvSpPr>
            <p:cNvPr id="704" name="Google Shape;704;p43"/>
            <p:cNvSpPr/>
            <p:nvPr/>
          </p:nvSpPr>
          <p:spPr>
            <a:xfrm>
              <a:off x="738003" y="1459280"/>
              <a:ext cx="516600" cy="5079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2</a:t>
              </a:r>
              <a:endParaRPr sz="800">
                <a:latin typeface="Roboto"/>
                <a:ea typeface="Roboto"/>
                <a:cs typeface="Roboto"/>
                <a:sym typeface="Roboto"/>
              </a:endParaRPr>
            </a:p>
          </p:txBody>
        </p:sp>
      </p:grpSp>
      <p:sp>
        <p:nvSpPr>
          <p:cNvPr id="705" name="Google Shape;705;p43"/>
          <p:cNvSpPr txBox="1"/>
          <p:nvPr/>
        </p:nvSpPr>
        <p:spPr>
          <a:xfrm>
            <a:off x="1852875" y="3969450"/>
            <a:ext cx="505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8761D"/>
                </a:solidFill>
                <a:latin typeface="Roboto"/>
                <a:ea typeface="Roboto"/>
                <a:cs typeface="Roboto"/>
                <a:sym typeface="Roboto"/>
              </a:rPr>
              <a:t>pIndex</a:t>
            </a:r>
            <a:endParaRPr sz="800">
              <a:solidFill>
                <a:srgbClr val="38761D"/>
              </a:solidFill>
              <a:latin typeface="Roboto"/>
              <a:ea typeface="Roboto"/>
              <a:cs typeface="Roboto"/>
              <a:sym typeface="Roboto"/>
            </a:endParaRPr>
          </a:p>
        </p:txBody>
      </p:sp>
      <p:cxnSp>
        <p:nvCxnSpPr>
          <p:cNvPr id="706" name="Google Shape;706;p43"/>
          <p:cNvCxnSpPr/>
          <p:nvPr/>
        </p:nvCxnSpPr>
        <p:spPr>
          <a:xfrm flipH="1" rot="10800000">
            <a:off x="2959850" y="4010425"/>
            <a:ext cx="6300" cy="189600"/>
          </a:xfrm>
          <a:prstGeom prst="straightConnector1">
            <a:avLst/>
          </a:prstGeom>
          <a:noFill/>
          <a:ln cap="flat" cmpd="sng" w="9525">
            <a:solidFill>
              <a:srgbClr val="1155CC"/>
            </a:solidFill>
            <a:prstDash val="solid"/>
            <a:round/>
            <a:headEnd len="med" w="med" type="none"/>
            <a:tailEnd len="med" w="med" type="triangle"/>
          </a:ln>
        </p:spPr>
      </p:cxnSp>
      <p:cxnSp>
        <p:nvCxnSpPr>
          <p:cNvPr id="707" name="Google Shape;707;p43"/>
          <p:cNvCxnSpPr/>
          <p:nvPr/>
        </p:nvCxnSpPr>
        <p:spPr>
          <a:xfrm flipH="1" rot="10800000">
            <a:off x="2277025" y="3996075"/>
            <a:ext cx="6300" cy="189600"/>
          </a:xfrm>
          <a:prstGeom prst="straightConnector1">
            <a:avLst/>
          </a:prstGeom>
          <a:noFill/>
          <a:ln cap="flat" cmpd="sng" w="9525">
            <a:solidFill>
              <a:srgbClr val="38761D"/>
            </a:solidFill>
            <a:prstDash val="solid"/>
            <a:round/>
            <a:headEnd len="med" w="med" type="none"/>
            <a:tailEnd len="med" w="med" type="triangle"/>
          </a:ln>
        </p:spPr>
      </p:cxnSp>
      <p:sp>
        <p:nvSpPr>
          <p:cNvPr id="708" name="Google Shape;708;p43"/>
          <p:cNvSpPr txBox="1"/>
          <p:nvPr/>
        </p:nvSpPr>
        <p:spPr>
          <a:xfrm>
            <a:off x="2751950" y="3943671"/>
            <a:ext cx="207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1155CC"/>
                </a:solidFill>
                <a:latin typeface="Roboto"/>
                <a:ea typeface="Roboto"/>
                <a:cs typeface="Roboto"/>
                <a:sym typeface="Roboto"/>
              </a:rPr>
              <a:t>i</a:t>
            </a:r>
            <a:endParaRPr sz="900">
              <a:solidFill>
                <a:srgbClr val="1155CC"/>
              </a:solidFill>
              <a:latin typeface="Roboto"/>
              <a:ea typeface="Roboto"/>
              <a:cs typeface="Roboto"/>
              <a:sym typeface="Roboto"/>
            </a:endParaRPr>
          </a:p>
        </p:txBody>
      </p:sp>
      <p:grpSp>
        <p:nvGrpSpPr>
          <p:cNvPr id="709" name="Google Shape;709;p43"/>
          <p:cNvGrpSpPr/>
          <p:nvPr/>
        </p:nvGrpSpPr>
        <p:grpSpPr>
          <a:xfrm>
            <a:off x="1013926" y="4329488"/>
            <a:ext cx="2418748" cy="253197"/>
            <a:chOff x="221525" y="1459280"/>
            <a:chExt cx="3615467" cy="507917"/>
          </a:xfrm>
        </p:grpSpPr>
        <p:sp>
          <p:nvSpPr>
            <p:cNvPr id="710" name="Google Shape;710;p43"/>
            <p:cNvSpPr/>
            <p:nvPr/>
          </p:nvSpPr>
          <p:spPr>
            <a:xfrm>
              <a:off x="221525" y="1459297"/>
              <a:ext cx="516600" cy="5079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1</a:t>
              </a:r>
              <a:endParaRPr sz="800">
                <a:latin typeface="Roboto"/>
                <a:ea typeface="Roboto"/>
                <a:cs typeface="Roboto"/>
                <a:sym typeface="Roboto"/>
              </a:endParaRPr>
            </a:p>
          </p:txBody>
        </p:sp>
        <p:sp>
          <p:nvSpPr>
            <p:cNvPr id="711" name="Google Shape;711;p43"/>
            <p:cNvSpPr/>
            <p:nvPr/>
          </p:nvSpPr>
          <p:spPr>
            <a:xfrm>
              <a:off x="3320392" y="1459297"/>
              <a:ext cx="516600" cy="5079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6</a:t>
              </a:r>
              <a:endParaRPr sz="800">
                <a:latin typeface="Roboto"/>
                <a:ea typeface="Roboto"/>
                <a:cs typeface="Roboto"/>
                <a:sym typeface="Roboto"/>
              </a:endParaRPr>
            </a:p>
          </p:txBody>
        </p:sp>
        <p:sp>
          <p:nvSpPr>
            <p:cNvPr id="712" name="Google Shape;712;p43"/>
            <p:cNvSpPr/>
            <p:nvPr/>
          </p:nvSpPr>
          <p:spPr>
            <a:xfrm>
              <a:off x="2812966" y="1459297"/>
              <a:ext cx="516600" cy="5079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5</a:t>
              </a:r>
              <a:endParaRPr sz="800">
                <a:latin typeface="Roboto"/>
                <a:ea typeface="Roboto"/>
                <a:cs typeface="Roboto"/>
                <a:sym typeface="Roboto"/>
              </a:endParaRPr>
            </a:p>
          </p:txBody>
        </p:sp>
        <p:sp>
          <p:nvSpPr>
            <p:cNvPr id="713" name="Google Shape;713;p43"/>
            <p:cNvSpPr/>
            <p:nvPr/>
          </p:nvSpPr>
          <p:spPr>
            <a:xfrm>
              <a:off x="2296488" y="1459297"/>
              <a:ext cx="516600" cy="5079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7</a:t>
              </a:r>
              <a:endParaRPr sz="800">
                <a:latin typeface="Roboto"/>
                <a:ea typeface="Roboto"/>
                <a:cs typeface="Roboto"/>
                <a:sym typeface="Roboto"/>
              </a:endParaRPr>
            </a:p>
          </p:txBody>
        </p:sp>
        <p:sp>
          <p:nvSpPr>
            <p:cNvPr id="714" name="Google Shape;714;p43"/>
            <p:cNvSpPr/>
            <p:nvPr/>
          </p:nvSpPr>
          <p:spPr>
            <a:xfrm>
              <a:off x="1780011"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4</a:t>
              </a:r>
              <a:endParaRPr sz="800">
                <a:latin typeface="Roboto"/>
                <a:ea typeface="Roboto"/>
                <a:cs typeface="Roboto"/>
                <a:sym typeface="Roboto"/>
              </a:endParaRPr>
            </a:p>
          </p:txBody>
        </p:sp>
        <p:sp>
          <p:nvSpPr>
            <p:cNvPr id="715" name="Google Shape;715;p43"/>
            <p:cNvSpPr/>
            <p:nvPr/>
          </p:nvSpPr>
          <p:spPr>
            <a:xfrm>
              <a:off x="1259007" y="1459297"/>
              <a:ext cx="516600" cy="5079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3</a:t>
              </a:r>
              <a:endParaRPr sz="800">
                <a:latin typeface="Roboto"/>
                <a:ea typeface="Roboto"/>
                <a:cs typeface="Roboto"/>
                <a:sym typeface="Roboto"/>
              </a:endParaRPr>
            </a:p>
          </p:txBody>
        </p:sp>
        <p:sp>
          <p:nvSpPr>
            <p:cNvPr id="716" name="Google Shape;716;p43"/>
            <p:cNvSpPr/>
            <p:nvPr/>
          </p:nvSpPr>
          <p:spPr>
            <a:xfrm>
              <a:off x="738003" y="1459280"/>
              <a:ext cx="516600" cy="5079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2</a:t>
              </a:r>
              <a:endParaRPr sz="800">
                <a:latin typeface="Roboto"/>
                <a:ea typeface="Roboto"/>
                <a:cs typeface="Roboto"/>
                <a:sym typeface="Roboto"/>
              </a:endParaRPr>
            </a:p>
          </p:txBody>
        </p:sp>
      </p:grpSp>
      <p:sp>
        <p:nvSpPr>
          <p:cNvPr id="717" name="Google Shape;717;p43"/>
          <p:cNvSpPr txBox="1"/>
          <p:nvPr/>
        </p:nvSpPr>
        <p:spPr>
          <a:xfrm>
            <a:off x="1852875" y="4545725"/>
            <a:ext cx="505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38761D"/>
                </a:solidFill>
                <a:latin typeface="Roboto"/>
                <a:ea typeface="Roboto"/>
                <a:cs typeface="Roboto"/>
                <a:sym typeface="Roboto"/>
              </a:rPr>
              <a:t>pIndex</a:t>
            </a:r>
            <a:endParaRPr sz="800">
              <a:solidFill>
                <a:srgbClr val="38761D"/>
              </a:solidFill>
              <a:latin typeface="Roboto"/>
              <a:ea typeface="Roboto"/>
              <a:cs typeface="Roboto"/>
              <a:sym typeface="Roboto"/>
            </a:endParaRPr>
          </a:p>
        </p:txBody>
      </p:sp>
      <p:cxnSp>
        <p:nvCxnSpPr>
          <p:cNvPr id="718" name="Google Shape;718;p43"/>
          <p:cNvCxnSpPr/>
          <p:nvPr/>
        </p:nvCxnSpPr>
        <p:spPr>
          <a:xfrm flipH="1" rot="10800000">
            <a:off x="2277025" y="4572350"/>
            <a:ext cx="6300" cy="189600"/>
          </a:xfrm>
          <a:prstGeom prst="straightConnector1">
            <a:avLst/>
          </a:prstGeom>
          <a:noFill/>
          <a:ln cap="flat" cmpd="sng" w="9525">
            <a:solidFill>
              <a:srgbClr val="38761D"/>
            </a:solidFill>
            <a:prstDash val="solid"/>
            <a:round/>
            <a:headEnd len="med" w="med" type="none"/>
            <a:tailEnd len="med" w="med" type="triangle"/>
          </a:ln>
        </p:spPr>
      </p:cxnSp>
      <p:sp>
        <p:nvSpPr>
          <p:cNvPr id="719" name="Google Shape;719;p43"/>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4"/>
                                        </p:tgtEl>
                                        <p:attrNameLst>
                                          <p:attrName>style.visibility</p:attrName>
                                        </p:attrNameLst>
                                      </p:cBhvr>
                                      <p:to>
                                        <p:strVal val="visible"/>
                                      </p:to>
                                    </p:set>
                                    <p:animEffect filter="fade" transition="in">
                                      <p:cBhvr>
                                        <p:cTn dur="1000"/>
                                        <p:tgtEl>
                                          <p:spTgt spid="6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3"/>
                                        </p:tgtEl>
                                        <p:attrNameLst>
                                          <p:attrName>style.visibility</p:attrName>
                                        </p:attrNameLst>
                                      </p:cBhvr>
                                      <p:to>
                                        <p:strVal val="visible"/>
                                      </p:to>
                                    </p:set>
                                    <p:animEffect filter="fade" transition="in">
                                      <p:cBhvr>
                                        <p:cTn dur="1000"/>
                                        <p:tgtEl>
                                          <p:spTgt spid="6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1000"/>
                                        <p:tgtEl>
                                          <p:spTgt spid="624"/>
                                        </p:tgtEl>
                                      </p:cBhvr>
                                    </p:animEffect>
                                  </p:childTnLst>
                                </p:cTn>
                              </p:par>
                              <p:par>
                                <p:cTn fill="hold" nodeType="withEffect" presetClass="entr" presetID="10" presetSubtype="0">
                                  <p:stCondLst>
                                    <p:cond delay="0"/>
                                  </p:stCondLst>
                                  <p:childTnLst>
                                    <p:set>
                                      <p:cBhvr>
                                        <p:cTn dur="1" fill="hold">
                                          <p:stCondLst>
                                            <p:cond delay="0"/>
                                          </p:stCondLst>
                                        </p:cTn>
                                        <p:tgtEl>
                                          <p:spTgt spid="632"/>
                                        </p:tgtEl>
                                        <p:attrNameLst>
                                          <p:attrName>style.visibility</p:attrName>
                                        </p:attrNameLst>
                                      </p:cBhvr>
                                      <p:to>
                                        <p:strVal val="visible"/>
                                      </p:to>
                                    </p:set>
                                    <p:animEffect filter="fade" transition="in">
                                      <p:cBhvr>
                                        <p:cTn dur="1000"/>
                                        <p:tgtEl>
                                          <p:spTgt spid="6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
                                        </p:tgtEl>
                                        <p:attrNameLst>
                                          <p:attrName>style.visibility</p:attrName>
                                        </p:attrNameLst>
                                      </p:cBhvr>
                                      <p:to>
                                        <p:strVal val="visible"/>
                                      </p:to>
                                    </p:set>
                                    <p:animEffect filter="fade" transition="in">
                                      <p:cBhvr>
                                        <p:cTn dur="1000"/>
                                        <p:tgtEl>
                                          <p:spTgt spid="635"/>
                                        </p:tgtEl>
                                      </p:cBhvr>
                                    </p:animEffect>
                                  </p:childTnLst>
                                </p:cTn>
                              </p:par>
                              <p:par>
                                <p:cTn fill="hold" nodeType="withEffect" presetClass="entr" presetID="10" presetSubtype="0">
                                  <p:stCondLst>
                                    <p:cond delay="0"/>
                                  </p:stCondLst>
                                  <p:childTnLst>
                                    <p:set>
                                      <p:cBhvr>
                                        <p:cTn dur="1" fill="hold">
                                          <p:stCondLst>
                                            <p:cond delay="0"/>
                                          </p:stCondLst>
                                        </p:cTn>
                                        <p:tgtEl>
                                          <p:spTgt spid="643"/>
                                        </p:tgtEl>
                                        <p:attrNameLst>
                                          <p:attrName>style.visibility</p:attrName>
                                        </p:attrNameLst>
                                      </p:cBhvr>
                                      <p:to>
                                        <p:strVal val="visible"/>
                                      </p:to>
                                    </p:set>
                                    <p:animEffect filter="fade" transition="in">
                                      <p:cBhvr>
                                        <p:cTn dur="1000"/>
                                        <p:tgtEl>
                                          <p:spTgt spid="643"/>
                                        </p:tgtEl>
                                      </p:cBhvr>
                                    </p:animEffect>
                                  </p:childTnLst>
                                </p:cTn>
                              </p:par>
                              <p:par>
                                <p:cTn fill="hold" nodeType="withEffect" presetClass="entr" presetID="10" presetSubtype="0">
                                  <p:stCondLst>
                                    <p:cond delay="0"/>
                                  </p:stCondLst>
                                  <p:childTnLst>
                                    <p:set>
                                      <p:cBhvr>
                                        <p:cTn dur="1" fill="hold">
                                          <p:stCondLst>
                                            <p:cond delay="0"/>
                                          </p:stCondLst>
                                        </p:cTn>
                                        <p:tgtEl>
                                          <p:spTgt spid="644"/>
                                        </p:tgtEl>
                                        <p:attrNameLst>
                                          <p:attrName>style.visibility</p:attrName>
                                        </p:attrNameLst>
                                      </p:cBhvr>
                                      <p:to>
                                        <p:strVal val="visible"/>
                                      </p:to>
                                    </p:set>
                                    <p:animEffect filter="fade" transition="in">
                                      <p:cBhvr>
                                        <p:cTn dur="1000"/>
                                        <p:tgtEl>
                                          <p:spTgt spid="6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1000"/>
                                        <p:tgtEl>
                                          <p:spTgt spid="649"/>
                                        </p:tgtEl>
                                      </p:cBhvr>
                                    </p:animEffect>
                                  </p:childTnLst>
                                </p:cTn>
                              </p:par>
                              <p:par>
                                <p:cTn fill="hold" nodeType="with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1000"/>
                                        <p:tgtEl>
                                          <p:spTgt spid="657"/>
                                        </p:tgtEl>
                                      </p:cBhvr>
                                    </p:animEffect>
                                  </p:childTnLst>
                                </p:cTn>
                              </p:par>
                              <p:par>
                                <p:cTn fill="hold" nodeType="withEffect" presetClass="entr" presetID="10" presetSubtype="0">
                                  <p:stCondLst>
                                    <p:cond delay="0"/>
                                  </p:stCondLst>
                                  <p:childTnLst>
                                    <p:set>
                                      <p:cBhvr>
                                        <p:cTn dur="1" fill="hold">
                                          <p:stCondLst>
                                            <p:cond delay="0"/>
                                          </p:stCondLst>
                                        </p:cTn>
                                        <p:tgtEl>
                                          <p:spTgt spid="658"/>
                                        </p:tgtEl>
                                        <p:attrNameLst>
                                          <p:attrName>style.visibility</p:attrName>
                                        </p:attrNameLst>
                                      </p:cBhvr>
                                      <p:to>
                                        <p:strVal val="visible"/>
                                      </p:to>
                                    </p:set>
                                    <p:animEffect filter="fade" transition="in">
                                      <p:cBhvr>
                                        <p:cTn dur="1000"/>
                                        <p:tgtEl>
                                          <p:spTgt spid="658"/>
                                        </p:tgtEl>
                                      </p:cBhvr>
                                    </p:animEffect>
                                  </p:childTnLst>
                                </p:cTn>
                              </p:par>
                              <p:par>
                                <p:cTn fill="hold" nodeType="with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1000"/>
                                        <p:tgtEl>
                                          <p:spTgt spid="659"/>
                                        </p:tgtEl>
                                      </p:cBhvr>
                                    </p:animEffect>
                                  </p:childTnLst>
                                </p:cTn>
                              </p:par>
                              <p:par>
                                <p:cTn fill="hold" nodeType="with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1000"/>
                                        <p:tgtEl>
                                          <p:spTgt spid="6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1"/>
                                        </p:tgtEl>
                                        <p:attrNameLst>
                                          <p:attrName>style.visibility</p:attrName>
                                        </p:attrNameLst>
                                      </p:cBhvr>
                                      <p:to>
                                        <p:strVal val="visible"/>
                                      </p:to>
                                    </p:set>
                                    <p:animEffect filter="fade" transition="in">
                                      <p:cBhvr>
                                        <p:cTn dur="1000"/>
                                        <p:tgtEl>
                                          <p:spTgt spid="661"/>
                                        </p:tgtEl>
                                      </p:cBhvr>
                                    </p:animEffect>
                                  </p:childTnLst>
                                </p:cTn>
                              </p:par>
                              <p:par>
                                <p:cTn fill="hold" nodeType="withEffect" presetClass="entr" presetID="10" presetSubtype="0">
                                  <p:stCondLst>
                                    <p:cond delay="0"/>
                                  </p:stCondLst>
                                  <p:childTnLst>
                                    <p:set>
                                      <p:cBhvr>
                                        <p:cTn dur="1" fill="hold">
                                          <p:stCondLst>
                                            <p:cond delay="0"/>
                                          </p:stCondLst>
                                        </p:cTn>
                                        <p:tgtEl>
                                          <p:spTgt spid="669"/>
                                        </p:tgtEl>
                                        <p:attrNameLst>
                                          <p:attrName>style.visibility</p:attrName>
                                        </p:attrNameLst>
                                      </p:cBhvr>
                                      <p:to>
                                        <p:strVal val="visible"/>
                                      </p:to>
                                    </p:set>
                                    <p:animEffect filter="fade" transition="in">
                                      <p:cBhvr>
                                        <p:cTn dur="1000"/>
                                        <p:tgtEl>
                                          <p:spTgt spid="669"/>
                                        </p:tgtEl>
                                      </p:cBhvr>
                                    </p:animEffect>
                                  </p:childTnLst>
                                </p:cTn>
                              </p:par>
                              <p:par>
                                <p:cTn fill="hold" nodeType="withEffect" presetClass="entr" presetID="10" presetSubtype="0">
                                  <p:stCondLst>
                                    <p:cond delay="0"/>
                                  </p:stCondLst>
                                  <p:childTnLst>
                                    <p:set>
                                      <p:cBhvr>
                                        <p:cTn dur="1" fill="hold">
                                          <p:stCondLst>
                                            <p:cond delay="0"/>
                                          </p:stCondLst>
                                        </p:cTn>
                                        <p:tgtEl>
                                          <p:spTgt spid="670"/>
                                        </p:tgtEl>
                                        <p:attrNameLst>
                                          <p:attrName>style.visibility</p:attrName>
                                        </p:attrNameLst>
                                      </p:cBhvr>
                                      <p:to>
                                        <p:strVal val="visible"/>
                                      </p:to>
                                    </p:set>
                                    <p:animEffect filter="fade" transition="in">
                                      <p:cBhvr>
                                        <p:cTn dur="1000"/>
                                        <p:tgtEl>
                                          <p:spTgt spid="670"/>
                                        </p:tgtEl>
                                      </p:cBhvr>
                                    </p:animEffect>
                                  </p:childTnLst>
                                </p:cTn>
                              </p:par>
                              <p:par>
                                <p:cTn fill="hold" nodeType="withEffect" presetClass="entr" presetID="10" presetSubtype="0">
                                  <p:stCondLst>
                                    <p:cond delay="0"/>
                                  </p:stCondLst>
                                  <p:childTnLst>
                                    <p:set>
                                      <p:cBhvr>
                                        <p:cTn dur="1" fill="hold">
                                          <p:stCondLst>
                                            <p:cond delay="0"/>
                                          </p:stCondLst>
                                        </p:cTn>
                                        <p:tgtEl>
                                          <p:spTgt spid="671"/>
                                        </p:tgtEl>
                                        <p:attrNameLst>
                                          <p:attrName>style.visibility</p:attrName>
                                        </p:attrNameLst>
                                      </p:cBhvr>
                                      <p:to>
                                        <p:strVal val="visible"/>
                                      </p:to>
                                    </p:set>
                                    <p:animEffect filter="fade" transition="in">
                                      <p:cBhvr>
                                        <p:cTn dur="1000"/>
                                        <p:tgtEl>
                                          <p:spTgt spid="671"/>
                                        </p:tgtEl>
                                      </p:cBhvr>
                                    </p:animEffect>
                                  </p:childTnLst>
                                </p:cTn>
                              </p:par>
                              <p:par>
                                <p:cTn fill="hold" nodeType="withEffect" presetClass="entr" presetID="10" presetSubtype="0">
                                  <p:stCondLst>
                                    <p:cond delay="0"/>
                                  </p:stCondLst>
                                  <p:childTnLst>
                                    <p:set>
                                      <p:cBhvr>
                                        <p:cTn dur="1" fill="hold">
                                          <p:stCondLst>
                                            <p:cond delay="0"/>
                                          </p:stCondLst>
                                        </p:cTn>
                                        <p:tgtEl>
                                          <p:spTgt spid="672"/>
                                        </p:tgtEl>
                                        <p:attrNameLst>
                                          <p:attrName>style.visibility</p:attrName>
                                        </p:attrNameLst>
                                      </p:cBhvr>
                                      <p:to>
                                        <p:strVal val="visible"/>
                                      </p:to>
                                    </p:set>
                                    <p:animEffect filter="fade" transition="in">
                                      <p:cBhvr>
                                        <p:cTn dur="1000"/>
                                        <p:tgtEl>
                                          <p:spTgt spid="6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gtEl>
                                        <p:attrNameLst>
                                          <p:attrName>style.visibility</p:attrName>
                                        </p:attrNameLst>
                                      </p:cBhvr>
                                      <p:to>
                                        <p:strVal val="visible"/>
                                      </p:to>
                                    </p:set>
                                    <p:animEffect filter="fade" transition="in">
                                      <p:cBhvr>
                                        <p:cTn dur="1000"/>
                                        <p:tgtEl>
                                          <p:spTgt spid="673"/>
                                        </p:tgtEl>
                                      </p:cBhvr>
                                    </p:animEffect>
                                  </p:childTnLst>
                                </p:cTn>
                              </p:par>
                              <p:par>
                                <p:cTn fill="hold" nodeType="withEffect" presetClass="entr" presetID="10" presetSubtype="0">
                                  <p:stCondLst>
                                    <p:cond delay="0"/>
                                  </p:stCondLst>
                                  <p:childTnLst>
                                    <p:set>
                                      <p:cBhvr>
                                        <p:cTn dur="1" fill="hold">
                                          <p:stCondLst>
                                            <p:cond delay="0"/>
                                          </p:stCondLst>
                                        </p:cTn>
                                        <p:tgtEl>
                                          <p:spTgt spid="681"/>
                                        </p:tgtEl>
                                        <p:attrNameLst>
                                          <p:attrName>style.visibility</p:attrName>
                                        </p:attrNameLst>
                                      </p:cBhvr>
                                      <p:to>
                                        <p:strVal val="visible"/>
                                      </p:to>
                                    </p:set>
                                    <p:animEffect filter="fade" transition="in">
                                      <p:cBhvr>
                                        <p:cTn dur="1000"/>
                                        <p:tgtEl>
                                          <p:spTgt spid="681"/>
                                        </p:tgtEl>
                                      </p:cBhvr>
                                    </p:animEffect>
                                  </p:childTnLst>
                                </p:cTn>
                              </p:par>
                              <p:par>
                                <p:cTn fill="hold" nodeType="withEffect" presetClass="entr" presetID="10" presetSubtype="0">
                                  <p:stCondLst>
                                    <p:cond delay="0"/>
                                  </p:stCondLst>
                                  <p:childTnLst>
                                    <p:set>
                                      <p:cBhvr>
                                        <p:cTn dur="1" fill="hold">
                                          <p:stCondLst>
                                            <p:cond delay="0"/>
                                          </p:stCondLst>
                                        </p:cTn>
                                        <p:tgtEl>
                                          <p:spTgt spid="682"/>
                                        </p:tgtEl>
                                        <p:attrNameLst>
                                          <p:attrName>style.visibility</p:attrName>
                                        </p:attrNameLst>
                                      </p:cBhvr>
                                      <p:to>
                                        <p:strVal val="visible"/>
                                      </p:to>
                                    </p:set>
                                    <p:animEffect filter="fade" transition="in">
                                      <p:cBhvr>
                                        <p:cTn dur="1000"/>
                                        <p:tgtEl>
                                          <p:spTgt spid="682"/>
                                        </p:tgtEl>
                                      </p:cBhvr>
                                    </p:animEffect>
                                  </p:childTnLst>
                                </p:cTn>
                              </p:par>
                              <p:par>
                                <p:cTn fill="hold" nodeType="withEffect" presetClass="entr" presetID="10" presetSubtype="0">
                                  <p:stCondLst>
                                    <p:cond delay="0"/>
                                  </p:stCondLst>
                                  <p:childTnLst>
                                    <p:set>
                                      <p:cBhvr>
                                        <p:cTn dur="1" fill="hold">
                                          <p:stCondLst>
                                            <p:cond delay="0"/>
                                          </p:stCondLst>
                                        </p:cTn>
                                        <p:tgtEl>
                                          <p:spTgt spid="683"/>
                                        </p:tgtEl>
                                        <p:attrNameLst>
                                          <p:attrName>style.visibility</p:attrName>
                                        </p:attrNameLst>
                                      </p:cBhvr>
                                      <p:to>
                                        <p:strVal val="visible"/>
                                      </p:to>
                                    </p:set>
                                    <p:animEffect filter="fade" transition="in">
                                      <p:cBhvr>
                                        <p:cTn dur="1000"/>
                                        <p:tgtEl>
                                          <p:spTgt spid="683"/>
                                        </p:tgtEl>
                                      </p:cBhvr>
                                    </p:animEffect>
                                  </p:childTnLst>
                                </p:cTn>
                              </p:par>
                              <p:par>
                                <p:cTn fill="hold" nodeType="withEffect" presetClass="entr" presetID="10" presetSubtype="0">
                                  <p:stCondLst>
                                    <p:cond delay="0"/>
                                  </p:stCondLst>
                                  <p:childTnLst>
                                    <p:set>
                                      <p:cBhvr>
                                        <p:cTn dur="1" fill="hold">
                                          <p:stCondLst>
                                            <p:cond delay="0"/>
                                          </p:stCondLst>
                                        </p:cTn>
                                        <p:tgtEl>
                                          <p:spTgt spid="684"/>
                                        </p:tgtEl>
                                        <p:attrNameLst>
                                          <p:attrName>style.visibility</p:attrName>
                                        </p:attrNameLst>
                                      </p:cBhvr>
                                      <p:to>
                                        <p:strVal val="visible"/>
                                      </p:to>
                                    </p:set>
                                    <p:animEffect filter="fade" transition="in">
                                      <p:cBhvr>
                                        <p:cTn dur="1000"/>
                                        <p:tgtEl>
                                          <p:spTgt spid="6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5"/>
                                        </p:tgtEl>
                                        <p:attrNameLst>
                                          <p:attrName>style.visibility</p:attrName>
                                        </p:attrNameLst>
                                      </p:cBhvr>
                                      <p:to>
                                        <p:strVal val="visible"/>
                                      </p:to>
                                    </p:set>
                                    <p:animEffect filter="fade" transition="in">
                                      <p:cBhvr>
                                        <p:cTn dur="1000"/>
                                        <p:tgtEl>
                                          <p:spTgt spid="685"/>
                                        </p:tgtEl>
                                      </p:cBhvr>
                                    </p:animEffect>
                                  </p:childTnLst>
                                </p:cTn>
                              </p:par>
                              <p:par>
                                <p:cTn fill="hold" nodeType="withEffect" presetClass="entr" presetID="10" presetSubtype="0">
                                  <p:stCondLst>
                                    <p:cond delay="0"/>
                                  </p:stCondLst>
                                  <p:childTnLst>
                                    <p:set>
                                      <p:cBhvr>
                                        <p:cTn dur="1" fill="hold">
                                          <p:stCondLst>
                                            <p:cond delay="0"/>
                                          </p:stCondLst>
                                        </p:cTn>
                                        <p:tgtEl>
                                          <p:spTgt spid="693"/>
                                        </p:tgtEl>
                                        <p:attrNameLst>
                                          <p:attrName>style.visibility</p:attrName>
                                        </p:attrNameLst>
                                      </p:cBhvr>
                                      <p:to>
                                        <p:strVal val="visible"/>
                                      </p:to>
                                    </p:set>
                                    <p:animEffect filter="fade" transition="in">
                                      <p:cBhvr>
                                        <p:cTn dur="1000"/>
                                        <p:tgtEl>
                                          <p:spTgt spid="693"/>
                                        </p:tgtEl>
                                      </p:cBhvr>
                                    </p:animEffect>
                                  </p:childTnLst>
                                </p:cTn>
                              </p:par>
                              <p:par>
                                <p:cTn fill="hold" nodeType="with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1000"/>
                                        <p:tgtEl>
                                          <p:spTgt spid="694"/>
                                        </p:tgtEl>
                                      </p:cBhvr>
                                    </p:animEffect>
                                  </p:childTnLst>
                                </p:cTn>
                              </p:par>
                              <p:par>
                                <p:cTn fill="hold" nodeType="withEffect" presetClass="entr" presetID="10" presetSubtype="0">
                                  <p:stCondLst>
                                    <p:cond delay="0"/>
                                  </p:stCondLst>
                                  <p:childTnLst>
                                    <p:set>
                                      <p:cBhvr>
                                        <p:cTn dur="1" fill="hold">
                                          <p:stCondLst>
                                            <p:cond delay="0"/>
                                          </p:stCondLst>
                                        </p:cTn>
                                        <p:tgtEl>
                                          <p:spTgt spid="695"/>
                                        </p:tgtEl>
                                        <p:attrNameLst>
                                          <p:attrName>style.visibility</p:attrName>
                                        </p:attrNameLst>
                                      </p:cBhvr>
                                      <p:to>
                                        <p:strVal val="visible"/>
                                      </p:to>
                                    </p:set>
                                    <p:animEffect filter="fade" transition="in">
                                      <p:cBhvr>
                                        <p:cTn dur="1000"/>
                                        <p:tgtEl>
                                          <p:spTgt spid="695"/>
                                        </p:tgtEl>
                                      </p:cBhvr>
                                    </p:animEffect>
                                  </p:childTnLst>
                                </p:cTn>
                              </p:par>
                              <p:par>
                                <p:cTn fill="hold" nodeType="withEffect" presetClass="entr" presetID="10" presetSubtype="0">
                                  <p:stCondLst>
                                    <p:cond delay="0"/>
                                  </p:stCondLst>
                                  <p:childTnLst>
                                    <p:set>
                                      <p:cBhvr>
                                        <p:cTn dur="1" fill="hold">
                                          <p:stCondLst>
                                            <p:cond delay="0"/>
                                          </p:stCondLst>
                                        </p:cTn>
                                        <p:tgtEl>
                                          <p:spTgt spid="696"/>
                                        </p:tgtEl>
                                        <p:attrNameLst>
                                          <p:attrName>style.visibility</p:attrName>
                                        </p:attrNameLst>
                                      </p:cBhvr>
                                      <p:to>
                                        <p:strVal val="visible"/>
                                      </p:to>
                                    </p:set>
                                    <p:animEffect filter="fade" transition="in">
                                      <p:cBhvr>
                                        <p:cTn dur="1000"/>
                                        <p:tgtEl>
                                          <p:spTgt spid="6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7"/>
                                        </p:tgtEl>
                                        <p:attrNameLst>
                                          <p:attrName>style.visibility</p:attrName>
                                        </p:attrNameLst>
                                      </p:cBhvr>
                                      <p:to>
                                        <p:strVal val="visible"/>
                                      </p:to>
                                    </p:set>
                                    <p:animEffect filter="fade" transition="in">
                                      <p:cBhvr>
                                        <p:cTn dur="1000"/>
                                        <p:tgtEl>
                                          <p:spTgt spid="697"/>
                                        </p:tgtEl>
                                      </p:cBhvr>
                                    </p:animEffect>
                                  </p:childTnLst>
                                </p:cTn>
                              </p:par>
                              <p:par>
                                <p:cTn fill="hold" nodeType="withEffect" presetClass="entr" presetID="10" presetSubtype="0">
                                  <p:stCondLst>
                                    <p:cond delay="0"/>
                                  </p:stCondLst>
                                  <p:childTnLst>
                                    <p:set>
                                      <p:cBhvr>
                                        <p:cTn dur="1" fill="hold">
                                          <p:stCondLst>
                                            <p:cond delay="0"/>
                                          </p:stCondLst>
                                        </p:cTn>
                                        <p:tgtEl>
                                          <p:spTgt spid="705"/>
                                        </p:tgtEl>
                                        <p:attrNameLst>
                                          <p:attrName>style.visibility</p:attrName>
                                        </p:attrNameLst>
                                      </p:cBhvr>
                                      <p:to>
                                        <p:strVal val="visible"/>
                                      </p:to>
                                    </p:set>
                                    <p:animEffect filter="fade" transition="in">
                                      <p:cBhvr>
                                        <p:cTn dur="1000"/>
                                        <p:tgtEl>
                                          <p:spTgt spid="705"/>
                                        </p:tgtEl>
                                      </p:cBhvr>
                                    </p:animEffect>
                                  </p:childTnLst>
                                </p:cTn>
                              </p:par>
                              <p:par>
                                <p:cTn fill="hold" nodeType="withEffect" presetClass="entr" presetID="10" presetSubtype="0">
                                  <p:stCondLst>
                                    <p:cond delay="0"/>
                                  </p:stCondLst>
                                  <p:childTnLst>
                                    <p:set>
                                      <p:cBhvr>
                                        <p:cTn dur="1" fill="hold">
                                          <p:stCondLst>
                                            <p:cond delay="0"/>
                                          </p:stCondLst>
                                        </p:cTn>
                                        <p:tgtEl>
                                          <p:spTgt spid="706"/>
                                        </p:tgtEl>
                                        <p:attrNameLst>
                                          <p:attrName>style.visibility</p:attrName>
                                        </p:attrNameLst>
                                      </p:cBhvr>
                                      <p:to>
                                        <p:strVal val="visible"/>
                                      </p:to>
                                    </p:set>
                                    <p:animEffect filter="fade" transition="in">
                                      <p:cBhvr>
                                        <p:cTn dur="1000"/>
                                        <p:tgtEl>
                                          <p:spTgt spid="706"/>
                                        </p:tgtEl>
                                      </p:cBhvr>
                                    </p:animEffect>
                                  </p:childTnLst>
                                </p:cTn>
                              </p:par>
                              <p:par>
                                <p:cTn fill="hold" nodeType="withEffect" presetClass="entr" presetID="10" presetSubtype="0">
                                  <p:stCondLst>
                                    <p:cond delay="0"/>
                                  </p:stCondLst>
                                  <p:childTnLst>
                                    <p:set>
                                      <p:cBhvr>
                                        <p:cTn dur="1" fill="hold">
                                          <p:stCondLst>
                                            <p:cond delay="0"/>
                                          </p:stCondLst>
                                        </p:cTn>
                                        <p:tgtEl>
                                          <p:spTgt spid="707"/>
                                        </p:tgtEl>
                                        <p:attrNameLst>
                                          <p:attrName>style.visibility</p:attrName>
                                        </p:attrNameLst>
                                      </p:cBhvr>
                                      <p:to>
                                        <p:strVal val="visible"/>
                                      </p:to>
                                    </p:set>
                                    <p:animEffect filter="fade" transition="in">
                                      <p:cBhvr>
                                        <p:cTn dur="1000"/>
                                        <p:tgtEl>
                                          <p:spTgt spid="707"/>
                                        </p:tgtEl>
                                      </p:cBhvr>
                                    </p:animEffect>
                                  </p:childTnLst>
                                </p:cTn>
                              </p:par>
                              <p:par>
                                <p:cTn fill="hold" nodeType="withEffect" presetClass="entr" presetID="10" presetSubtype="0">
                                  <p:stCondLst>
                                    <p:cond delay="0"/>
                                  </p:stCondLst>
                                  <p:childTnLst>
                                    <p:set>
                                      <p:cBhvr>
                                        <p:cTn dur="1" fill="hold">
                                          <p:stCondLst>
                                            <p:cond delay="0"/>
                                          </p:stCondLst>
                                        </p:cTn>
                                        <p:tgtEl>
                                          <p:spTgt spid="708"/>
                                        </p:tgtEl>
                                        <p:attrNameLst>
                                          <p:attrName>style.visibility</p:attrName>
                                        </p:attrNameLst>
                                      </p:cBhvr>
                                      <p:to>
                                        <p:strVal val="visible"/>
                                      </p:to>
                                    </p:set>
                                    <p:animEffect filter="fade" transition="in">
                                      <p:cBhvr>
                                        <p:cTn dur="1000"/>
                                        <p:tgtEl>
                                          <p:spTgt spid="7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9"/>
                                        </p:tgtEl>
                                        <p:attrNameLst>
                                          <p:attrName>style.visibility</p:attrName>
                                        </p:attrNameLst>
                                      </p:cBhvr>
                                      <p:to>
                                        <p:strVal val="visible"/>
                                      </p:to>
                                    </p:set>
                                    <p:animEffect filter="fade" transition="in">
                                      <p:cBhvr>
                                        <p:cTn dur="1000"/>
                                        <p:tgtEl>
                                          <p:spTgt spid="709"/>
                                        </p:tgtEl>
                                      </p:cBhvr>
                                    </p:animEffect>
                                  </p:childTnLst>
                                </p:cTn>
                              </p:par>
                              <p:par>
                                <p:cTn fill="hold" nodeType="withEffect" presetClass="entr" presetID="10" presetSubtype="0">
                                  <p:stCondLst>
                                    <p:cond delay="0"/>
                                  </p:stCondLst>
                                  <p:childTnLst>
                                    <p:set>
                                      <p:cBhvr>
                                        <p:cTn dur="1" fill="hold">
                                          <p:stCondLst>
                                            <p:cond delay="0"/>
                                          </p:stCondLst>
                                        </p:cTn>
                                        <p:tgtEl>
                                          <p:spTgt spid="717"/>
                                        </p:tgtEl>
                                        <p:attrNameLst>
                                          <p:attrName>style.visibility</p:attrName>
                                        </p:attrNameLst>
                                      </p:cBhvr>
                                      <p:to>
                                        <p:strVal val="visible"/>
                                      </p:to>
                                    </p:set>
                                    <p:animEffect filter="fade" transition="in">
                                      <p:cBhvr>
                                        <p:cTn dur="1000"/>
                                        <p:tgtEl>
                                          <p:spTgt spid="717"/>
                                        </p:tgtEl>
                                      </p:cBhvr>
                                    </p:animEffect>
                                  </p:childTnLst>
                                </p:cTn>
                              </p:par>
                              <p:par>
                                <p:cTn fill="hold" nodeType="withEffect" presetClass="entr" presetID="10" presetSubtype="0">
                                  <p:stCondLst>
                                    <p:cond delay="0"/>
                                  </p:stCondLst>
                                  <p:childTnLst>
                                    <p:set>
                                      <p:cBhvr>
                                        <p:cTn dur="1" fill="hold">
                                          <p:stCondLst>
                                            <p:cond delay="0"/>
                                          </p:stCondLst>
                                        </p:cTn>
                                        <p:tgtEl>
                                          <p:spTgt spid="718"/>
                                        </p:tgtEl>
                                        <p:attrNameLst>
                                          <p:attrName>style.visibility</p:attrName>
                                        </p:attrNameLst>
                                      </p:cBhvr>
                                      <p:to>
                                        <p:strVal val="visible"/>
                                      </p:to>
                                    </p:set>
                                    <p:animEffect filter="fade" transition="in">
                                      <p:cBhvr>
                                        <p:cTn dur="1000"/>
                                        <p:tgtEl>
                                          <p:spTgt spid="7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Quicksort Example - Best Case</a:t>
            </a:r>
            <a:endParaRPr/>
          </a:p>
        </p:txBody>
      </p:sp>
      <p:grpSp>
        <p:nvGrpSpPr>
          <p:cNvPr id="725" name="Google Shape;725;p44"/>
          <p:cNvGrpSpPr/>
          <p:nvPr/>
        </p:nvGrpSpPr>
        <p:grpSpPr>
          <a:xfrm>
            <a:off x="2527188" y="1527792"/>
            <a:ext cx="3615467" cy="507917"/>
            <a:chOff x="221525" y="1459280"/>
            <a:chExt cx="3615467" cy="507917"/>
          </a:xfrm>
        </p:grpSpPr>
        <p:sp>
          <p:nvSpPr>
            <p:cNvPr id="726" name="Google Shape;726;p44"/>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7" name="Google Shape;727;p44"/>
            <p:cNvSpPr/>
            <p:nvPr/>
          </p:nvSpPr>
          <p:spPr>
            <a:xfrm>
              <a:off x="3320392"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8" name="Google Shape;728;p44"/>
            <p:cNvSpPr/>
            <p:nvPr/>
          </p:nvSpPr>
          <p:spPr>
            <a:xfrm>
              <a:off x="2812966"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9" name="Google Shape;729;p44"/>
            <p:cNvSpPr/>
            <p:nvPr/>
          </p:nvSpPr>
          <p:spPr>
            <a:xfrm>
              <a:off x="2296488"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0" name="Google Shape;730;p44"/>
            <p:cNvSpPr/>
            <p:nvPr/>
          </p:nvSpPr>
          <p:spPr>
            <a:xfrm>
              <a:off x="1780011"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44"/>
            <p:cNvSpPr/>
            <p:nvPr/>
          </p:nvSpPr>
          <p:spPr>
            <a:xfrm>
              <a:off x="1259007"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2" name="Google Shape;732;p44"/>
            <p:cNvSpPr/>
            <p:nvPr/>
          </p:nvSpPr>
          <p:spPr>
            <a:xfrm>
              <a:off x="738003" y="1459280"/>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733" name="Google Shape;733;p44"/>
          <p:cNvGrpSpPr/>
          <p:nvPr/>
        </p:nvGrpSpPr>
        <p:grpSpPr>
          <a:xfrm>
            <a:off x="2527188" y="2234642"/>
            <a:ext cx="3615467" cy="507917"/>
            <a:chOff x="221525" y="1459280"/>
            <a:chExt cx="3615467" cy="507917"/>
          </a:xfrm>
        </p:grpSpPr>
        <p:sp>
          <p:nvSpPr>
            <p:cNvPr id="734" name="Google Shape;734;p44"/>
            <p:cNvSpPr/>
            <p:nvPr/>
          </p:nvSpPr>
          <p:spPr>
            <a:xfrm>
              <a:off x="221525"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5" name="Google Shape;735;p44"/>
            <p:cNvSpPr/>
            <p:nvPr/>
          </p:nvSpPr>
          <p:spPr>
            <a:xfrm>
              <a:off x="3320392"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6" name="Google Shape;736;p44"/>
            <p:cNvSpPr/>
            <p:nvPr/>
          </p:nvSpPr>
          <p:spPr>
            <a:xfrm>
              <a:off x="2812966"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7" name="Google Shape;737;p44"/>
            <p:cNvSpPr/>
            <p:nvPr/>
          </p:nvSpPr>
          <p:spPr>
            <a:xfrm>
              <a:off x="2296488"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8" name="Google Shape;738;p44"/>
            <p:cNvSpPr/>
            <p:nvPr/>
          </p:nvSpPr>
          <p:spPr>
            <a:xfrm>
              <a:off x="1780011"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9" name="Google Shape;739;p44"/>
            <p:cNvSpPr/>
            <p:nvPr/>
          </p:nvSpPr>
          <p:spPr>
            <a:xfrm>
              <a:off x="1259007"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0" name="Google Shape;740;p44"/>
            <p:cNvSpPr/>
            <p:nvPr/>
          </p:nvSpPr>
          <p:spPr>
            <a:xfrm>
              <a:off x="738003" y="1459280"/>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741" name="Google Shape;741;p44"/>
          <p:cNvGrpSpPr/>
          <p:nvPr/>
        </p:nvGrpSpPr>
        <p:grpSpPr>
          <a:xfrm>
            <a:off x="2478725" y="4301155"/>
            <a:ext cx="3615467" cy="507917"/>
            <a:chOff x="221525" y="1459280"/>
            <a:chExt cx="3615467" cy="507917"/>
          </a:xfrm>
        </p:grpSpPr>
        <p:sp>
          <p:nvSpPr>
            <p:cNvPr id="742" name="Google Shape;742;p44"/>
            <p:cNvSpPr/>
            <p:nvPr/>
          </p:nvSpPr>
          <p:spPr>
            <a:xfrm>
              <a:off x="221525"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3" name="Google Shape;743;p44"/>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4" name="Google Shape;744;p44"/>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5" name="Google Shape;745;p44"/>
            <p:cNvSpPr/>
            <p:nvPr/>
          </p:nvSpPr>
          <p:spPr>
            <a:xfrm>
              <a:off x="2296488"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6" name="Google Shape;746;p44"/>
            <p:cNvSpPr/>
            <p:nvPr/>
          </p:nvSpPr>
          <p:spPr>
            <a:xfrm>
              <a:off x="1780011"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7" name="Google Shape;747;p44"/>
            <p:cNvSpPr/>
            <p:nvPr/>
          </p:nvSpPr>
          <p:spPr>
            <a:xfrm>
              <a:off x="1259007"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8" name="Google Shape;748;p44"/>
            <p:cNvSpPr/>
            <p:nvPr/>
          </p:nvSpPr>
          <p:spPr>
            <a:xfrm>
              <a:off x="738003" y="1459280"/>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749" name="Google Shape;749;p44"/>
          <p:cNvGrpSpPr/>
          <p:nvPr/>
        </p:nvGrpSpPr>
        <p:grpSpPr>
          <a:xfrm>
            <a:off x="2527188" y="2941492"/>
            <a:ext cx="3615467" cy="507917"/>
            <a:chOff x="221525" y="1459280"/>
            <a:chExt cx="3615467" cy="507917"/>
          </a:xfrm>
        </p:grpSpPr>
        <p:sp>
          <p:nvSpPr>
            <p:cNvPr id="750" name="Google Shape;750;p44"/>
            <p:cNvSpPr/>
            <p:nvPr/>
          </p:nvSpPr>
          <p:spPr>
            <a:xfrm>
              <a:off x="221525"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1" name="Google Shape;751;p44"/>
            <p:cNvSpPr/>
            <p:nvPr/>
          </p:nvSpPr>
          <p:spPr>
            <a:xfrm>
              <a:off x="3320392"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2" name="Google Shape;752;p44"/>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3" name="Google Shape;753;p44"/>
            <p:cNvSpPr/>
            <p:nvPr/>
          </p:nvSpPr>
          <p:spPr>
            <a:xfrm>
              <a:off x="2296488"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4" name="Google Shape;754;p44"/>
            <p:cNvSpPr/>
            <p:nvPr/>
          </p:nvSpPr>
          <p:spPr>
            <a:xfrm>
              <a:off x="1780011"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5" name="Google Shape;755;p44"/>
            <p:cNvSpPr/>
            <p:nvPr/>
          </p:nvSpPr>
          <p:spPr>
            <a:xfrm>
              <a:off x="1259007"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6" name="Google Shape;756;p44"/>
            <p:cNvSpPr/>
            <p:nvPr/>
          </p:nvSpPr>
          <p:spPr>
            <a:xfrm>
              <a:off x="738003" y="1459280"/>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57" name="Google Shape;757;p44"/>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
                                        </p:tgtEl>
                                        <p:attrNameLst>
                                          <p:attrName>style.visibility</p:attrName>
                                        </p:attrNameLst>
                                      </p:cBhvr>
                                      <p:to>
                                        <p:strVal val="visible"/>
                                      </p:to>
                                    </p:set>
                                    <p:animEffect filter="fade" transition="in">
                                      <p:cBhvr>
                                        <p:cTn dur="1000"/>
                                        <p:tgtEl>
                                          <p:spTgt spid="7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3"/>
                                        </p:tgtEl>
                                        <p:attrNameLst>
                                          <p:attrName>style.visibility</p:attrName>
                                        </p:attrNameLst>
                                      </p:cBhvr>
                                      <p:to>
                                        <p:strVal val="visible"/>
                                      </p:to>
                                    </p:set>
                                    <p:animEffect filter="fade" transition="in">
                                      <p:cBhvr>
                                        <p:cTn dur="1000"/>
                                        <p:tgtEl>
                                          <p:spTgt spid="7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gtEl>
                                        <p:attrNameLst>
                                          <p:attrName>style.visibility</p:attrName>
                                        </p:attrNameLst>
                                      </p:cBhvr>
                                      <p:to>
                                        <p:strVal val="visible"/>
                                      </p:to>
                                    </p:set>
                                    <p:animEffect filter="fade" transition="in">
                                      <p:cBhvr>
                                        <p:cTn dur="1000"/>
                                        <p:tgtEl>
                                          <p:spTgt spid="7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gtEl>
                                        <p:attrNameLst>
                                          <p:attrName>style.visibility</p:attrName>
                                        </p:attrNameLst>
                                      </p:cBhvr>
                                      <p:to>
                                        <p:strVal val="visible"/>
                                      </p:to>
                                    </p:set>
                                    <p:animEffect filter="fade" transition="in">
                                      <p:cBhvr>
                                        <p:cTn dur="1000"/>
                                        <p:tgtEl>
                                          <p:spTgt spid="7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Quicksort Example - Best Case</a:t>
            </a:r>
            <a:endParaRPr/>
          </a:p>
        </p:txBody>
      </p:sp>
      <p:grpSp>
        <p:nvGrpSpPr>
          <p:cNvPr id="763" name="Google Shape;763;p45"/>
          <p:cNvGrpSpPr/>
          <p:nvPr/>
        </p:nvGrpSpPr>
        <p:grpSpPr>
          <a:xfrm>
            <a:off x="2527188" y="1527792"/>
            <a:ext cx="3615467" cy="507917"/>
            <a:chOff x="221525" y="1459280"/>
            <a:chExt cx="3615467" cy="507917"/>
          </a:xfrm>
        </p:grpSpPr>
        <p:sp>
          <p:nvSpPr>
            <p:cNvPr id="764" name="Google Shape;764;p45"/>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765" name="Google Shape;765;p45"/>
            <p:cNvSpPr/>
            <p:nvPr/>
          </p:nvSpPr>
          <p:spPr>
            <a:xfrm>
              <a:off x="3320392"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766" name="Google Shape;766;p45"/>
            <p:cNvSpPr/>
            <p:nvPr/>
          </p:nvSpPr>
          <p:spPr>
            <a:xfrm>
              <a:off x="2812966"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767" name="Google Shape;767;p45"/>
            <p:cNvSpPr/>
            <p:nvPr/>
          </p:nvSpPr>
          <p:spPr>
            <a:xfrm>
              <a:off x="2296488"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768" name="Google Shape;768;p45"/>
            <p:cNvSpPr/>
            <p:nvPr/>
          </p:nvSpPr>
          <p:spPr>
            <a:xfrm>
              <a:off x="1780011"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769" name="Google Shape;769;p45"/>
            <p:cNvSpPr/>
            <p:nvPr/>
          </p:nvSpPr>
          <p:spPr>
            <a:xfrm>
              <a:off x="1259007"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770" name="Google Shape;770;p45"/>
            <p:cNvSpPr/>
            <p:nvPr/>
          </p:nvSpPr>
          <p:spPr>
            <a:xfrm>
              <a:off x="738003" y="1459280"/>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grpSp>
      <p:grpSp>
        <p:nvGrpSpPr>
          <p:cNvPr id="771" name="Google Shape;771;p45"/>
          <p:cNvGrpSpPr/>
          <p:nvPr/>
        </p:nvGrpSpPr>
        <p:grpSpPr>
          <a:xfrm>
            <a:off x="2527188" y="2234642"/>
            <a:ext cx="3615467" cy="507917"/>
            <a:chOff x="221525" y="1459280"/>
            <a:chExt cx="3615467" cy="507917"/>
          </a:xfrm>
        </p:grpSpPr>
        <p:sp>
          <p:nvSpPr>
            <p:cNvPr id="772" name="Google Shape;772;p45"/>
            <p:cNvSpPr/>
            <p:nvPr/>
          </p:nvSpPr>
          <p:spPr>
            <a:xfrm>
              <a:off x="221525"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773" name="Google Shape;773;p45"/>
            <p:cNvSpPr/>
            <p:nvPr/>
          </p:nvSpPr>
          <p:spPr>
            <a:xfrm>
              <a:off x="3320392"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774" name="Google Shape;774;p45"/>
            <p:cNvSpPr/>
            <p:nvPr/>
          </p:nvSpPr>
          <p:spPr>
            <a:xfrm>
              <a:off x="2812966"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775" name="Google Shape;775;p45"/>
            <p:cNvSpPr/>
            <p:nvPr/>
          </p:nvSpPr>
          <p:spPr>
            <a:xfrm>
              <a:off x="2296488"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776" name="Google Shape;776;p45"/>
            <p:cNvSpPr/>
            <p:nvPr/>
          </p:nvSpPr>
          <p:spPr>
            <a:xfrm>
              <a:off x="1780011"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777" name="Google Shape;777;p45"/>
            <p:cNvSpPr/>
            <p:nvPr/>
          </p:nvSpPr>
          <p:spPr>
            <a:xfrm>
              <a:off x="1259007"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778" name="Google Shape;778;p45"/>
            <p:cNvSpPr/>
            <p:nvPr/>
          </p:nvSpPr>
          <p:spPr>
            <a:xfrm>
              <a:off x="738003" y="1459280"/>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grpSp>
      <p:grpSp>
        <p:nvGrpSpPr>
          <p:cNvPr id="779" name="Google Shape;779;p45"/>
          <p:cNvGrpSpPr/>
          <p:nvPr/>
        </p:nvGrpSpPr>
        <p:grpSpPr>
          <a:xfrm>
            <a:off x="2478725" y="4301155"/>
            <a:ext cx="3615467" cy="507917"/>
            <a:chOff x="221525" y="1459280"/>
            <a:chExt cx="3615467" cy="507917"/>
          </a:xfrm>
        </p:grpSpPr>
        <p:sp>
          <p:nvSpPr>
            <p:cNvPr id="780" name="Google Shape;780;p45"/>
            <p:cNvSpPr/>
            <p:nvPr/>
          </p:nvSpPr>
          <p:spPr>
            <a:xfrm>
              <a:off x="221525"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781" name="Google Shape;781;p45"/>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782" name="Google Shape;782;p45"/>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783" name="Google Shape;783;p45"/>
            <p:cNvSpPr/>
            <p:nvPr/>
          </p:nvSpPr>
          <p:spPr>
            <a:xfrm>
              <a:off x="2296488"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784" name="Google Shape;784;p45"/>
            <p:cNvSpPr/>
            <p:nvPr/>
          </p:nvSpPr>
          <p:spPr>
            <a:xfrm>
              <a:off x="1780011"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785" name="Google Shape;785;p45"/>
            <p:cNvSpPr/>
            <p:nvPr/>
          </p:nvSpPr>
          <p:spPr>
            <a:xfrm>
              <a:off x="1259007"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786" name="Google Shape;786;p45"/>
            <p:cNvSpPr/>
            <p:nvPr/>
          </p:nvSpPr>
          <p:spPr>
            <a:xfrm>
              <a:off x="738003" y="1459280"/>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grpSp>
      <p:sp>
        <p:nvSpPr>
          <p:cNvPr id="787" name="Google Shape;787;p45"/>
          <p:cNvSpPr txBox="1"/>
          <p:nvPr/>
        </p:nvSpPr>
        <p:spPr>
          <a:xfrm>
            <a:off x="1024600" y="4316188"/>
            <a:ext cx="114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Final result:</a:t>
            </a:r>
            <a:endParaRPr/>
          </a:p>
        </p:txBody>
      </p:sp>
      <p:grpSp>
        <p:nvGrpSpPr>
          <p:cNvPr id="788" name="Google Shape;788;p45"/>
          <p:cNvGrpSpPr/>
          <p:nvPr/>
        </p:nvGrpSpPr>
        <p:grpSpPr>
          <a:xfrm>
            <a:off x="2527188" y="2941492"/>
            <a:ext cx="3615467" cy="507917"/>
            <a:chOff x="221525" y="1459280"/>
            <a:chExt cx="3615467" cy="507917"/>
          </a:xfrm>
        </p:grpSpPr>
        <p:sp>
          <p:nvSpPr>
            <p:cNvPr id="789" name="Google Shape;789;p45"/>
            <p:cNvSpPr/>
            <p:nvPr/>
          </p:nvSpPr>
          <p:spPr>
            <a:xfrm>
              <a:off x="221525"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790" name="Google Shape;790;p45"/>
            <p:cNvSpPr/>
            <p:nvPr/>
          </p:nvSpPr>
          <p:spPr>
            <a:xfrm>
              <a:off x="3320392"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791" name="Google Shape;791;p45"/>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792" name="Google Shape;792;p45"/>
            <p:cNvSpPr/>
            <p:nvPr/>
          </p:nvSpPr>
          <p:spPr>
            <a:xfrm>
              <a:off x="2296488" y="1459297"/>
              <a:ext cx="516600" cy="507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793" name="Google Shape;793;p45"/>
            <p:cNvSpPr/>
            <p:nvPr/>
          </p:nvSpPr>
          <p:spPr>
            <a:xfrm>
              <a:off x="1780011"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794" name="Google Shape;794;p45"/>
            <p:cNvSpPr/>
            <p:nvPr/>
          </p:nvSpPr>
          <p:spPr>
            <a:xfrm>
              <a:off x="1259007" y="1459297"/>
              <a:ext cx="516600" cy="507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795" name="Google Shape;795;p45"/>
            <p:cNvSpPr/>
            <p:nvPr/>
          </p:nvSpPr>
          <p:spPr>
            <a:xfrm>
              <a:off x="738003" y="1459280"/>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grpSp>
      <p:sp>
        <p:nvSpPr>
          <p:cNvPr id="796" name="Google Shape;796;p45"/>
          <p:cNvSpPr txBox="1"/>
          <p:nvPr/>
        </p:nvSpPr>
        <p:spPr>
          <a:xfrm>
            <a:off x="1345225" y="1581650"/>
            <a:ext cx="114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Pivot: 4</a:t>
            </a:r>
            <a:endParaRPr/>
          </a:p>
        </p:txBody>
      </p:sp>
      <p:sp>
        <p:nvSpPr>
          <p:cNvPr id="797" name="Google Shape;797;p45"/>
          <p:cNvSpPr txBox="1"/>
          <p:nvPr/>
        </p:nvSpPr>
        <p:spPr>
          <a:xfrm>
            <a:off x="1345225" y="2288488"/>
            <a:ext cx="114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Pivot: 3</a:t>
            </a:r>
            <a:endParaRPr/>
          </a:p>
        </p:txBody>
      </p:sp>
      <p:sp>
        <p:nvSpPr>
          <p:cNvPr id="798" name="Google Shape;798;p45"/>
          <p:cNvSpPr txBox="1"/>
          <p:nvPr/>
        </p:nvSpPr>
        <p:spPr>
          <a:xfrm>
            <a:off x="1345225" y="2995338"/>
            <a:ext cx="114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Pivot: 2</a:t>
            </a:r>
            <a:endParaRPr/>
          </a:p>
        </p:txBody>
      </p:sp>
      <p:sp>
        <p:nvSpPr>
          <p:cNvPr id="799" name="Google Shape;799;p45"/>
          <p:cNvSpPr txBox="1"/>
          <p:nvPr/>
        </p:nvSpPr>
        <p:spPr>
          <a:xfrm>
            <a:off x="6385450" y="2995350"/>
            <a:ext cx="114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Pivot: 6</a:t>
            </a:r>
            <a:endParaRPr/>
          </a:p>
        </p:txBody>
      </p:sp>
      <p:sp>
        <p:nvSpPr>
          <p:cNvPr id="800" name="Google Shape;800;p45"/>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3"/>
                                        </p:tgtEl>
                                        <p:attrNameLst>
                                          <p:attrName>style.visibility</p:attrName>
                                        </p:attrNameLst>
                                      </p:cBhvr>
                                      <p:to>
                                        <p:strVal val="visible"/>
                                      </p:to>
                                    </p:set>
                                    <p:animEffect filter="fade" transition="in">
                                      <p:cBhvr>
                                        <p:cTn dur="1000"/>
                                        <p:tgtEl>
                                          <p:spTgt spid="7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gtEl>
                                        <p:attrNameLst>
                                          <p:attrName>style.visibility</p:attrName>
                                        </p:attrNameLst>
                                      </p:cBhvr>
                                      <p:to>
                                        <p:strVal val="visible"/>
                                      </p:to>
                                    </p:set>
                                    <p:animEffect filter="fade" transition="in">
                                      <p:cBhvr>
                                        <p:cTn dur="1000"/>
                                        <p:tgtEl>
                                          <p:spTgt spid="7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1"/>
                                        </p:tgtEl>
                                        <p:attrNameLst>
                                          <p:attrName>style.visibility</p:attrName>
                                        </p:attrNameLst>
                                      </p:cBhvr>
                                      <p:to>
                                        <p:strVal val="visible"/>
                                      </p:to>
                                    </p:set>
                                    <p:animEffect filter="fade" transition="in">
                                      <p:cBhvr>
                                        <p:cTn dur="1000"/>
                                        <p:tgtEl>
                                          <p:spTgt spid="7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7"/>
                                        </p:tgtEl>
                                        <p:attrNameLst>
                                          <p:attrName>style.visibility</p:attrName>
                                        </p:attrNameLst>
                                      </p:cBhvr>
                                      <p:to>
                                        <p:strVal val="visible"/>
                                      </p:to>
                                    </p:set>
                                    <p:animEffect filter="fade" transition="in">
                                      <p:cBhvr>
                                        <p:cTn dur="1000"/>
                                        <p:tgtEl>
                                          <p:spTgt spid="7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8"/>
                                        </p:tgtEl>
                                        <p:attrNameLst>
                                          <p:attrName>style.visibility</p:attrName>
                                        </p:attrNameLst>
                                      </p:cBhvr>
                                      <p:to>
                                        <p:strVal val="visible"/>
                                      </p:to>
                                    </p:set>
                                    <p:animEffect filter="fade" transition="in">
                                      <p:cBhvr>
                                        <p:cTn dur="1000"/>
                                        <p:tgtEl>
                                          <p:spTgt spid="7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8"/>
                                        </p:tgtEl>
                                        <p:attrNameLst>
                                          <p:attrName>style.visibility</p:attrName>
                                        </p:attrNameLst>
                                      </p:cBhvr>
                                      <p:to>
                                        <p:strVal val="visible"/>
                                      </p:to>
                                    </p:set>
                                    <p:animEffect filter="fade" transition="in">
                                      <p:cBhvr>
                                        <p:cTn dur="1000"/>
                                        <p:tgtEl>
                                          <p:spTgt spid="7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9"/>
                                        </p:tgtEl>
                                        <p:attrNameLst>
                                          <p:attrName>style.visibility</p:attrName>
                                        </p:attrNameLst>
                                      </p:cBhvr>
                                      <p:to>
                                        <p:strVal val="visible"/>
                                      </p:to>
                                    </p:set>
                                    <p:animEffect filter="fade" transition="in">
                                      <p:cBhvr>
                                        <p:cTn dur="1000"/>
                                        <p:tgtEl>
                                          <p:spTgt spid="7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9"/>
                                        </p:tgtEl>
                                        <p:attrNameLst>
                                          <p:attrName>style.visibility</p:attrName>
                                        </p:attrNameLst>
                                      </p:cBhvr>
                                      <p:to>
                                        <p:strVal val="visible"/>
                                      </p:to>
                                    </p:set>
                                    <p:animEffect filter="fade" transition="in">
                                      <p:cBhvr>
                                        <p:cTn dur="1000"/>
                                        <p:tgtEl>
                                          <p:spTgt spid="7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7"/>
                                        </p:tgtEl>
                                        <p:attrNameLst>
                                          <p:attrName>style.visibility</p:attrName>
                                        </p:attrNameLst>
                                      </p:cBhvr>
                                      <p:to>
                                        <p:strVal val="visible"/>
                                      </p:to>
                                    </p:set>
                                    <p:animEffect filter="fade" transition="in">
                                      <p:cBhvr>
                                        <p:cTn dur="1000"/>
                                        <p:tgtEl>
                                          <p:spTgt spid="7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Quicksort Example - Worst Case</a:t>
            </a:r>
            <a:endParaRPr/>
          </a:p>
        </p:txBody>
      </p:sp>
      <p:grpSp>
        <p:nvGrpSpPr>
          <p:cNvPr id="806" name="Google Shape;806;p46"/>
          <p:cNvGrpSpPr/>
          <p:nvPr/>
        </p:nvGrpSpPr>
        <p:grpSpPr>
          <a:xfrm>
            <a:off x="2932286" y="1154036"/>
            <a:ext cx="3009515" cy="360672"/>
            <a:chOff x="221525" y="1459280"/>
            <a:chExt cx="3615467" cy="507917"/>
          </a:xfrm>
        </p:grpSpPr>
        <p:sp>
          <p:nvSpPr>
            <p:cNvPr id="807" name="Google Shape;807;p46"/>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8" name="Google Shape;808;p46"/>
            <p:cNvSpPr/>
            <p:nvPr/>
          </p:nvSpPr>
          <p:spPr>
            <a:xfrm>
              <a:off x="3320392"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9" name="Google Shape;809;p46"/>
            <p:cNvSpPr/>
            <p:nvPr/>
          </p:nvSpPr>
          <p:spPr>
            <a:xfrm>
              <a:off x="2812966"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0" name="Google Shape;810;p46"/>
            <p:cNvSpPr/>
            <p:nvPr/>
          </p:nvSpPr>
          <p:spPr>
            <a:xfrm>
              <a:off x="2296488"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1" name="Google Shape;811;p46"/>
            <p:cNvSpPr/>
            <p:nvPr/>
          </p:nvSpPr>
          <p:spPr>
            <a:xfrm>
              <a:off x="1780011"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2" name="Google Shape;812;p46"/>
            <p:cNvSpPr/>
            <p:nvPr/>
          </p:nvSpPr>
          <p:spPr>
            <a:xfrm>
              <a:off x="1259007"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3" name="Google Shape;813;p46"/>
            <p:cNvSpPr/>
            <p:nvPr/>
          </p:nvSpPr>
          <p:spPr>
            <a:xfrm>
              <a:off x="738003" y="1459280"/>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814" name="Google Shape;814;p46"/>
          <p:cNvGrpSpPr/>
          <p:nvPr/>
        </p:nvGrpSpPr>
        <p:grpSpPr>
          <a:xfrm>
            <a:off x="2932273" y="4299884"/>
            <a:ext cx="3009515" cy="441228"/>
            <a:chOff x="221525" y="1459280"/>
            <a:chExt cx="3615467" cy="507917"/>
          </a:xfrm>
        </p:grpSpPr>
        <p:sp>
          <p:nvSpPr>
            <p:cNvPr id="815" name="Google Shape;815;p46"/>
            <p:cNvSpPr/>
            <p:nvPr/>
          </p:nvSpPr>
          <p:spPr>
            <a:xfrm>
              <a:off x="221525"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2CC"/>
                  </a:solidFill>
                </a:rPr>
                <a:t>1</a:t>
              </a:r>
              <a:endParaRPr>
                <a:solidFill>
                  <a:srgbClr val="FFF2CC"/>
                </a:solidFill>
              </a:endParaRPr>
            </a:p>
          </p:txBody>
        </p:sp>
        <p:sp>
          <p:nvSpPr>
            <p:cNvPr id="816" name="Google Shape;816;p46"/>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2CC"/>
                  </a:solidFill>
                </a:rPr>
                <a:t>7</a:t>
              </a:r>
              <a:endParaRPr>
                <a:solidFill>
                  <a:srgbClr val="FFF2CC"/>
                </a:solidFill>
              </a:endParaRPr>
            </a:p>
          </p:txBody>
        </p:sp>
        <p:sp>
          <p:nvSpPr>
            <p:cNvPr id="817" name="Google Shape;817;p46"/>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2CC"/>
                  </a:solidFill>
                </a:rPr>
                <a:t>6</a:t>
              </a:r>
              <a:endParaRPr>
                <a:solidFill>
                  <a:srgbClr val="FFF2CC"/>
                </a:solidFill>
              </a:endParaRPr>
            </a:p>
          </p:txBody>
        </p:sp>
        <p:sp>
          <p:nvSpPr>
            <p:cNvPr id="818" name="Google Shape;818;p46"/>
            <p:cNvSpPr/>
            <p:nvPr/>
          </p:nvSpPr>
          <p:spPr>
            <a:xfrm>
              <a:off x="2296488"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2CC"/>
                  </a:solidFill>
                </a:rPr>
                <a:t>5</a:t>
              </a:r>
              <a:endParaRPr>
                <a:solidFill>
                  <a:srgbClr val="FFF2CC"/>
                </a:solidFill>
              </a:endParaRPr>
            </a:p>
          </p:txBody>
        </p:sp>
        <p:sp>
          <p:nvSpPr>
            <p:cNvPr id="819" name="Google Shape;819;p46"/>
            <p:cNvSpPr/>
            <p:nvPr/>
          </p:nvSpPr>
          <p:spPr>
            <a:xfrm>
              <a:off x="1780011"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2CC"/>
                  </a:solidFill>
                </a:rPr>
                <a:t>4</a:t>
              </a:r>
              <a:endParaRPr>
                <a:solidFill>
                  <a:srgbClr val="FFF2CC"/>
                </a:solidFill>
              </a:endParaRPr>
            </a:p>
          </p:txBody>
        </p:sp>
        <p:sp>
          <p:nvSpPr>
            <p:cNvPr id="820" name="Google Shape;820;p46"/>
            <p:cNvSpPr/>
            <p:nvPr/>
          </p:nvSpPr>
          <p:spPr>
            <a:xfrm>
              <a:off x="1259007"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2CC"/>
                  </a:solidFill>
                </a:rPr>
                <a:t>3</a:t>
              </a:r>
              <a:endParaRPr>
                <a:solidFill>
                  <a:srgbClr val="FFF2CC"/>
                </a:solidFill>
              </a:endParaRPr>
            </a:p>
          </p:txBody>
        </p:sp>
        <p:sp>
          <p:nvSpPr>
            <p:cNvPr id="821" name="Google Shape;821;p46"/>
            <p:cNvSpPr/>
            <p:nvPr/>
          </p:nvSpPr>
          <p:spPr>
            <a:xfrm>
              <a:off x="738003" y="1459280"/>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2CC"/>
                  </a:solidFill>
                </a:rPr>
                <a:t>2</a:t>
              </a:r>
              <a:endParaRPr>
                <a:solidFill>
                  <a:srgbClr val="FFF2CC"/>
                </a:solidFill>
              </a:endParaRPr>
            </a:p>
          </p:txBody>
        </p:sp>
      </p:grpSp>
      <p:grpSp>
        <p:nvGrpSpPr>
          <p:cNvPr id="822" name="Google Shape;822;p46"/>
          <p:cNvGrpSpPr/>
          <p:nvPr/>
        </p:nvGrpSpPr>
        <p:grpSpPr>
          <a:xfrm>
            <a:off x="2932286" y="1580614"/>
            <a:ext cx="3009515" cy="360672"/>
            <a:chOff x="221525" y="1459280"/>
            <a:chExt cx="3615467" cy="507917"/>
          </a:xfrm>
        </p:grpSpPr>
        <p:sp>
          <p:nvSpPr>
            <p:cNvPr id="823" name="Google Shape;823;p46"/>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1</a:t>
              </a:r>
              <a:endParaRPr>
                <a:solidFill>
                  <a:schemeClr val="lt2"/>
                </a:solidFill>
              </a:endParaRPr>
            </a:p>
          </p:txBody>
        </p:sp>
        <p:sp>
          <p:nvSpPr>
            <p:cNvPr id="824" name="Google Shape;824;p46"/>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endParaRPr>
            </a:p>
          </p:txBody>
        </p:sp>
        <p:sp>
          <p:nvSpPr>
            <p:cNvPr id="825" name="Google Shape;825;p46"/>
            <p:cNvSpPr/>
            <p:nvPr/>
          </p:nvSpPr>
          <p:spPr>
            <a:xfrm>
              <a:off x="2812966"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6</a:t>
              </a:r>
              <a:endParaRPr>
                <a:solidFill>
                  <a:schemeClr val="lt2"/>
                </a:solidFill>
              </a:endParaRPr>
            </a:p>
          </p:txBody>
        </p:sp>
        <p:sp>
          <p:nvSpPr>
            <p:cNvPr id="826" name="Google Shape;826;p46"/>
            <p:cNvSpPr/>
            <p:nvPr/>
          </p:nvSpPr>
          <p:spPr>
            <a:xfrm>
              <a:off x="2296488"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5</a:t>
              </a:r>
              <a:endParaRPr>
                <a:solidFill>
                  <a:schemeClr val="lt2"/>
                </a:solidFill>
              </a:endParaRPr>
            </a:p>
          </p:txBody>
        </p:sp>
        <p:sp>
          <p:nvSpPr>
            <p:cNvPr id="827" name="Google Shape;827;p46"/>
            <p:cNvSpPr/>
            <p:nvPr/>
          </p:nvSpPr>
          <p:spPr>
            <a:xfrm>
              <a:off x="1780011"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4</a:t>
              </a:r>
              <a:endParaRPr>
                <a:solidFill>
                  <a:schemeClr val="lt2"/>
                </a:solidFill>
              </a:endParaRPr>
            </a:p>
          </p:txBody>
        </p:sp>
        <p:sp>
          <p:nvSpPr>
            <p:cNvPr id="828" name="Google Shape;828;p46"/>
            <p:cNvSpPr/>
            <p:nvPr/>
          </p:nvSpPr>
          <p:spPr>
            <a:xfrm>
              <a:off x="1259007"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3</a:t>
              </a:r>
              <a:endParaRPr>
                <a:solidFill>
                  <a:schemeClr val="lt2"/>
                </a:solidFill>
              </a:endParaRPr>
            </a:p>
          </p:txBody>
        </p:sp>
        <p:sp>
          <p:nvSpPr>
            <p:cNvPr id="829" name="Google Shape;829;p46"/>
            <p:cNvSpPr/>
            <p:nvPr/>
          </p:nvSpPr>
          <p:spPr>
            <a:xfrm>
              <a:off x="738003" y="1459280"/>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2</a:t>
              </a:r>
              <a:endParaRPr>
                <a:solidFill>
                  <a:schemeClr val="lt2"/>
                </a:solidFill>
              </a:endParaRPr>
            </a:p>
          </p:txBody>
        </p:sp>
      </p:grpSp>
      <p:grpSp>
        <p:nvGrpSpPr>
          <p:cNvPr id="830" name="Google Shape;830;p46"/>
          <p:cNvGrpSpPr/>
          <p:nvPr/>
        </p:nvGrpSpPr>
        <p:grpSpPr>
          <a:xfrm>
            <a:off x="2932286" y="2012260"/>
            <a:ext cx="3009515" cy="360672"/>
            <a:chOff x="221525" y="1459280"/>
            <a:chExt cx="3615467" cy="507917"/>
          </a:xfrm>
        </p:grpSpPr>
        <p:sp>
          <p:nvSpPr>
            <p:cNvPr id="831" name="Google Shape;831;p46"/>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1</a:t>
              </a:r>
              <a:endParaRPr>
                <a:solidFill>
                  <a:schemeClr val="lt2"/>
                </a:solidFill>
              </a:endParaRPr>
            </a:p>
          </p:txBody>
        </p:sp>
        <p:sp>
          <p:nvSpPr>
            <p:cNvPr id="832" name="Google Shape;832;p46"/>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endParaRPr>
            </a:p>
          </p:txBody>
        </p:sp>
        <p:sp>
          <p:nvSpPr>
            <p:cNvPr id="833" name="Google Shape;833;p46"/>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endParaRPr>
            </a:p>
          </p:txBody>
        </p:sp>
        <p:sp>
          <p:nvSpPr>
            <p:cNvPr id="834" name="Google Shape;834;p46"/>
            <p:cNvSpPr/>
            <p:nvPr/>
          </p:nvSpPr>
          <p:spPr>
            <a:xfrm>
              <a:off x="2296488"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5</a:t>
              </a:r>
              <a:endParaRPr>
                <a:solidFill>
                  <a:schemeClr val="lt2"/>
                </a:solidFill>
              </a:endParaRPr>
            </a:p>
          </p:txBody>
        </p:sp>
        <p:sp>
          <p:nvSpPr>
            <p:cNvPr id="835" name="Google Shape;835;p46"/>
            <p:cNvSpPr/>
            <p:nvPr/>
          </p:nvSpPr>
          <p:spPr>
            <a:xfrm>
              <a:off x="1780011"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4</a:t>
              </a:r>
              <a:endParaRPr>
                <a:solidFill>
                  <a:schemeClr val="lt2"/>
                </a:solidFill>
              </a:endParaRPr>
            </a:p>
          </p:txBody>
        </p:sp>
        <p:sp>
          <p:nvSpPr>
            <p:cNvPr id="836" name="Google Shape;836;p46"/>
            <p:cNvSpPr/>
            <p:nvPr/>
          </p:nvSpPr>
          <p:spPr>
            <a:xfrm>
              <a:off x="1259007"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3</a:t>
              </a:r>
              <a:endParaRPr>
                <a:solidFill>
                  <a:schemeClr val="lt2"/>
                </a:solidFill>
              </a:endParaRPr>
            </a:p>
          </p:txBody>
        </p:sp>
        <p:sp>
          <p:nvSpPr>
            <p:cNvPr id="837" name="Google Shape;837;p46"/>
            <p:cNvSpPr/>
            <p:nvPr/>
          </p:nvSpPr>
          <p:spPr>
            <a:xfrm>
              <a:off x="738003" y="1459280"/>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2</a:t>
              </a:r>
              <a:endParaRPr>
                <a:solidFill>
                  <a:schemeClr val="lt2"/>
                </a:solidFill>
              </a:endParaRPr>
            </a:p>
          </p:txBody>
        </p:sp>
      </p:grpSp>
      <p:grpSp>
        <p:nvGrpSpPr>
          <p:cNvPr id="838" name="Google Shape;838;p46"/>
          <p:cNvGrpSpPr/>
          <p:nvPr/>
        </p:nvGrpSpPr>
        <p:grpSpPr>
          <a:xfrm>
            <a:off x="2932286" y="2422881"/>
            <a:ext cx="3009515" cy="360672"/>
            <a:chOff x="221525" y="1459280"/>
            <a:chExt cx="3615467" cy="507917"/>
          </a:xfrm>
        </p:grpSpPr>
        <p:sp>
          <p:nvSpPr>
            <p:cNvPr id="839" name="Google Shape;839;p46"/>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1</a:t>
              </a:r>
              <a:endParaRPr>
                <a:solidFill>
                  <a:schemeClr val="lt2"/>
                </a:solidFill>
              </a:endParaRPr>
            </a:p>
          </p:txBody>
        </p:sp>
        <p:sp>
          <p:nvSpPr>
            <p:cNvPr id="840" name="Google Shape;840;p46"/>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1" name="Google Shape;841;p46"/>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2" name="Google Shape;842;p46"/>
            <p:cNvSpPr/>
            <p:nvPr/>
          </p:nvSpPr>
          <p:spPr>
            <a:xfrm>
              <a:off x="2296488"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3" name="Google Shape;843;p46"/>
            <p:cNvSpPr/>
            <p:nvPr/>
          </p:nvSpPr>
          <p:spPr>
            <a:xfrm>
              <a:off x="1780011"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4</a:t>
              </a:r>
              <a:endParaRPr>
                <a:solidFill>
                  <a:schemeClr val="lt2"/>
                </a:solidFill>
              </a:endParaRPr>
            </a:p>
          </p:txBody>
        </p:sp>
        <p:sp>
          <p:nvSpPr>
            <p:cNvPr id="844" name="Google Shape;844;p46"/>
            <p:cNvSpPr/>
            <p:nvPr/>
          </p:nvSpPr>
          <p:spPr>
            <a:xfrm>
              <a:off x="1259007"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3</a:t>
              </a:r>
              <a:endParaRPr>
                <a:solidFill>
                  <a:schemeClr val="lt2"/>
                </a:solidFill>
              </a:endParaRPr>
            </a:p>
          </p:txBody>
        </p:sp>
        <p:sp>
          <p:nvSpPr>
            <p:cNvPr id="845" name="Google Shape;845;p46"/>
            <p:cNvSpPr/>
            <p:nvPr/>
          </p:nvSpPr>
          <p:spPr>
            <a:xfrm>
              <a:off x="738003" y="1459280"/>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2</a:t>
              </a:r>
              <a:endParaRPr>
                <a:solidFill>
                  <a:schemeClr val="lt2"/>
                </a:solidFill>
              </a:endParaRPr>
            </a:p>
          </p:txBody>
        </p:sp>
      </p:grpSp>
      <p:grpSp>
        <p:nvGrpSpPr>
          <p:cNvPr id="846" name="Google Shape;846;p46"/>
          <p:cNvGrpSpPr/>
          <p:nvPr/>
        </p:nvGrpSpPr>
        <p:grpSpPr>
          <a:xfrm>
            <a:off x="2932286" y="2847760"/>
            <a:ext cx="3009515" cy="360672"/>
            <a:chOff x="221525" y="1459280"/>
            <a:chExt cx="3615467" cy="507917"/>
          </a:xfrm>
        </p:grpSpPr>
        <p:sp>
          <p:nvSpPr>
            <p:cNvPr id="847" name="Google Shape;847;p46"/>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1</a:t>
              </a:r>
              <a:endParaRPr>
                <a:solidFill>
                  <a:schemeClr val="lt2"/>
                </a:solidFill>
              </a:endParaRPr>
            </a:p>
          </p:txBody>
        </p:sp>
        <p:sp>
          <p:nvSpPr>
            <p:cNvPr id="848" name="Google Shape;848;p46"/>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9" name="Google Shape;849;p46"/>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0" name="Google Shape;850;p46"/>
            <p:cNvSpPr/>
            <p:nvPr/>
          </p:nvSpPr>
          <p:spPr>
            <a:xfrm>
              <a:off x="2296488"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1" name="Google Shape;851;p46"/>
            <p:cNvSpPr/>
            <p:nvPr/>
          </p:nvSpPr>
          <p:spPr>
            <a:xfrm>
              <a:off x="1780011"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2" name="Google Shape;852;p46"/>
            <p:cNvSpPr/>
            <p:nvPr/>
          </p:nvSpPr>
          <p:spPr>
            <a:xfrm>
              <a:off x="1259007"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3</a:t>
              </a:r>
              <a:endParaRPr>
                <a:solidFill>
                  <a:schemeClr val="lt2"/>
                </a:solidFill>
              </a:endParaRPr>
            </a:p>
          </p:txBody>
        </p:sp>
        <p:sp>
          <p:nvSpPr>
            <p:cNvPr id="853" name="Google Shape;853;p46"/>
            <p:cNvSpPr/>
            <p:nvPr/>
          </p:nvSpPr>
          <p:spPr>
            <a:xfrm>
              <a:off x="738003" y="1459280"/>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2</a:t>
              </a:r>
              <a:endParaRPr>
                <a:solidFill>
                  <a:schemeClr val="lt2"/>
                </a:solidFill>
              </a:endParaRPr>
            </a:p>
          </p:txBody>
        </p:sp>
      </p:grpSp>
      <p:grpSp>
        <p:nvGrpSpPr>
          <p:cNvPr id="854" name="Google Shape;854;p46"/>
          <p:cNvGrpSpPr/>
          <p:nvPr/>
        </p:nvGrpSpPr>
        <p:grpSpPr>
          <a:xfrm>
            <a:off x="2932286" y="3270152"/>
            <a:ext cx="3009515" cy="360672"/>
            <a:chOff x="221525" y="1459280"/>
            <a:chExt cx="3615467" cy="507917"/>
          </a:xfrm>
        </p:grpSpPr>
        <p:sp>
          <p:nvSpPr>
            <p:cNvPr id="855" name="Google Shape;855;p46"/>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1</a:t>
              </a:r>
              <a:endParaRPr>
                <a:solidFill>
                  <a:schemeClr val="lt2"/>
                </a:solidFill>
              </a:endParaRPr>
            </a:p>
          </p:txBody>
        </p:sp>
        <p:sp>
          <p:nvSpPr>
            <p:cNvPr id="856" name="Google Shape;856;p46"/>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2CC"/>
                  </a:solidFill>
                </a:rPr>
                <a:t>7</a:t>
              </a:r>
              <a:endParaRPr>
                <a:solidFill>
                  <a:srgbClr val="FFF2CC"/>
                </a:solidFill>
              </a:endParaRPr>
            </a:p>
          </p:txBody>
        </p:sp>
        <p:sp>
          <p:nvSpPr>
            <p:cNvPr id="857" name="Google Shape;857;p46"/>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2CC"/>
                  </a:solidFill>
                </a:rPr>
                <a:t>6</a:t>
              </a:r>
              <a:endParaRPr>
                <a:solidFill>
                  <a:srgbClr val="FFF2CC"/>
                </a:solidFill>
              </a:endParaRPr>
            </a:p>
          </p:txBody>
        </p:sp>
        <p:sp>
          <p:nvSpPr>
            <p:cNvPr id="858" name="Google Shape;858;p46"/>
            <p:cNvSpPr/>
            <p:nvPr/>
          </p:nvSpPr>
          <p:spPr>
            <a:xfrm>
              <a:off x="2296488"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2CC"/>
                  </a:solidFill>
                </a:rPr>
                <a:t>5</a:t>
              </a:r>
              <a:endParaRPr>
                <a:solidFill>
                  <a:srgbClr val="FFF2CC"/>
                </a:solidFill>
              </a:endParaRPr>
            </a:p>
          </p:txBody>
        </p:sp>
        <p:sp>
          <p:nvSpPr>
            <p:cNvPr id="859" name="Google Shape;859;p46"/>
            <p:cNvSpPr/>
            <p:nvPr/>
          </p:nvSpPr>
          <p:spPr>
            <a:xfrm>
              <a:off x="1780011"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2CC"/>
                  </a:solidFill>
                </a:rPr>
                <a:t>4</a:t>
              </a:r>
              <a:endParaRPr>
                <a:solidFill>
                  <a:srgbClr val="FFF2CC"/>
                </a:solidFill>
              </a:endParaRPr>
            </a:p>
          </p:txBody>
        </p:sp>
        <p:sp>
          <p:nvSpPr>
            <p:cNvPr id="860" name="Google Shape;860;p46"/>
            <p:cNvSpPr/>
            <p:nvPr/>
          </p:nvSpPr>
          <p:spPr>
            <a:xfrm>
              <a:off x="1259007"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2CC"/>
                </a:solidFill>
              </a:endParaRPr>
            </a:p>
          </p:txBody>
        </p:sp>
        <p:sp>
          <p:nvSpPr>
            <p:cNvPr id="861" name="Google Shape;861;p46"/>
            <p:cNvSpPr/>
            <p:nvPr/>
          </p:nvSpPr>
          <p:spPr>
            <a:xfrm>
              <a:off x="738003" y="1459280"/>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2</a:t>
              </a:r>
              <a:endParaRPr>
                <a:solidFill>
                  <a:schemeClr val="lt2"/>
                </a:solidFill>
              </a:endParaRPr>
            </a:p>
          </p:txBody>
        </p:sp>
      </p:grpSp>
      <p:grpSp>
        <p:nvGrpSpPr>
          <p:cNvPr id="862" name="Google Shape;862;p46"/>
          <p:cNvGrpSpPr/>
          <p:nvPr/>
        </p:nvGrpSpPr>
        <p:grpSpPr>
          <a:xfrm>
            <a:off x="2932286" y="3692552"/>
            <a:ext cx="3009515" cy="360672"/>
            <a:chOff x="221525" y="1459280"/>
            <a:chExt cx="3615467" cy="507917"/>
          </a:xfrm>
        </p:grpSpPr>
        <p:sp>
          <p:nvSpPr>
            <p:cNvPr id="863" name="Google Shape;863;p46"/>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rPr>
                <a:t>1</a:t>
              </a:r>
              <a:endParaRPr>
                <a:solidFill>
                  <a:schemeClr val="lt2"/>
                </a:solidFill>
              </a:endParaRPr>
            </a:p>
          </p:txBody>
        </p:sp>
        <p:sp>
          <p:nvSpPr>
            <p:cNvPr id="864" name="Google Shape;864;p46"/>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2CC"/>
                  </a:solidFill>
                </a:rPr>
                <a:t>7</a:t>
              </a:r>
              <a:endParaRPr>
                <a:solidFill>
                  <a:srgbClr val="FFF2CC"/>
                </a:solidFill>
              </a:endParaRPr>
            </a:p>
          </p:txBody>
        </p:sp>
        <p:sp>
          <p:nvSpPr>
            <p:cNvPr id="865" name="Google Shape;865;p46"/>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2CC"/>
                  </a:solidFill>
                </a:rPr>
                <a:t>6</a:t>
              </a:r>
              <a:endParaRPr>
                <a:solidFill>
                  <a:srgbClr val="FFF2CC"/>
                </a:solidFill>
              </a:endParaRPr>
            </a:p>
          </p:txBody>
        </p:sp>
        <p:sp>
          <p:nvSpPr>
            <p:cNvPr id="866" name="Google Shape;866;p46"/>
            <p:cNvSpPr/>
            <p:nvPr/>
          </p:nvSpPr>
          <p:spPr>
            <a:xfrm>
              <a:off x="2296488"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2CC"/>
                  </a:solidFill>
                </a:rPr>
                <a:t>5</a:t>
              </a:r>
              <a:endParaRPr>
                <a:solidFill>
                  <a:srgbClr val="FFF2CC"/>
                </a:solidFill>
              </a:endParaRPr>
            </a:p>
          </p:txBody>
        </p:sp>
        <p:sp>
          <p:nvSpPr>
            <p:cNvPr id="867" name="Google Shape;867;p46"/>
            <p:cNvSpPr/>
            <p:nvPr/>
          </p:nvSpPr>
          <p:spPr>
            <a:xfrm>
              <a:off x="1780011"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2CC"/>
                  </a:solidFill>
                </a:rPr>
                <a:t>4</a:t>
              </a:r>
              <a:endParaRPr>
                <a:solidFill>
                  <a:srgbClr val="FFF2CC"/>
                </a:solidFill>
              </a:endParaRPr>
            </a:p>
          </p:txBody>
        </p:sp>
        <p:sp>
          <p:nvSpPr>
            <p:cNvPr id="868" name="Google Shape;868;p46"/>
            <p:cNvSpPr/>
            <p:nvPr/>
          </p:nvSpPr>
          <p:spPr>
            <a:xfrm>
              <a:off x="1259007"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2CC"/>
                  </a:solidFill>
                </a:rPr>
                <a:t>3</a:t>
              </a:r>
              <a:endParaRPr>
                <a:solidFill>
                  <a:srgbClr val="FFF2CC"/>
                </a:solidFill>
              </a:endParaRPr>
            </a:p>
          </p:txBody>
        </p:sp>
        <p:sp>
          <p:nvSpPr>
            <p:cNvPr id="869" name="Google Shape;869;p46"/>
            <p:cNvSpPr/>
            <p:nvPr/>
          </p:nvSpPr>
          <p:spPr>
            <a:xfrm>
              <a:off x="738003" y="1459280"/>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2CC"/>
                  </a:solidFill>
                </a:rPr>
                <a:t>2</a:t>
              </a:r>
              <a:endParaRPr>
                <a:solidFill>
                  <a:srgbClr val="FFF2CC"/>
                </a:solidFill>
              </a:endParaRPr>
            </a:p>
          </p:txBody>
        </p:sp>
      </p:grpSp>
      <p:sp>
        <p:nvSpPr>
          <p:cNvPr id="870" name="Google Shape;870;p46"/>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6"/>
                                        </p:tgtEl>
                                        <p:attrNameLst>
                                          <p:attrName>style.visibility</p:attrName>
                                        </p:attrNameLst>
                                      </p:cBhvr>
                                      <p:to>
                                        <p:strVal val="visible"/>
                                      </p:to>
                                    </p:set>
                                    <p:animEffect filter="fade" transition="in">
                                      <p:cBhvr>
                                        <p:cTn dur="1000"/>
                                        <p:tgtEl>
                                          <p:spTgt spid="8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2"/>
                                        </p:tgtEl>
                                        <p:attrNameLst>
                                          <p:attrName>style.visibility</p:attrName>
                                        </p:attrNameLst>
                                      </p:cBhvr>
                                      <p:to>
                                        <p:strVal val="visible"/>
                                      </p:to>
                                    </p:set>
                                    <p:animEffect filter="fade" transition="in">
                                      <p:cBhvr>
                                        <p:cTn dur="1000"/>
                                        <p:tgtEl>
                                          <p:spTgt spid="8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
                                        </p:tgtEl>
                                        <p:attrNameLst>
                                          <p:attrName>style.visibility</p:attrName>
                                        </p:attrNameLst>
                                      </p:cBhvr>
                                      <p:to>
                                        <p:strVal val="visible"/>
                                      </p:to>
                                    </p:set>
                                    <p:animEffect filter="fade" transition="in">
                                      <p:cBhvr>
                                        <p:cTn dur="1000"/>
                                        <p:tgtEl>
                                          <p:spTgt spid="8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8"/>
                                        </p:tgtEl>
                                        <p:attrNameLst>
                                          <p:attrName>style.visibility</p:attrName>
                                        </p:attrNameLst>
                                      </p:cBhvr>
                                      <p:to>
                                        <p:strVal val="visible"/>
                                      </p:to>
                                    </p:set>
                                    <p:animEffect filter="fade" transition="in">
                                      <p:cBhvr>
                                        <p:cTn dur="1000"/>
                                        <p:tgtEl>
                                          <p:spTgt spid="8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6"/>
                                        </p:tgtEl>
                                        <p:attrNameLst>
                                          <p:attrName>style.visibility</p:attrName>
                                        </p:attrNameLst>
                                      </p:cBhvr>
                                      <p:to>
                                        <p:strVal val="visible"/>
                                      </p:to>
                                    </p:set>
                                    <p:animEffect filter="fade" transition="in">
                                      <p:cBhvr>
                                        <p:cTn dur="1000"/>
                                        <p:tgtEl>
                                          <p:spTgt spid="8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4"/>
                                        </p:tgtEl>
                                        <p:attrNameLst>
                                          <p:attrName>style.visibility</p:attrName>
                                        </p:attrNameLst>
                                      </p:cBhvr>
                                      <p:to>
                                        <p:strVal val="visible"/>
                                      </p:to>
                                    </p:set>
                                    <p:animEffect filter="fade" transition="in">
                                      <p:cBhvr>
                                        <p:cTn dur="1000"/>
                                        <p:tgtEl>
                                          <p:spTgt spid="8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2"/>
                                        </p:tgtEl>
                                        <p:attrNameLst>
                                          <p:attrName>style.visibility</p:attrName>
                                        </p:attrNameLst>
                                      </p:cBhvr>
                                      <p:to>
                                        <p:strVal val="visible"/>
                                      </p:to>
                                    </p:set>
                                    <p:animEffect filter="fade" transition="in">
                                      <p:cBhvr>
                                        <p:cTn dur="1000"/>
                                        <p:tgtEl>
                                          <p:spTgt spid="8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4"/>
                                        </p:tgtEl>
                                        <p:attrNameLst>
                                          <p:attrName>style.visibility</p:attrName>
                                        </p:attrNameLst>
                                      </p:cBhvr>
                                      <p:to>
                                        <p:strVal val="visible"/>
                                      </p:to>
                                    </p:set>
                                    <p:animEffect filter="fade" transition="in">
                                      <p:cBhvr>
                                        <p:cTn dur="1000"/>
                                        <p:tgtEl>
                                          <p:spTgt spid="8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Quicksort Example - Worst Case</a:t>
            </a:r>
            <a:endParaRPr/>
          </a:p>
        </p:txBody>
      </p:sp>
      <p:grpSp>
        <p:nvGrpSpPr>
          <p:cNvPr id="876" name="Google Shape;876;p47"/>
          <p:cNvGrpSpPr/>
          <p:nvPr/>
        </p:nvGrpSpPr>
        <p:grpSpPr>
          <a:xfrm>
            <a:off x="2932286" y="1154036"/>
            <a:ext cx="3009515" cy="360672"/>
            <a:chOff x="221525" y="1459280"/>
            <a:chExt cx="3615467" cy="507917"/>
          </a:xfrm>
        </p:grpSpPr>
        <p:sp>
          <p:nvSpPr>
            <p:cNvPr id="877" name="Google Shape;877;p47"/>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878" name="Google Shape;878;p47"/>
            <p:cNvSpPr/>
            <p:nvPr/>
          </p:nvSpPr>
          <p:spPr>
            <a:xfrm>
              <a:off x="3320392"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879" name="Google Shape;879;p47"/>
            <p:cNvSpPr/>
            <p:nvPr/>
          </p:nvSpPr>
          <p:spPr>
            <a:xfrm>
              <a:off x="2812966"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880" name="Google Shape;880;p47"/>
            <p:cNvSpPr/>
            <p:nvPr/>
          </p:nvSpPr>
          <p:spPr>
            <a:xfrm>
              <a:off x="2296488"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881" name="Google Shape;881;p47"/>
            <p:cNvSpPr/>
            <p:nvPr/>
          </p:nvSpPr>
          <p:spPr>
            <a:xfrm>
              <a:off x="1780011"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882" name="Google Shape;882;p47"/>
            <p:cNvSpPr/>
            <p:nvPr/>
          </p:nvSpPr>
          <p:spPr>
            <a:xfrm>
              <a:off x="1259007"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883" name="Google Shape;883;p47"/>
            <p:cNvSpPr/>
            <p:nvPr/>
          </p:nvSpPr>
          <p:spPr>
            <a:xfrm>
              <a:off x="738003" y="1459280"/>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grpSp>
      <p:grpSp>
        <p:nvGrpSpPr>
          <p:cNvPr id="884" name="Google Shape;884;p47"/>
          <p:cNvGrpSpPr/>
          <p:nvPr/>
        </p:nvGrpSpPr>
        <p:grpSpPr>
          <a:xfrm>
            <a:off x="2932273" y="4299884"/>
            <a:ext cx="3009515" cy="441228"/>
            <a:chOff x="221525" y="1459280"/>
            <a:chExt cx="3615467" cy="507917"/>
          </a:xfrm>
        </p:grpSpPr>
        <p:sp>
          <p:nvSpPr>
            <p:cNvPr id="885" name="Google Shape;885;p47"/>
            <p:cNvSpPr/>
            <p:nvPr/>
          </p:nvSpPr>
          <p:spPr>
            <a:xfrm>
              <a:off x="221525"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886" name="Google Shape;886;p47"/>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887" name="Google Shape;887;p47"/>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888" name="Google Shape;888;p47"/>
            <p:cNvSpPr/>
            <p:nvPr/>
          </p:nvSpPr>
          <p:spPr>
            <a:xfrm>
              <a:off x="2296488"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889" name="Google Shape;889;p47"/>
            <p:cNvSpPr/>
            <p:nvPr/>
          </p:nvSpPr>
          <p:spPr>
            <a:xfrm>
              <a:off x="1780011"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890" name="Google Shape;890;p47"/>
            <p:cNvSpPr/>
            <p:nvPr/>
          </p:nvSpPr>
          <p:spPr>
            <a:xfrm>
              <a:off x="1259007"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891" name="Google Shape;891;p47"/>
            <p:cNvSpPr/>
            <p:nvPr/>
          </p:nvSpPr>
          <p:spPr>
            <a:xfrm>
              <a:off x="738003" y="1459280"/>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grpSp>
      <p:sp>
        <p:nvSpPr>
          <p:cNvPr id="892" name="Google Shape;892;p47"/>
          <p:cNvSpPr txBox="1"/>
          <p:nvPr/>
        </p:nvSpPr>
        <p:spPr>
          <a:xfrm>
            <a:off x="1290650" y="4320388"/>
            <a:ext cx="159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Final result:</a:t>
            </a:r>
            <a:endParaRPr/>
          </a:p>
        </p:txBody>
      </p:sp>
      <p:sp>
        <p:nvSpPr>
          <p:cNvPr id="893" name="Google Shape;893;p47"/>
          <p:cNvSpPr txBox="1"/>
          <p:nvPr/>
        </p:nvSpPr>
        <p:spPr>
          <a:xfrm>
            <a:off x="2073567" y="1083189"/>
            <a:ext cx="95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Pivot: 7</a:t>
            </a:r>
            <a:endParaRPr/>
          </a:p>
        </p:txBody>
      </p:sp>
      <p:sp>
        <p:nvSpPr>
          <p:cNvPr id="894" name="Google Shape;894;p47"/>
          <p:cNvSpPr txBox="1"/>
          <p:nvPr/>
        </p:nvSpPr>
        <p:spPr>
          <a:xfrm>
            <a:off x="2073575" y="1548869"/>
            <a:ext cx="95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Pivot: 6</a:t>
            </a:r>
            <a:endParaRPr/>
          </a:p>
        </p:txBody>
      </p:sp>
      <p:sp>
        <p:nvSpPr>
          <p:cNvPr id="895" name="Google Shape;895;p47"/>
          <p:cNvSpPr txBox="1"/>
          <p:nvPr/>
        </p:nvSpPr>
        <p:spPr>
          <a:xfrm>
            <a:off x="2073575" y="1983221"/>
            <a:ext cx="95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Pivot: 5</a:t>
            </a:r>
            <a:endParaRPr/>
          </a:p>
        </p:txBody>
      </p:sp>
      <p:grpSp>
        <p:nvGrpSpPr>
          <p:cNvPr id="896" name="Google Shape;896;p47"/>
          <p:cNvGrpSpPr/>
          <p:nvPr/>
        </p:nvGrpSpPr>
        <p:grpSpPr>
          <a:xfrm>
            <a:off x="2932286" y="1580614"/>
            <a:ext cx="3009515" cy="360672"/>
            <a:chOff x="221525" y="1459280"/>
            <a:chExt cx="3615467" cy="507917"/>
          </a:xfrm>
        </p:grpSpPr>
        <p:sp>
          <p:nvSpPr>
            <p:cNvPr id="897" name="Google Shape;897;p47"/>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898" name="Google Shape;898;p47"/>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899" name="Google Shape;899;p47"/>
            <p:cNvSpPr/>
            <p:nvPr/>
          </p:nvSpPr>
          <p:spPr>
            <a:xfrm>
              <a:off x="2812966"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900" name="Google Shape;900;p47"/>
            <p:cNvSpPr/>
            <p:nvPr/>
          </p:nvSpPr>
          <p:spPr>
            <a:xfrm>
              <a:off x="2296488"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901" name="Google Shape;901;p47"/>
            <p:cNvSpPr/>
            <p:nvPr/>
          </p:nvSpPr>
          <p:spPr>
            <a:xfrm>
              <a:off x="1780011"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902" name="Google Shape;902;p47"/>
            <p:cNvSpPr/>
            <p:nvPr/>
          </p:nvSpPr>
          <p:spPr>
            <a:xfrm>
              <a:off x="1259007"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903" name="Google Shape;903;p47"/>
            <p:cNvSpPr/>
            <p:nvPr/>
          </p:nvSpPr>
          <p:spPr>
            <a:xfrm>
              <a:off x="738003" y="1459280"/>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grpSp>
      <p:grpSp>
        <p:nvGrpSpPr>
          <p:cNvPr id="904" name="Google Shape;904;p47"/>
          <p:cNvGrpSpPr/>
          <p:nvPr/>
        </p:nvGrpSpPr>
        <p:grpSpPr>
          <a:xfrm>
            <a:off x="2932286" y="2012260"/>
            <a:ext cx="3009515" cy="360672"/>
            <a:chOff x="221525" y="1459280"/>
            <a:chExt cx="3615467" cy="507917"/>
          </a:xfrm>
        </p:grpSpPr>
        <p:sp>
          <p:nvSpPr>
            <p:cNvPr id="905" name="Google Shape;905;p47"/>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906" name="Google Shape;906;p47"/>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907" name="Google Shape;907;p47"/>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908" name="Google Shape;908;p47"/>
            <p:cNvSpPr/>
            <p:nvPr/>
          </p:nvSpPr>
          <p:spPr>
            <a:xfrm>
              <a:off x="2296488"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909" name="Google Shape;909;p47"/>
            <p:cNvSpPr/>
            <p:nvPr/>
          </p:nvSpPr>
          <p:spPr>
            <a:xfrm>
              <a:off x="1780011"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910" name="Google Shape;910;p47"/>
            <p:cNvSpPr/>
            <p:nvPr/>
          </p:nvSpPr>
          <p:spPr>
            <a:xfrm>
              <a:off x="1259007"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911" name="Google Shape;911;p47"/>
            <p:cNvSpPr/>
            <p:nvPr/>
          </p:nvSpPr>
          <p:spPr>
            <a:xfrm>
              <a:off x="738003" y="1459280"/>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grpSp>
      <p:grpSp>
        <p:nvGrpSpPr>
          <p:cNvPr id="912" name="Google Shape;912;p47"/>
          <p:cNvGrpSpPr/>
          <p:nvPr/>
        </p:nvGrpSpPr>
        <p:grpSpPr>
          <a:xfrm>
            <a:off x="2932286" y="2425381"/>
            <a:ext cx="3009515" cy="360672"/>
            <a:chOff x="221525" y="1459280"/>
            <a:chExt cx="3615467" cy="507917"/>
          </a:xfrm>
        </p:grpSpPr>
        <p:sp>
          <p:nvSpPr>
            <p:cNvPr id="913" name="Google Shape;913;p47"/>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914" name="Google Shape;914;p47"/>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915" name="Google Shape;915;p47"/>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916" name="Google Shape;916;p47"/>
            <p:cNvSpPr/>
            <p:nvPr/>
          </p:nvSpPr>
          <p:spPr>
            <a:xfrm>
              <a:off x="2296488"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917" name="Google Shape;917;p47"/>
            <p:cNvSpPr/>
            <p:nvPr/>
          </p:nvSpPr>
          <p:spPr>
            <a:xfrm>
              <a:off x="1780011"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918" name="Google Shape;918;p47"/>
            <p:cNvSpPr/>
            <p:nvPr/>
          </p:nvSpPr>
          <p:spPr>
            <a:xfrm>
              <a:off x="1259007"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919" name="Google Shape;919;p47"/>
            <p:cNvSpPr/>
            <p:nvPr/>
          </p:nvSpPr>
          <p:spPr>
            <a:xfrm>
              <a:off x="738003" y="1459280"/>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grpSp>
      <p:sp>
        <p:nvSpPr>
          <p:cNvPr id="920" name="Google Shape;920;p47"/>
          <p:cNvSpPr txBox="1"/>
          <p:nvPr/>
        </p:nvSpPr>
        <p:spPr>
          <a:xfrm>
            <a:off x="2073575" y="2394291"/>
            <a:ext cx="95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Pivot: 4</a:t>
            </a:r>
            <a:endParaRPr/>
          </a:p>
        </p:txBody>
      </p:sp>
      <p:grpSp>
        <p:nvGrpSpPr>
          <p:cNvPr id="921" name="Google Shape;921;p47"/>
          <p:cNvGrpSpPr/>
          <p:nvPr/>
        </p:nvGrpSpPr>
        <p:grpSpPr>
          <a:xfrm>
            <a:off x="2932286" y="2847760"/>
            <a:ext cx="3009515" cy="360672"/>
            <a:chOff x="221525" y="1459280"/>
            <a:chExt cx="3615467" cy="507917"/>
          </a:xfrm>
        </p:grpSpPr>
        <p:sp>
          <p:nvSpPr>
            <p:cNvPr id="922" name="Google Shape;922;p47"/>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923" name="Google Shape;923;p47"/>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924" name="Google Shape;924;p47"/>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925" name="Google Shape;925;p47"/>
            <p:cNvSpPr/>
            <p:nvPr/>
          </p:nvSpPr>
          <p:spPr>
            <a:xfrm>
              <a:off x="2296488"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926" name="Google Shape;926;p47"/>
            <p:cNvSpPr/>
            <p:nvPr/>
          </p:nvSpPr>
          <p:spPr>
            <a:xfrm>
              <a:off x="1780011"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927" name="Google Shape;927;p47"/>
            <p:cNvSpPr/>
            <p:nvPr/>
          </p:nvSpPr>
          <p:spPr>
            <a:xfrm>
              <a:off x="1259007"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928" name="Google Shape;928;p47"/>
            <p:cNvSpPr/>
            <p:nvPr/>
          </p:nvSpPr>
          <p:spPr>
            <a:xfrm>
              <a:off x="738003" y="1459280"/>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grpSp>
      <p:sp>
        <p:nvSpPr>
          <p:cNvPr id="929" name="Google Shape;929;p47"/>
          <p:cNvSpPr txBox="1"/>
          <p:nvPr/>
        </p:nvSpPr>
        <p:spPr>
          <a:xfrm>
            <a:off x="2073575" y="2815884"/>
            <a:ext cx="95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Pivot: 3</a:t>
            </a:r>
            <a:endParaRPr/>
          </a:p>
        </p:txBody>
      </p:sp>
      <p:grpSp>
        <p:nvGrpSpPr>
          <p:cNvPr id="930" name="Google Shape;930;p47"/>
          <p:cNvGrpSpPr/>
          <p:nvPr/>
        </p:nvGrpSpPr>
        <p:grpSpPr>
          <a:xfrm>
            <a:off x="2932286" y="3270152"/>
            <a:ext cx="3009515" cy="360672"/>
            <a:chOff x="221525" y="1459280"/>
            <a:chExt cx="3615467" cy="507917"/>
          </a:xfrm>
        </p:grpSpPr>
        <p:sp>
          <p:nvSpPr>
            <p:cNvPr id="931" name="Google Shape;931;p47"/>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932" name="Google Shape;932;p47"/>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933" name="Google Shape;933;p47"/>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934" name="Google Shape;934;p47"/>
            <p:cNvSpPr/>
            <p:nvPr/>
          </p:nvSpPr>
          <p:spPr>
            <a:xfrm>
              <a:off x="2296488"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935" name="Google Shape;935;p47"/>
            <p:cNvSpPr/>
            <p:nvPr/>
          </p:nvSpPr>
          <p:spPr>
            <a:xfrm>
              <a:off x="1780011"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936" name="Google Shape;936;p47"/>
            <p:cNvSpPr/>
            <p:nvPr/>
          </p:nvSpPr>
          <p:spPr>
            <a:xfrm>
              <a:off x="1259007"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937" name="Google Shape;937;p47"/>
            <p:cNvSpPr/>
            <p:nvPr/>
          </p:nvSpPr>
          <p:spPr>
            <a:xfrm>
              <a:off x="738003" y="1459280"/>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grpSp>
      <p:sp>
        <p:nvSpPr>
          <p:cNvPr id="938" name="Google Shape;938;p47"/>
          <p:cNvSpPr txBox="1"/>
          <p:nvPr/>
        </p:nvSpPr>
        <p:spPr>
          <a:xfrm>
            <a:off x="2073575" y="3245902"/>
            <a:ext cx="95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Pivot: 2</a:t>
            </a:r>
            <a:endParaRPr/>
          </a:p>
        </p:txBody>
      </p:sp>
      <p:grpSp>
        <p:nvGrpSpPr>
          <p:cNvPr id="939" name="Google Shape;939;p47"/>
          <p:cNvGrpSpPr/>
          <p:nvPr/>
        </p:nvGrpSpPr>
        <p:grpSpPr>
          <a:xfrm>
            <a:off x="2932286" y="3691727"/>
            <a:ext cx="3009515" cy="360672"/>
            <a:chOff x="221525" y="1459280"/>
            <a:chExt cx="3615467" cy="507917"/>
          </a:xfrm>
        </p:grpSpPr>
        <p:sp>
          <p:nvSpPr>
            <p:cNvPr id="940" name="Google Shape;940;p47"/>
            <p:cNvSpPr/>
            <p:nvPr/>
          </p:nvSpPr>
          <p:spPr>
            <a:xfrm>
              <a:off x="221525" y="1459297"/>
              <a:ext cx="516600" cy="50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941" name="Google Shape;941;p47"/>
            <p:cNvSpPr/>
            <p:nvPr/>
          </p:nvSpPr>
          <p:spPr>
            <a:xfrm>
              <a:off x="3320392"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942" name="Google Shape;942;p47"/>
            <p:cNvSpPr/>
            <p:nvPr/>
          </p:nvSpPr>
          <p:spPr>
            <a:xfrm>
              <a:off x="2812966"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943" name="Google Shape;943;p47"/>
            <p:cNvSpPr/>
            <p:nvPr/>
          </p:nvSpPr>
          <p:spPr>
            <a:xfrm>
              <a:off x="2296488"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944" name="Google Shape;944;p47"/>
            <p:cNvSpPr/>
            <p:nvPr/>
          </p:nvSpPr>
          <p:spPr>
            <a:xfrm>
              <a:off x="1780011"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945" name="Google Shape;945;p47"/>
            <p:cNvSpPr/>
            <p:nvPr/>
          </p:nvSpPr>
          <p:spPr>
            <a:xfrm>
              <a:off x="1259007" y="1459297"/>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946" name="Google Shape;946;p47"/>
            <p:cNvSpPr/>
            <p:nvPr/>
          </p:nvSpPr>
          <p:spPr>
            <a:xfrm>
              <a:off x="738003" y="1459280"/>
              <a:ext cx="516600" cy="50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grpSp>
      <p:sp>
        <p:nvSpPr>
          <p:cNvPr id="947" name="Google Shape;947;p47"/>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6"/>
                                        </p:tgtEl>
                                        <p:attrNameLst>
                                          <p:attrName>style.visibility</p:attrName>
                                        </p:attrNameLst>
                                      </p:cBhvr>
                                      <p:to>
                                        <p:strVal val="visible"/>
                                      </p:to>
                                    </p:set>
                                    <p:animEffect filter="fade" transition="in">
                                      <p:cBhvr>
                                        <p:cTn dur="1000"/>
                                        <p:tgtEl>
                                          <p:spTgt spid="8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gtEl>
                                        <p:attrNameLst>
                                          <p:attrName>style.visibility</p:attrName>
                                        </p:attrNameLst>
                                      </p:cBhvr>
                                      <p:to>
                                        <p:strVal val="visible"/>
                                      </p:to>
                                    </p:set>
                                    <p:animEffect filter="fade" transition="in">
                                      <p:cBhvr>
                                        <p:cTn dur="1000"/>
                                        <p:tgtEl>
                                          <p:spTgt spid="8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
                                        </p:tgtEl>
                                        <p:attrNameLst>
                                          <p:attrName>style.visibility</p:attrName>
                                        </p:attrNameLst>
                                      </p:cBhvr>
                                      <p:to>
                                        <p:strVal val="visible"/>
                                      </p:to>
                                    </p:set>
                                    <p:animEffect filter="fade" transition="in">
                                      <p:cBhvr>
                                        <p:cTn dur="1000"/>
                                        <p:tgtEl>
                                          <p:spTgt spid="8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
                                        </p:tgtEl>
                                        <p:attrNameLst>
                                          <p:attrName>style.visibility</p:attrName>
                                        </p:attrNameLst>
                                      </p:cBhvr>
                                      <p:to>
                                        <p:strVal val="visible"/>
                                      </p:to>
                                    </p:set>
                                    <p:animEffect filter="fade" transition="in">
                                      <p:cBhvr>
                                        <p:cTn dur="1000"/>
                                        <p:tgtEl>
                                          <p:spTgt spid="8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4"/>
                                        </p:tgtEl>
                                        <p:attrNameLst>
                                          <p:attrName>style.visibility</p:attrName>
                                        </p:attrNameLst>
                                      </p:cBhvr>
                                      <p:to>
                                        <p:strVal val="visible"/>
                                      </p:to>
                                    </p:set>
                                    <p:animEffect filter="fade" transition="in">
                                      <p:cBhvr>
                                        <p:cTn dur="1000"/>
                                        <p:tgtEl>
                                          <p:spTgt spid="9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5"/>
                                        </p:tgtEl>
                                        <p:attrNameLst>
                                          <p:attrName>style.visibility</p:attrName>
                                        </p:attrNameLst>
                                      </p:cBhvr>
                                      <p:to>
                                        <p:strVal val="visible"/>
                                      </p:to>
                                    </p:set>
                                    <p:animEffect filter="fade" transition="in">
                                      <p:cBhvr>
                                        <p:cTn dur="1000"/>
                                        <p:tgtEl>
                                          <p:spTgt spid="8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2"/>
                                        </p:tgtEl>
                                        <p:attrNameLst>
                                          <p:attrName>style.visibility</p:attrName>
                                        </p:attrNameLst>
                                      </p:cBhvr>
                                      <p:to>
                                        <p:strVal val="visible"/>
                                      </p:to>
                                    </p:set>
                                    <p:animEffect filter="fade" transition="in">
                                      <p:cBhvr>
                                        <p:cTn dur="1000"/>
                                        <p:tgtEl>
                                          <p:spTgt spid="9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0"/>
                                        </p:tgtEl>
                                        <p:attrNameLst>
                                          <p:attrName>style.visibility</p:attrName>
                                        </p:attrNameLst>
                                      </p:cBhvr>
                                      <p:to>
                                        <p:strVal val="visible"/>
                                      </p:to>
                                    </p:set>
                                    <p:animEffect filter="fade" transition="in">
                                      <p:cBhvr>
                                        <p:cTn dur="1000"/>
                                        <p:tgtEl>
                                          <p:spTgt spid="9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gtEl>
                                        <p:attrNameLst>
                                          <p:attrName>style.visibility</p:attrName>
                                        </p:attrNameLst>
                                      </p:cBhvr>
                                      <p:to>
                                        <p:strVal val="visible"/>
                                      </p:to>
                                    </p:set>
                                    <p:animEffect filter="fade" transition="in">
                                      <p:cBhvr>
                                        <p:cTn dur="1000"/>
                                        <p:tgtEl>
                                          <p:spTgt spid="9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9"/>
                                        </p:tgtEl>
                                        <p:attrNameLst>
                                          <p:attrName>style.visibility</p:attrName>
                                        </p:attrNameLst>
                                      </p:cBhvr>
                                      <p:to>
                                        <p:strVal val="visible"/>
                                      </p:to>
                                    </p:set>
                                    <p:animEffect filter="fade" transition="in">
                                      <p:cBhvr>
                                        <p:cTn dur="1000"/>
                                        <p:tgtEl>
                                          <p:spTgt spid="9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0"/>
                                        </p:tgtEl>
                                        <p:attrNameLst>
                                          <p:attrName>style.visibility</p:attrName>
                                        </p:attrNameLst>
                                      </p:cBhvr>
                                      <p:to>
                                        <p:strVal val="visible"/>
                                      </p:to>
                                    </p:set>
                                    <p:animEffect filter="fade" transition="in">
                                      <p:cBhvr>
                                        <p:cTn dur="1000"/>
                                        <p:tgtEl>
                                          <p:spTgt spid="9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8"/>
                                        </p:tgtEl>
                                        <p:attrNameLst>
                                          <p:attrName>style.visibility</p:attrName>
                                        </p:attrNameLst>
                                      </p:cBhvr>
                                      <p:to>
                                        <p:strVal val="visible"/>
                                      </p:to>
                                    </p:set>
                                    <p:animEffect filter="fade" transition="in">
                                      <p:cBhvr>
                                        <p:cTn dur="1000"/>
                                        <p:tgtEl>
                                          <p:spTgt spid="9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9"/>
                                        </p:tgtEl>
                                        <p:attrNameLst>
                                          <p:attrName>style.visibility</p:attrName>
                                        </p:attrNameLst>
                                      </p:cBhvr>
                                      <p:to>
                                        <p:strVal val="visible"/>
                                      </p:to>
                                    </p:set>
                                    <p:animEffect filter="fade" transition="in">
                                      <p:cBhvr>
                                        <p:cTn dur="1000"/>
                                        <p:tgtEl>
                                          <p:spTgt spid="9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4"/>
                                        </p:tgtEl>
                                        <p:attrNameLst>
                                          <p:attrName>style.visibility</p:attrName>
                                        </p:attrNameLst>
                                      </p:cBhvr>
                                      <p:to>
                                        <p:strVal val="visible"/>
                                      </p:to>
                                    </p:set>
                                    <p:animEffect filter="fade" transition="in">
                                      <p:cBhvr>
                                        <p:cTn dur="1000"/>
                                        <p:tgtEl>
                                          <p:spTgt spid="884"/>
                                        </p:tgtEl>
                                      </p:cBhvr>
                                    </p:animEffect>
                                  </p:childTnLst>
                                </p:cTn>
                              </p:par>
                              <p:par>
                                <p:cTn fill="hold" nodeType="withEffect" presetClass="entr" presetID="10" presetSubtype="0">
                                  <p:stCondLst>
                                    <p:cond delay="0"/>
                                  </p:stCondLst>
                                  <p:childTnLst>
                                    <p:set>
                                      <p:cBhvr>
                                        <p:cTn dur="1" fill="hold">
                                          <p:stCondLst>
                                            <p:cond delay="0"/>
                                          </p:stCondLst>
                                        </p:cTn>
                                        <p:tgtEl>
                                          <p:spTgt spid="892"/>
                                        </p:tgtEl>
                                        <p:attrNameLst>
                                          <p:attrName>style.visibility</p:attrName>
                                        </p:attrNameLst>
                                      </p:cBhvr>
                                      <p:to>
                                        <p:strVal val="visible"/>
                                      </p:to>
                                    </p:set>
                                    <p:animEffect filter="fade" transition="in">
                                      <p:cBhvr>
                                        <p:cTn dur="1000"/>
                                        <p:tgtEl>
                                          <p:spTgt spid="8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Quicksort Example - Average case</a:t>
            </a:r>
            <a:endParaRPr/>
          </a:p>
        </p:txBody>
      </p:sp>
      <p:sp>
        <p:nvSpPr>
          <p:cNvPr id="953" name="Google Shape;953;p48"/>
          <p:cNvSpPr/>
          <p:nvPr/>
        </p:nvSpPr>
        <p:spPr>
          <a:xfrm>
            <a:off x="2464142" y="1500875"/>
            <a:ext cx="621900" cy="4518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2"/>
                </a:solidFill>
              </a:rPr>
              <a:t>N</a:t>
            </a:r>
            <a:endParaRPr sz="1300">
              <a:solidFill>
                <a:schemeClr val="dk2"/>
              </a:solidFill>
            </a:endParaRPr>
          </a:p>
        </p:txBody>
      </p:sp>
      <p:sp>
        <p:nvSpPr>
          <p:cNvPr id="954" name="Google Shape;954;p48"/>
          <p:cNvSpPr/>
          <p:nvPr/>
        </p:nvSpPr>
        <p:spPr>
          <a:xfrm>
            <a:off x="4431062" y="3066875"/>
            <a:ext cx="763200" cy="5244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chemeClr val="dk2"/>
                </a:solidFill>
              </a:rPr>
              <a:t>81</a:t>
            </a:r>
            <a:r>
              <a:rPr lang="en" sz="1100">
                <a:solidFill>
                  <a:schemeClr val="dk2"/>
                </a:solidFill>
              </a:rPr>
              <a:t>N/100</a:t>
            </a:r>
            <a:endParaRPr sz="1300">
              <a:solidFill>
                <a:srgbClr val="FFF2CC"/>
              </a:solidFill>
            </a:endParaRPr>
          </a:p>
        </p:txBody>
      </p:sp>
      <p:sp>
        <p:nvSpPr>
          <p:cNvPr id="955" name="Google Shape;955;p48"/>
          <p:cNvSpPr/>
          <p:nvPr/>
        </p:nvSpPr>
        <p:spPr>
          <a:xfrm>
            <a:off x="3187381" y="3066875"/>
            <a:ext cx="662100" cy="5244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2"/>
                </a:solidFill>
              </a:rPr>
              <a:t>9N/100</a:t>
            </a:r>
            <a:endParaRPr sz="1100">
              <a:solidFill>
                <a:schemeClr val="dk2"/>
              </a:solidFill>
            </a:endParaRPr>
          </a:p>
        </p:txBody>
      </p:sp>
      <p:sp>
        <p:nvSpPr>
          <p:cNvPr id="956" name="Google Shape;956;p48"/>
          <p:cNvSpPr/>
          <p:nvPr/>
        </p:nvSpPr>
        <p:spPr>
          <a:xfrm>
            <a:off x="1801936" y="3066815"/>
            <a:ext cx="662100" cy="5244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chemeClr val="dk2"/>
                </a:solidFill>
              </a:rPr>
              <a:t>9</a:t>
            </a:r>
            <a:r>
              <a:rPr lang="en" sz="1100">
                <a:solidFill>
                  <a:schemeClr val="dk2"/>
                </a:solidFill>
              </a:rPr>
              <a:t>N/100</a:t>
            </a:r>
            <a:endParaRPr sz="1300">
              <a:solidFill>
                <a:srgbClr val="FFF2CC"/>
              </a:solidFill>
            </a:endParaRPr>
          </a:p>
        </p:txBody>
      </p:sp>
      <p:sp>
        <p:nvSpPr>
          <p:cNvPr id="957" name="Google Shape;957;p48"/>
          <p:cNvSpPr/>
          <p:nvPr/>
        </p:nvSpPr>
        <p:spPr>
          <a:xfrm>
            <a:off x="351699" y="3066815"/>
            <a:ext cx="662100" cy="5244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chemeClr val="dk2"/>
                </a:solidFill>
              </a:rPr>
              <a:t>N/100</a:t>
            </a:r>
            <a:endParaRPr sz="1300">
              <a:solidFill>
                <a:srgbClr val="FFF2CC"/>
              </a:solidFill>
            </a:endParaRPr>
          </a:p>
        </p:txBody>
      </p:sp>
      <p:sp>
        <p:nvSpPr>
          <p:cNvPr id="958" name="Google Shape;958;p48"/>
          <p:cNvSpPr/>
          <p:nvPr/>
        </p:nvSpPr>
        <p:spPr>
          <a:xfrm>
            <a:off x="3769057" y="2276396"/>
            <a:ext cx="662100" cy="5244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chemeClr val="dk2"/>
                </a:solidFill>
              </a:rPr>
              <a:t>9</a:t>
            </a:r>
            <a:r>
              <a:rPr lang="en" sz="1100">
                <a:solidFill>
                  <a:schemeClr val="dk2"/>
                </a:solidFill>
              </a:rPr>
              <a:t>N/10</a:t>
            </a:r>
            <a:endParaRPr sz="1300">
              <a:solidFill>
                <a:srgbClr val="FFF2CC"/>
              </a:solidFill>
            </a:endParaRPr>
          </a:p>
        </p:txBody>
      </p:sp>
      <p:sp>
        <p:nvSpPr>
          <p:cNvPr id="959" name="Google Shape;959;p48"/>
          <p:cNvSpPr/>
          <p:nvPr/>
        </p:nvSpPr>
        <p:spPr>
          <a:xfrm>
            <a:off x="1114814" y="2276349"/>
            <a:ext cx="662100" cy="5244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2"/>
                </a:solidFill>
              </a:rPr>
              <a:t>N/10</a:t>
            </a:r>
            <a:endParaRPr sz="1100">
              <a:solidFill>
                <a:schemeClr val="dk2"/>
              </a:solidFill>
            </a:endParaRPr>
          </a:p>
        </p:txBody>
      </p:sp>
      <p:cxnSp>
        <p:nvCxnSpPr>
          <p:cNvPr id="960" name="Google Shape;960;p48"/>
          <p:cNvCxnSpPr>
            <a:stCxn id="953" idx="2"/>
            <a:endCxn id="959" idx="0"/>
          </p:cNvCxnSpPr>
          <p:nvPr/>
        </p:nvCxnSpPr>
        <p:spPr>
          <a:xfrm flipH="1">
            <a:off x="1445792" y="1952675"/>
            <a:ext cx="1329300" cy="323700"/>
          </a:xfrm>
          <a:prstGeom prst="straightConnector1">
            <a:avLst/>
          </a:prstGeom>
          <a:noFill/>
          <a:ln cap="flat" cmpd="sng" w="9525">
            <a:solidFill>
              <a:schemeClr val="dk2"/>
            </a:solidFill>
            <a:prstDash val="solid"/>
            <a:round/>
            <a:headEnd len="med" w="med" type="none"/>
            <a:tailEnd len="med" w="med" type="triangle"/>
          </a:ln>
        </p:spPr>
      </p:cxnSp>
      <p:cxnSp>
        <p:nvCxnSpPr>
          <p:cNvPr id="961" name="Google Shape;961;p48"/>
          <p:cNvCxnSpPr>
            <a:stCxn id="953" idx="2"/>
            <a:endCxn id="958" idx="0"/>
          </p:cNvCxnSpPr>
          <p:nvPr/>
        </p:nvCxnSpPr>
        <p:spPr>
          <a:xfrm>
            <a:off x="2775092" y="1952675"/>
            <a:ext cx="1325100" cy="323700"/>
          </a:xfrm>
          <a:prstGeom prst="straightConnector1">
            <a:avLst/>
          </a:prstGeom>
          <a:noFill/>
          <a:ln cap="flat" cmpd="sng" w="9525">
            <a:solidFill>
              <a:schemeClr val="dk2"/>
            </a:solidFill>
            <a:prstDash val="solid"/>
            <a:round/>
            <a:headEnd len="med" w="med" type="none"/>
            <a:tailEnd len="med" w="med" type="triangle"/>
          </a:ln>
        </p:spPr>
      </p:cxnSp>
      <p:cxnSp>
        <p:nvCxnSpPr>
          <p:cNvPr id="962" name="Google Shape;962;p48"/>
          <p:cNvCxnSpPr>
            <a:stCxn id="959" idx="2"/>
            <a:endCxn id="957" idx="0"/>
          </p:cNvCxnSpPr>
          <p:nvPr/>
        </p:nvCxnSpPr>
        <p:spPr>
          <a:xfrm flipH="1">
            <a:off x="682664" y="2800749"/>
            <a:ext cx="763200" cy="266100"/>
          </a:xfrm>
          <a:prstGeom prst="straightConnector1">
            <a:avLst/>
          </a:prstGeom>
          <a:noFill/>
          <a:ln cap="flat" cmpd="sng" w="9525">
            <a:solidFill>
              <a:schemeClr val="dk2"/>
            </a:solidFill>
            <a:prstDash val="solid"/>
            <a:round/>
            <a:headEnd len="med" w="med" type="none"/>
            <a:tailEnd len="med" w="med" type="triangle"/>
          </a:ln>
        </p:spPr>
      </p:cxnSp>
      <p:cxnSp>
        <p:nvCxnSpPr>
          <p:cNvPr id="963" name="Google Shape;963;p48"/>
          <p:cNvCxnSpPr>
            <a:stCxn id="959" idx="2"/>
            <a:endCxn id="956" idx="0"/>
          </p:cNvCxnSpPr>
          <p:nvPr/>
        </p:nvCxnSpPr>
        <p:spPr>
          <a:xfrm>
            <a:off x="1445864" y="2800749"/>
            <a:ext cx="687000" cy="266100"/>
          </a:xfrm>
          <a:prstGeom prst="straightConnector1">
            <a:avLst/>
          </a:prstGeom>
          <a:noFill/>
          <a:ln cap="flat" cmpd="sng" w="9525">
            <a:solidFill>
              <a:schemeClr val="dk2"/>
            </a:solidFill>
            <a:prstDash val="solid"/>
            <a:round/>
            <a:headEnd len="med" w="med" type="none"/>
            <a:tailEnd len="med" w="med" type="triangle"/>
          </a:ln>
        </p:spPr>
      </p:cxnSp>
      <p:cxnSp>
        <p:nvCxnSpPr>
          <p:cNvPr id="964" name="Google Shape;964;p48"/>
          <p:cNvCxnSpPr>
            <a:stCxn id="958" idx="2"/>
            <a:endCxn id="955" idx="0"/>
          </p:cNvCxnSpPr>
          <p:nvPr/>
        </p:nvCxnSpPr>
        <p:spPr>
          <a:xfrm flipH="1">
            <a:off x="3518407" y="2800796"/>
            <a:ext cx="581700" cy="266100"/>
          </a:xfrm>
          <a:prstGeom prst="straightConnector1">
            <a:avLst/>
          </a:prstGeom>
          <a:noFill/>
          <a:ln cap="flat" cmpd="sng" w="9525">
            <a:solidFill>
              <a:schemeClr val="dk2"/>
            </a:solidFill>
            <a:prstDash val="solid"/>
            <a:round/>
            <a:headEnd len="med" w="med" type="none"/>
            <a:tailEnd len="med" w="med" type="triangle"/>
          </a:ln>
        </p:spPr>
      </p:cxnSp>
      <p:cxnSp>
        <p:nvCxnSpPr>
          <p:cNvPr id="965" name="Google Shape;965;p48"/>
          <p:cNvCxnSpPr>
            <a:stCxn id="958" idx="2"/>
            <a:endCxn id="954" idx="0"/>
          </p:cNvCxnSpPr>
          <p:nvPr/>
        </p:nvCxnSpPr>
        <p:spPr>
          <a:xfrm>
            <a:off x="4100107" y="2800796"/>
            <a:ext cx="712500" cy="266100"/>
          </a:xfrm>
          <a:prstGeom prst="straightConnector1">
            <a:avLst/>
          </a:prstGeom>
          <a:noFill/>
          <a:ln cap="flat" cmpd="sng" w="9525">
            <a:solidFill>
              <a:schemeClr val="dk2"/>
            </a:solidFill>
            <a:prstDash val="solid"/>
            <a:round/>
            <a:headEnd len="med" w="med" type="none"/>
            <a:tailEnd len="med" w="med" type="triangle"/>
          </a:ln>
        </p:spPr>
      </p:cxnSp>
      <p:sp>
        <p:nvSpPr>
          <p:cNvPr id="966" name="Google Shape;966;p48"/>
          <p:cNvSpPr txBox="1"/>
          <p:nvPr/>
        </p:nvSpPr>
        <p:spPr>
          <a:xfrm>
            <a:off x="5364225" y="1981175"/>
            <a:ext cx="3468000" cy="16239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Complexity: O(N * H)</a:t>
            </a:r>
            <a:endParaRPr sz="1100">
              <a:solidFill>
                <a:schemeClr val="dk2"/>
              </a:solidFill>
              <a:latin typeface="Roboto"/>
              <a:ea typeface="Roboto"/>
              <a:cs typeface="Roboto"/>
              <a:sym typeface="Roboto"/>
            </a:endParaRPr>
          </a:p>
          <a:p>
            <a:pPr indent="-298450" lvl="0" marL="457200" rtl="0" algn="l">
              <a:lnSpc>
                <a:spcPct val="150000"/>
              </a:lnSpc>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Height </a:t>
            </a:r>
            <a:endParaRPr sz="1100">
              <a:solidFill>
                <a:schemeClr val="dk2"/>
              </a:solidFill>
              <a:latin typeface="Roboto"/>
              <a:ea typeface="Roboto"/>
              <a:cs typeface="Roboto"/>
              <a:sym typeface="Roboto"/>
            </a:endParaRPr>
          </a:p>
          <a:p>
            <a:pPr indent="-298450" lvl="1" marL="914400" rtl="0" algn="l">
              <a:lnSpc>
                <a:spcPct val="150000"/>
              </a:lnSpc>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l</a:t>
            </a:r>
            <a:r>
              <a:rPr lang="en" sz="1100">
                <a:solidFill>
                  <a:schemeClr val="dk2"/>
                </a:solidFill>
                <a:latin typeface="Roboto"/>
                <a:ea typeface="Roboto"/>
                <a:cs typeface="Roboto"/>
                <a:sym typeface="Roboto"/>
              </a:rPr>
              <a:t>og </a:t>
            </a:r>
            <a:r>
              <a:rPr baseline="-25000" lang="en" sz="1100">
                <a:solidFill>
                  <a:schemeClr val="dk2"/>
                </a:solidFill>
                <a:latin typeface="Roboto"/>
                <a:ea typeface="Roboto"/>
                <a:cs typeface="Roboto"/>
                <a:sym typeface="Roboto"/>
              </a:rPr>
              <a:t>10/9</a:t>
            </a:r>
            <a:r>
              <a:rPr lang="en" sz="1100">
                <a:solidFill>
                  <a:schemeClr val="dk2"/>
                </a:solidFill>
                <a:latin typeface="Roboto"/>
                <a:ea typeface="Roboto"/>
                <a:cs typeface="Roboto"/>
                <a:sym typeface="Roboto"/>
              </a:rPr>
              <a:t>N</a:t>
            </a:r>
            <a:endParaRPr sz="1100">
              <a:solidFill>
                <a:schemeClr val="dk2"/>
              </a:solidFill>
              <a:latin typeface="Roboto"/>
              <a:ea typeface="Roboto"/>
              <a:cs typeface="Roboto"/>
              <a:sym typeface="Roboto"/>
            </a:endParaRPr>
          </a:p>
          <a:p>
            <a:pPr indent="-298450" lvl="0" marL="457200" rtl="0" algn="l">
              <a:lnSpc>
                <a:spcPct val="150000"/>
              </a:lnSpc>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Complexity on Average:</a:t>
            </a:r>
            <a:endParaRPr sz="1100">
              <a:solidFill>
                <a:schemeClr val="dk2"/>
              </a:solidFill>
              <a:latin typeface="Roboto"/>
              <a:ea typeface="Roboto"/>
              <a:cs typeface="Roboto"/>
              <a:sym typeface="Roboto"/>
            </a:endParaRPr>
          </a:p>
          <a:p>
            <a:pPr indent="-298450" lvl="1" marL="914400" rtl="0" algn="l">
              <a:lnSpc>
                <a:spcPct val="150000"/>
              </a:lnSpc>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O(N log N)</a:t>
            </a:r>
            <a:endParaRPr sz="1100">
              <a:solidFill>
                <a:schemeClr val="dk2"/>
              </a:solidFill>
              <a:latin typeface="Roboto"/>
              <a:ea typeface="Roboto"/>
              <a:cs typeface="Roboto"/>
              <a:sym typeface="Roboto"/>
            </a:endParaRPr>
          </a:p>
          <a:p>
            <a:pPr indent="0" lvl="0" marL="914400" rtl="0" algn="l">
              <a:lnSpc>
                <a:spcPct val="150000"/>
              </a:lnSpc>
              <a:spcBef>
                <a:spcPts val="0"/>
              </a:spcBef>
              <a:spcAft>
                <a:spcPts val="0"/>
              </a:spcAft>
              <a:buNone/>
            </a:pPr>
            <a:r>
              <a:t/>
            </a:r>
            <a:endParaRPr b="1" sz="1100">
              <a:solidFill>
                <a:schemeClr val="dk2"/>
              </a:solidFill>
              <a:latin typeface="Roboto"/>
              <a:ea typeface="Roboto"/>
              <a:cs typeface="Roboto"/>
              <a:sym typeface="Roboto"/>
            </a:endParaRPr>
          </a:p>
        </p:txBody>
      </p:sp>
      <p:sp>
        <p:nvSpPr>
          <p:cNvPr id="967" name="Google Shape;967;p48"/>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3"/>
                                        </p:tgtEl>
                                        <p:attrNameLst>
                                          <p:attrName>style.visibility</p:attrName>
                                        </p:attrNameLst>
                                      </p:cBhvr>
                                      <p:to>
                                        <p:strVal val="visible"/>
                                      </p:to>
                                    </p:set>
                                    <p:animEffect filter="fade" transition="in">
                                      <p:cBhvr>
                                        <p:cTn dur="1000"/>
                                        <p:tgtEl>
                                          <p:spTgt spid="9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0"/>
                                        </p:tgtEl>
                                        <p:attrNameLst>
                                          <p:attrName>style.visibility</p:attrName>
                                        </p:attrNameLst>
                                      </p:cBhvr>
                                      <p:to>
                                        <p:strVal val="visible"/>
                                      </p:to>
                                    </p:set>
                                    <p:animEffect filter="fade" transition="in">
                                      <p:cBhvr>
                                        <p:cTn dur="1000"/>
                                        <p:tgtEl>
                                          <p:spTgt spid="9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9"/>
                                        </p:tgtEl>
                                        <p:attrNameLst>
                                          <p:attrName>style.visibility</p:attrName>
                                        </p:attrNameLst>
                                      </p:cBhvr>
                                      <p:to>
                                        <p:strVal val="visible"/>
                                      </p:to>
                                    </p:set>
                                    <p:animEffect filter="fade" transition="in">
                                      <p:cBhvr>
                                        <p:cTn dur="1000"/>
                                        <p:tgtEl>
                                          <p:spTgt spid="9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gtEl>
                                        <p:attrNameLst>
                                          <p:attrName>style.visibility</p:attrName>
                                        </p:attrNameLst>
                                      </p:cBhvr>
                                      <p:to>
                                        <p:strVal val="visible"/>
                                      </p:to>
                                    </p:set>
                                    <p:animEffect filter="fade" transition="in">
                                      <p:cBhvr>
                                        <p:cTn dur="1000"/>
                                        <p:tgtEl>
                                          <p:spTgt spid="9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8"/>
                                        </p:tgtEl>
                                        <p:attrNameLst>
                                          <p:attrName>style.visibility</p:attrName>
                                        </p:attrNameLst>
                                      </p:cBhvr>
                                      <p:to>
                                        <p:strVal val="visible"/>
                                      </p:to>
                                    </p:set>
                                    <p:animEffect filter="fade" transition="in">
                                      <p:cBhvr>
                                        <p:cTn dur="1000"/>
                                        <p:tgtEl>
                                          <p:spTgt spid="9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7"/>
                                        </p:tgtEl>
                                        <p:attrNameLst>
                                          <p:attrName>style.visibility</p:attrName>
                                        </p:attrNameLst>
                                      </p:cBhvr>
                                      <p:to>
                                        <p:strVal val="visible"/>
                                      </p:to>
                                    </p:set>
                                    <p:animEffect filter="fade" transition="in">
                                      <p:cBhvr>
                                        <p:cTn dur="1000"/>
                                        <p:tgtEl>
                                          <p:spTgt spid="957"/>
                                        </p:tgtEl>
                                      </p:cBhvr>
                                    </p:animEffect>
                                  </p:childTnLst>
                                </p:cTn>
                              </p:par>
                              <p:par>
                                <p:cTn fill="hold" nodeType="withEffect" presetClass="entr" presetID="10" presetSubtype="0">
                                  <p:stCondLst>
                                    <p:cond delay="0"/>
                                  </p:stCondLst>
                                  <p:childTnLst>
                                    <p:set>
                                      <p:cBhvr>
                                        <p:cTn dur="1" fill="hold">
                                          <p:stCondLst>
                                            <p:cond delay="0"/>
                                          </p:stCondLst>
                                        </p:cTn>
                                        <p:tgtEl>
                                          <p:spTgt spid="962"/>
                                        </p:tgtEl>
                                        <p:attrNameLst>
                                          <p:attrName>style.visibility</p:attrName>
                                        </p:attrNameLst>
                                      </p:cBhvr>
                                      <p:to>
                                        <p:strVal val="visible"/>
                                      </p:to>
                                    </p:set>
                                    <p:animEffect filter="fade" transition="in">
                                      <p:cBhvr>
                                        <p:cTn dur="1000"/>
                                        <p:tgtEl>
                                          <p:spTgt spid="962"/>
                                        </p:tgtEl>
                                      </p:cBhvr>
                                    </p:animEffect>
                                  </p:childTnLst>
                                </p:cTn>
                              </p:par>
                              <p:par>
                                <p:cTn fill="hold" nodeType="withEffect" presetClass="entr" presetID="10" presetSubtype="0">
                                  <p:stCondLst>
                                    <p:cond delay="0"/>
                                  </p:stCondLst>
                                  <p:childTnLst>
                                    <p:set>
                                      <p:cBhvr>
                                        <p:cTn dur="1" fill="hold">
                                          <p:stCondLst>
                                            <p:cond delay="0"/>
                                          </p:stCondLst>
                                        </p:cTn>
                                        <p:tgtEl>
                                          <p:spTgt spid="963"/>
                                        </p:tgtEl>
                                        <p:attrNameLst>
                                          <p:attrName>style.visibility</p:attrName>
                                        </p:attrNameLst>
                                      </p:cBhvr>
                                      <p:to>
                                        <p:strVal val="visible"/>
                                      </p:to>
                                    </p:set>
                                    <p:animEffect filter="fade" transition="in">
                                      <p:cBhvr>
                                        <p:cTn dur="1000"/>
                                        <p:tgtEl>
                                          <p:spTgt spid="963"/>
                                        </p:tgtEl>
                                      </p:cBhvr>
                                    </p:animEffect>
                                  </p:childTnLst>
                                </p:cTn>
                              </p:par>
                              <p:par>
                                <p:cTn fill="hold" nodeType="withEffect" presetClass="entr" presetID="10" presetSubtype="0">
                                  <p:stCondLst>
                                    <p:cond delay="0"/>
                                  </p:stCondLst>
                                  <p:childTnLst>
                                    <p:set>
                                      <p:cBhvr>
                                        <p:cTn dur="1" fill="hold">
                                          <p:stCondLst>
                                            <p:cond delay="0"/>
                                          </p:stCondLst>
                                        </p:cTn>
                                        <p:tgtEl>
                                          <p:spTgt spid="956"/>
                                        </p:tgtEl>
                                        <p:attrNameLst>
                                          <p:attrName>style.visibility</p:attrName>
                                        </p:attrNameLst>
                                      </p:cBhvr>
                                      <p:to>
                                        <p:strVal val="visible"/>
                                      </p:to>
                                    </p:set>
                                    <p:animEffect filter="fade" transition="in">
                                      <p:cBhvr>
                                        <p:cTn dur="1000"/>
                                        <p:tgtEl>
                                          <p:spTgt spid="9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5"/>
                                        </p:tgtEl>
                                        <p:attrNameLst>
                                          <p:attrName>style.visibility</p:attrName>
                                        </p:attrNameLst>
                                      </p:cBhvr>
                                      <p:to>
                                        <p:strVal val="visible"/>
                                      </p:to>
                                    </p:set>
                                    <p:animEffect filter="fade" transition="in">
                                      <p:cBhvr>
                                        <p:cTn dur="1000"/>
                                        <p:tgtEl>
                                          <p:spTgt spid="955"/>
                                        </p:tgtEl>
                                      </p:cBhvr>
                                    </p:animEffect>
                                  </p:childTnLst>
                                </p:cTn>
                              </p:par>
                              <p:par>
                                <p:cTn fill="hold" nodeType="withEffect" presetClass="entr" presetID="10" presetSubtype="0">
                                  <p:stCondLst>
                                    <p:cond delay="0"/>
                                  </p:stCondLst>
                                  <p:childTnLst>
                                    <p:set>
                                      <p:cBhvr>
                                        <p:cTn dur="1" fill="hold">
                                          <p:stCondLst>
                                            <p:cond delay="0"/>
                                          </p:stCondLst>
                                        </p:cTn>
                                        <p:tgtEl>
                                          <p:spTgt spid="964"/>
                                        </p:tgtEl>
                                        <p:attrNameLst>
                                          <p:attrName>style.visibility</p:attrName>
                                        </p:attrNameLst>
                                      </p:cBhvr>
                                      <p:to>
                                        <p:strVal val="visible"/>
                                      </p:to>
                                    </p:set>
                                    <p:animEffect filter="fade" transition="in">
                                      <p:cBhvr>
                                        <p:cTn dur="1000"/>
                                        <p:tgtEl>
                                          <p:spTgt spid="964"/>
                                        </p:tgtEl>
                                      </p:cBhvr>
                                    </p:animEffect>
                                  </p:childTnLst>
                                </p:cTn>
                              </p:par>
                              <p:par>
                                <p:cTn fill="hold" nodeType="withEffect" presetClass="entr" presetID="10" presetSubtype="0">
                                  <p:stCondLst>
                                    <p:cond delay="0"/>
                                  </p:stCondLst>
                                  <p:childTnLst>
                                    <p:set>
                                      <p:cBhvr>
                                        <p:cTn dur="1" fill="hold">
                                          <p:stCondLst>
                                            <p:cond delay="0"/>
                                          </p:stCondLst>
                                        </p:cTn>
                                        <p:tgtEl>
                                          <p:spTgt spid="965"/>
                                        </p:tgtEl>
                                        <p:attrNameLst>
                                          <p:attrName>style.visibility</p:attrName>
                                        </p:attrNameLst>
                                      </p:cBhvr>
                                      <p:to>
                                        <p:strVal val="visible"/>
                                      </p:to>
                                    </p:set>
                                    <p:animEffect filter="fade" transition="in">
                                      <p:cBhvr>
                                        <p:cTn dur="1000"/>
                                        <p:tgtEl>
                                          <p:spTgt spid="965"/>
                                        </p:tgtEl>
                                      </p:cBhvr>
                                    </p:animEffect>
                                  </p:childTnLst>
                                </p:cTn>
                              </p:par>
                              <p:par>
                                <p:cTn fill="hold" nodeType="withEffect" presetClass="entr" presetID="10" presetSubtype="0">
                                  <p:stCondLst>
                                    <p:cond delay="0"/>
                                  </p:stCondLst>
                                  <p:childTnLst>
                                    <p:set>
                                      <p:cBhvr>
                                        <p:cTn dur="1" fill="hold">
                                          <p:stCondLst>
                                            <p:cond delay="0"/>
                                          </p:stCondLst>
                                        </p:cTn>
                                        <p:tgtEl>
                                          <p:spTgt spid="954"/>
                                        </p:tgtEl>
                                        <p:attrNameLst>
                                          <p:attrName>style.visibility</p:attrName>
                                        </p:attrNameLst>
                                      </p:cBhvr>
                                      <p:to>
                                        <p:strVal val="visible"/>
                                      </p:to>
                                    </p:set>
                                    <p:animEffect filter="fade" transition="in">
                                      <p:cBhvr>
                                        <p:cTn dur="1000"/>
                                        <p:tgtEl>
                                          <p:spTgt spid="9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6">
                                            <p:txEl>
                                              <p:pRg end="0" st="0"/>
                                            </p:txEl>
                                          </p:spTgt>
                                        </p:tgtEl>
                                        <p:attrNameLst>
                                          <p:attrName>style.visibility</p:attrName>
                                        </p:attrNameLst>
                                      </p:cBhvr>
                                      <p:to>
                                        <p:strVal val="visible"/>
                                      </p:to>
                                    </p:set>
                                    <p:animEffect filter="fade" transition="in">
                                      <p:cBhvr>
                                        <p:cTn dur="1000"/>
                                        <p:tgtEl>
                                          <p:spTgt spid="9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6">
                                            <p:txEl>
                                              <p:pRg end="1" st="1"/>
                                            </p:txEl>
                                          </p:spTgt>
                                        </p:tgtEl>
                                        <p:attrNameLst>
                                          <p:attrName>style.visibility</p:attrName>
                                        </p:attrNameLst>
                                      </p:cBhvr>
                                      <p:to>
                                        <p:strVal val="visible"/>
                                      </p:to>
                                    </p:set>
                                    <p:animEffect filter="fade" transition="in">
                                      <p:cBhvr>
                                        <p:cTn dur="1000"/>
                                        <p:tgtEl>
                                          <p:spTgt spid="9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6">
                                            <p:txEl>
                                              <p:pRg end="2" st="2"/>
                                            </p:txEl>
                                          </p:spTgt>
                                        </p:tgtEl>
                                        <p:attrNameLst>
                                          <p:attrName>style.visibility</p:attrName>
                                        </p:attrNameLst>
                                      </p:cBhvr>
                                      <p:to>
                                        <p:strVal val="visible"/>
                                      </p:to>
                                    </p:set>
                                    <p:animEffect filter="fade" transition="in">
                                      <p:cBhvr>
                                        <p:cTn dur="1000"/>
                                        <p:tgtEl>
                                          <p:spTgt spid="96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6">
                                            <p:txEl>
                                              <p:pRg end="3" st="3"/>
                                            </p:txEl>
                                          </p:spTgt>
                                        </p:tgtEl>
                                        <p:attrNameLst>
                                          <p:attrName>style.visibility</p:attrName>
                                        </p:attrNameLst>
                                      </p:cBhvr>
                                      <p:to>
                                        <p:strVal val="visible"/>
                                      </p:to>
                                    </p:set>
                                    <p:animEffect filter="fade" transition="in">
                                      <p:cBhvr>
                                        <p:cTn dur="1000"/>
                                        <p:tgtEl>
                                          <p:spTgt spid="96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6">
                                            <p:txEl>
                                              <p:pRg end="4" st="4"/>
                                            </p:txEl>
                                          </p:spTgt>
                                        </p:tgtEl>
                                        <p:attrNameLst>
                                          <p:attrName>style.visibility</p:attrName>
                                        </p:attrNameLst>
                                      </p:cBhvr>
                                      <p:to>
                                        <p:strVal val="visible"/>
                                      </p:to>
                                    </p:set>
                                    <p:animEffect filter="fade" transition="in">
                                      <p:cBhvr>
                                        <p:cTn dur="1000"/>
                                        <p:tgtEl>
                                          <p:spTgt spid="96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6">
                                            <p:txEl>
                                              <p:pRg end="5" st="5"/>
                                            </p:txEl>
                                          </p:spTgt>
                                        </p:tgtEl>
                                        <p:attrNameLst>
                                          <p:attrName>style.visibility</p:attrName>
                                        </p:attrNameLst>
                                      </p:cBhvr>
                                      <p:to>
                                        <p:strVal val="visible"/>
                                      </p:to>
                                    </p:set>
                                    <p:animEffect filter="fade" transition="in">
                                      <p:cBhvr>
                                        <p:cTn dur="1000"/>
                                        <p:tgtEl>
                                          <p:spTgt spid="96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4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Merge Sort</a:t>
            </a:r>
            <a:endParaRPr/>
          </a:p>
        </p:txBody>
      </p:sp>
      <p:sp>
        <p:nvSpPr>
          <p:cNvPr id="973" name="Google Shape;973;p49"/>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Merge Sort</a:t>
            </a:r>
            <a:endParaRPr/>
          </a:p>
        </p:txBody>
      </p:sp>
      <p:sp>
        <p:nvSpPr>
          <p:cNvPr id="979" name="Google Shape;979;p50"/>
          <p:cNvSpPr txBox="1"/>
          <p:nvPr/>
        </p:nvSpPr>
        <p:spPr>
          <a:xfrm>
            <a:off x="2414925"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7</a:t>
            </a:r>
            <a:endParaRPr/>
          </a:p>
        </p:txBody>
      </p:sp>
      <p:sp>
        <p:nvSpPr>
          <p:cNvPr id="980" name="Google Shape;980;p50"/>
          <p:cNvSpPr txBox="1"/>
          <p:nvPr/>
        </p:nvSpPr>
        <p:spPr>
          <a:xfrm>
            <a:off x="3071800"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9</a:t>
            </a:r>
            <a:endParaRPr/>
          </a:p>
        </p:txBody>
      </p:sp>
      <p:sp>
        <p:nvSpPr>
          <p:cNvPr id="981" name="Google Shape;981;p50"/>
          <p:cNvSpPr txBox="1"/>
          <p:nvPr/>
        </p:nvSpPr>
        <p:spPr>
          <a:xfrm>
            <a:off x="3728675"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4</a:t>
            </a:r>
            <a:endParaRPr/>
          </a:p>
        </p:txBody>
      </p:sp>
      <p:sp>
        <p:nvSpPr>
          <p:cNvPr id="982" name="Google Shape;982;p50"/>
          <p:cNvSpPr txBox="1"/>
          <p:nvPr/>
        </p:nvSpPr>
        <p:spPr>
          <a:xfrm>
            <a:off x="4385550"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8</a:t>
            </a:r>
            <a:endParaRPr/>
          </a:p>
        </p:txBody>
      </p:sp>
      <p:sp>
        <p:nvSpPr>
          <p:cNvPr id="983" name="Google Shape;983;p50"/>
          <p:cNvSpPr txBox="1"/>
          <p:nvPr/>
        </p:nvSpPr>
        <p:spPr>
          <a:xfrm>
            <a:off x="5042425"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3</a:t>
            </a:r>
            <a:endParaRPr/>
          </a:p>
        </p:txBody>
      </p:sp>
      <p:sp>
        <p:nvSpPr>
          <p:cNvPr id="984" name="Google Shape;984;p50"/>
          <p:cNvSpPr txBox="1"/>
          <p:nvPr/>
        </p:nvSpPr>
        <p:spPr>
          <a:xfrm>
            <a:off x="5699300" y="1735375"/>
            <a:ext cx="657000" cy="400200"/>
          </a:xfrm>
          <a:prstGeom prst="rect">
            <a:avLst/>
          </a:prstGeom>
          <a:solidFill>
            <a:srgbClr val="D9EAD3"/>
          </a:solidFill>
          <a:ln cap="flat" cmpd="sng" w="952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5</a:t>
            </a:r>
            <a:endParaRPr/>
          </a:p>
        </p:txBody>
      </p:sp>
      <p:sp>
        <p:nvSpPr>
          <p:cNvPr id="985" name="Google Shape;985;p50"/>
          <p:cNvSpPr txBox="1"/>
          <p:nvPr/>
        </p:nvSpPr>
        <p:spPr>
          <a:xfrm>
            <a:off x="1774725" y="2344600"/>
            <a:ext cx="5457000" cy="2016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solidFill>
                  <a:schemeClr val="dk2"/>
                </a:solidFill>
                <a:latin typeface="Roboto"/>
                <a:ea typeface="Roboto"/>
                <a:cs typeface="Roboto"/>
                <a:sym typeface="Roboto"/>
              </a:rPr>
              <a:t>Recursive Case:</a:t>
            </a:r>
            <a:endParaRPr>
              <a:solidFill>
                <a:schemeClr val="dk2"/>
              </a:solidFill>
              <a:latin typeface="Roboto"/>
              <a:ea typeface="Roboto"/>
              <a:cs typeface="Roboto"/>
              <a:sym typeface="Roboto"/>
            </a:endParaRPr>
          </a:p>
          <a:p>
            <a:pPr indent="-317500" lvl="0" marL="457200" rtl="0" algn="l">
              <a:lnSpc>
                <a:spcPct val="150000"/>
              </a:lnSpc>
              <a:spcBef>
                <a:spcPts val="0"/>
              </a:spcBef>
              <a:spcAft>
                <a:spcPts val="0"/>
              </a:spcAft>
              <a:buClr>
                <a:schemeClr val="dk2"/>
              </a:buClr>
              <a:buSzPts val="1400"/>
              <a:buFont typeface="Roboto"/>
              <a:buChar char="●"/>
            </a:pPr>
            <a:r>
              <a:rPr b="1" lang="en">
                <a:solidFill>
                  <a:srgbClr val="674EA7"/>
                </a:solidFill>
                <a:latin typeface="Roboto"/>
                <a:ea typeface="Roboto"/>
                <a:cs typeface="Roboto"/>
                <a:sym typeface="Roboto"/>
              </a:rPr>
              <a:t>Split</a:t>
            </a:r>
            <a:r>
              <a:rPr b="1" lang="en">
                <a:solidFill>
                  <a:srgbClr val="674EA7"/>
                </a:solidFill>
                <a:latin typeface="Roboto"/>
                <a:ea typeface="Roboto"/>
                <a:cs typeface="Roboto"/>
                <a:sym typeface="Roboto"/>
              </a:rPr>
              <a:t> </a:t>
            </a:r>
            <a:r>
              <a:rPr lang="en">
                <a:solidFill>
                  <a:schemeClr val="dk2"/>
                </a:solidFill>
                <a:latin typeface="Roboto"/>
                <a:ea typeface="Roboto"/>
                <a:cs typeface="Roboto"/>
                <a:sym typeface="Roboto"/>
              </a:rPr>
              <a:t>the input array</a:t>
            </a:r>
            <a:r>
              <a:rPr lang="en">
                <a:solidFill>
                  <a:schemeClr val="dk2"/>
                </a:solidFill>
                <a:latin typeface="Roboto"/>
                <a:ea typeface="Roboto"/>
                <a:cs typeface="Roboto"/>
                <a:sym typeface="Roboto"/>
              </a:rPr>
              <a:t> such that</a:t>
            </a:r>
            <a:endParaRPr>
              <a:solidFill>
                <a:schemeClr val="dk2"/>
              </a:solidFill>
              <a:latin typeface="Roboto"/>
              <a:ea typeface="Roboto"/>
              <a:cs typeface="Roboto"/>
              <a:sym typeface="Roboto"/>
            </a:endParaRPr>
          </a:p>
          <a:p>
            <a:pPr indent="-317500" lvl="0" marL="457200" rtl="0" algn="l">
              <a:lnSpc>
                <a:spcPct val="150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Each subarray has half entries of the original </a:t>
            </a:r>
            <a:endParaRPr>
              <a:solidFill>
                <a:schemeClr val="dk2"/>
              </a:solidFill>
              <a:latin typeface="Roboto"/>
              <a:ea typeface="Roboto"/>
              <a:cs typeface="Roboto"/>
              <a:sym typeface="Roboto"/>
            </a:endParaRPr>
          </a:p>
          <a:p>
            <a:pPr indent="-317500" lvl="0" marL="457200" rtl="0" algn="l">
              <a:lnSpc>
                <a:spcPct val="150000"/>
              </a:lnSpc>
              <a:spcBef>
                <a:spcPts val="0"/>
              </a:spcBef>
              <a:spcAft>
                <a:spcPts val="0"/>
              </a:spcAft>
              <a:buClr>
                <a:schemeClr val="dk2"/>
              </a:buClr>
              <a:buSzPts val="1400"/>
              <a:buFont typeface="Roboto"/>
              <a:buChar char="●"/>
            </a:pPr>
            <a:r>
              <a:rPr lang="en">
                <a:solidFill>
                  <a:schemeClr val="dk2"/>
                </a:solidFill>
                <a:latin typeface="Roboto"/>
                <a:ea typeface="Roboto"/>
                <a:cs typeface="Roboto"/>
                <a:sym typeface="Roboto"/>
              </a:rPr>
              <a:t>Recursively </a:t>
            </a:r>
            <a:r>
              <a:rPr b="1" lang="en">
                <a:solidFill>
                  <a:srgbClr val="674EA7"/>
                </a:solidFill>
                <a:latin typeface="Roboto"/>
                <a:ea typeface="Roboto"/>
                <a:cs typeface="Roboto"/>
                <a:sym typeface="Roboto"/>
              </a:rPr>
              <a:t>sort</a:t>
            </a:r>
            <a:r>
              <a:rPr lang="en">
                <a:solidFill>
                  <a:schemeClr val="dk2"/>
                </a:solidFill>
                <a:latin typeface="Roboto"/>
                <a:ea typeface="Roboto"/>
                <a:cs typeface="Roboto"/>
                <a:sym typeface="Roboto"/>
              </a:rPr>
              <a:t> each subarray until the base case is reached</a:t>
            </a:r>
            <a:endParaRPr>
              <a:solidFill>
                <a:schemeClr val="dk2"/>
              </a:solidFill>
              <a:latin typeface="Roboto"/>
              <a:ea typeface="Roboto"/>
              <a:cs typeface="Roboto"/>
              <a:sym typeface="Roboto"/>
            </a:endParaRPr>
          </a:p>
          <a:p>
            <a:pPr indent="-317500" lvl="0" marL="457200" rtl="0" algn="l">
              <a:lnSpc>
                <a:spcPct val="150000"/>
              </a:lnSpc>
              <a:spcBef>
                <a:spcPts val="0"/>
              </a:spcBef>
              <a:spcAft>
                <a:spcPts val="0"/>
              </a:spcAft>
              <a:buClr>
                <a:schemeClr val="dk2"/>
              </a:buClr>
              <a:buSzPts val="1400"/>
              <a:buFont typeface="Roboto"/>
              <a:buChar char="●"/>
            </a:pPr>
            <a:r>
              <a:rPr b="1" lang="en">
                <a:solidFill>
                  <a:srgbClr val="674EA7"/>
                </a:solidFill>
                <a:latin typeface="Roboto"/>
                <a:ea typeface="Roboto"/>
                <a:cs typeface="Roboto"/>
                <a:sym typeface="Roboto"/>
              </a:rPr>
              <a:t>Merge</a:t>
            </a:r>
            <a:r>
              <a:rPr lang="en">
                <a:solidFill>
                  <a:schemeClr val="dk2"/>
                </a:solidFill>
                <a:latin typeface="Roboto"/>
                <a:ea typeface="Roboto"/>
                <a:cs typeface="Roboto"/>
                <a:sym typeface="Roboto"/>
              </a:rPr>
              <a:t> sorted subarrays to build larger subarrays</a:t>
            </a:r>
            <a:endParaRPr>
              <a:solidFill>
                <a:schemeClr val="dk2"/>
              </a:solidFill>
              <a:latin typeface="Roboto"/>
              <a:ea typeface="Roboto"/>
              <a:cs typeface="Roboto"/>
              <a:sym typeface="Roboto"/>
            </a:endParaRPr>
          </a:p>
          <a:p>
            <a:pPr indent="0" lvl="0" marL="914400" rtl="0" algn="l">
              <a:lnSpc>
                <a:spcPct val="150000"/>
              </a:lnSpc>
              <a:spcBef>
                <a:spcPts val="0"/>
              </a:spcBef>
              <a:spcAft>
                <a:spcPts val="0"/>
              </a:spcAft>
              <a:buNone/>
            </a:pPr>
            <a:r>
              <a:t/>
            </a:r>
            <a:endParaRPr>
              <a:solidFill>
                <a:schemeClr val="dk2"/>
              </a:solidFill>
              <a:latin typeface="Roboto"/>
              <a:ea typeface="Roboto"/>
              <a:cs typeface="Roboto"/>
              <a:sym typeface="Roboto"/>
            </a:endParaRPr>
          </a:p>
        </p:txBody>
      </p:sp>
      <p:sp>
        <p:nvSpPr>
          <p:cNvPr id="986" name="Google Shape;986;p50"/>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51"/>
          <p:cNvSpPr txBox="1"/>
          <p:nvPr>
            <p:ph type="title"/>
          </p:nvPr>
        </p:nvSpPr>
        <p:spPr>
          <a:xfrm>
            <a:off x="311700" y="391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Pseudocode</a:t>
            </a:r>
            <a:endParaRPr/>
          </a:p>
        </p:txBody>
      </p:sp>
      <p:sp>
        <p:nvSpPr>
          <p:cNvPr id="992" name="Google Shape;992;p51"/>
          <p:cNvSpPr txBox="1"/>
          <p:nvPr>
            <p:ph idx="1" type="body"/>
          </p:nvPr>
        </p:nvSpPr>
        <p:spPr>
          <a:xfrm>
            <a:off x="5223725" y="1723950"/>
            <a:ext cx="3747900" cy="25245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000">
                <a:highlight>
                  <a:srgbClr val="FFFFFF"/>
                </a:highlight>
                <a:latin typeface="Roboto Mono"/>
                <a:ea typeface="Roboto Mono"/>
                <a:cs typeface="Roboto Mono"/>
                <a:sym typeface="Roboto Mono"/>
              </a:rPr>
              <a:t>void mergeSort(int arr[], int left, int right)</a:t>
            </a:r>
            <a:endParaRPr sz="1000">
              <a:highlight>
                <a:srgbClr val="FFFFFF"/>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highlight>
                  <a:srgbClr val="FFFFFF"/>
                </a:highlight>
                <a:latin typeface="Roboto Mono"/>
                <a:ea typeface="Roboto Mono"/>
                <a:cs typeface="Roboto Mono"/>
                <a:sym typeface="Roboto Mono"/>
              </a:rPr>
              <a:t>{</a:t>
            </a:r>
            <a:endParaRPr sz="1000">
              <a:highlight>
                <a:srgbClr val="FFFFFF"/>
              </a:highlight>
              <a:latin typeface="Roboto Mono"/>
              <a:ea typeface="Roboto Mono"/>
              <a:cs typeface="Roboto Mono"/>
              <a:sym typeface="Roboto Mono"/>
            </a:endParaRPr>
          </a:p>
          <a:p>
            <a:pPr indent="0" lvl="0" marL="0" rtl="0" algn="l">
              <a:spcBef>
                <a:spcPts val="0"/>
              </a:spcBef>
              <a:spcAft>
                <a:spcPts val="0"/>
              </a:spcAft>
              <a:buNone/>
            </a:pPr>
            <a:r>
              <a:rPr lang="en" sz="1000">
                <a:highlight>
                  <a:srgbClr val="FFFFFF"/>
                </a:highlight>
                <a:latin typeface="Roboto Mono"/>
                <a:ea typeface="Roboto Mono"/>
                <a:cs typeface="Roboto Mono"/>
                <a:sym typeface="Roboto Mono"/>
              </a:rPr>
              <a:t>     </a:t>
            </a:r>
            <a:r>
              <a:rPr lang="en" sz="1000">
                <a:solidFill>
                  <a:srgbClr val="6AA84F"/>
                </a:solidFill>
                <a:highlight>
                  <a:srgbClr val="FFFFFF"/>
                </a:highlight>
                <a:latin typeface="Roboto Mono"/>
                <a:ea typeface="Roboto Mono"/>
                <a:cs typeface="Roboto Mono"/>
                <a:sym typeface="Roboto Mono"/>
              </a:rPr>
              <a:t> //Base case </a:t>
            </a:r>
            <a:endParaRPr sz="1000">
              <a:solidFill>
                <a:srgbClr val="6AA84F"/>
              </a:solidFill>
              <a:highlight>
                <a:srgbClr val="FFFFFF"/>
              </a:highlight>
              <a:latin typeface="Roboto Mono"/>
              <a:ea typeface="Roboto Mono"/>
              <a:cs typeface="Roboto Mono"/>
              <a:sym typeface="Roboto Mono"/>
            </a:endParaRPr>
          </a:p>
          <a:p>
            <a:pPr indent="457200" lvl="0" marL="0" rtl="0" algn="l">
              <a:spcBef>
                <a:spcPts val="0"/>
              </a:spcBef>
              <a:spcAft>
                <a:spcPts val="0"/>
              </a:spcAft>
              <a:buNone/>
            </a:pPr>
            <a:r>
              <a:rPr lang="en" sz="1000">
                <a:highlight>
                  <a:srgbClr val="FFFFFF"/>
                </a:highlight>
                <a:latin typeface="Roboto Mono"/>
                <a:ea typeface="Roboto Mono"/>
                <a:cs typeface="Roboto Mono"/>
                <a:sym typeface="Roboto Mono"/>
              </a:rPr>
              <a:t>if left &gt; right </a:t>
            </a:r>
            <a:endParaRPr sz="1000">
              <a:highlight>
                <a:srgbClr val="FFFFFF"/>
              </a:highlight>
              <a:latin typeface="Roboto Mono"/>
              <a:ea typeface="Roboto Mono"/>
              <a:cs typeface="Roboto Mono"/>
              <a:sym typeface="Roboto Mono"/>
            </a:endParaRPr>
          </a:p>
          <a:p>
            <a:pPr indent="0" lvl="0" marL="0" rtl="0" algn="l">
              <a:spcBef>
                <a:spcPts val="0"/>
              </a:spcBef>
              <a:spcAft>
                <a:spcPts val="0"/>
              </a:spcAft>
              <a:buNone/>
            </a:pPr>
            <a:r>
              <a:rPr lang="en" sz="1000">
                <a:highlight>
                  <a:srgbClr val="FFFFFF"/>
                </a:highlight>
                <a:latin typeface="Roboto Mono"/>
                <a:ea typeface="Roboto Mono"/>
                <a:cs typeface="Roboto Mono"/>
                <a:sym typeface="Roboto Mono"/>
              </a:rPr>
              <a:t>        </a:t>
            </a:r>
            <a:r>
              <a:rPr lang="en" sz="1000">
                <a:highlight>
                  <a:srgbClr val="FFFFFF"/>
                </a:highlight>
                <a:latin typeface="Roboto Mono"/>
                <a:ea typeface="Roboto Mono"/>
                <a:cs typeface="Roboto Mono"/>
                <a:sym typeface="Roboto Mono"/>
              </a:rPr>
              <a:t>r</a:t>
            </a:r>
            <a:r>
              <a:rPr lang="en" sz="1000">
                <a:highlight>
                  <a:srgbClr val="FFFFFF"/>
                </a:highlight>
                <a:latin typeface="Roboto Mono"/>
                <a:ea typeface="Roboto Mono"/>
                <a:cs typeface="Roboto Mono"/>
                <a:sym typeface="Roboto Mono"/>
              </a:rPr>
              <a:t>eturn</a:t>
            </a:r>
            <a:endParaRPr sz="1000">
              <a:highlight>
                <a:srgbClr val="FFFFFF"/>
              </a:highlight>
              <a:latin typeface="Roboto Mono"/>
              <a:ea typeface="Roboto Mono"/>
              <a:cs typeface="Roboto Mono"/>
              <a:sym typeface="Roboto Mono"/>
            </a:endParaRPr>
          </a:p>
          <a:p>
            <a:pPr indent="0" lvl="0" marL="0" rtl="0" algn="l">
              <a:spcBef>
                <a:spcPts val="0"/>
              </a:spcBef>
              <a:spcAft>
                <a:spcPts val="0"/>
              </a:spcAft>
              <a:buNone/>
            </a:pPr>
            <a:r>
              <a:rPr lang="en" sz="1000">
                <a:highlight>
                  <a:srgbClr val="FFFFFF"/>
                </a:highlight>
                <a:latin typeface="Roboto Mono"/>
                <a:ea typeface="Roboto Mono"/>
                <a:cs typeface="Roboto Mono"/>
                <a:sym typeface="Roboto Mono"/>
              </a:rPr>
              <a:t>	</a:t>
            </a:r>
            <a:r>
              <a:rPr lang="en" sz="1000">
                <a:solidFill>
                  <a:srgbClr val="6AA84F"/>
                </a:solidFill>
                <a:highlight>
                  <a:srgbClr val="FFFFFF"/>
                </a:highlight>
                <a:latin typeface="Roboto Mono"/>
                <a:ea typeface="Roboto Mono"/>
                <a:cs typeface="Roboto Mono"/>
                <a:sym typeface="Roboto Mono"/>
              </a:rPr>
              <a:t>//Recursive case</a:t>
            </a:r>
            <a:endParaRPr sz="1000">
              <a:solidFill>
                <a:srgbClr val="6AA84F"/>
              </a:solidFill>
              <a:highlight>
                <a:srgbClr val="FFFFFF"/>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highlight>
                  <a:srgbClr val="FFFFFF"/>
                </a:highlight>
                <a:latin typeface="Roboto Mono"/>
                <a:ea typeface="Roboto Mono"/>
                <a:cs typeface="Roboto Mono"/>
                <a:sym typeface="Roboto Mono"/>
              </a:rPr>
              <a:t>      mid = (left+right)/2</a:t>
            </a:r>
            <a:endParaRPr sz="1000">
              <a:highlight>
                <a:srgbClr val="FFFFFF"/>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highlight>
                  <a:srgbClr val="FFFFFF"/>
                </a:highlight>
                <a:latin typeface="Roboto Mono"/>
                <a:ea typeface="Roboto Mono"/>
                <a:cs typeface="Roboto Mono"/>
                <a:sym typeface="Roboto Mono"/>
              </a:rPr>
              <a:t>      // Sort first and second halves</a:t>
            </a:r>
            <a:endParaRPr sz="1000">
              <a:highlight>
                <a:srgbClr val="FFFFFF"/>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highlight>
                  <a:srgbClr val="FFFFFF"/>
                </a:highlight>
                <a:latin typeface="Roboto Mono"/>
                <a:ea typeface="Roboto Mono"/>
                <a:cs typeface="Roboto Mono"/>
                <a:sym typeface="Roboto Mono"/>
              </a:rPr>
              <a:t>      mergeSort(arr, left, mid);</a:t>
            </a:r>
            <a:endParaRPr sz="1000">
              <a:highlight>
                <a:srgbClr val="FFFFFF"/>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highlight>
                  <a:srgbClr val="FFFFFF"/>
                </a:highlight>
                <a:latin typeface="Roboto Mono"/>
                <a:ea typeface="Roboto Mono"/>
                <a:cs typeface="Roboto Mono"/>
                <a:sym typeface="Roboto Mono"/>
              </a:rPr>
              <a:t>      mergeSort(arr, mid + 1, right);</a:t>
            </a:r>
            <a:endParaRPr sz="1000">
              <a:highlight>
                <a:srgbClr val="FFFFFF"/>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highlight>
                  <a:srgbClr val="FFFFFF"/>
                </a:highlight>
                <a:latin typeface="Roboto Mono"/>
                <a:ea typeface="Roboto Mono"/>
                <a:cs typeface="Roboto Mono"/>
                <a:sym typeface="Roboto Mono"/>
              </a:rPr>
              <a:t>  </a:t>
            </a:r>
            <a:endParaRPr sz="1000">
              <a:highlight>
                <a:srgbClr val="FFFFFF"/>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highlight>
                  <a:srgbClr val="FFFFFF"/>
                </a:highlight>
                <a:latin typeface="Roboto Mono"/>
                <a:ea typeface="Roboto Mono"/>
                <a:cs typeface="Roboto Mono"/>
                <a:sym typeface="Roboto Mono"/>
              </a:rPr>
              <a:t>      merge(arr, left, mid, right);</a:t>
            </a:r>
            <a:endParaRPr sz="1000">
              <a:highlight>
                <a:srgbClr val="FFFFFF"/>
              </a:highlight>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000">
                <a:highlight>
                  <a:srgbClr val="FFFFFF"/>
                </a:highlight>
                <a:latin typeface="Roboto Mono"/>
                <a:ea typeface="Roboto Mono"/>
                <a:cs typeface="Roboto Mono"/>
                <a:sym typeface="Roboto Mono"/>
              </a:rPr>
              <a:t>}</a:t>
            </a:r>
            <a:endParaRPr sz="1000">
              <a:highlight>
                <a:srgbClr val="FFFFFF"/>
              </a:highlight>
              <a:latin typeface="Roboto Mono"/>
              <a:ea typeface="Roboto Mono"/>
              <a:cs typeface="Roboto Mono"/>
              <a:sym typeface="Roboto Mono"/>
            </a:endParaRPr>
          </a:p>
        </p:txBody>
      </p:sp>
      <p:sp>
        <p:nvSpPr>
          <p:cNvPr id="993" name="Google Shape;993;p51"/>
          <p:cNvSpPr/>
          <p:nvPr/>
        </p:nvSpPr>
        <p:spPr>
          <a:xfrm>
            <a:off x="1248694" y="1479525"/>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8</a:t>
            </a:r>
            <a:endParaRPr sz="800"/>
          </a:p>
        </p:txBody>
      </p:sp>
      <p:sp>
        <p:nvSpPr>
          <p:cNvPr id="994" name="Google Shape;994;p51"/>
          <p:cNvSpPr/>
          <p:nvPr/>
        </p:nvSpPr>
        <p:spPr>
          <a:xfrm>
            <a:off x="1588232" y="1479525"/>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3</a:t>
            </a:r>
            <a:endParaRPr sz="800"/>
          </a:p>
        </p:txBody>
      </p:sp>
      <p:sp>
        <p:nvSpPr>
          <p:cNvPr id="995" name="Google Shape;995;p51"/>
          <p:cNvSpPr/>
          <p:nvPr/>
        </p:nvSpPr>
        <p:spPr>
          <a:xfrm>
            <a:off x="1927770" y="1479525"/>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2</a:t>
            </a:r>
            <a:endParaRPr sz="800"/>
          </a:p>
        </p:txBody>
      </p:sp>
      <p:sp>
        <p:nvSpPr>
          <p:cNvPr id="996" name="Google Shape;996;p51"/>
          <p:cNvSpPr/>
          <p:nvPr/>
        </p:nvSpPr>
        <p:spPr>
          <a:xfrm>
            <a:off x="2267308" y="1479525"/>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7</a:t>
            </a:r>
            <a:endParaRPr sz="800"/>
          </a:p>
        </p:txBody>
      </p:sp>
      <p:sp>
        <p:nvSpPr>
          <p:cNvPr id="997" name="Google Shape;997;p51"/>
          <p:cNvSpPr/>
          <p:nvPr/>
        </p:nvSpPr>
        <p:spPr>
          <a:xfrm>
            <a:off x="2606846" y="1479525"/>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9</a:t>
            </a:r>
            <a:endParaRPr sz="800"/>
          </a:p>
        </p:txBody>
      </p:sp>
      <p:sp>
        <p:nvSpPr>
          <p:cNvPr id="998" name="Google Shape;998;p51"/>
          <p:cNvSpPr/>
          <p:nvPr/>
        </p:nvSpPr>
        <p:spPr>
          <a:xfrm>
            <a:off x="2946384" y="1479525"/>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1</a:t>
            </a:r>
            <a:endParaRPr sz="800"/>
          </a:p>
        </p:txBody>
      </p:sp>
      <p:sp>
        <p:nvSpPr>
          <p:cNvPr id="999" name="Google Shape;999;p51"/>
          <p:cNvSpPr/>
          <p:nvPr/>
        </p:nvSpPr>
        <p:spPr>
          <a:xfrm>
            <a:off x="3285922" y="1479525"/>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4</a:t>
            </a:r>
            <a:endParaRPr sz="800"/>
          </a:p>
        </p:txBody>
      </p:sp>
      <p:sp>
        <p:nvSpPr>
          <p:cNvPr id="1000" name="Google Shape;1000;p51"/>
          <p:cNvSpPr/>
          <p:nvPr/>
        </p:nvSpPr>
        <p:spPr>
          <a:xfrm>
            <a:off x="3625460" y="1479525"/>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5</a:t>
            </a:r>
            <a:endParaRPr sz="800"/>
          </a:p>
        </p:txBody>
      </p:sp>
      <p:sp>
        <p:nvSpPr>
          <p:cNvPr id="1001" name="Google Shape;1001;p51"/>
          <p:cNvSpPr/>
          <p:nvPr/>
        </p:nvSpPr>
        <p:spPr>
          <a:xfrm>
            <a:off x="665025" y="1960913"/>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8</a:t>
            </a:r>
            <a:endParaRPr sz="800"/>
          </a:p>
        </p:txBody>
      </p:sp>
      <p:sp>
        <p:nvSpPr>
          <p:cNvPr id="1002" name="Google Shape;1002;p51"/>
          <p:cNvSpPr/>
          <p:nvPr/>
        </p:nvSpPr>
        <p:spPr>
          <a:xfrm>
            <a:off x="1004563" y="1960913"/>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3</a:t>
            </a:r>
            <a:endParaRPr sz="800"/>
          </a:p>
        </p:txBody>
      </p:sp>
      <p:sp>
        <p:nvSpPr>
          <p:cNvPr id="1003" name="Google Shape;1003;p51"/>
          <p:cNvSpPr/>
          <p:nvPr/>
        </p:nvSpPr>
        <p:spPr>
          <a:xfrm>
            <a:off x="1344101" y="1960913"/>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2</a:t>
            </a:r>
            <a:endParaRPr sz="800"/>
          </a:p>
        </p:txBody>
      </p:sp>
      <p:sp>
        <p:nvSpPr>
          <p:cNvPr id="1004" name="Google Shape;1004;p51"/>
          <p:cNvSpPr/>
          <p:nvPr/>
        </p:nvSpPr>
        <p:spPr>
          <a:xfrm>
            <a:off x="1683639" y="1960913"/>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7</a:t>
            </a:r>
            <a:endParaRPr sz="800"/>
          </a:p>
        </p:txBody>
      </p:sp>
      <p:sp>
        <p:nvSpPr>
          <p:cNvPr id="1005" name="Google Shape;1005;p51"/>
          <p:cNvSpPr/>
          <p:nvPr/>
        </p:nvSpPr>
        <p:spPr>
          <a:xfrm>
            <a:off x="3186483" y="1960913"/>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9</a:t>
            </a:r>
            <a:endParaRPr sz="800"/>
          </a:p>
        </p:txBody>
      </p:sp>
      <p:sp>
        <p:nvSpPr>
          <p:cNvPr id="1006" name="Google Shape;1006;p51"/>
          <p:cNvSpPr/>
          <p:nvPr/>
        </p:nvSpPr>
        <p:spPr>
          <a:xfrm>
            <a:off x="3526021" y="1960913"/>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1</a:t>
            </a:r>
            <a:endParaRPr sz="800"/>
          </a:p>
        </p:txBody>
      </p:sp>
      <p:sp>
        <p:nvSpPr>
          <p:cNvPr id="1007" name="Google Shape;1007;p51"/>
          <p:cNvSpPr/>
          <p:nvPr/>
        </p:nvSpPr>
        <p:spPr>
          <a:xfrm>
            <a:off x="3865559" y="1960913"/>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4</a:t>
            </a:r>
            <a:endParaRPr sz="800"/>
          </a:p>
        </p:txBody>
      </p:sp>
      <p:sp>
        <p:nvSpPr>
          <p:cNvPr id="1008" name="Google Shape;1008;p51"/>
          <p:cNvSpPr/>
          <p:nvPr/>
        </p:nvSpPr>
        <p:spPr>
          <a:xfrm>
            <a:off x="4205097" y="1960913"/>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5</a:t>
            </a:r>
            <a:endParaRPr sz="800"/>
          </a:p>
        </p:txBody>
      </p:sp>
      <p:sp>
        <p:nvSpPr>
          <p:cNvPr id="1009" name="Google Shape;1009;p51"/>
          <p:cNvSpPr/>
          <p:nvPr/>
        </p:nvSpPr>
        <p:spPr>
          <a:xfrm>
            <a:off x="524069" y="2404913"/>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8</a:t>
            </a:r>
            <a:endParaRPr sz="800"/>
          </a:p>
        </p:txBody>
      </p:sp>
      <p:sp>
        <p:nvSpPr>
          <p:cNvPr id="1010" name="Google Shape;1010;p51"/>
          <p:cNvSpPr/>
          <p:nvPr/>
        </p:nvSpPr>
        <p:spPr>
          <a:xfrm>
            <a:off x="863607" y="2404913"/>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3</a:t>
            </a:r>
            <a:endParaRPr sz="800"/>
          </a:p>
        </p:txBody>
      </p:sp>
      <p:sp>
        <p:nvSpPr>
          <p:cNvPr id="1011" name="Google Shape;1011;p51"/>
          <p:cNvSpPr/>
          <p:nvPr/>
        </p:nvSpPr>
        <p:spPr>
          <a:xfrm>
            <a:off x="1513870" y="2404913"/>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2</a:t>
            </a:r>
            <a:endParaRPr sz="800"/>
          </a:p>
        </p:txBody>
      </p:sp>
      <p:sp>
        <p:nvSpPr>
          <p:cNvPr id="1012" name="Google Shape;1012;p51"/>
          <p:cNvSpPr/>
          <p:nvPr/>
        </p:nvSpPr>
        <p:spPr>
          <a:xfrm>
            <a:off x="1853408" y="2404913"/>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7</a:t>
            </a:r>
            <a:endParaRPr sz="800"/>
          </a:p>
        </p:txBody>
      </p:sp>
      <p:sp>
        <p:nvSpPr>
          <p:cNvPr id="1013" name="Google Shape;1013;p51"/>
          <p:cNvSpPr/>
          <p:nvPr/>
        </p:nvSpPr>
        <p:spPr>
          <a:xfrm>
            <a:off x="3016714" y="2404913"/>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9</a:t>
            </a:r>
            <a:endParaRPr sz="800"/>
          </a:p>
        </p:txBody>
      </p:sp>
      <p:sp>
        <p:nvSpPr>
          <p:cNvPr id="1014" name="Google Shape;1014;p51"/>
          <p:cNvSpPr/>
          <p:nvPr/>
        </p:nvSpPr>
        <p:spPr>
          <a:xfrm>
            <a:off x="3356252" y="2404913"/>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1</a:t>
            </a:r>
            <a:endParaRPr sz="800"/>
          </a:p>
        </p:txBody>
      </p:sp>
      <p:sp>
        <p:nvSpPr>
          <p:cNvPr id="1015" name="Google Shape;1015;p51"/>
          <p:cNvSpPr/>
          <p:nvPr/>
        </p:nvSpPr>
        <p:spPr>
          <a:xfrm>
            <a:off x="4358588" y="2404913"/>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5</a:t>
            </a:r>
            <a:endParaRPr sz="800"/>
          </a:p>
        </p:txBody>
      </p:sp>
      <p:sp>
        <p:nvSpPr>
          <p:cNvPr id="1016" name="Google Shape;1016;p51"/>
          <p:cNvSpPr/>
          <p:nvPr/>
        </p:nvSpPr>
        <p:spPr>
          <a:xfrm>
            <a:off x="4029906" y="2404913"/>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4</a:t>
            </a:r>
            <a:endParaRPr sz="800"/>
          </a:p>
        </p:txBody>
      </p:sp>
      <p:sp>
        <p:nvSpPr>
          <p:cNvPr id="1017" name="Google Shape;1017;p51"/>
          <p:cNvSpPr/>
          <p:nvPr/>
        </p:nvSpPr>
        <p:spPr>
          <a:xfrm>
            <a:off x="428625" y="2874757"/>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8</a:t>
            </a:r>
            <a:endParaRPr sz="800"/>
          </a:p>
        </p:txBody>
      </p:sp>
      <p:sp>
        <p:nvSpPr>
          <p:cNvPr id="1018" name="Google Shape;1018;p51"/>
          <p:cNvSpPr/>
          <p:nvPr/>
        </p:nvSpPr>
        <p:spPr>
          <a:xfrm>
            <a:off x="933869" y="2874757"/>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3</a:t>
            </a:r>
            <a:endParaRPr sz="800"/>
          </a:p>
        </p:txBody>
      </p:sp>
      <p:sp>
        <p:nvSpPr>
          <p:cNvPr id="1019" name="Google Shape;1019;p51"/>
          <p:cNvSpPr/>
          <p:nvPr/>
        </p:nvSpPr>
        <p:spPr>
          <a:xfrm>
            <a:off x="1378250" y="2874757"/>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2</a:t>
            </a:r>
            <a:endParaRPr sz="800"/>
          </a:p>
        </p:txBody>
      </p:sp>
      <p:sp>
        <p:nvSpPr>
          <p:cNvPr id="1020" name="Google Shape;1020;p51"/>
          <p:cNvSpPr/>
          <p:nvPr/>
        </p:nvSpPr>
        <p:spPr>
          <a:xfrm>
            <a:off x="1927770" y="2874757"/>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7</a:t>
            </a:r>
            <a:endParaRPr sz="800"/>
          </a:p>
        </p:txBody>
      </p:sp>
      <p:sp>
        <p:nvSpPr>
          <p:cNvPr id="1021" name="Google Shape;1021;p51"/>
          <p:cNvSpPr/>
          <p:nvPr/>
        </p:nvSpPr>
        <p:spPr>
          <a:xfrm>
            <a:off x="2846944" y="2874757"/>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9</a:t>
            </a:r>
            <a:endParaRPr sz="800"/>
          </a:p>
        </p:txBody>
      </p:sp>
      <p:sp>
        <p:nvSpPr>
          <p:cNvPr id="1022" name="Google Shape;1022;p51"/>
          <p:cNvSpPr/>
          <p:nvPr/>
        </p:nvSpPr>
        <p:spPr>
          <a:xfrm>
            <a:off x="3383169" y="2874757"/>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1</a:t>
            </a:r>
            <a:endParaRPr sz="800"/>
          </a:p>
        </p:txBody>
      </p:sp>
      <p:sp>
        <p:nvSpPr>
          <p:cNvPr id="1023" name="Google Shape;1023;p51"/>
          <p:cNvSpPr/>
          <p:nvPr/>
        </p:nvSpPr>
        <p:spPr>
          <a:xfrm>
            <a:off x="3918561" y="2874757"/>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4</a:t>
            </a:r>
            <a:endParaRPr sz="800"/>
          </a:p>
        </p:txBody>
      </p:sp>
      <p:sp>
        <p:nvSpPr>
          <p:cNvPr id="1024" name="Google Shape;1024;p51"/>
          <p:cNvSpPr/>
          <p:nvPr/>
        </p:nvSpPr>
        <p:spPr>
          <a:xfrm>
            <a:off x="4453958" y="2874757"/>
            <a:ext cx="3396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5</a:t>
            </a:r>
            <a:endParaRPr sz="800"/>
          </a:p>
        </p:txBody>
      </p:sp>
      <p:sp>
        <p:nvSpPr>
          <p:cNvPr id="1025" name="Google Shape;1025;p51"/>
          <p:cNvSpPr/>
          <p:nvPr/>
        </p:nvSpPr>
        <p:spPr>
          <a:xfrm rot="2420236">
            <a:off x="1488109" y="1716784"/>
            <a:ext cx="120040" cy="245340"/>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26" name="Google Shape;1026;p51"/>
          <p:cNvSpPr/>
          <p:nvPr/>
        </p:nvSpPr>
        <p:spPr>
          <a:xfrm rot="-2645437">
            <a:off x="3395650" y="1713948"/>
            <a:ext cx="120294" cy="251011"/>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27" name="Google Shape;1027;p51"/>
          <p:cNvSpPr/>
          <p:nvPr/>
        </p:nvSpPr>
        <p:spPr>
          <a:xfrm rot="2420236">
            <a:off x="973466" y="2170607"/>
            <a:ext cx="120040" cy="245340"/>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28" name="Google Shape;1028;p51"/>
          <p:cNvSpPr/>
          <p:nvPr/>
        </p:nvSpPr>
        <p:spPr>
          <a:xfrm rot="-2645437">
            <a:off x="1653189" y="2163194"/>
            <a:ext cx="120294" cy="251011"/>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29" name="Google Shape;1029;p51"/>
          <p:cNvSpPr/>
          <p:nvPr/>
        </p:nvSpPr>
        <p:spPr>
          <a:xfrm rot="-2645437">
            <a:off x="4244989" y="2167757"/>
            <a:ext cx="120294" cy="251011"/>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30" name="Google Shape;1030;p51"/>
          <p:cNvSpPr/>
          <p:nvPr/>
        </p:nvSpPr>
        <p:spPr>
          <a:xfrm rot="-2645437">
            <a:off x="1880110" y="2639480"/>
            <a:ext cx="120294" cy="251011"/>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31" name="Google Shape;1031;p51"/>
          <p:cNvSpPr/>
          <p:nvPr/>
        </p:nvSpPr>
        <p:spPr>
          <a:xfrm rot="-2645437">
            <a:off x="928565" y="2639480"/>
            <a:ext cx="120294" cy="251011"/>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32" name="Google Shape;1032;p51"/>
          <p:cNvSpPr/>
          <p:nvPr/>
        </p:nvSpPr>
        <p:spPr>
          <a:xfrm rot="-2645437">
            <a:off x="3375383" y="2639480"/>
            <a:ext cx="120294" cy="251011"/>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33" name="Google Shape;1033;p51"/>
          <p:cNvSpPr/>
          <p:nvPr/>
        </p:nvSpPr>
        <p:spPr>
          <a:xfrm rot="-2645437">
            <a:off x="4434408" y="2639480"/>
            <a:ext cx="120294" cy="251011"/>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34" name="Google Shape;1034;p51"/>
          <p:cNvSpPr/>
          <p:nvPr/>
        </p:nvSpPr>
        <p:spPr>
          <a:xfrm rot="2420236">
            <a:off x="705437" y="2642330"/>
            <a:ext cx="120040" cy="245340"/>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35" name="Google Shape;1035;p51"/>
          <p:cNvSpPr/>
          <p:nvPr/>
        </p:nvSpPr>
        <p:spPr>
          <a:xfrm rot="2420236">
            <a:off x="1653333" y="2642330"/>
            <a:ext cx="120040" cy="245340"/>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36" name="Google Shape;1036;p51"/>
          <p:cNvSpPr/>
          <p:nvPr/>
        </p:nvSpPr>
        <p:spPr>
          <a:xfrm rot="2420236">
            <a:off x="3157405" y="2642330"/>
            <a:ext cx="120040" cy="245340"/>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37" name="Google Shape;1037;p51"/>
          <p:cNvSpPr/>
          <p:nvPr/>
        </p:nvSpPr>
        <p:spPr>
          <a:xfrm rot="2420236">
            <a:off x="3466117" y="2179563"/>
            <a:ext cx="120040" cy="245340"/>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38" name="Google Shape;1038;p51"/>
          <p:cNvSpPr/>
          <p:nvPr/>
        </p:nvSpPr>
        <p:spPr>
          <a:xfrm rot="2420236">
            <a:off x="4179379" y="2642330"/>
            <a:ext cx="120040" cy="245340"/>
          </a:xfrm>
          <a:prstGeom prst="downArrow">
            <a:avLst>
              <a:gd fmla="val 50000" name="adj1"/>
              <a:gd fmla="val 50000"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39" name="Google Shape;1039;p51"/>
          <p:cNvSpPr/>
          <p:nvPr/>
        </p:nvSpPr>
        <p:spPr>
          <a:xfrm rot="-7860845">
            <a:off x="895198" y="3114430"/>
            <a:ext cx="112915" cy="226903"/>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40" name="Google Shape;1040;p51"/>
          <p:cNvSpPr/>
          <p:nvPr/>
        </p:nvSpPr>
        <p:spPr>
          <a:xfrm rot="7860845">
            <a:off x="665925" y="3114531"/>
            <a:ext cx="112915" cy="226903"/>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41" name="Google Shape;1041;p51"/>
          <p:cNvSpPr/>
          <p:nvPr/>
        </p:nvSpPr>
        <p:spPr>
          <a:xfrm rot="-7860845">
            <a:off x="1872498" y="3119155"/>
            <a:ext cx="112915" cy="226903"/>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42" name="Google Shape;1042;p51"/>
          <p:cNvSpPr/>
          <p:nvPr/>
        </p:nvSpPr>
        <p:spPr>
          <a:xfrm rot="7860845">
            <a:off x="1643225" y="3119256"/>
            <a:ext cx="112915" cy="226903"/>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43" name="Google Shape;1043;p51"/>
          <p:cNvSpPr/>
          <p:nvPr/>
        </p:nvSpPr>
        <p:spPr>
          <a:xfrm rot="-7860845">
            <a:off x="3382298" y="3105580"/>
            <a:ext cx="112915" cy="226903"/>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44" name="Google Shape;1044;p51"/>
          <p:cNvSpPr/>
          <p:nvPr/>
        </p:nvSpPr>
        <p:spPr>
          <a:xfrm rot="7860845">
            <a:off x="3153025" y="3105681"/>
            <a:ext cx="112915" cy="226903"/>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45" name="Google Shape;1045;p51"/>
          <p:cNvSpPr/>
          <p:nvPr/>
        </p:nvSpPr>
        <p:spPr>
          <a:xfrm rot="-7860845">
            <a:off x="4456386" y="3149655"/>
            <a:ext cx="112915" cy="226903"/>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46" name="Google Shape;1046;p51"/>
          <p:cNvSpPr/>
          <p:nvPr/>
        </p:nvSpPr>
        <p:spPr>
          <a:xfrm rot="7860845">
            <a:off x="4227113" y="3149756"/>
            <a:ext cx="112915" cy="226903"/>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47" name="Google Shape;1047;p51"/>
          <p:cNvSpPr/>
          <p:nvPr/>
        </p:nvSpPr>
        <p:spPr>
          <a:xfrm>
            <a:off x="478642" y="3344572"/>
            <a:ext cx="356100" cy="25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3</a:t>
            </a:r>
            <a:endParaRPr sz="800"/>
          </a:p>
        </p:txBody>
      </p:sp>
      <p:sp>
        <p:nvSpPr>
          <p:cNvPr id="1048" name="Google Shape;1048;p51"/>
          <p:cNvSpPr/>
          <p:nvPr/>
        </p:nvSpPr>
        <p:spPr>
          <a:xfrm>
            <a:off x="834891" y="3344572"/>
            <a:ext cx="356100" cy="25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8</a:t>
            </a:r>
            <a:endParaRPr sz="800"/>
          </a:p>
        </p:txBody>
      </p:sp>
      <p:sp>
        <p:nvSpPr>
          <p:cNvPr id="1049" name="Google Shape;1049;p51"/>
          <p:cNvSpPr/>
          <p:nvPr/>
        </p:nvSpPr>
        <p:spPr>
          <a:xfrm>
            <a:off x="1497283" y="3344572"/>
            <a:ext cx="356100" cy="25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2</a:t>
            </a:r>
            <a:endParaRPr sz="800"/>
          </a:p>
        </p:txBody>
      </p:sp>
      <p:sp>
        <p:nvSpPr>
          <p:cNvPr id="1050" name="Google Shape;1050;p51"/>
          <p:cNvSpPr/>
          <p:nvPr/>
        </p:nvSpPr>
        <p:spPr>
          <a:xfrm>
            <a:off x="1853532" y="3344572"/>
            <a:ext cx="356100" cy="25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7</a:t>
            </a:r>
            <a:endParaRPr sz="800"/>
          </a:p>
        </p:txBody>
      </p:sp>
      <p:sp>
        <p:nvSpPr>
          <p:cNvPr id="1051" name="Google Shape;1051;p51"/>
          <p:cNvSpPr/>
          <p:nvPr/>
        </p:nvSpPr>
        <p:spPr>
          <a:xfrm>
            <a:off x="2949331" y="3344572"/>
            <a:ext cx="356100" cy="25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1</a:t>
            </a:r>
            <a:endParaRPr sz="800"/>
          </a:p>
        </p:txBody>
      </p:sp>
      <p:sp>
        <p:nvSpPr>
          <p:cNvPr id="1052" name="Google Shape;1052;p51"/>
          <p:cNvSpPr/>
          <p:nvPr/>
        </p:nvSpPr>
        <p:spPr>
          <a:xfrm>
            <a:off x="3305580" y="3344572"/>
            <a:ext cx="356100" cy="25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9</a:t>
            </a:r>
            <a:endParaRPr sz="800"/>
          </a:p>
        </p:txBody>
      </p:sp>
      <p:sp>
        <p:nvSpPr>
          <p:cNvPr id="1053" name="Google Shape;1053;p51"/>
          <p:cNvSpPr/>
          <p:nvPr/>
        </p:nvSpPr>
        <p:spPr>
          <a:xfrm>
            <a:off x="4389987" y="3370759"/>
            <a:ext cx="356100" cy="25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5</a:t>
            </a:r>
            <a:endParaRPr sz="800"/>
          </a:p>
        </p:txBody>
      </p:sp>
      <p:sp>
        <p:nvSpPr>
          <p:cNvPr id="1054" name="Google Shape;1054;p51"/>
          <p:cNvSpPr/>
          <p:nvPr/>
        </p:nvSpPr>
        <p:spPr>
          <a:xfrm>
            <a:off x="4045128" y="3370759"/>
            <a:ext cx="356100" cy="25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4</a:t>
            </a:r>
            <a:endParaRPr sz="800"/>
          </a:p>
        </p:txBody>
      </p:sp>
      <p:sp>
        <p:nvSpPr>
          <p:cNvPr id="1055" name="Google Shape;1055;p51"/>
          <p:cNvSpPr/>
          <p:nvPr/>
        </p:nvSpPr>
        <p:spPr>
          <a:xfrm rot="-7860845">
            <a:off x="1398073" y="3642055"/>
            <a:ext cx="112915" cy="226903"/>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56" name="Google Shape;1056;p51"/>
          <p:cNvSpPr/>
          <p:nvPr/>
        </p:nvSpPr>
        <p:spPr>
          <a:xfrm rot="7860845">
            <a:off x="1168800" y="3642156"/>
            <a:ext cx="112915" cy="226903"/>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57" name="Google Shape;1057;p51"/>
          <p:cNvSpPr/>
          <p:nvPr/>
        </p:nvSpPr>
        <p:spPr>
          <a:xfrm rot="-7860845">
            <a:off x="3865761" y="3642005"/>
            <a:ext cx="112915" cy="226903"/>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58" name="Google Shape;1058;p51"/>
          <p:cNvSpPr/>
          <p:nvPr/>
        </p:nvSpPr>
        <p:spPr>
          <a:xfrm rot="7860845">
            <a:off x="3636488" y="3642106"/>
            <a:ext cx="112915" cy="226903"/>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59" name="Google Shape;1059;p51"/>
          <p:cNvSpPr/>
          <p:nvPr/>
        </p:nvSpPr>
        <p:spPr>
          <a:xfrm>
            <a:off x="706085" y="3848008"/>
            <a:ext cx="356100" cy="25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2</a:t>
            </a:r>
            <a:endParaRPr sz="800"/>
          </a:p>
        </p:txBody>
      </p:sp>
      <p:sp>
        <p:nvSpPr>
          <p:cNvPr id="1060" name="Google Shape;1060;p51"/>
          <p:cNvSpPr/>
          <p:nvPr/>
        </p:nvSpPr>
        <p:spPr>
          <a:xfrm>
            <a:off x="1062334" y="3848008"/>
            <a:ext cx="356100" cy="25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3</a:t>
            </a:r>
            <a:endParaRPr sz="800"/>
          </a:p>
        </p:txBody>
      </p:sp>
      <p:sp>
        <p:nvSpPr>
          <p:cNvPr id="1061" name="Google Shape;1061;p51"/>
          <p:cNvSpPr/>
          <p:nvPr/>
        </p:nvSpPr>
        <p:spPr>
          <a:xfrm>
            <a:off x="1418583" y="3848008"/>
            <a:ext cx="356100" cy="25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7</a:t>
            </a:r>
            <a:endParaRPr sz="800"/>
          </a:p>
        </p:txBody>
      </p:sp>
      <p:sp>
        <p:nvSpPr>
          <p:cNvPr id="1062" name="Google Shape;1062;p51"/>
          <p:cNvSpPr/>
          <p:nvPr/>
        </p:nvSpPr>
        <p:spPr>
          <a:xfrm>
            <a:off x="1774833" y="3848008"/>
            <a:ext cx="356100" cy="25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8</a:t>
            </a:r>
            <a:endParaRPr sz="800"/>
          </a:p>
        </p:txBody>
      </p:sp>
      <p:sp>
        <p:nvSpPr>
          <p:cNvPr id="1063" name="Google Shape;1063;p51"/>
          <p:cNvSpPr/>
          <p:nvPr/>
        </p:nvSpPr>
        <p:spPr>
          <a:xfrm>
            <a:off x="4140180" y="3870971"/>
            <a:ext cx="356100" cy="25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9</a:t>
            </a:r>
            <a:endParaRPr sz="800"/>
          </a:p>
        </p:txBody>
      </p:sp>
      <p:sp>
        <p:nvSpPr>
          <p:cNvPr id="1064" name="Google Shape;1064;p51"/>
          <p:cNvSpPr/>
          <p:nvPr/>
        </p:nvSpPr>
        <p:spPr>
          <a:xfrm>
            <a:off x="3071432" y="3870971"/>
            <a:ext cx="356100" cy="25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1</a:t>
            </a:r>
            <a:endParaRPr sz="800"/>
          </a:p>
        </p:txBody>
      </p:sp>
      <p:sp>
        <p:nvSpPr>
          <p:cNvPr id="1065" name="Google Shape;1065;p51"/>
          <p:cNvSpPr/>
          <p:nvPr/>
        </p:nvSpPr>
        <p:spPr>
          <a:xfrm>
            <a:off x="3427682" y="3870971"/>
            <a:ext cx="356100" cy="25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4</a:t>
            </a:r>
            <a:endParaRPr sz="800"/>
          </a:p>
        </p:txBody>
      </p:sp>
      <p:sp>
        <p:nvSpPr>
          <p:cNvPr id="1066" name="Google Shape;1066;p51"/>
          <p:cNvSpPr/>
          <p:nvPr/>
        </p:nvSpPr>
        <p:spPr>
          <a:xfrm>
            <a:off x="3783931" y="3870971"/>
            <a:ext cx="356100" cy="25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5</a:t>
            </a:r>
            <a:endParaRPr sz="800"/>
          </a:p>
        </p:txBody>
      </p:sp>
      <p:sp>
        <p:nvSpPr>
          <p:cNvPr id="1067" name="Google Shape;1067;p51"/>
          <p:cNvSpPr/>
          <p:nvPr/>
        </p:nvSpPr>
        <p:spPr>
          <a:xfrm>
            <a:off x="1161781" y="4317825"/>
            <a:ext cx="356100" cy="2565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1</a:t>
            </a:r>
            <a:endParaRPr sz="800"/>
          </a:p>
        </p:txBody>
      </p:sp>
      <p:sp>
        <p:nvSpPr>
          <p:cNvPr id="1068" name="Google Shape;1068;p51"/>
          <p:cNvSpPr/>
          <p:nvPr/>
        </p:nvSpPr>
        <p:spPr>
          <a:xfrm>
            <a:off x="1518030" y="4317825"/>
            <a:ext cx="356100" cy="2565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2</a:t>
            </a:r>
            <a:endParaRPr sz="800"/>
          </a:p>
        </p:txBody>
      </p:sp>
      <p:sp>
        <p:nvSpPr>
          <p:cNvPr id="1069" name="Google Shape;1069;p51"/>
          <p:cNvSpPr/>
          <p:nvPr/>
        </p:nvSpPr>
        <p:spPr>
          <a:xfrm>
            <a:off x="1874279" y="4317825"/>
            <a:ext cx="356100" cy="2565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3</a:t>
            </a:r>
            <a:endParaRPr sz="800"/>
          </a:p>
        </p:txBody>
      </p:sp>
      <p:sp>
        <p:nvSpPr>
          <p:cNvPr id="1070" name="Google Shape;1070;p51"/>
          <p:cNvSpPr/>
          <p:nvPr/>
        </p:nvSpPr>
        <p:spPr>
          <a:xfrm>
            <a:off x="2230529" y="4317825"/>
            <a:ext cx="356100" cy="2565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4</a:t>
            </a:r>
            <a:endParaRPr sz="800"/>
          </a:p>
        </p:txBody>
      </p:sp>
      <p:sp>
        <p:nvSpPr>
          <p:cNvPr id="1071" name="Google Shape;1071;p51"/>
          <p:cNvSpPr/>
          <p:nvPr/>
        </p:nvSpPr>
        <p:spPr>
          <a:xfrm>
            <a:off x="2586778" y="4317825"/>
            <a:ext cx="356100" cy="2565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5</a:t>
            </a:r>
            <a:endParaRPr sz="800"/>
          </a:p>
        </p:txBody>
      </p:sp>
      <p:sp>
        <p:nvSpPr>
          <p:cNvPr id="1072" name="Google Shape;1072;p51"/>
          <p:cNvSpPr/>
          <p:nvPr/>
        </p:nvSpPr>
        <p:spPr>
          <a:xfrm>
            <a:off x="2943027" y="4317825"/>
            <a:ext cx="356100" cy="2565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7</a:t>
            </a:r>
            <a:endParaRPr sz="800"/>
          </a:p>
        </p:txBody>
      </p:sp>
      <p:sp>
        <p:nvSpPr>
          <p:cNvPr id="1073" name="Google Shape;1073;p51"/>
          <p:cNvSpPr/>
          <p:nvPr/>
        </p:nvSpPr>
        <p:spPr>
          <a:xfrm>
            <a:off x="3299277" y="4317825"/>
            <a:ext cx="356100" cy="2565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8</a:t>
            </a:r>
            <a:endParaRPr sz="800"/>
          </a:p>
        </p:txBody>
      </p:sp>
      <p:sp>
        <p:nvSpPr>
          <p:cNvPr id="1074" name="Google Shape;1074;p51"/>
          <p:cNvSpPr/>
          <p:nvPr/>
        </p:nvSpPr>
        <p:spPr>
          <a:xfrm>
            <a:off x="3655526" y="4317825"/>
            <a:ext cx="356100" cy="2565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9</a:t>
            </a:r>
            <a:endParaRPr sz="800"/>
          </a:p>
        </p:txBody>
      </p:sp>
      <p:sp>
        <p:nvSpPr>
          <p:cNvPr id="1075" name="Google Shape;1075;p51"/>
          <p:cNvSpPr/>
          <p:nvPr/>
        </p:nvSpPr>
        <p:spPr>
          <a:xfrm rot="-7860845">
            <a:off x="3549261" y="4110880"/>
            <a:ext cx="112915" cy="226903"/>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76" name="Google Shape;1076;p51"/>
          <p:cNvSpPr/>
          <p:nvPr/>
        </p:nvSpPr>
        <p:spPr>
          <a:xfrm rot="7860845">
            <a:off x="1589888" y="4110881"/>
            <a:ext cx="112915" cy="226903"/>
          </a:xfrm>
          <a:prstGeom prst="upArrow">
            <a:avLst>
              <a:gd fmla="val 50000" name="adj1"/>
              <a:gd fmla="val 50000" name="adj2"/>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1077" name="Google Shape;1077;p51"/>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xEl>
                                              <p:pRg end="0" st="0"/>
                                            </p:txEl>
                                          </p:spTgt>
                                        </p:tgtEl>
                                        <p:attrNameLst>
                                          <p:attrName>style.visibility</p:attrName>
                                        </p:attrNameLst>
                                      </p:cBhvr>
                                      <p:to>
                                        <p:strVal val="visible"/>
                                      </p:to>
                                    </p:set>
                                    <p:animEffect filter="fade" transition="in">
                                      <p:cBhvr>
                                        <p:cTn dur="1000"/>
                                        <p:tgtEl>
                                          <p:spTgt spid="9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xEl>
                                              <p:pRg end="1" st="1"/>
                                            </p:txEl>
                                          </p:spTgt>
                                        </p:tgtEl>
                                        <p:attrNameLst>
                                          <p:attrName>style.visibility</p:attrName>
                                        </p:attrNameLst>
                                      </p:cBhvr>
                                      <p:to>
                                        <p:strVal val="visible"/>
                                      </p:to>
                                    </p:set>
                                    <p:animEffect filter="fade" transition="in">
                                      <p:cBhvr>
                                        <p:cTn dur="1000"/>
                                        <p:tgtEl>
                                          <p:spTgt spid="9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xEl>
                                              <p:pRg end="2" st="2"/>
                                            </p:txEl>
                                          </p:spTgt>
                                        </p:tgtEl>
                                        <p:attrNameLst>
                                          <p:attrName>style.visibility</p:attrName>
                                        </p:attrNameLst>
                                      </p:cBhvr>
                                      <p:to>
                                        <p:strVal val="visible"/>
                                      </p:to>
                                    </p:set>
                                    <p:animEffect filter="fade" transition="in">
                                      <p:cBhvr>
                                        <p:cTn dur="1000"/>
                                        <p:tgtEl>
                                          <p:spTgt spid="9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xEl>
                                              <p:pRg end="3" st="3"/>
                                            </p:txEl>
                                          </p:spTgt>
                                        </p:tgtEl>
                                        <p:attrNameLst>
                                          <p:attrName>style.visibility</p:attrName>
                                        </p:attrNameLst>
                                      </p:cBhvr>
                                      <p:to>
                                        <p:strVal val="visible"/>
                                      </p:to>
                                    </p:set>
                                    <p:animEffect filter="fade" transition="in">
                                      <p:cBhvr>
                                        <p:cTn dur="1000"/>
                                        <p:tgtEl>
                                          <p:spTgt spid="99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xEl>
                                              <p:pRg end="4" st="4"/>
                                            </p:txEl>
                                          </p:spTgt>
                                        </p:tgtEl>
                                        <p:attrNameLst>
                                          <p:attrName>style.visibility</p:attrName>
                                        </p:attrNameLst>
                                      </p:cBhvr>
                                      <p:to>
                                        <p:strVal val="visible"/>
                                      </p:to>
                                    </p:set>
                                    <p:animEffect filter="fade" transition="in">
                                      <p:cBhvr>
                                        <p:cTn dur="1000"/>
                                        <p:tgtEl>
                                          <p:spTgt spid="99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xEl>
                                              <p:pRg end="5" st="5"/>
                                            </p:txEl>
                                          </p:spTgt>
                                        </p:tgtEl>
                                        <p:attrNameLst>
                                          <p:attrName>style.visibility</p:attrName>
                                        </p:attrNameLst>
                                      </p:cBhvr>
                                      <p:to>
                                        <p:strVal val="visible"/>
                                      </p:to>
                                    </p:set>
                                    <p:animEffect filter="fade" transition="in">
                                      <p:cBhvr>
                                        <p:cTn dur="1000"/>
                                        <p:tgtEl>
                                          <p:spTgt spid="99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xEl>
                                              <p:pRg end="6" st="6"/>
                                            </p:txEl>
                                          </p:spTgt>
                                        </p:tgtEl>
                                        <p:attrNameLst>
                                          <p:attrName>style.visibility</p:attrName>
                                        </p:attrNameLst>
                                      </p:cBhvr>
                                      <p:to>
                                        <p:strVal val="visible"/>
                                      </p:to>
                                    </p:set>
                                    <p:animEffect filter="fade" transition="in">
                                      <p:cBhvr>
                                        <p:cTn dur="1000"/>
                                        <p:tgtEl>
                                          <p:spTgt spid="99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xEl>
                                              <p:pRg end="7" st="7"/>
                                            </p:txEl>
                                          </p:spTgt>
                                        </p:tgtEl>
                                        <p:attrNameLst>
                                          <p:attrName>style.visibility</p:attrName>
                                        </p:attrNameLst>
                                      </p:cBhvr>
                                      <p:to>
                                        <p:strVal val="visible"/>
                                      </p:to>
                                    </p:set>
                                    <p:animEffect filter="fade" transition="in">
                                      <p:cBhvr>
                                        <p:cTn dur="1000"/>
                                        <p:tgtEl>
                                          <p:spTgt spid="99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xEl>
                                              <p:pRg end="8" st="8"/>
                                            </p:txEl>
                                          </p:spTgt>
                                        </p:tgtEl>
                                        <p:attrNameLst>
                                          <p:attrName>style.visibility</p:attrName>
                                        </p:attrNameLst>
                                      </p:cBhvr>
                                      <p:to>
                                        <p:strVal val="visible"/>
                                      </p:to>
                                    </p:set>
                                    <p:animEffect filter="fade" transition="in">
                                      <p:cBhvr>
                                        <p:cTn dur="1000"/>
                                        <p:tgtEl>
                                          <p:spTgt spid="99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xEl>
                                              <p:pRg end="9" st="9"/>
                                            </p:txEl>
                                          </p:spTgt>
                                        </p:tgtEl>
                                        <p:attrNameLst>
                                          <p:attrName>style.visibility</p:attrName>
                                        </p:attrNameLst>
                                      </p:cBhvr>
                                      <p:to>
                                        <p:strVal val="visible"/>
                                      </p:to>
                                    </p:set>
                                    <p:animEffect filter="fade" transition="in">
                                      <p:cBhvr>
                                        <p:cTn dur="1000"/>
                                        <p:tgtEl>
                                          <p:spTgt spid="99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xEl>
                                              <p:pRg end="10" st="10"/>
                                            </p:txEl>
                                          </p:spTgt>
                                        </p:tgtEl>
                                        <p:attrNameLst>
                                          <p:attrName>style.visibility</p:attrName>
                                        </p:attrNameLst>
                                      </p:cBhvr>
                                      <p:to>
                                        <p:strVal val="visible"/>
                                      </p:to>
                                    </p:set>
                                    <p:animEffect filter="fade" transition="in">
                                      <p:cBhvr>
                                        <p:cTn dur="1000"/>
                                        <p:tgtEl>
                                          <p:spTgt spid="99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xEl>
                                              <p:pRg end="11" st="11"/>
                                            </p:txEl>
                                          </p:spTgt>
                                        </p:tgtEl>
                                        <p:attrNameLst>
                                          <p:attrName>style.visibility</p:attrName>
                                        </p:attrNameLst>
                                      </p:cBhvr>
                                      <p:to>
                                        <p:strVal val="visible"/>
                                      </p:to>
                                    </p:set>
                                    <p:animEffect filter="fade" transition="in">
                                      <p:cBhvr>
                                        <p:cTn dur="1000"/>
                                        <p:tgtEl>
                                          <p:spTgt spid="99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xEl>
                                              <p:pRg end="12" st="12"/>
                                            </p:txEl>
                                          </p:spTgt>
                                        </p:tgtEl>
                                        <p:attrNameLst>
                                          <p:attrName>style.visibility</p:attrName>
                                        </p:attrNameLst>
                                      </p:cBhvr>
                                      <p:to>
                                        <p:strVal val="visible"/>
                                      </p:to>
                                    </p:set>
                                    <p:animEffect filter="fade" transition="in">
                                      <p:cBhvr>
                                        <p:cTn dur="1000"/>
                                        <p:tgtEl>
                                          <p:spTgt spid="992">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3"/>
                                        </p:tgtEl>
                                        <p:attrNameLst>
                                          <p:attrName>style.visibility</p:attrName>
                                        </p:attrNameLst>
                                      </p:cBhvr>
                                      <p:to>
                                        <p:strVal val="visible"/>
                                      </p:to>
                                    </p:set>
                                    <p:animEffect filter="fade" transition="in">
                                      <p:cBhvr>
                                        <p:cTn dur="1000"/>
                                        <p:tgtEl>
                                          <p:spTgt spid="993"/>
                                        </p:tgtEl>
                                      </p:cBhvr>
                                    </p:animEffect>
                                  </p:childTnLst>
                                </p:cTn>
                              </p:par>
                              <p:par>
                                <p:cTn fill="hold" nodeType="withEffect" presetClass="entr" presetID="10" presetSubtype="0">
                                  <p:stCondLst>
                                    <p:cond delay="0"/>
                                  </p:stCondLst>
                                  <p:childTnLst>
                                    <p:set>
                                      <p:cBhvr>
                                        <p:cTn dur="1" fill="hold">
                                          <p:stCondLst>
                                            <p:cond delay="0"/>
                                          </p:stCondLst>
                                        </p:cTn>
                                        <p:tgtEl>
                                          <p:spTgt spid="994"/>
                                        </p:tgtEl>
                                        <p:attrNameLst>
                                          <p:attrName>style.visibility</p:attrName>
                                        </p:attrNameLst>
                                      </p:cBhvr>
                                      <p:to>
                                        <p:strVal val="visible"/>
                                      </p:to>
                                    </p:set>
                                    <p:animEffect filter="fade" transition="in">
                                      <p:cBhvr>
                                        <p:cTn dur="1000"/>
                                        <p:tgtEl>
                                          <p:spTgt spid="994"/>
                                        </p:tgtEl>
                                      </p:cBhvr>
                                    </p:animEffect>
                                  </p:childTnLst>
                                </p:cTn>
                              </p:par>
                              <p:par>
                                <p:cTn fill="hold" nodeType="withEffect" presetClass="entr" presetID="10" presetSubtype="0">
                                  <p:stCondLst>
                                    <p:cond delay="0"/>
                                  </p:stCondLst>
                                  <p:childTnLst>
                                    <p:set>
                                      <p:cBhvr>
                                        <p:cTn dur="1" fill="hold">
                                          <p:stCondLst>
                                            <p:cond delay="0"/>
                                          </p:stCondLst>
                                        </p:cTn>
                                        <p:tgtEl>
                                          <p:spTgt spid="995"/>
                                        </p:tgtEl>
                                        <p:attrNameLst>
                                          <p:attrName>style.visibility</p:attrName>
                                        </p:attrNameLst>
                                      </p:cBhvr>
                                      <p:to>
                                        <p:strVal val="visible"/>
                                      </p:to>
                                    </p:set>
                                    <p:animEffect filter="fade" transition="in">
                                      <p:cBhvr>
                                        <p:cTn dur="1000"/>
                                        <p:tgtEl>
                                          <p:spTgt spid="995"/>
                                        </p:tgtEl>
                                      </p:cBhvr>
                                    </p:animEffect>
                                  </p:childTnLst>
                                </p:cTn>
                              </p:par>
                              <p:par>
                                <p:cTn fill="hold" nodeType="withEffect" presetClass="entr" presetID="10" presetSubtype="0">
                                  <p:stCondLst>
                                    <p:cond delay="0"/>
                                  </p:stCondLst>
                                  <p:childTnLst>
                                    <p:set>
                                      <p:cBhvr>
                                        <p:cTn dur="1" fill="hold">
                                          <p:stCondLst>
                                            <p:cond delay="0"/>
                                          </p:stCondLst>
                                        </p:cTn>
                                        <p:tgtEl>
                                          <p:spTgt spid="996"/>
                                        </p:tgtEl>
                                        <p:attrNameLst>
                                          <p:attrName>style.visibility</p:attrName>
                                        </p:attrNameLst>
                                      </p:cBhvr>
                                      <p:to>
                                        <p:strVal val="visible"/>
                                      </p:to>
                                    </p:set>
                                    <p:animEffect filter="fade" transition="in">
                                      <p:cBhvr>
                                        <p:cTn dur="1000"/>
                                        <p:tgtEl>
                                          <p:spTgt spid="996"/>
                                        </p:tgtEl>
                                      </p:cBhvr>
                                    </p:animEffect>
                                  </p:childTnLst>
                                </p:cTn>
                              </p:par>
                              <p:par>
                                <p:cTn fill="hold" nodeType="withEffect" presetClass="entr" presetID="10" presetSubtype="0">
                                  <p:stCondLst>
                                    <p:cond delay="0"/>
                                  </p:stCondLst>
                                  <p:childTnLst>
                                    <p:set>
                                      <p:cBhvr>
                                        <p:cTn dur="1" fill="hold">
                                          <p:stCondLst>
                                            <p:cond delay="0"/>
                                          </p:stCondLst>
                                        </p:cTn>
                                        <p:tgtEl>
                                          <p:spTgt spid="997"/>
                                        </p:tgtEl>
                                        <p:attrNameLst>
                                          <p:attrName>style.visibility</p:attrName>
                                        </p:attrNameLst>
                                      </p:cBhvr>
                                      <p:to>
                                        <p:strVal val="visible"/>
                                      </p:to>
                                    </p:set>
                                    <p:animEffect filter="fade" transition="in">
                                      <p:cBhvr>
                                        <p:cTn dur="1000"/>
                                        <p:tgtEl>
                                          <p:spTgt spid="997"/>
                                        </p:tgtEl>
                                      </p:cBhvr>
                                    </p:animEffect>
                                  </p:childTnLst>
                                </p:cTn>
                              </p:par>
                              <p:par>
                                <p:cTn fill="hold" nodeType="withEffect" presetClass="entr" presetID="10" presetSubtype="0">
                                  <p:stCondLst>
                                    <p:cond delay="0"/>
                                  </p:stCondLst>
                                  <p:childTnLst>
                                    <p:set>
                                      <p:cBhvr>
                                        <p:cTn dur="1" fill="hold">
                                          <p:stCondLst>
                                            <p:cond delay="0"/>
                                          </p:stCondLst>
                                        </p:cTn>
                                        <p:tgtEl>
                                          <p:spTgt spid="998"/>
                                        </p:tgtEl>
                                        <p:attrNameLst>
                                          <p:attrName>style.visibility</p:attrName>
                                        </p:attrNameLst>
                                      </p:cBhvr>
                                      <p:to>
                                        <p:strVal val="visible"/>
                                      </p:to>
                                    </p:set>
                                    <p:animEffect filter="fade" transition="in">
                                      <p:cBhvr>
                                        <p:cTn dur="1000"/>
                                        <p:tgtEl>
                                          <p:spTgt spid="998"/>
                                        </p:tgtEl>
                                      </p:cBhvr>
                                    </p:animEffect>
                                  </p:childTnLst>
                                </p:cTn>
                              </p:par>
                              <p:par>
                                <p:cTn fill="hold" nodeType="withEffect" presetClass="entr" presetID="10" presetSubtype="0">
                                  <p:stCondLst>
                                    <p:cond delay="0"/>
                                  </p:stCondLst>
                                  <p:childTnLst>
                                    <p:set>
                                      <p:cBhvr>
                                        <p:cTn dur="1" fill="hold">
                                          <p:stCondLst>
                                            <p:cond delay="0"/>
                                          </p:stCondLst>
                                        </p:cTn>
                                        <p:tgtEl>
                                          <p:spTgt spid="999"/>
                                        </p:tgtEl>
                                        <p:attrNameLst>
                                          <p:attrName>style.visibility</p:attrName>
                                        </p:attrNameLst>
                                      </p:cBhvr>
                                      <p:to>
                                        <p:strVal val="visible"/>
                                      </p:to>
                                    </p:set>
                                    <p:animEffect filter="fade" transition="in">
                                      <p:cBhvr>
                                        <p:cTn dur="1000"/>
                                        <p:tgtEl>
                                          <p:spTgt spid="999"/>
                                        </p:tgtEl>
                                      </p:cBhvr>
                                    </p:animEffect>
                                  </p:childTnLst>
                                </p:cTn>
                              </p:par>
                              <p:par>
                                <p:cTn fill="hold" nodeType="withEffect" presetClass="entr" presetID="10" presetSubtype="0">
                                  <p:stCondLst>
                                    <p:cond delay="0"/>
                                  </p:stCondLst>
                                  <p:childTnLst>
                                    <p:set>
                                      <p:cBhvr>
                                        <p:cTn dur="1" fill="hold">
                                          <p:stCondLst>
                                            <p:cond delay="0"/>
                                          </p:stCondLst>
                                        </p:cTn>
                                        <p:tgtEl>
                                          <p:spTgt spid="1000"/>
                                        </p:tgtEl>
                                        <p:attrNameLst>
                                          <p:attrName>style.visibility</p:attrName>
                                        </p:attrNameLst>
                                      </p:cBhvr>
                                      <p:to>
                                        <p:strVal val="visible"/>
                                      </p:to>
                                    </p:set>
                                    <p:animEffect filter="fade" transition="in">
                                      <p:cBhvr>
                                        <p:cTn dur="1000"/>
                                        <p:tgtEl>
                                          <p:spTgt spid="10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1"/>
                                        </p:tgtEl>
                                        <p:attrNameLst>
                                          <p:attrName>style.visibility</p:attrName>
                                        </p:attrNameLst>
                                      </p:cBhvr>
                                      <p:to>
                                        <p:strVal val="visible"/>
                                      </p:to>
                                    </p:set>
                                    <p:animEffect filter="fade" transition="in">
                                      <p:cBhvr>
                                        <p:cTn dur="1000"/>
                                        <p:tgtEl>
                                          <p:spTgt spid="1001"/>
                                        </p:tgtEl>
                                      </p:cBhvr>
                                    </p:animEffect>
                                  </p:childTnLst>
                                </p:cTn>
                              </p:par>
                              <p:par>
                                <p:cTn fill="hold" nodeType="withEffect" presetClass="entr" presetID="10" presetSubtype="0">
                                  <p:stCondLst>
                                    <p:cond delay="0"/>
                                  </p:stCondLst>
                                  <p:childTnLst>
                                    <p:set>
                                      <p:cBhvr>
                                        <p:cTn dur="1" fill="hold">
                                          <p:stCondLst>
                                            <p:cond delay="0"/>
                                          </p:stCondLst>
                                        </p:cTn>
                                        <p:tgtEl>
                                          <p:spTgt spid="1002"/>
                                        </p:tgtEl>
                                        <p:attrNameLst>
                                          <p:attrName>style.visibility</p:attrName>
                                        </p:attrNameLst>
                                      </p:cBhvr>
                                      <p:to>
                                        <p:strVal val="visible"/>
                                      </p:to>
                                    </p:set>
                                    <p:animEffect filter="fade" transition="in">
                                      <p:cBhvr>
                                        <p:cTn dur="1000"/>
                                        <p:tgtEl>
                                          <p:spTgt spid="1002"/>
                                        </p:tgtEl>
                                      </p:cBhvr>
                                    </p:animEffect>
                                  </p:childTnLst>
                                </p:cTn>
                              </p:par>
                              <p:par>
                                <p:cTn fill="hold" nodeType="withEffect" presetClass="entr" presetID="10" presetSubtype="0">
                                  <p:stCondLst>
                                    <p:cond delay="0"/>
                                  </p:stCondLst>
                                  <p:childTnLst>
                                    <p:set>
                                      <p:cBhvr>
                                        <p:cTn dur="1" fill="hold">
                                          <p:stCondLst>
                                            <p:cond delay="0"/>
                                          </p:stCondLst>
                                        </p:cTn>
                                        <p:tgtEl>
                                          <p:spTgt spid="1003"/>
                                        </p:tgtEl>
                                        <p:attrNameLst>
                                          <p:attrName>style.visibility</p:attrName>
                                        </p:attrNameLst>
                                      </p:cBhvr>
                                      <p:to>
                                        <p:strVal val="visible"/>
                                      </p:to>
                                    </p:set>
                                    <p:animEffect filter="fade" transition="in">
                                      <p:cBhvr>
                                        <p:cTn dur="1000"/>
                                        <p:tgtEl>
                                          <p:spTgt spid="1003"/>
                                        </p:tgtEl>
                                      </p:cBhvr>
                                    </p:animEffect>
                                  </p:childTnLst>
                                </p:cTn>
                              </p:par>
                              <p:par>
                                <p:cTn fill="hold" nodeType="withEffect" presetClass="entr" presetID="10" presetSubtype="0">
                                  <p:stCondLst>
                                    <p:cond delay="0"/>
                                  </p:stCondLst>
                                  <p:childTnLst>
                                    <p:set>
                                      <p:cBhvr>
                                        <p:cTn dur="1" fill="hold">
                                          <p:stCondLst>
                                            <p:cond delay="0"/>
                                          </p:stCondLst>
                                        </p:cTn>
                                        <p:tgtEl>
                                          <p:spTgt spid="1004"/>
                                        </p:tgtEl>
                                        <p:attrNameLst>
                                          <p:attrName>style.visibility</p:attrName>
                                        </p:attrNameLst>
                                      </p:cBhvr>
                                      <p:to>
                                        <p:strVal val="visible"/>
                                      </p:to>
                                    </p:set>
                                    <p:animEffect filter="fade" transition="in">
                                      <p:cBhvr>
                                        <p:cTn dur="1000"/>
                                        <p:tgtEl>
                                          <p:spTgt spid="1004"/>
                                        </p:tgtEl>
                                      </p:cBhvr>
                                    </p:animEffect>
                                  </p:childTnLst>
                                </p:cTn>
                              </p:par>
                              <p:par>
                                <p:cTn fill="hold" nodeType="withEffect" presetClass="entr" presetID="10" presetSubtype="0">
                                  <p:stCondLst>
                                    <p:cond delay="0"/>
                                  </p:stCondLst>
                                  <p:childTnLst>
                                    <p:set>
                                      <p:cBhvr>
                                        <p:cTn dur="1" fill="hold">
                                          <p:stCondLst>
                                            <p:cond delay="0"/>
                                          </p:stCondLst>
                                        </p:cTn>
                                        <p:tgtEl>
                                          <p:spTgt spid="1005"/>
                                        </p:tgtEl>
                                        <p:attrNameLst>
                                          <p:attrName>style.visibility</p:attrName>
                                        </p:attrNameLst>
                                      </p:cBhvr>
                                      <p:to>
                                        <p:strVal val="visible"/>
                                      </p:to>
                                    </p:set>
                                    <p:animEffect filter="fade" transition="in">
                                      <p:cBhvr>
                                        <p:cTn dur="1000"/>
                                        <p:tgtEl>
                                          <p:spTgt spid="1005"/>
                                        </p:tgtEl>
                                      </p:cBhvr>
                                    </p:animEffect>
                                  </p:childTnLst>
                                </p:cTn>
                              </p:par>
                              <p:par>
                                <p:cTn fill="hold" nodeType="withEffect" presetClass="entr" presetID="10" presetSubtype="0">
                                  <p:stCondLst>
                                    <p:cond delay="0"/>
                                  </p:stCondLst>
                                  <p:childTnLst>
                                    <p:set>
                                      <p:cBhvr>
                                        <p:cTn dur="1" fill="hold">
                                          <p:stCondLst>
                                            <p:cond delay="0"/>
                                          </p:stCondLst>
                                        </p:cTn>
                                        <p:tgtEl>
                                          <p:spTgt spid="1006"/>
                                        </p:tgtEl>
                                        <p:attrNameLst>
                                          <p:attrName>style.visibility</p:attrName>
                                        </p:attrNameLst>
                                      </p:cBhvr>
                                      <p:to>
                                        <p:strVal val="visible"/>
                                      </p:to>
                                    </p:set>
                                    <p:animEffect filter="fade" transition="in">
                                      <p:cBhvr>
                                        <p:cTn dur="1000"/>
                                        <p:tgtEl>
                                          <p:spTgt spid="1006"/>
                                        </p:tgtEl>
                                      </p:cBhvr>
                                    </p:animEffect>
                                  </p:childTnLst>
                                </p:cTn>
                              </p:par>
                              <p:par>
                                <p:cTn fill="hold" nodeType="withEffect" presetClass="entr" presetID="10" presetSubtype="0">
                                  <p:stCondLst>
                                    <p:cond delay="0"/>
                                  </p:stCondLst>
                                  <p:childTnLst>
                                    <p:set>
                                      <p:cBhvr>
                                        <p:cTn dur="1" fill="hold">
                                          <p:stCondLst>
                                            <p:cond delay="0"/>
                                          </p:stCondLst>
                                        </p:cTn>
                                        <p:tgtEl>
                                          <p:spTgt spid="1007"/>
                                        </p:tgtEl>
                                        <p:attrNameLst>
                                          <p:attrName>style.visibility</p:attrName>
                                        </p:attrNameLst>
                                      </p:cBhvr>
                                      <p:to>
                                        <p:strVal val="visible"/>
                                      </p:to>
                                    </p:set>
                                    <p:animEffect filter="fade" transition="in">
                                      <p:cBhvr>
                                        <p:cTn dur="1000"/>
                                        <p:tgtEl>
                                          <p:spTgt spid="1007"/>
                                        </p:tgtEl>
                                      </p:cBhvr>
                                    </p:animEffect>
                                  </p:childTnLst>
                                </p:cTn>
                              </p:par>
                              <p:par>
                                <p:cTn fill="hold" nodeType="withEffect" presetClass="entr" presetID="10" presetSubtype="0">
                                  <p:stCondLst>
                                    <p:cond delay="0"/>
                                  </p:stCondLst>
                                  <p:childTnLst>
                                    <p:set>
                                      <p:cBhvr>
                                        <p:cTn dur="1" fill="hold">
                                          <p:stCondLst>
                                            <p:cond delay="0"/>
                                          </p:stCondLst>
                                        </p:cTn>
                                        <p:tgtEl>
                                          <p:spTgt spid="1025"/>
                                        </p:tgtEl>
                                        <p:attrNameLst>
                                          <p:attrName>style.visibility</p:attrName>
                                        </p:attrNameLst>
                                      </p:cBhvr>
                                      <p:to>
                                        <p:strVal val="visible"/>
                                      </p:to>
                                    </p:set>
                                    <p:animEffect filter="fade" transition="in">
                                      <p:cBhvr>
                                        <p:cTn dur="1000"/>
                                        <p:tgtEl>
                                          <p:spTgt spid="1025"/>
                                        </p:tgtEl>
                                      </p:cBhvr>
                                    </p:animEffect>
                                  </p:childTnLst>
                                </p:cTn>
                              </p:par>
                              <p:par>
                                <p:cTn fill="hold" nodeType="withEffect" presetClass="entr" presetID="10" presetSubtype="0">
                                  <p:stCondLst>
                                    <p:cond delay="0"/>
                                  </p:stCondLst>
                                  <p:childTnLst>
                                    <p:set>
                                      <p:cBhvr>
                                        <p:cTn dur="1" fill="hold">
                                          <p:stCondLst>
                                            <p:cond delay="0"/>
                                          </p:stCondLst>
                                        </p:cTn>
                                        <p:tgtEl>
                                          <p:spTgt spid="1026"/>
                                        </p:tgtEl>
                                        <p:attrNameLst>
                                          <p:attrName>style.visibility</p:attrName>
                                        </p:attrNameLst>
                                      </p:cBhvr>
                                      <p:to>
                                        <p:strVal val="visible"/>
                                      </p:to>
                                    </p:set>
                                    <p:animEffect filter="fade" transition="in">
                                      <p:cBhvr>
                                        <p:cTn dur="1000"/>
                                        <p:tgtEl>
                                          <p:spTgt spid="1026"/>
                                        </p:tgtEl>
                                      </p:cBhvr>
                                    </p:animEffect>
                                  </p:childTnLst>
                                </p:cTn>
                              </p:par>
                              <p:par>
                                <p:cTn fill="hold" nodeType="withEffect" presetClass="entr" presetID="10" presetSubtype="0">
                                  <p:stCondLst>
                                    <p:cond delay="0"/>
                                  </p:stCondLst>
                                  <p:childTnLst>
                                    <p:set>
                                      <p:cBhvr>
                                        <p:cTn dur="1" fill="hold">
                                          <p:stCondLst>
                                            <p:cond delay="0"/>
                                          </p:stCondLst>
                                        </p:cTn>
                                        <p:tgtEl>
                                          <p:spTgt spid="1008"/>
                                        </p:tgtEl>
                                        <p:attrNameLst>
                                          <p:attrName>style.visibility</p:attrName>
                                        </p:attrNameLst>
                                      </p:cBhvr>
                                      <p:to>
                                        <p:strVal val="visible"/>
                                      </p:to>
                                    </p:set>
                                    <p:animEffect filter="fade" transition="in">
                                      <p:cBhvr>
                                        <p:cTn dur="1000"/>
                                        <p:tgtEl>
                                          <p:spTgt spid="10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9"/>
                                        </p:tgtEl>
                                        <p:attrNameLst>
                                          <p:attrName>style.visibility</p:attrName>
                                        </p:attrNameLst>
                                      </p:cBhvr>
                                      <p:to>
                                        <p:strVal val="visible"/>
                                      </p:to>
                                    </p:set>
                                    <p:animEffect filter="fade" transition="in">
                                      <p:cBhvr>
                                        <p:cTn dur="1000"/>
                                        <p:tgtEl>
                                          <p:spTgt spid="1009"/>
                                        </p:tgtEl>
                                      </p:cBhvr>
                                    </p:animEffect>
                                  </p:childTnLst>
                                </p:cTn>
                              </p:par>
                              <p:par>
                                <p:cTn fill="hold" nodeType="withEffect" presetClass="entr" presetID="10" presetSubtype="0">
                                  <p:stCondLst>
                                    <p:cond delay="0"/>
                                  </p:stCondLst>
                                  <p:childTnLst>
                                    <p:set>
                                      <p:cBhvr>
                                        <p:cTn dur="1" fill="hold">
                                          <p:stCondLst>
                                            <p:cond delay="0"/>
                                          </p:stCondLst>
                                        </p:cTn>
                                        <p:tgtEl>
                                          <p:spTgt spid="1010"/>
                                        </p:tgtEl>
                                        <p:attrNameLst>
                                          <p:attrName>style.visibility</p:attrName>
                                        </p:attrNameLst>
                                      </p:cBhvr>
                                      <p:to>
                                        <p:strVal val="visible"/>
                                      </p:to>
                                    </p:set>
                                    <p:animEffect filter="fade" transition="in">
                                      <p:cBhvr>
                                        <p:cTn dur="1000"/>
                                        <p:tgtEl>
                                          <p:spTgt spid="1010"/>
                                        </p:tgtEl>
                                      </p:cBhvr>
                                    </p:animEffect>
                                  </p:childTnLst>
                                </p:cTn>
                              </p:par>
                              <p:par>
                                <p:cTn fill="hold" nodeType="withEffect" presetClass="entr" presetID="10" presetSubtype="0">
                                  <p:stCondLst>
                                    <p:cond delay="0"/>
                                  </p:stCondLst>
                                  <p:childTnLst>
                                    <p:set>
                                      <p:cBhvr>
                                        <p:cTn dur="1" fill="hold">
                                          <p:stCondLst>
                                            <p:cond delay="0"/>
                                          </p:stCondLst>
                                        </p:cTn>
                                        <p:tgtEl>
                                          <p:spTgt spid="1011"/>
                                        </p:tgtEl>
                                        <p:attrNameLst>
                                          <p:attrName>style.visibility</p:attrName>
                                        </p:attrNameLst>
                                      </p:cBhvr>
                                      <p:to>
                                        <p:strVal val="visible"/>
                                      </p:to>
                                    </p:set>
                                    <p:animEffect filter="fade" transition="in">
                                      <p:cBhvr>
                                        <p:cTn dur="1000"/>
                                        <p:tgtEl>
                                          <p:spTgt spid="1011"/>
                                        </p:tgtEl>
                                      </p:cBhvr>
                                    </p:animEffect>
                                  </p:childTnLst>
                                </p:cTn>
                              </p:par>
                              <p:par>
                                <p:cTn fill="hold" nodeType="withEffect" presetClass="entr" presetID="10" presetSubtype="0">
                                  <p:stCondLst>
                                    <p:cond delay="0"/>
                                  </p:stCondLst>
                                  <p:childTnLst>
                                    <p:set>
                                      <p:cBhvr>
                                        <p:cTn dur="1" fill="hold">
                                          <p:stCondLst>
                                            <p:cond delay="0"/>
                                          </p:stCondLst>
                                        </p:cTn>
                                        <p:tgtEl>
                                          <p:spTgt spid="1027"/>
                                        </p:tgtEl>
                                        <p:attrNameLst>
                                          <p:attrName>style.visibility</p:attrName>
                                        </p:attrNameLst>
                                      </p:cBhvr>
                                      <p:to>
                                        <p:strVal val="visible"/>
                                      </p:to>
                                    </p:set>
                                    <p:animEffect filter="fade" transition="in">
                                      <p:cBhvr>
                                        <p:cTn dur="1000"/>
                                        <p:tgtEl>
                                          <p:spTgt spid="1027"/>
                                        </p:tgtEl>
                                      </p:cBhvr>
                                    </p:animEffect>
                                  </p:childTnLst>
                                </p:cTn>
                              </p:par>
                              <p:par>
                                <p:cTn fill="hold" nodeType="withEffect" presetClass="entr" presetID="10" presetSubtype="0">
                                  <p:stCondLst>
                                    <p:cond delay="0"/>
                                  </p:stCondLst>
                                  <p:childTnLst>
                                    <p:set>
                                      <p:cBhvr>
                                        <p:cTn dur="1" fill="hold">
                                          <p:stCondLst>
                                            <p:cond delay="0"/>
                                          </p:stCondLst>
                                        </p:cTn>
                                        <p:tgtEl>
                                          <p:spTgt spid="1028"/>
                                        </p:tgtEl>
                                        <p:attrNameLst>
                                          <p:attrName>style.visibility</p:attrName>
                                        </p:attrNameLst>
                                      </p:cBhvr>
                                      <p:to>
                                        <p:strVal val="visible"/>
                                      </p:to>
                                    </p:set>
                                    <p:animEffect filter="fade" transition="in">
                                      <p:cBhvr>
                                        <p:cTn dur="1000"/>
                                        <p:tgtEl>
                                          <p:spTgt spid="1028"/>
                                        </p:tgtEl>
                                      </p:cBhvr>
                                    </p:animEffect>
                                  </p:childTnLst>
                                </p:cTn>
                              </p:par>
                              <p:par>
                                <p:cTn fill="hold" nodeType="withEffect" presetClass="entr" presetID="10" presetSubtype="0">
                                  <p:stCondLst>
                                    <p:cond delay="0"/>
                                  </p:stCondLst>
                                  <p:childTnLst>
                                    <p:set>
                                      <p:cBhvr>
                                        <p:cTn dur="1" fill="hold">
                                          <p:stCondLst>
                                            <p:cond delay="0"/>
                                          </p:stCondLst>
                                        </p:cTn>
                                        <p:tgtEl>
                                          <p:spTgt spid="1012"/>
                                        </p:tgtEl>
                                        <p:attrNameLst>
                                          <p:attrName>style.visibility</p:attrName>
                                        </p:attrNameLst>
                                      </p:cBhvr>
                                      <p:to>
                                        <p:strVal val="visible"/>
                                      </p:to>
                                    </p:set>
                                    <p:animEffect filter="fade" transition="in">
                                      <p:cBhvr>
                                        <p:cTn dur="1000"/>
                                        <p:tgtEl>
                                          <p:spTgt spid="10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gtEl>
                                        <p:attrNameLst>
                                          <p:attrName>style.visibility</p:attrName>
                                        </p:attrNameLst>
                                      </p:cBhvr>
                                      <p:to>
                                        <p:strVal val="visible"/>
                                      </p:to>
                                    </p:set>
                                    <p:animEffect filter="fade" transition="in">
                                      <p:cBhvr>
                                        <p:cTn dur="1000"/>
                                        <p:tgtEl>
                                          <p:spTgt spid="1017"/>
                                        </p:tgtEl>
                                      </p:cBhvr>
                                    </p:animEffect>
                                  </p:childTnLst>
                                </p:cTn>
                              </p:par>
                              <p:par>
                                <p:cTn fill="hold" nodeType="withEffect" presetClass="entr" presetID="10" presetSubtype="0">
                                  <p:stCondLst>
                                    <p:cond delay="0"/>
                                  </p:stCondLst>
                                  <p:childTnLst>
                                    <p:set>
                                      <p:cBhvr>
                                        <p:cTn dur="1" fill="hold">
                                          <p:stCondLst>
                                            <p:cond delay="0"/>
                                          </p:stCondLst>
                                        </p:cTn>
                                        <p:tgtEl>
                                          <p:spTgt spid="1031"/>
                                        </p:tgtEl>
                                        <p:attrNameLst>
                                          <p:attrName>style.visibility</p:attrName>
                                        </p:attrNameLst>
                                      </p:cBhvr>
                                      <p:to>
                                        <p:strVal val="visible"/>
                                      </p:to>
                                    </p:set>
                                    <p:animEffect filter="fade" transition="in">
                                      <p:cBhvr>
                                        <p:cTn dur="1000"/>
                                        <p:tgtEl>
                                          <p:spTgt spid="1031"/>
                                        </p:tgtEl>
                                      </p:cBhvr>
                                    </p:animEffect>
                                  </p:childTnLst>
                                </p:cTn>
                              </p:par>
                              <p:par>
                                <p:cTn fill="hold" nodeType="withEffect" presetClass="entr" presetID="10" presetSubtype="0">
                                  <p:stCondLst>
                                    <p:cond delay="0"/>
                                  </p:stCondLst>
                                  <p:childTnLst>
                                    <p:set>
                                      <p:cBhvr>
                                        <p:cTn dur="1" fill="hold">
                                          <p:stCondLst>
                                            <p:cond delay="0"/>
                                          </p:stCondLst>
                                        </p:cTn>
                                        <p:tgtEl>
                                          <p:spTgt spid="1034"/>
                                        </p:tgtEl>
                                        <p:attrNameLst>
                                          <p:attrName>style.visibility</p:attrName>
                                        </p:attrNameLst>
                                      </p:cBhvr>
                                      <p:to>
                                        <p:strVal val="visible"/>
                                      </p:to>
                                    </p:set>
                                    <p:animEffect filter="fade" transition="in">
                                      <p:cBhvr>
                                        <p:cTn dur="1000"/>
                                        <p:tgtEl>
                                          <p:spTgt spid="1034"/>
                                        </p:tgtEl>
                                      </p:cBhvr>
                                    </p:animEffect>
                                  </p:childTnLst>
                                </p:cTn>
                              </p:par>
                              <p:par>
                                <p:cTn fill="hold" nodeType="withEffect" presetClass="entr" presetID="10" presetSubtype="0">
                                  <p:stCondLst>
                                    <p:cond delay="0"/>
                                  </p:stCondLst>
                                  <p:childTnLst>
                                    <p:set>
                                      <p:cBhvr>
                                        <p:cTn dur="1" fill="hold">
                                          <p:stCondLst>
                                            <p:cond delay="0"/>
                                          </p:stCondLst>
                                        </p:cTn>
                                        <p:tgtEl>
                                          <p:spTgt spid="1018"/>
                                        </p:tgtEl>
                                        <p:attrNameLst>
                                          <p:attrName>style.visibility</p:attrName>
                                        </p:attrNameLst>
                                      </p:cBhvr>
                                      <p:to>
                                        <p:strVal val="visible"/>
                                      </p:to>
                                    </p:set>
                                    <p:animEffect filter="fade" transition="in">
                                      <p:cBhvr>
                                        <p:cTn dur="1000"/>
                                        <p:tgtEl>
                                          <p:spTgt spid="10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9"/>
                                        </p:tgtEl>
                                        <p:attrNameLst>
                                          <p:attrName>style.visibility</p:attrName>
                                        </p:attrNameLst>
                                      </p:cBhvr>
                                      <p:to>
                                        <p:strVal val="visible"/>
                                      </p:to>
                                    </p:set>
                                    <p:animEffect filter="fade" transition="in">
                                      <p:cBhvr>
                                        <p:cTn dur="1000"/>
                                        <p:tgtEl>
                                          <p:spTgt spid="1039"/>
                                        </p:tgtEl>
                                      </p:cBhvr>
                                    </p:animEffect>
                                  </p:childTnLst>
                                </p:cTn>
                              </p:par>
                              <p:par>
                                <p:cTn fill="hold" nodeType="withEffect" presetClass="entr" presetID="10" presetSubtype="0">
                                  <p:stCondLst>
                                    <p:cond delay="0"/>
                                  </p:stCondLst>
                                  <p:childTnLst>
                                    <p:set>
                                      <p:cBhvr>
                                        <p:cTn dur="1" fill="hold">
                                          <p:stCondLst>
                                            <p:cond delay="0"/>
                                          </p:stCondLst>
                                        </p:cTn>
                                        <p:tgtEl>
                                          <p:spTgt spid="1040"/>
                                        </p:tgtEl>
                                        <p:attrNameLst>
                                          <p:attrName>style.visibility</p:attrName>
                                        </p:attrNameLst>
                                      </p:cBhvr>
                                      <p:to>
                                        <p:strVal val="visible"/>
                                      </p:to>
                                    </p:set>
                                    <p:animEffect filter="fade" transition="in">
                                      <p:cBhvr>
                                        <p:cTn dur="1000"/>
                                        <p:tgtEl>
                                          <p:spTgt spid="1040"/>
                                        </p:tgtEl>
                                      </p:cBhvr>
                                    </p:animEffect>
                                  </p:childTnLst>
                                </p:cTn>
                              </p:par>
                              <p:par>
                                <p:cTn fill="hold" nodeType="withEffect" presetClass="entr" presetID="10" presetSubtype="0">
                                  <p:stCondLst>
                                    <p:cond delay="0"/>
                                  </p:stCondLst>
                                  <p:childTnLst>
                                    <p:set>
                                      <p:cBhvr>
                                        <p:cTn dur="1" fill="hold">
                                          <p:stCondLst>
                                            <p:cond delay="0"/>
                                          </p:stCondLst>
                                        </p:cTn>
                                        <p:tgtEl>
                                          <p:spTgt spid="1047"/>
                                        </p:tgtEl>
                                        <p:attrNameLst>
                                          <p:attrName>style.visibility</p:attrName>
                                        </p:attrNameLst>
                                      </p:cBhvr>
                                      <p:to>
                                        <p:strVal val="visible"/>
                                      </p:to>
                                    </p:set>
                                    <p:animEffect filter="fade" transition="in">
                                      <p:cBhvr>
                                        <p:cTn dur="1000"/>
                                        <p:tgtEl>
                                          <p:spTgt spid="1047"/>
                                        </p:tgtEl>
                                      </p:cBhvr>
                                    </p:animEffect>
                                  </p:childTnLst>
                                </p:cTn>
                              </p:par>
                              <p:par>
                                <p:cTn fill="hold" nodeType="withEffect" presetClass="entr" presetID="10" presetSubtype="0">
                                  <p:stCondLst>
                                    <p:cond delay="0"/>
                                  </p:stCondLst>
                                  <p:childTnLst>
                                    <p:set>
                                      <p:cBhvr>
                                        <p:cTn dur="1" fill="hold">
                                          <p:stCondLst>
                                            <p:cond delay="0"/>
                                          </p:stCondLst>
                                        </p:cTn>
                                        <p:tgtEl>
                                          <p:spTgt spid="1048"/>
                                        </p:tgtEl>
                                        <p:attrNameLst>
                                          <p:attrName>style.visibility</p:attrName>
                                        </p:attrNameLst>
                                      </p:cBhvr>
                                      <p:to>
                                        <p:strVal val="visible"/>
                                      </p:to>
                                    </p:set>
                                    <p:animEffect filter="fade" transition="in">
                                      <p:cBhvr>
                                        <p:cTn dur="1000"/>
                                        <p:tgtEl>
                                          <p:spTgt spid="10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gtEl>
                                        <p:attrNameLst>
                                          <p:attrName>style.visibility</p:attrName>
                                        </p:attrNameLst>
                                      </p:cBhvr>
                                      <p:to>
                                        <p:strVal val="visible"/>
                                      </p:to>
                                    </p:set>
                                    <p:animEffect filter="fade" transition="in">
                                      <p:cBhvr>
                                        <p:cTn dur="1000"/>
                                        <p:tgtEl>
                                          <p:spTgt spid="1011"/>
                                        </p:tgtEl>
                                      </p:cBhvr>
                                    </p:animEffect>
                                  </p:childTnLst>
                                </p:cTn>
                              </p:par>
                              <p:par>
                                <p:cTn fill="hold" nodeType="withEffect" presetClass="entr" presetID="10" presetSubtype="0">
                                  <p:stCondLst>
                                    <p:cond delay="0"/>
                                  </p:stCondLst>
                                  <p:childTnLst>
                                    <p:set>
                                      <p:cBhvr>
                                        <p:cTn dur="1" fill="hold">
                                          <p:stCondLst>
                                            <p:cond delay="0"/>
                                          </p:stCondLst>
                                        </p:cTn>
                                        <p:tgtEl>
                                          <p:spTgt spid="1012"/>
                                        </p:tgtEl>
                                        <p:attrNameLst>
                                          <p:attrName>style.visibility</p:attrName>
                                        </p:attrNameLst>
                                      </p:cBhvr>
                                      <p:to>
                                        <p:strVal val="visible"/>
                                      </p:to>
                                    </p:set>
                                    <p:animEffect filter="fade" transition="in">
                                      <p:cBhvr>
                                        <p:cTn dur="1000"/>
                                        <p:tgtEl>
                                          <p:spTgt spid="1012"/>
                                        </p:tgtEl>
                                      </p:cBhvr>
                                    </p:animEffect>
                                  </p:childTnLst>
                                </p:cTn>
                              </p:par>
                              <p:par>
                                <p:cTn fill="hold" nodeType="withEffect" presetClass="entr" presetID="10" presetSubtype="0">
                                  <p:stCondLst>
                                    <p:cond delay="0"/>
                                  </p:stCondLst>
                                  <p:childTnLst>
                                    <p:set>
                                      <p:cBhvr>
                                        <p:cTn dur="1" fill="hold">
                                          <p:stCondLst>
                                            <p:cond delay="0"/>
                                          </p:stCondLst>
                                        </p:cTn>
                                        <p:tgtEl>
                                          <p:spTgt spid="1019"/>
                                        </p:tgtEl>
                                        <p:attrNameLst>
                                          <p:attrName>style.visibility</p:attrName>
                                        </p:attrNameLst>
                                      </p:cBhvr>
                                      <p:to>
                                        <p:strVal val="visible"/>
                                      </p:to>
                                    </p:set>
                                    <p:animEffect filter="fade" transition="in">
                                      <p:cBhvr>
                                        <p:cTn dur="1000"/>
                                        <p:tgtEl>
                                          <p:spTgt spid="1019"/>
                                        </p:tgtEl>
                                      </p:cBhvr>
                                    </p:animEffect>
                                  </p:childTnLst>
                                </p:cTn>
                              </p:par>
                              <p:par>
                                <p:cTn fill="hold" nodeType="withEffect" presetClass="entr" presetID="10" presetSubtype="0">
                                  <p:stCondLst>
                                    <p:cond delay="0"/>
                                  </p:stCondLst>
                                  <p:childTnLst>
                                    <p:set>
                                      <p:cBhvr>
                                        <p:cTn dur="1" fill="hold">
                                          <p:stCondLst>
                                            <p:cond delay="0"/>
                                          </p:stCondLst>
                                        </p:cTn>
                                        <p:tgtEl>
                                          <p:spTgt spid="1030"/>
                                        </p:tgtEl>
                                        <p:attrNameLst>
                                          <p:attrName>style.visibility</p:attrName>
                                        </p:attrNameLst>
                                      </p:cBhvr>
                                      <p:to>
                                        <p:strVal val="visible"/>
                                      </p:to>
                                    </p:set>
                                    <p:animEffect filter="fade" transition="in">
                                      <p:cBhvr>
                                        <p:cTn dur="1000"/>
                                        <p:tgtEl>
                                          <p:spTgt spid="1030"/>
                                        </p:tgtEl>
                                      </p:cBhvr>
                                    </p:animEffect>
                                  </p:childTnLst>
                                </p:cTn>
                              </p:par>
                              <p:par>
                                <p:cTn fill="hold" nodeType="withEffect" presetClass="entr" presetID="10" presetSubtype="0">
                                  <p:stCondLst>
                                    <p:cond delay="0"/>
                                  </p:stCondLst>
                                  <p:childTnLst>
                                    <p:set>
                                      <p:cBhvr>
                                        <p:cTn dur="1" fill="hold">
                                          <p:stCondLst>
                                            <p:cond delay="0"/>
                                          </p:stCondLst>
                                        </p:cTn>
                                        <p:tgtEl>
                                          <p:spTgt spid="1035"/>
                                        </p:tgtEl>
                                        <p:attrNameLst>
                                          <p:attrName>style.visibility</p:attrName>
                                        </p:attrNameLst>
                                      </p:cBhvr>
                                      <p:to>
                                        <p:strVal val="visible"/>
                                      </p:to>
                                    </p:set>
                                    <p:animEffect filter="fade" transition="in">
                                      <p:cBhvr>
                                        <p:cTn dur="1000"/>
                                        <p:tgtEl>
                                          <p:spTgt spid="1035"/>
                                        </p:tgtEl>
                                      </p:cBhvr>
                                    </p:animEffect>
                                  </p:childTnLst>
                                </p:cTn>
                              </p:par>
                              <p:par>
                                <p:cTn fill="hold" nodeType="withEffect" presetClass="entr" presetID="10" presetSubtype="0">
                                  <p:stCondLst>
                                    <p:cond delay="0"/>
                                  </p:stCondLst>
                                  <p:childTnLst>
                                    <p:set>
                                      <p:cBhvr>
                                        <p:cTn dur="1" fill="hold">
                                          <p:stCondLst>
                                            <p:cond delay="0"/>
                                          </p:stCondLst>
                                        </p:cTn>
                                        <p:tgtEl>
                                          <p:spTgt spid="1020"/>
                                        </p:tgtEl>
                                        <p:attrNameLst>
                                          <p:attrName>style.visibility</p:attrName>
                                        </p:attrNameLst>
                                      </p:cBhvr>
                                      <p:to>
                                        <p:strVal val="visible"/>
                                      </p:to>
                                    </p:set>
                                    <p:animEffect filter="fade" transition="in">
                                      <p:cBhvr>
                                        <p:cTn dur="1000"/>
                                        <p:tgtEl>
                                          <p:spTgt spid="10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1"/>
                                        </p:tgtEl>
                                        <p:attrNameLst>
                                          <p:attrName>style.visibility</p:attrName>
                                        </p:attrNameLst>
                                      </p:cBhvr>
                                      <p:to>
                                        <p:strVal val="visible"/>
                                      </p:to>
                                    </p:set>
                                    <p:animEffect filter="fade" transition="in">
                                      <p:cBhvr>
                                        <p:cTn dur="1000"/>
                                        <p:tgtEl>
                                          <p:spTgt spid="1041"/>
                                        </p:tgtEl>
                                      </p:cBhvr>
                                    </p:animEffect>
                                  </p:childTnLst>
                                </p:cTn>
                              </p:par>
                              <p:par>
                                <p:cTn fill="hold" nodeType="withEffect" presetClass="entr" presetID="10" presetSubtype="0">
                                  <p:stCondLst>
                                    <p:cond delay="0"/>
                                  </p:stCondLst>
                                  <p:childTnLst>
                                    <p:set>
                                      <p:cBhvr>
                                        <p:cTn dur="1" fill="hold">
                                          <p:stCondLst>
                                            <p:cond delay="0"/>
                                          </p:stCondLst>
                                        </p:cTn>
                                        <p:tgtEl>
                                          <p:spTgt spid="1042"/>
                                        </p:tgtEl>
                                        <p:attrNameLst>
                                          <p:attrName>style.visibility</p:attrName>
                                        </p:attrNameLst>
                                      </p:cBhvr>
                                      <p:to>
                                        <p:strVal val="visible"/>
                                      </p:to>
                                    </p:set>
                                    <p:animEffect filter="fade" transition="in">
                                      <p:cBhvr>
                                        <p:cTn dur="1000"/>
                                        <p:tgtEl>
                                          <p:spTgt spid="1042"/>
                                        </p:tgtEl>
                                      </p:cBhvr>
                                    </p:animEffect>
                                  </p:childTnLst>
                                </p:cTn>
                              </p:par>
                              <p:par>
                                <p:cTn fill="hold" nodeType="withEffect" presetClass="entr" presetID="10" presetSubtype="0">
                                  <p:stCondLst>
                                    <p:cond delay="0"/>
                                  </p:stCondLst>
                                  <p:childTnLst>
                                    <p:set>
                                      <p:cBhvr>
                                        <p:cTn dur="1" fill="hold">
                                          <p:stCondLst>
                                            <p:cond delay="0"/>
                                          </p:stCondLst>
                                        </p:cTn>
                                        <p:tgtEl>
                                          <p:spTgt spid="1049"/>
                                        </p:tgtEl>
                                        <p:attrNameLst>
                                          <p:attrName>style.visibility</p:attrName>
                                        </p:attrNameLst>
                                      </p:cBhvr>
                                      <p:to>
                                        <p:strVal val="visible"/>
                                      </p:to>
                                    </p:set>
                                    <p:animEffect filter="fade" transition="in">
                                      <p:cBhvr>
                                        <p:cTn dur="1000"/>
                                        <p:tgtEl>
                                          <p:spTgt spid="1049"/>
                                        </p:tgtEl>
                                      </p:cBhvr>
                                    </p:animEffect>
                                  </p:childTnLst>
                                </p:cTn>
                              </p:par>
                              <p:par>
                                <p:cTn fill="hold" nodeType="withEffect" presetClass="entr" presetID="10" presetSubtype="0">
                                  <p:stCondLst>
                                    <p:cond delay="0"/>
                                  </p:stCondLst>
                                  <p:childTnLst>
                                    <p:set>
                                      <p:cBhvr>
                                        <p:cTn dur="1" fill="hold">
                                          <p:stCondLst>
                                            <p:cond delay="0"/>
                                          </p:stCondLst>
                                        </p:cTn>
                                        <p:tgtEl>
                                          <p:spTgt spid="1050"/>
                                        </p:tgtEl>
                                        <p:attrNameLst>
                                          <p:attrName>style.visibility</p:attrName>
                                        </p:attrNameLst>
                                      </p:cBhvr>
                                      <p:to>
                                        <p:strVal val="visible"/>
                                      </p:to>
                                    </p:set>
                                    <p:animEffect filter="fade" transition="in">
                                      <p:cBhvr>
                                        <p:cTn dur="1000"/>
                                        <p:tgtEl>
                                          <p:spTgt spid="10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5"/>
                                        </p:tgtEl>
                                        <p:attrNameLst>
                                          <p:attrName>style.visibility</p:attrName>
                                        </p:attrNameLst>
                                      </p:cBhvr>
                                      <p:to>
                                        <p:strVal val="visible"/>
                                      </p:to>
                                    </p:set>
                                    <p:animEffect filter="fade" transition="in">
                                      <p:cBhvr>
                                        <p:cTn dur="1000"/>
                                        <p:tgtEl>
                                          <p:spTgt spid="1055"/>
                                        </p:tgtEl>
                                      </p:cBhvr>
                                    </p:animEffect>
                                  </p:childTnLst>
                                </p:cTn>
                              </p:par>
                              <p:par>
                                <p:cTn fill="hold" nodeType="withEffect" presetClass="entr" presetID="10" presetSubtype="0">
                                  <p:stCondLst>
                                    <p:cond delay="0"/>
                                  </p:stCondLst>
                                  <p:childTnLst>
                                    <p:set>
                                      <p:cBhvr>
                                        <p:cTn dur="1" fill="hold">
                                          <p:stCondLst>
                                            <p:cond delay="0"/>
                                          </p:stCondLst>
                                        </p:cTn>
                                        <p:tgtEl>
                                          <p:spTgt spid="1056"/>
                                        </p:tgtEl>
                                        <p:attrNameLst>
                                          <p:attrName>style.visibility</p:attrName>
                                        </p:attrNameLst>
                                      </p:cBhvr>
                                      <p:to>
                                        <p:strVal val="visible"/>
                                      </p:to>
                                    </p:set>
                                    <p:animEffect filter="fade" transition="in">
                                      <p:cBhvr>
                                        <p:cTn dur="1000"/>
                                        <p:tgtEl>
                                          <p:spTgt spid="1056"/>
                                        </p:tgtEl>
                                      </p:cBhvr>
                                    </p:animEffect>
                                  </p:childTnLst>
                                </p:cTn>
                              </p:par>
                              <p:par>
                                <p:cTn fill="hold" nodeType="withEffect" presetClass="entr" presetID="10" presetSubtype="0">
                                  <p:stCondLst>
                                    <p:cond delay="0"/>
                                  </p:stCondLst>
                                  <p:childTnLst>
                                    <p:set>
                                      <p:cBhvr>
                                        <p:cTn dur="1" fill="hold">
                                          <p:stCondLst>
                                            <p:cond delay="0"/>
                                          </p:stCondLst>
                                        </p:cTn>
                                        <p:tgtEl>
                                          <p:spTgt spid="1059"/>
                                        </p:tgtEl>
                                        <p:attrNameLst>
                                          <p:attrName>style.visibility</p:attrName>
                                        </p:attrNameLst>
                                      </p:cBhvr>
                                      <p:to>
                                        <p:strVal val="visible"/>
                                      </p:to>
                                    </p:set>
                                    <p:animEffect filter="fade" transition="in">
                                      <p:cBhvr>
                                        <p:cTn dur="1000"/>
                                        <p:tgtEl>
                                          <p:spTgt spid="1059"/>
                                        </p:tgtEl>
                                      </p:cBhvr>
                                    </p:animEffect>
                                  </p:childTnLst>
                                </p:cTn>
                              </p:par>
                              <p:par>
                                <p:cTn fill="hold" nodeType="withEffect" presetClass="entr" presetID="10" presetSubtype="0">
                                  <p:stCondLst>
                                    <p:cond delay="0"/>
                                  </p:stCondLst>
                                  <p:childTnLst>
                                    <p:set>
                                      <p:cBhvr>
                                        <p:cTn dur="1" fill="hold">
                                          <p:stCondLst>
                                            <p:cond delay="0"/>
                                          </p:stCondLst>
                                        </p:cTn>
                                        <p:tgtEl>
                                          <p:spTgt spid="1060"/>
                                        </p:tgtEl>
                                        <p:attrNameLst>
                                          <p:attrName>style.visibility</p:attrName>
                                        </p:attrNameLst>
                                      </p:cBhvr>
                                      <p:to>
                                        <p:strVal val="visible"/>
                                      </p:to>
                                    </p:set>
                                    <p:animEffect filter="fade" transition="in">
                                      <p:cBhvr>
                                        <p:cTn dur="1000"/>
                                        <p:tgtEl>
                                          <p:spTgt spid="1060"/>
                                        </p:tgtEl>
                                      </p:cBhvr>
                                    </p:animEffect>
                                  </p:childTnLst>
                                </p:cTn>
                              </p:par>
                              <p:par>
                                <p:cTn fill="hold" nodeType="withEffect" presetClass="entr" presetID="10" presetSubtype="0">
                                  <p:stCondLst>
                                    <p:cond delay="0"/>
                                  </p:stCondLst>
                                  <p:childTnLst>
                                    <p:set>
                                      <p:cBhvr>
                                        <p:cTn dur="1" fill="hold">
                                          <p:stCondLst>
                                            <p:cond delay="0"/>
                                          </p:stCondLst>
                                        </p:cTn>
                                        <p:tgtEl>
                                          <p:spTgt spid="1061"/>
                                        </p:tgtEl>
                                        <p:attrNameLst>
                                          <p:attrName>style.visibility</p:attrName>
                                        </p:attrNameLst>
                                      </p:cBhvr>
                                      <p:to>
                                        <p:strVal val="visible"/>
                                      </p:to>
                                    </p:set>
                                    <p:animEffect filter="fade" transition="in">
                                      <p:cBhvr>
                                        <p:cTn dur="1000"/>
                                        <p:tgtEl>
                                          <p:spTgt spid="1061"/>
                                        </p:tgtEl>
                                      </p:cBhvr>
                                    </p:animEffect>
                                  </p:childTnLst>
                                </p:cTn>
                              </p:par>
                              <p:par>
                                <p:cTn fill="hold" nodeType="withEffect" presetClass="entr" presetID="10" presetSubtype="0">
                                  <p:stCondLst>
                                    <p:cond delay="0"/>
                                  </p:stCondLst>
                                  <p:childTnLst>
                                    <p:set>
                                      <p:cBhvr>
                                        <p:cTn dur="1" fill="hold">
                                          <p:stCondLst>
                                            <p:cond delay="0"/>
                                          </p:stCondLst>
                                        </p:cTn>
                                        <p:tgtEl>
                                          <p:spTgt spid="1062"/>
                                        </p:tgtEl>
                                        <p:attrNameLst>
                                          <p:attrName>style.visibility</p:attrName>
                                        </p:attrNameLst>
                                      </p:cBhvr>
                                      <p:to>
                                        <p:strVal val="visible"/>
                                      </p:to>
                                    </p:set>
                                    <p:animEffect filter="fade" transition="in">
                                      <p:cBhvr>
                                        <p:cTn dur="1000"/>
                                        <p:tgtEl>
                                          <p:spTgt spid="10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3"/>
                                        </p:tgtEl>
                                        <p:attrNameLst>
                                          <p:attrName>style.visibility</p:attrName>
                                        </p:attrNameLst>
                                      </p:cBhvr>
                                      <p:to>
                                        <p:strVal val="visible"/>
                                      </p:to>
                                    </p:set>
                                    <p:animEffect filter="fade" transition="in">
                                      <p:cBhvr>
                                        <p:cTn dur="1000"/>
                                        <p:tgtEl>
                                          <p:spTgt spid="1013"/>
                                        </p:tgtEl>
                                      </p:cBhvr>
                                    </p:animEffect>
                                  </p:childTnLst>
                                </p:cTn>
                              </p:par>
                              <p:par>
                                <p:cTn fill="hold" nodeType="withEffect" presetClass="entr" presetID="10" presetSubtype="0">
                                  <p:stCondLst>
                                    <p:cond delay="0"/>
                                  </p:stCondLst>
                                  <p:childTnLst>
                                    <p:set>
                                      <p:cBhvr>
                                        <p:cTn dur="1" fill="hold">
                                          <p:stCondLst>
                                            <p:cond delay="0"/>
                                          </p:stCondLst>
                                        </p:cTn>
                                        <p:tgtEl>
                                          <p:spTgt spid="1014"/>
                                        </p:tgtEl>
                                        <p:attrNameLst>
                                          <p:attrName>style.visibility</p:attrName>
                                        </p:attrNameLst>
                                      </p:cBhvr>
                                      <p:to>
                                        <p:strVal val="visible"/>
                                      </p:to>
                                    </p:set>
                                    <p:animEffect filter="fade" transition="in">
                                      <p:cBhvr>
                                        <p:cTn dur="1000"/>
                                        <p:tgtEl>
                                          <p:spTgt spid="1014"/>
                                        </p:tgtEl>
                                      </p:cBhvr>
                                    </p:animEffect>
                                  </p:childTnLst>
                                </p:cTn>
                              </p:par>
                              <p:par>
                                <p:cTn fill="hold" nodeType="withEffect" presetClass="entr" presetID="10" presetSubtype="0">
                                  <p:stCondLst>
                                    <p:cond delay="0"/>
                                  </p:stCondLst>
                                  <p:childTnLst>
                                    <p:set>
                                      <p:cBhvr>
                                        <p:cTn dur="1" fill="hold">
                                          <p:stCondLst>
                                            <p:cond delay="0"/>
                                          </p:stCondLst>
                                        </p:cTn>
                                        <p:tgtEl>
                                          <p:spTgt spid="1016"/>
                                        </p:tgtEl>
                                        <p:attrNameLst>
                                          <p:attrName>style.visibility</p:attrName>
                                        </p:attrNameLst>
                                      </p:cBhvr>
                                      <p:to>
                                        <p:strVal val="visible"/>
                                      </p:to>
                                    </p:set>
                                    <p:animEffect filter="fade" transition="in">
                                      <p:cBhvr>
                                        <p:cTn dur="1000"/>
                                        <p:tgtEl>
                                          <p:spTgt spid="1016"/>
                                        </p:tgtEl>
                                      </p:cBhvr>
                                    </p:animEffect>
                                  </p:childTnLst>
                                </p:cTn>
                              </p:par>
                              <p:par>
                                <p:cTn fill="hold" nodeType="withEffect" presetClass="entr" presetID="10" presetSubtype="0">
                                  <p:stCondLst>
                                    <p:cond delay="0"/>
                                  </p:stCondLst>
                                  <p:childTnLst>
                                    <p:set>
                                      <p:cBhvr>
                                        <p:cTn dur="1" fill="hold">
                                          <p:stCondLst>
                                            <p:cond delay="0"/>
                                          </p:stCondLst>
                                        </p:cTn>
                                        <p:tgtEl>
                                          <p:spTgt spid="1029"/>
                                        </p:tgtEl>
                                        <p:attrNameLst>
                                          <p:attrName>style.visibility</p:attrName>
                                        </p:attrNameLst>
                                      </p:cBhvr>
                                      <p:to>
                                        <p:strVal val="visible"/>
                                      </p:to>
                                    </p:set>
                                    <p:animEffect filter="fade" transition="in">
                                      <p:cBhvr>
                                        <p:cTn dur="1000"/>
                                        <p:tgtEl>
                                          <p:spTgt spid="1029"/>
                                        </p:tgtEl>
                                      </p:cBhvr>
                                    </p:animEffect>
                                  </p:childTnLst>
                                </p:cTn>
                              </p:par>
                              <p:par>
                                <p:cTn fill="hold" nodeType="withEffect" presetClass="entr" presetID="10" presetSubtype="0">
                                  <p:stCondLst>
                                    <p:cond delay="0"/>
                                  </p:stCondLst>
                                  <p:childTnLst>
                                    <p:set>
                                      <p:cBhvr>
                                        <p:cTn dur="1" fill="hold">
                                          <p:stCondLst>
                                            <p:cond delay="0"/>
                                          </p:stCondLst>
                                        </p:cTn>
                                        <p:tgtEl>
                                          <p:spTgt spid="1037"/>
                                        </p:tgtEl>
                                        <p:attrNameLst>
                                          <p:attrName>style.visibility</p:attrName>
                                        </p:attrNameLst>
                                      </p:cBhvr>
                                      <p:to>
                                        <p:strVal val="visible"/>
                                      </p:to>
                                    </p:set>
                                    <p:animEffect filter="fade" transition="in">
                                      <p:cBhvr>
                                        <p:cTn dur="1000"/>
                                        <p:tgtEl>
                                          <p:spTgt spid="1037"/>
                                        </p:tgtEl>
                                      </p:cBhvr>
                                    </p:animEffect>
                                  </p:childTnLst>
                                </p:cTn>
                              </p:par>
                              <p:par>
                                <p:cTn fill="hold" nodeType="withEffect" presetClass="entr" presetID="10" presetSubtype="0">
                                  <p:stCondLst>
                                    <p:cond delay="0"/>
                                  </p:stCondLst>
                                  <p:childTnLst>
                                    <p:set>
                                      <p:cBhvr>
                                        <p:cTn dur="1" fill="hold">
                                          <p:stCondLst>
                                            <p:cond delay="0"/>
                                          </p:stCondLst>
                                        </p:cTn>
                                        <p:tgtEl>
                                          <p:spTgt spid="1015"/>
                                        </p:tgtEl>
                                        <p:attrNameLst>
                                          <p:attrName>style.visibility</p:attrName>
                                        </p:attrNameLst>
                                      </p:cBhvr>
                                      <p:to>
                                        <p:strVal val="visible"/>
                                      </p:to>
                                    </p:set>
                                    <p:animEffect filter="fade" transition="in">
                                      <p:cBhvr>
                                        <p:cTn dur="1000"/>
                                        <p:tgtEl>
                                          <p:spTgt spid="10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1"/>
                                        </p:tgtEl>
                                        <p:attrNameLst>
                                          <p:attrName>style.visibility</p:attrName>
                                        </p:attrNameLst>
                                      </p:cBhvr>
                                      <p:to>
                                        <p:strVal val="visible"/>
                                      </p:to>
                                    </p:set>
                                    <p:animEffect filter="fade" transition="in">
                                      <p:cBhvr>
                                        <p:cTn dur="1000"/>
                                        <p:tgtEl>
                                          <p:spTgt spid="1021"/>
                                        </p:tgtEl>
                                      </p:cBhvr>
                                    </p:animEffect>
                                  </p:childTnLst>
                                </p:cTn>
                              </p:par>
                              <p:par>
                                <p:cTn fill="hold" nodeType="withEffect" presetClass="entr" presetID="10" presetSubtype="0">
                                  <p:stCondLst>
                                    <p:cond delay="0"/>
                                  </p:stCondLst>
                                  <p:childTnLst>
                                    <p:set>
                                      <p:cBhvr>
                                        <p:cTn dur="1" fill="hold">
                                          <p:stCondLst>
                                            <p:cond delay="0"/>
                                          </p:stCondLst>
                                        </p:cTn>
                                        <p:tgtEl>
                                          <p:spTgt spid="1032"/>
                                        </p:tgtEl>
                                        <p:attrNameLst>
                                          <p:attrName>style.visibility</p:attrName>
                                        </p:attrNameLst>
                                      </p:cBhvr>
                                      <p:to>
                                        <p:strVal val="visible"/>
                                      </p:to>
                                    </p:set>
                                    <p:animEffect filter="fade" transition="in">
                                      <p:cBhvr>
                                        <p:cTn dur="1000"/>
                                        <p:tgtEl>
                                          <p:spTgt spid="1032"/>
                                        </p:tgtEl>
                                      </p:cBhvr>
                                    </p:animEffect>
                                  </p:childTnLst>
                                </p:cTn>
                              </p:par>
                              <p:par>
                                <p:cTn fill="hold" nodeType="withEffect" presetClass="entr" presetID="10" presetSubtype="0">
                                  <p:stCondLst>
                                    <p:cond delay="0"/>
                                  </p:stCondLst>
                                  <p:childTnLst>
                                    <p:set>
                                      <p:cBhvr>
                                        <p:cTn dur="1" fill="hold">
                                          <p:stCondLst>
                                            <p:cond delay="0"/>
                                          </p:stCondLst>
                                        </p:cTn>
                                        <p:tgtEl>
                                          <p:spTgt spid="1036"/>
                                        </p:tgtEl>
                                        <p:attrNameLst>
                                          <p:attrName>style.visibility</p:attrName>
                                        </p:attrNameLst>
                                      </p:cBhvr>
                                      <p:to>
                                        <p:strVal val="visible"/>
                                      </p:to>
                                    </p:set>
                                    <p:animEffect filter="fade" transition="in">
                                      <p:cBhvr>
                                        <p:cTn dur="1000"/>
                                        <p:tgtEl>
                                          <p:spTgt spid="1036"/>
                                        </p:tgtEl>
                                      </p:cBhvr>
                                    </p:animEffect>
                                  </p:childTnLst>
                                </p:cTn>
                              </p:par>
                              <p:par>
                                <p:cTn fill="hold" nodeType="withEffect" presetClass="entr" presetID="10" presetSubtype="0">
                                  <p:stCondLst>
                                    <p:cond delay="0"/>
                                  </p:stCondLst>
                                  <p:childTnLst>
                                    <p:set>
                                      <p:cBhvr>
                                        <p:cTn dur="1" fill="hold">
                                          <p:stCondLst>
                                            <p:cond delay="0"/>
                                          </p:stCondLst>
                                        </p:cTn>
                                        <p:tgtEl>
                                          <p:spTgt spid="1022"/>
                                        </p:tgtEl>
                                        <p:attrNameLst>
                                          <p:attrName>style.visibility</p:attrName>
                                        </p:attrNameLst>
                                      </p:cBhvr>
                                      <p:to>
                                        <p:strVal val="visible"/>
                                      </p:to>
                                    </p:set>
                                    <p:animEffect filter="fade" transition="in">
                                      <p:cBhvr>
                                        <p:cTn dur="1000"/>
                                        <p:tgtEl>
                                          <p:spTgt spid="10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gtEl>
                                        <p:attrNameLst>
                                          <p:attrName>style.visibility</p:attrName>
                                        </p:attrNameLst>
                                      </p:cBhvr>
                                      <p:to>
                                        <p:strVal val="visible"/>
                                      </p:to>
                                    </p:set>
                                    <p:animEffect filter="fade" transition="in">
                                      <p:cBhvr>
                                        <p:cTn dur="1000"/>
                                        <p:tgtEl>
                                          <p:spTgt spid="1043"/>
                                        </p:tgtEl>
                                      </p:cBhvr>
                                    </p:animEffect>
                                  </p:childTnLst>
                                </p:cTn>
                              </p:par>
                              <p:par>
                                <p:cTn fill="hold" nodeType="withEffect" presetClass="entr" presetID="10" presetSubtype="0">
                                  <p:stCondLst>
                                    <p:cond delay="0"/>
                                  </p:stCondLst>
                                  <p:childTnLst>
                                    <p:set>
                                      <p:cBhvr>
                                        <p:cTn dur="1" fill="hold">
                                          <p:stCondLst>
                                            <p:cond delay="0"/>
                                          </p:stCondLst>
                                        </p:cTn>
                                        <p:tgtEl>
                                          <p:spTgt spid="1044"/>
                                        </p:tgtEl>
                                        <p:attrNameLst>
                                          <p:attrName>style.visibility</p:attrName>
                                        </p:attrNameLst>
                                      </p:cBhvr>
                                      <p:to>
                                        <p:strVal val="visible"/>
                                      </p:to>
                                    </p:set>
                                    <p:animEffect filter="fade" transition="in">
                                      <p:cBhvr>
                                        <p:cTn dur="1000"/>
                                        <p:tgtEl>
                                          <p:spTgt spid="1044"/>
                                        </p:tgtEl>
                                      </p:cBhvr>
                                    </p:animEffect>
                                  </p:childTnLst>
                                </p:cTn>
                              </p:par>
                              <p:par>
                                <p:cTn fill="hold" nodeType="withEffect" presetClass="entr" presetID="10" presetSubtype="0">
                                  <p:stCondLst>
                                    <p:cond delay="0"/>
                                  </p:stCondLst>
                                  <p:childTnLst>
                                    <p:set>
                                      <p:cBhvr>
                                        <p:cTn dur="1" fill="hold">
                                          <p:stCondLst>
                                            <p:cond delay="0"/>
                                          </p:stCondLst>
                                        </p:cTn>
                                        <p:tgtEl>
                                          <p:spTgt spid="1051"/>
                                        </p:tgtEl>
                                        <p:attrNameLst>
                                          <p:attrName>style.visibility</p:attrName>
                                        </p:attrNameLst>
                                      </p:cBhvr>
                                      <p:to>
                                        <p:strVal val="visible"/>
                                      </p:to>
                                    </p:set>
                                    <p:animEffect filter="fade" transition="in">
                                      <p:cBhvr>
                                        <p:cTn dur="1000"/>
                                        <p:tgtEl>
                                          <p:spTgt spid="1051"/>
                                        </p:tgtEl>
                                      </p:cBhvr>
                                    </p:animEffect>
                                  </p:childTnLst>
                                </p:cTn>
                              </p:par>
                              <p:par>
                                <p:cTn fill="hold" nodeType="withEffect" presetClass="entr" presetID="10" presetSubtype="0">
                                  <p:stCondLst>
                                    <p:cond delay="0"/>
                                  </p:stCondLst>
                                  <p:childTnLst>
                                    <p:set>
                                      <p:cBhvr>
                                        <p:cTn dur="1" fill="hold">
                                          <p:stCondLst>
                                            <p:cond delay="0"/>
                                          </p:stCondLst>
                                        </p:cTn>
                                        <p:tgtEl>
                                          <p:spTgt spid="1052"/>
                                        </p:tgtEl>
                                        <p:attrNameLst>
                                          <p:attrName>style.visibility</p:attrName>
                                        </p:attrNameLst>
                                      </p:cBhvr>
                                      <p:to>
                                        <p:strVal val="visible"/>
                                      </p:to>
                                    </p:set>
                                    <p:animEffect filter="fade" transition="in">
                                      <p:cBhvr>
                                        <p:cTn dur="1000"/>
                                        <p:tgtEl>
                                          <p:spTgt spid="10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gtEl>
                                        <p:attrNameLst>
                                          <p:attrName>style.visibility</p:attrName>
                                        </p:attrNameLst>
                                      </p:cBhvr>
                                      <p:to>
                                        <p:strVal val="visible"/>
                                      </p:to>
                                    </p:set>
                                    <p:animEffect filter="fade" transition="in">
                                      <p:cBhvr>
                                        <p:cTn dur="1000"/>
                                        <p:tgtEl>
                                          <p:spTgt spid="1023"/>
                                        </p:tgtEl>
                                      </p:cBhvr>
                                    </p:animEffect>
                                  </p:childTnLst>
                                </p:cTn>
                              </p:par>
                              <p:par>
                                <p:cTn fill="hold" nodeType="withEffect" presetClass="entr" presetID="10" presetSubtype="0">
                                  <p:stCondLst>
                                    <p:cond delay="0"/>
                                  </p:stCondLst>
                                  <p:childTnLst>
                                    <p:set>
                                      <p:cBhvr>
                                        <p:cTn dur="1" fill="hold">
                                          <p:stCondLst>
                                            <p:cond delay="0"/>
                                          </p:stCondLst>
                                        </p:cTn>
                                        <p:tgtEl>
                                          <p:spTgt spid="1033"/>
                                        </p:tgtEl>
                                        <p:attrNameLst>
                                          <p:attrName>style.visibility</p:attrName>
                                        </p:attrNameLst>
                                      </p:cBhvr>
                                      <p:to>
                                        <p:strVal val="visible"/>
                                      </p:to>
                                    </p:set>
                                    <p:animEffect filter="fade" transition="in">
                                      <p:cBhvr>
                                        <p:cTn dur="1000"/>
                                        <p:tgtEl>
                                          <p:spTgt spid="1033"/>
                                        </p:tgtEl>
                                      </p:cBhvr>
                                    </p:animEffect>
                                  </p:childTnLst>
                                </p:cTn>
                              </p:par>
                              <p:par>
                                <p:cTn fill="hold" nodeType="withEffect" presetClass="entr" presetID="10" presetSubtype="0">
                                  <p:stCondLst>
                                    <p:cond delay="0"/>
                                  </p:stCondLst>
                                  <p:childTnLst>
                                    <p:set>
                                      <p:cBhvr>
                                        <p:cTn dur="1" fill="hold">
                                          <p:stCondLst>
                                            <p:cond delay="0"/>
                                          </p:stCondLst>
                                        </p:cTn>
                                        <p:tgtEl>
                                          <p:spTgt spid="1038"/>
                                        </p:tgtEl>
                                        <p:attrNameLst>
                                          <p:attrName>style.visibility</p:attrName>
                                        </p:attrNameLst>
                                      </p:cBhvr>
                                      <p:to>
                                        <p:strVal val="visible"/>
                                      </p:to>
                                    </p:set>
                                    <p:animEffect filter="fade" transition="in">
                                      <p:cBhvr>
                                        <p:cTn dur="1000"/>
                                        <p:tgtEl>
                                          <p:spTgt spid="1038"/>
                                        </p:tgtEl>
                                      </p:cBhvr>
                                    </p:animEffect>
                                  </p:childTnLst>
                                </p:cTn>
                              </p:par>
                              <p:par>
                                <p:cTn fill="hold" nodeType="withEffect" presetClass="entr" presetID="10" presetSubtype="0">
                                  <p:stCondLst>
                                    <p:cond delay="0"/>
                                  </p:stCondLst>
                                  <p:childTnLst>
                                    <p:set>
                                      <p:cBhvr>
                                        <p:cTn dur="1" fill="hold">
                                          <p:stCondLst>
                                            <p:cond delay="0"/>
                                          </p:stCondLst>
                                        </p:cTn>
                                        <p:tgtEl>
                                          <p:spTgt spid="1024"/>
                                        </p:tgtEl>
                                        <p:attrNameLst>
                                          <p:attrName>style.visibility</p:attrName>
                                        </p:attrNameLst>
                                      </p:cBhvr>
                                      <p:to>
                                        <p:strVal val="visible"/>
                                      </p:to>
                                    </p:set>
                                    <p:animEffect filter="fade" transition="in">
                                      <p:cBhvr>
                                        <p:cTn dur="1000"/>
                                        <p:tgtEl>
                                          <p:spTgt spid="10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5"/>
                                        </p:tgtEl>
                                        <p:attrNameLst>
                                          <p:attrName>style.visibility</p:attrName>
                                        </p:attrNameLst>
                                      </p:cBhvr>
                                      <p:to>
                                        <p:strVal val="visible"/>
                                      </p:to>
                                    </p:set>
                                    <p:animEffect filter="fade" transition="in">
                                      <p:cBhvr>
                                        <p:cTn dur="1000"/>
                                        <p:tgtEl>
                                          <p:spTgt spid="1045"/>
                                        </p:tgtEl>
                                      </p:cBhvr>
                                    </p:animEffect>
                                  </p:childTnLst>
                                </p:cTn>
                              </p:par>
                              <p:par>
                                <p:cTn fill="hold" nodeType="withEffect" presetClass="entr" presetID="10" presetSubtype="0">
                                  <p:stCondLst>
                                    <p:cond delay="0"/>
                                  </p:stCondLst>
                                  <p:childTnLst>
                                    <p:set>
                                      <p:cBhvr>
                                        <p:cTn dur="1" fill="hold">
                                          <p:stCondLst>
                                            <p:cond delay="0"/>
                                          </p:stCondLst>
                                        </p:cTn>
                                        <p:tgtEl>
                                          <p:spTgt spid="1046"/>
                                        </p:tgtEl>
                                        <p:attrNameLst>
                                          <p:attrName>style.visibility</p:attrName>
                                        </p:attrNameLst>
                                      </p:cBhvr>
                                      <p:to>
                                        <p:strVal val="visible"/>
                                      </p:to>
                                    </p:set>
                                    <p:animEffect filter="fade" transition="in">
                                      <p:cBhvr>
                                        <p:cTn dur="1000"/>
                                        <p:tgtEl>
                                          <p:spTgt spid="1046"/>
                                        </p:tgtEl>
                                      </p:cBhvr>
                                    </p:animEffect>
                                  </p:childTnLst>
                                </p:cTn>
                              </p:par>
                              <p:par>
                                <p:cTn fill="hold" nodeType="withEffect" presetClass="entr" presetID="10" presetSubtype="0">
                                  <p:stCondLst>
                                    <p:cond delay="0"/>
                                  </p:stCondLst>
                                  <p:childTnLst>
                                    <p:set>
                                      <p:cBhvr>
                                        <p:cTn dur="1" fill="hold">
                                          <p:stCondLst>
                                            <p:cond delay="0"/>
                                          </p:stCondLst>
                                        </p:cTn>
                                        <p:tgtEl>
                                          <p:spTgt spid="1054"/>
                                        </p:tgtEl>
                                        <p:attrNameLst>
                                          <p:attrName>style.visibility</p:attrName>
                                        </p:attrNameLst>
                                      </p:cBhvr>
                                      <p:to>
                                        <p:strVal val="visible"/>
                                      </p:to>
                                    </p:set>
                                    <p:animEffect filter="fade" transition="in">
                                      <p:cBhvr>
                                        <p:cTn dur="1000"/>
                                        <p:tgtEl>
                                          <p:spTgt spid="1054"/>
                                        </p:tgtEl>
                                      </p:cBhvr>
                                    </p:animEffect>
                                  </p:childTnLst>
                                </p:cTn>
                              </p:par>
                              <p:par>
                                <p:cTn fill="hold" nodeType="withEffect" presetClass="entr" presetID="10" presetSubtype="0">
                                  <p:stCondLst>
                                    <p:cond delay="0"/>
                                  </p:stCondLst>
                                  <p:childTnLst>
                                    <p:set>
                                      <p:cBhvr>
                                        <p:cTn dur="1" fill="hold">
                                          <p:stCondLst>
                                            <p:cond delay="0"/>
                                          </p:stCondLst>
                                        </p:cTn>
                                        <p:tgtEl>
                                          <p:spTgt spid="1053"/>
                                        </p:tgtEl>
                                        <p:attrNameLst>
                                          <p:attrName>style.visibility</p:attrName>
                                        </p:attrNameLst>
                                      </p:cBhvr>
                                      <p:to>
                                        <p:strVal val="visible"/>
                                      </p:to>
                                    </p:set>
                                    <p:animEffect filter="fade" transition="in">
                                      <p:cBhvr>
                                        <p:cTn dur="1000"/>
                                        <p:tgtEl>
                                          <p:spTgt spid="10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7"/>
                                        </p:tgtEl>
                                        <p:attrNameLst>
                                          <p:attrName>style.visibility</p:attrName>
                                        </p:attrNameLst>
                                      </p:cBhvr>
                                      <p:to>
                                        <p:strVal val="visible"/>
                                      </p:to>
                                    </p:set>
                                    <p:animEffect filter="fade" transition="in">
                                      <p:cBhvr>
                                        <p:cTn dur="1000"/>
                                        <p:tgtEl>
                                          <p:spTgt spid="1057"/>
                                        </p:tgtEl>
                                      </p:cBhvr>
                                    </p:animEffect>
                                  </p:childTnLst>
                                </p:cTn>
                              </p:par>
                              <p:par>
                                <p:cTn fill="hold" nodeType="withEffect" presetClass="entr" presetID="10" presetSubtype="0">
                                  <p:stCondLst>
                                    <p:cond delay="0"/>
                                  </p:stCondLst>
                                  <p:childTnLst>
                                    <p:set>
                                      <p:cBhvr>
                                        <p:cTn dur="1" fill="hold">
                                          <p:stCondLst>
                                            <p:cond delay="0"/>
                                          </p:stCondLst>
                                        </p:cTn>
                                        <p:tgtEl>
                                          <p:spTgt spid="1058"/>
                                        </p:tgtEl>
                                        <p:attrNameLst>
                                          <p:attrName>style.visibility</p:attrName>
                                        </p:attrNameLst>
                                      </p:cBhvr>
                                      <p:to>
                                        <p:strVal val="visible"/>
                                      </p:to>
                                    </p:set>
                                    <p:animEffect filter="fade" transition="in">
                                      <p:cBhvr>
                                        <p:cTn dur="1000"/>
                                        <p:tgtEl>
                                          <p:spTgt spid="1058"/>
                                        </p:tgtEl>
                                      </p:cBhvr>
                                    </p:animEffect>
                                  </p:childTnLst>
                                </p:cTn>
                              </p:par>
                              <p:par>
                                <p:cTn fill="hold" nodeType="withEffect" presetClass="entr" presetID="10" presetSubtype="0">
                                  <p:stCondLst>
                                    <p:cond delay="0"/>
                                  </p:stCondLst>
                                  <p:childTnLst>
                                    <p:set>
                                      <p:cBhvr>
                                        <p:cTn dur="1" fill="hold">
                                          <p:stCondLst>
                                            <p:cond delay="0"/>
                                          </p:stCondLst>
                                        </p:cTn>
                                        <p:tgtEl>
                                          <p:spTgt spid="1063"/>
                                        </p:tgtEl>
                                        <p:attrNameLst>
                                          <p:attrName>style.visibility</p:attrName>
                                        </p:attrNameLst>
                                      </p:cBhvr>
                                      <p:to>
                                        <p:strVal val="visible"/>
                                      </p:to>
                                    </p:set>
                                    <p:animEffect filter="fade" transition="in">
                                      <p:cBhvr>
                                        <p:cTn dur="1000"/>
                                        <p:tgtEl>
                                          <p:spTgt spid="1063"/>
                                        </p:tgtEl>
                                      </p:cBhvr>
                                    </p:animEffect>
                                  </p:childTnLst>
                                </p:cTn>
                              </p:par>
                              <p:par>
                                <p:cTn fill="hold" nodeType="withEffect" presetClass="entr" presetID="10" presetSubtype="0">
                                  <p:stCondLst>
                                    <p:cond delay="0"/>
                                  </p:stCondLst>
                                  <p:childTnLst>
                                    <p:set>
                                      <p:cBhvr>
                                        <p:cTn dur="1" fill="hold">
                                          <p:stCondLst>
                                            <p:cond delay="0"/>
                                          </p:stCondLst>
                                        </p:cTn>
                                        <p:tgtEl>
                                          <p:spTgt spid="1065"/>
                                        </p:tgtEl>
                                        <p:attrNameLst>
                                          <p:attrName>style.visibility</p:attrName>
                                        </p:attrNameLst>
                                      </p:cBhvr>
                                      <p:to>
                                        <p:strVal val="visible"/>
                                      </p:to>
                                    </p:set>
                                    <p:animEffect filter="fade" transition="in">
                                      <p:cBhvr>
                                        <p:cTn dur="1000"/>
                                        <p:tgtEl>
                                          <p:spTgt spid="1065"/>
                                        </p:tgtEl>
                                      </p:cBhvr>
                                    </p:animEffect>
                                  </p:childTnLst>
                                </p:cTn>
                              </p:par>
                              <p:par>
                                <p:cTn fill="hold" nodeType="withEffect" presetClass="entr" presetID="10" presetSubtype="0">
                                  <p:stCondLst>
                                    <p:cond delay="0"/>
                                  </p:stCondLst>
                                  <p:childTnLst>
                                    <p:set>
                                      <p:cBhvr>
                                        <p:cTn dur="1" fill="hold">
                                          <p:stCondLst>
                                            <p:cond delay="0"/>
                                          </p:stCondLst>
                                        </p:cTn>
                                        <p:tgtEl>
                                          <p:spTgt spid="1066"/>
                                        </p:tgtEl>
                                        <p:attrNameLst>
                                          <p:attrName>style.visibility</p:attrName>
                                        </p:attrNameLst>
                                      </p:cBhvr>
                                      <p:to>
                                        <p:strVal val="visible"/>
                                      </p:to>
                                    </p:set>
                                    <p:animEffect filter="fade" transition="in">
                                      <p:cBhvr>
                                        <p:cTn dur="1000"/>
                                        <p:tgtEl>
                                          <p:spTgt spid="1066"/>
                                        </p:tgtEl>
                                      </p:cBhvr>
                                    </p:animEffect>
                                  </p:childTnLst>
                                </p:cTn>
                              </p:par>
                              <p:par>
                                <p:cTn fill="hold" nodeType="withEffect" presetClass="entr" presetID="10" presetSubtype="0">
                                  <p:stCondLst>
                                    <p:cond delay="0"/>
                                  </p:stCondLst>
                                  <p:childTnLst>
                                    <p:set>
                                      <p:cBhvr>
                                        <p:cTn dur="1" fill="hold">
                                          <p:stCondLst>
                                            <p:cond delay="0"/>
                                          </p:stCondLst>
                                        </p:cTn>
                                        <p:tgtEl>
                                          <p:spTgt spid="1064"/>
                                        </p:tgtEl>
                                        <p:attrNameLst>
                                          <p:attrName>style.visibility</p:attrName>
                                        </p:attrNameLst>
                                      </p:cBhvr>
                                      <p:to>
                                        <p:strVal val="visible"/>
                                      </p:to>
                                    </p:set>
                                    <p:animEffect filter="fade" transition="in">
                                      <p:cBhvr>
                                        <p:cTn dur="1000"/>
                                        <p:tgtEl>
                                          <p:spTgt spid="10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5"/>
                                        </p:tgtEl>
                                        <p:attrNameLst>
                                          <p:attrName>style.visibility</p:attrName>
                                        </p:attrNameLst>
                                      </p:cBhvr>
                                      <p:to>
                                        <p:strVal val="visible"/>
                                      </p:to>
                                    </p:set>
                                    <p:animEffect filter="fade" transition="in">
                                      <p:cBhvr>
                                        <p:cTn dur="1000"/>
                                        <p:tgtEl>
                                          <p:spTgt spid="1075"/>
                                        </p:tgtEl>
                                      </p:cBhvr>
                                    </p:animEffect>
                                  </p:childTnLst>
                                </p:cTn>
                              </p:par>
                              <p:par>
                                <p:cTn fill="hold" nodeType="withEffect" presetClass="entr" presetID="10" presetSubtype="0">
                                  <p:stCondLst>
                                    <p:cond delay="0"/>
                                  </p:stCondLst>
                                  <p:childTnLst>
                                    <p:set>
                                      <p:cBhvr>
                                        <p:cTn dur="1" fill="hold">
                                          <p:stCondLst>
                                            <p:cond delay="0"/>
                                          </p:stCondLst>
                                        </p:cTn>
                                        <p:tgtEl>
                                          <p:spTgt spid="1076"/>
                                        </p:tgtEl>
                                        <p:attrNameLst>
                                          <p:attrName>style.visibility</p:attrName>
                                        </p:attrNameLst>
                                      </p:cBhvr>
                                      <p:to>
                                        <p:strVal val="visible"/>
                                      </p:to>
                                    </p:set>
                                    <p:animEffect filter="fade" transition="in">
                                      <p:cBhvr>
                                        <p:cTn dur="1000"/>
                                        <p:tgtEl>
                                          <p:spTgt spid="1076"/>
                                        </p:tgtEl>
                                      </p:cBhvr>
                                    </p:animEffect>
                                  </p:childTnLst>
                                </p:cTn>
                              </p:par>
                              <p:par>
                                <p:cTn fill="hold" nodeType="withEffect" presetClass="entr" presetID="10" presetSubtype="0">
                                  <p:stCondLst>
                                    <p:cond delay="0"/>
                                  </p:stCondLst>
                                  <p:childTnLst>
                                    <p:set>
                                      <p:cBhvr>
                                        <p:cTn dur="1" fill="hold">
                                          <p:stCondLst>
                                            <p:cond delay="0"/>
                                          </p:stCondLst>
                                        </p:cTn>
                                        <p:tgtEl>
                                          <p:spTgt spid="1067"/>
                                        </p:tgtEl>
                                        <p:attrNameLst>
                                          <p:attrName>style.visibility</p:attrName>
                                        </p:attrNameLst>
                                      </p:cBhvr>
                                      <p:to>
                                        <p:strVal val="visible"/>
                                      </p:to>
                                    </p:set>
                                    <p:animEffect filter="fade" transition="in">
                                      <p:cBhvr>
                                        <p:cTn dur="1000"/>
                                        <p:tgtEl>
                                          <p:spTgt spid="1067"/>
                                        </p:tgtEl>
                                      </p:cBhvr>
                                    </p:animEffect>
                                  </p:childTnLst>
                                </p:cTn>
                              </p:par>
                              <p:par>
                                <p:cTn fill="hold" nodeType="withEffect" presetClass="entr" presetID="10" presetSubtype="0">
                                  <p:stCondLst>
                                    <p:cond delay="0"/>
                                  </p:stCondLst>
                                  <p:childTnLst>
                                    <p:set>
                                      <p:cBhvr>
                                        <p:cTn dur="1" fill="hold">
                                          <p:stCondLst>
                                            <p:cond delay="0"/>
                                          </p:stCondLst>
                                        </p:cTn>
                                        <p:tgtEl>
                                          <p:spTgt spid="1068"/>
                                        </p:tgtEl>
                                        <p:attrNameLst>
                                          <p:attrName>style.visibility</p:attrName>
                                        </p:attrNameLst>
                                      </p:cBhvr>
                                      <p:to>
                                        <p:strVal val="visible"/>
                                      </p:to>
                                    </p:set>
                                    <p:animEffect filter="fade" transition="in">
                                      <p:cBhvr>
                                        <p:cTn dur="1000"/>
                                        <p:tgtEl>
                                          <p:spTgt spid="1068"/>
                                        </p:tgtEl>
                                      </p:cBhvr>
                                    </p:animEffect>
                                  </p:childTnLst>
                                </p:cTn>
                              </p:par>
                              <p:par>
                                <p:cTn fill="hold" nodeType="withEffect" presetClass="entr" presetID="10" presetSubtype="0">
                                  <p:stCondLst>
                                    <p:cond delay="0"/>
                                  </p:stCondLst>
                                  <p:childTnLst>
                                    <p:set>
                                      <p:cBhvr>
                                        <p:cTn dur="1" fill="hold">
                                          <p:stCondLst>
                                            <p:cond delay="0"/>
                                          </p:stCondLst>
                                        </p:cTn>
                                        <p:tgtEl>
                                          <p:spTgt spid="1069"/>
                                        </p:tgtEl>
                                        <p:attrNameLst>
                                          <p:attrName>style.visibility</p:attrName>
                                        </p:attrNameLst>
                                      </p:cBhvr>
                                      <p:to>
                                        <p:strVal val="visible"/>
                                      </p:to>
                                    </p:set>
                                    <p:animEffect filter="fade" transition="in">
                                      <p:cBhvr>
                                        <p:cTn dur="1000"/>
                                        <p:tgtEl>
                                          <p:spTgt spid="1069"/>
                                        </p:tgtEl>
                                      </p:cBhvr>
                                    </p:animEffect>
                                  </p:childTnLst>
                                </p:cTn>
                              </p:par>
                              <p:par>
                                <p:cTn fill="hold" nodeType="withEffect" presetClass="entr" presetID="10" presetSubtype="0">
                                  <p:stCondLst>
                                    <p:cond delay="0"/>
                                  </p:stCondLst>
                                  <p:childTnLst>
                                    <p:set>
                                      <p:cBhvr>
                                        <p:cTn dur="1" fill="hold">
                                          <p:stCondLst>
                                            <p:cond delay="0"/>
                                          </p:stCondLst>
                                        </p:cTn>
                                        <p:tgtEl>
                                          <p:spTgt spid="1070"/>
                                        </p:tgtEl>
                                        <p:attrNameLst>
                                          <p:attrName>style.visibility</p:attrName>
                                        </p:attrNameLst>
                                      </p:cBhvr>
                                      <p:to>
                                        <p:strVal val="visible"/>
                                      </p:to>
                                    </p:set>
                                    <p:animEffect filter="fade" transition="in">
                                      <p:cBhvr>
                                        <p:cTn dur="1000"/>
                                        <p:tgtEl>
                                          <p:spTgt spid="1070"/>
                                        </p:tgtEl>
                                      </p:cBhvr>
                                    </p:animEffect>
                                  </p:childTnLst>
                                </p:cTn>
                              </p:par>
                              <p:par>
                                <p:cTn fill="hold" nodeType="withEffect" presetClass="entr" presetID="10" presetSubtype="0">
                                  <p:stCondLst>
                                    <p:cond delay="0"/>
                                  </p:stCondLst>
                                  <p:childTnLst>
                                    <p:set>
                                      <p:cBhvr>
                                        <p:cTn dur="1" fill="hold">
                                          <p:stCondLst>
                                            <p:cond delay="0"/>
                                          </p:stCondLst>
                                        </p:cTn>
                                        <p:tgtEl>
                                          <p:spTgt spid="1071"/>
                                        </p:tgtEl>
                                        <p:attrNameLst>
                                          <p:attrName>style.visibility</p:attrName>
                                        </p:attrNameLst>
                                      </p:cBhvr>
                                      <p:to>
                                        <p:strVal val="visible"/>
                                      </p:to>
                                    </p:set>
                                    <p:animEffect filter="fade" transition="in">
                                      <p:cBhvr>
                                        <p:cTn dur="1000"/>
                                        <p:tgtEl>
                                          <p:spTgt spid="1071"/>
                                        </p:tgtEl>
                                      </p:cBhvr>
                                    </p:animEffect>
                                  </p:childTnLst>
                                </p:cTn>
                              </p:par>
                              <p:par>
                                <p:cTn fill="hold" nodeType="withEffect" presetClass="entr" presetID="10" presetSubtype="0">
                                  <p:stCondLst>
                                    <p:cond delay="0"/>
                                  </p:stCondLst>
                                  <p:childTnLst>
                                    <p:set>
                                      <p:cBhvr>
                                        <p:cTn dur="1" fill="hold">
                                          <p:stCondLst>
                                            <p:cond delay="0"/>
                                          </p:stCondLst>
                                        </p:cTn>
                                        <p:tgtEl>
                                          <p:spTgt spid="1072"/>
                                        </p:tgtEl>
                                        <p:attrNameLst>
                                          <p:attrName>style.visibility</p:attrName>
                                        </p:attrNameLst>
                                      </p:cBhvr>
                                      <p:to>
                                        <p:strVal val="visible"/>
                                      </p:to>
                                    </p:set>
                                    <p:animEffect filter="fade" transition="in">
                                      <p:cBhvr>
                                        <p:cTn dur="1000"/>
                                        <p:tgtEl>
                                          <p:spTgt spid="1072"/>
                                        </p:tgtEl>
                                      </p:cBhvr>
                                    </p:animEffect>
                                  </p:childTnLst>
                                </p:cTn>
                              </p:par>
                              <p:par>
                                <p:cTn fill="hold" nodeType="withEffect" presetClass="entr" presetID="10" presetSubtype="0">
                                  <p:stCondLst>
                                    <p:cond delay="0"/>
                                  </p:stCondLst>
                                  <p:childTnLst>
                                    <p:set>
                                      <p:cBhvr>
                                        <p:cTn dur="1" fill="hold">
                                          <p:stCondLst>
                                            <p:cond delay="0"/>
                                          </p:stCondLst>
                                        </p:cTn>
                                        <p:tgtEl>
                                          <p:spTgt spid="1073"/>
                                        </p:tgtEl>
                                        <p:attrNameLst>
                                          <p:attrName>style.visibility</p:attrName>
                                        </p:attrNameLst>
                                      </p:cBhvr>
                                      <p:to>
                                        <p:strVal val="visible"/>
                                      </p:to>
                                    </p:set>
                                    <p:animEffect filter="fade" transition="in">
                                      <p:cBhvr>
                                        <p:cTn dur="1000"/>
                                        <p:tgtEl>
                                          <p:spTgt spid="1073"/>
                                        </p:tgtEl>
                                      </p:cBhvr>
                                    </p:animEffect>
                                  </p:childTnLst>
                                </p:cTn>
                              </p:par>
                              <p:par>
                                <p:cTn fill="hold" nodeType="withEffect" presetClass="entr" presetID="10" presetSubtype="0">
                                  <p:stCondLst>
                                    <p:cond delay="0"/>
                                  </p:stCondLst>
                                  <p:childTnLst>
                                    <p:set>
                                      <p:cBhvr>
                                        <p:cTn dur="1" fill="hold">
                                          <p:stCondLst>
                                            <p:cond delay="0"/>
                                          </p:stCondLst>
                                        </p:cTn>
                                        <p:tgtEl>
                                          <p:spTgt spid="1074"/>
                                        </p:tgtEl>
                                        <p:attrNameLst>
                                          <p:attrName>style.visibility</p:attrName>
                                        </p:attrNameLst>
                                      </p:cBhvr>
                                      <p:to>
                                        <p:strVal val="visible"/>
                                      </p:to>
                                    </p:set>
                                    <p:animEffect filter="fade" transition="in">
                                      <p:cBhvr>
                                        <p:cTn dur="1000"/>
                                        <p:tgtEl>
                                          <p:spTgt spid="10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a:t>
            </a:r>
            <a:endParaRPr/>
          </a:p>
        </p:txBody>
      </p:sp>
      <p:sp>
        <p:nvSpPr>
          <p:cNvPr id="1083" name="Google Shape;1083;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lnSpc>
                <a:spcPct val="150000"/>
              </a:lnSpc>
              <a:spcBef>
                <a:spcPts val="0"/>
              </a:spcBef>
              <a:spcAft>
                <a:spcPts val="0"/>
              </a:spcAft>
              <a:buSzPts val="1200"/>
              <a:buFont typeface="Roboto"/>
              <a:buChar char="●"/>
            </a:pPr>
            <a:r>
              <a:rPr lang="en" sz="1200">
                <a:latin typeface="Roboto"/>
                <a:ea typeface="Roboto"/>
                <a:cs typeface="Roboto"/>
                <a:sym typeface="Roboto"/>
              </a:rPr>
              <a:t>Merge Sort:</a:t>
            </a:r>
            <a:endParaRPr sz="1200">
              <a:latin typeface="Roboto"/>
              <a:ea typeface="Roboto"/>
              <a:cs typeface="Roboto"/>
              <a:sym typeface="Roboto"/>
            </a:endParaRPr>
          </a:p>
          <a:p>
            <a:pPr indent="-304800" lvl="1" marL="914400" rtl="0" algn="l">
              <a:lnSpc>
                <a:spcPct val="150000"/>
              </a:lnSpc>
              <a:spcBef>
                <a:spcPts val="0"/>
              </a:spcBef>
              <a:spcAft>
                <a:spcPts val="0"/>
              </a:spcAft>
              <a:buSzPts val="1200"/>
              <a:buFont typeface="Roboto"/>
              <a:buChar char="○"/>
            </a:pPr>
            <a:r>
              <a:rPr lang="en" sz="1200">
                <a:latin typeface="Roboto"/>
                <a:ea typeface="Roboto"/>
                <a:cs typeface="Roboto"/>
                <a:sym typeface="Roboto"/>
              </a:rPr>
              <a:t>Best case: O(N log N)</a:t>
            </a:r>
            <a:endParaRPr sz="1200">
              <a:latin typeface="Roboto"/>
              <a:ea typeface="Roboto"/>
              <a:cs typeface="Roboto"/>
              <a:sym typeface="Roboto"/>
            </a:endParaRPr>
          </a:p>
          <a:p>
            <a:pPr indent="-304800" lvl="1" marL="914400" rtl="0" algn="l">
              <a:lnSpc>
                <a:spcPct val="150000"/>
              </a:lnSpc>
              <a:spcBef>
                <a:spcPts val="0"/>
              </a:spcBef>
              <a:spcAft>
                <a:spcPts val="0"/>
              </a:spcAft>
              <a:buSzPts val="1200"/>
              <a:buFont typeface="Roboto"/>
              <a:buChar char="○"/>
            </a:pPr>
            <a:r>
              <a:rPr lang="en" sz="1200">
                <a:latin typeface="Roboto"/>
                <a:ea typeface="Roboto"/>
                <a:cs typeface="Roboto"/>
                <a:sym typeface="Roboto"/>
              </a:rPr>
              <a:t>Worst case: O(N log N)</a:t>
            </a:r>
            <a:endParaRPr sz="1200">
              <a:latin typeface="Roboto"/>
              <a:ea typeface="Roboto"/>
              <a:cs typeface="Roboto"/>
              <a:sym typeface="Roboto"/>
            </a:endParaRPr>
          </a:p>
          <a:p>
            <a:pPr indent="-304800" lvl="0" marL="457200" rtl="0" algn="l">
              <a:lnSpc>
                <a:spcPct val="150000"/>
              </a:lnSpc>
              <a:spcBef>
                <a:spcPts val="0"/>
              </a:spcBef>
              <a:spcAft>
                <a:spcPts val="0"/>
              </a:spcAft>
              <a:buSzPts val="1200"/>
              <a:buFont typeface="Roboto"/>
              <a:buChar char="●"/>
            </a:pPr>
            <a:r>
              <a:rPr lang="en" sz="1200">
                <a:latin typeface="Roboto"/>
                <a:ea typeface="Roboto"/>
                <a:cs typeface="Roboto"/>
                <a:sym typeface="Roboto"/>
              </a:rPr>
              <a:t>Quick</a:t>
            </a:r>
            <a:r>
              <a:rPr lang="en" sz="1200">
                <a:latin typeface="Roboto"/>
                <a:ea typeface="Roboto"/>
                <a:cs typeface="Roboto"/>
                <a:sym typeface="Roboto"/>
              </a:rPr>
              <a:t> Sort:</a:t>
            </a:r>
            <a:endParaRPr sz="1200">
              <a:latin typeface="Roboto"/>
              <a:ea typeface="Roboto"/>
              <a:cs typeface="Roboto"/>
              <a:sym typeface="Roboto"/>
            </a:endParaRPr>
          </a:p>
          <a:p>
            <a:pPr indent="-304800" lvl="1" marL="914400" rtl="0" algn="l">
              <a:lnSpc>
                <a:spcPct val="150000"/>
              </a:lnSpc>
              <a:spcBef>
                <a:spcPts val="0"/>
              </a:spcBef>
              <a:spcAft>
                <a:spcPts val="0"/>
              </a:spcAft>
              <a:buSzPts val="1200"/>
              <a:buFont typeface="Roboto"/>
              <a:buChar char="○"/>
            </a:pPr>
            <a:r>
              <a:rPr lang="en" sz="1200">
                <a:latin typeface="Roboto"/>
                <a:ea typeface="Roboto"/>
                <a:cs typeface="Roboto"/>
                <a:sym typeface="Roboto"/>
              </a:rPr>
              <a:t>Best case: O(N log N)</a:t>
            </a:r>
            <a:endParaRPr sz="1200">
              <a:latin typeface="Roboto"/>
              <a:ea typeface="Roboto"/>
              <a:cs typeface="Roboto"/>
              <a:sym typeface="Roboto"/>
            </a:endParaRPr>
          </a:p>
          <a:p>
            <a:pPr indent="-304800" lvl="1" marL="914400" rtl="0" algn="l">
              <a:lnSpc>
                <a:spcPct val="150000"/>
              </a:lnSpc>
              <a:spcBef>
                <a:spcPts val="0"/>
              </a:spcBef>
              <a:spcAft>
                <a:spcPts val="0"/>
              </a:spcAft>
              <a:buSzPts val="1200"/>
              <a:buFont typeface="Roboto"/>
              <a:buChar char="○"/>
            </a:pPr>
            <a:r>
              <a:rPr lang="en" sz="1200">
                <a:latin typeface="Roboto"/>
                <a:ea typeface="Roboto"/>
                <a:cs typeface="Roboto"/>
                <a:sym typeface="Roboto"/>
              </a:rPr>
              <a:t>Worst case: O(N</a:t>
            </a:r>
            <a:r>
              <a:rPr baseline="30000" lang="en" sz="1200">
                <a:latin typeface="Roboto"/>
                <a:ea typeface="Roboto"/>
                <a:cs typeface="Roboto"/>
                <a:sym typeface="Roboto"/>
              </a:rPr>
              <a:t>2</a:t>
            </a:r>
            <a:r>
              <a:rPr lang="en" sz="1200">
                <a:latin typeface="Roboto"/>
                <a:ea typeface="Roboto"/>
                <a:cs typeface="Roboto"/>
                <a:sym typeface="Roboto"/>
              </a:rPr>
              <a:t>)</a:t>
            </a:r>
            <a:endParaRPr sz="1200">
              <a:latin typeface="Roboto"/>
              <a:ea typeface="Roboto"/>
              <a:cs typeface="Roboto"/>
              <a:sym typeface="Roboto"/>
            </a:endParaRPr>
          </a:p>
          <a:p>
            <a:pPr indent="-304800" lvl="1" marL="914400" rtl="0" algn="l">
              <a:lnSpc>
                <a:spcPct val="150000"/>
              </a:lnSpc>
              <a:spcBef>
                <a:spcPts val="0"/>
              </a:spcBef>
              <a:spcAft>
                <a:spcPts val="0"/>
              </a:spcAft>
              <a:buSzPts val="1200"/>
              <a:buFont typeface="Roboto"/>
              <a:buChar char="○"/>
            </a:pPr>
            <a:r>
              <a:rPr lang="en" sz="1200">
                <a:latin typeface="Roboto"/>
                <a:ea typeface="Roboto"/>
                <a:cs typeface="Roboto"/>
                <a:sym typeface="Roboto"/>
              </a:rPr>
              <a:t>Randomly chosen array size: (Average Case) O(N log N)</a:t>
            </a:r>
            <a:endParaRPr sz="1200">
              <a:latin typeface="Roboto"/>
              <a:ea typeface="Roboto"/>
              <a:cs typeface="Roboto"/>
              <a:sym typeface="Roboto"/>
            </a:endParaRPr>
          </a:p>
          <a:p>
            <a:pPr indent="-304800" lvl="0" marL="457200" rtl="0" algn="l">
              <a:lnSpc>
                <a:spcPct val="150000"/>
              </a:lnSpc>
              <a:spcBef>
                <a:spcPts val="0"/>
              </a:spcBef>
              <a:spcAft>
                <a:spcPts val="0"/>
              </a:spcAft>
              <a:buSzPts val="1200"/>
              <a:buFont typeface="Roboto"/>
              <a:buChar char="●"/>
            </a:pPr>
            <a:r>
              <a:rPr lang="en" sz="1200">
                <a:latin typeface="Roboto"/>
                <a:ea typeface="Roboto"/>
                <a:cs typeface="Roboto"/>
                <a:sym typeface="Roboto"/>
              </a:rPr>
              <a:t>Which one is faster?</a:t>
            </a:r>
            <a:endParaRPr sz="1200">
              <a:latin typeface="Roboto"/>
              <a:ea typeface="Roboto"/>
              <a:cs typeface="Roboto"/>
              <a:sym typeface="Roboto"/>
            </a:endParaRPr>
          </a:p>
          <a:p>
            <a:pPr indent="-304800" lvl="1" marL="914400" rtl="0" algn="l">
              <a:lnSpc>
                <a:spcPct val="150000"/>
              </a:lnSpc>
              <a:spcBef>
                <a:spcPts val="0"/>
              </a:spcBef>
              <a:spcAft>
                <a:spcPts val="0"/>
              </a:spcAft>
              <a:buSzPts val="1200"/>
              <a:buFont typeface="Roboto"/>
              <a:buChar char="○"/>
            </a:pPr>
            <a:r>
              <a:rPr lang="en" sz="1200">
                <a:latin typeface="Roboto"/>
                <a:ea typeface="Roboto"/>
                <a:cs typeface="Roboto"/>
                <a:sym typeface="Roboto"/>
              </a:rPr>
              <a:t>Quicksort</a:t>
            </a:r>
            <a:endParaRPr sz="1200">
              <a:latin typeface="Roboto"/>
              <a:ea typeface="Roboto"/>
              <a:cs typeface="Roboto"/>
              <a:sym typeface="Roboto"/>
            </a:endParaRPr>
          </a:p>
          <a:p>
            <a:pPr indent="-304800" lvl="1" marL="914400" rtl="0" algn="l">
              <a:lnSpc>
                <a:spcPct val="150000"/>
              </a:lnSpc>
              <a:spcBef>
                <a:spcPts val="0"/>
              </a:spcBef>
              <a:spcAft>
                <a:spcPts val="0"/>
              </a:spcAft>
              <a:buSzPts val="1200"/>
              <a:buFont typeface="Roboto"/>
              <a:buChar char="○"/>
            </a:pPr>
            <a:r>
              <a:rPr lang="en" sz="1200">
                <a:latin typeface="Roboto"/>
                <a:ea typeface="Roboto"/>
                <a:cs typeface="Roboto"/>
                <a:sym typeface="Roboto"/>
              </a:rPr>
              <a:t>Requires empirical analysis.</a:t>
            </a:r>
            <a:endParaRPr sz="1200">
              <a:latin typeface="Roboto"/>
              <a:ea typeface="Roboto"/>
              <a:cs typeface="Roboto"/>
              <a:sym typeface="Roboto"/>
            </a:endParaRPr>
          </a:p>
        </p:txBody>
      </p:sp>
      <p:sp>
        <p:nvSpPr>
          <p:cNvPr id="1084" name="Google Shape;1084;p52"/>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53"/>
          <p:cNvSpPr txBox="1"/>
          <p:nvPr>
            <p:ph type="title"/>
          </p:nvPr>
        </p:nvSpPr>
        <p:spPr>
          <a:xfrm>
            <a:off x="311700" y="2150850"/>
            <a:ext cx="8520600" cy="1143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Implementation considerations for recursive methods</a:t>
            </a:r>
            <a:endParaRPr/>
          </a:p>
        </p:txBody>
      </p:sp>
      <p:sp>
        <p:nvSpPr>
          <p:cNvPr id="1090" name="Google Shape;1090;p53"/>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Memory Model</a:t>
            </a:r>
            <a:endParaRPr/>
          </a:p>
        </p:txBody>
      </p:sp>
      <p:sp>
        <p:nvSpPr>
          <p:cNvPr id="1096" name="Google Shape;1096;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Memory model of functions:</a:t>
            </a:r>
            <a:endParaRPr/>
          </a:p>
          <a:p>
            <a:pPr indent="-317500" lvl="1" marL="914400" rtl="0" algn="l">
              <a:spcBef>
                <a:spcPts val="0"/>
              </a:spcBef>
              <a:spcAft>
                <a:spcPts val="0"/>
              </a:spcAft>
              <a:buSzPts val="1400"/>
              <a:buChar char="○"/>
            </a:pPr>
            <a:r>
              <a:rPr lang="en"/>
              <a:t>Non-recursive functions: Calling a function </a:t>
            </a:r>
            <a:endParaRPr/>
          </a:p>
          <a:p>
            <a:pPr indent="-317500" lvl="2" marL="1371600" rtl="0" algn="l">
              <a:spcBef>
                <a:spcPts val="0"/>
              </a:spcBef>
              <a:spcAft>
                <a:spcPts val="0"/>
              </a:spcAft>
              <a:buSzPts val="1400"/>
              <a:buChar char="■"/>
            </a:pPr>
            <a:r>
              <a:rPr lang="en"/>
              <a:t>Reserves space for function’s parameters, variables, and return value</a:t>
            </a:r>
            <a:endParaRPr/>
          </a:p>
          <a:p>
            <a:pPr indent="-317500" lvl="2" marL="1371600" rtl="0" algn="l">
              <a:spcBef>
                <a:spcPts val="0"/>
              </a:spcBef>
              <a:spcAft>
                <a:spcPts val="0"/>
              </a:spcAft>
              <a:buSzPts val="1400"/>
              <a:buChar char="■"/>
            </a:pPr>
            <a:r>
              <a:rPr lang="en"/>
              <a:t>Release the space after the return value is obtained</a:t>
            </a:r>
            <a:endParaRPr/>
          </a:p>
          <a:p>
            <a:pPr indent="-317500" lvl="1" marL="914400" rtl="0" algn="l">
              <a:spcBef>
                <a:spcPts val="0"/>
              </a:spcBef>
              <a:spcAft>
                <a:spcPts val="0"/>
              </a:spcAft>
              <a:buSzPts val="1400"/>
              <a:buChar char="○"/>
            </a:pPr>
            <a:r>
              <a:rPr lang="en"/>
              <a:t>Recursive functions: Calling function</a:t>
            </a:r>
            <a:endParaRPr/>
          </a:p>
          <a:p>
            <a:pPr indent="-317500" lvl="2" marL="1371600" rtl="0" algn="l">
              <a:spcBef>
                <a:spcPts val="0"/>
              </a:spcBef>
              <a:spcAft>
                <a:spcPts val="0"/>
              </a:spcAft>
              <a:buSzPts val="1400"/>
              <a:buChar char="■"/>
            </a:pPr>
            <a:r>
              <a:rPr lang="en"/>
              <a:t>R</a:t>
            </a:r>
            <a:r>
              <a:rPr lang="en"/>
              <a:t>eserves space for function’s parameters, variables, and return value</a:t>
            </a:r>
            <a:endParaRPr/>
          </a:p>
          <a:p>
            <a:pPr indent="-317500" lvl="2" marL="1371600" rtl="0" algn="l">
              <a:spcBef>
                <a:spcPts val="0"/>
              </a:spcBef>
              <a:spcAft>
                <a:spcPts val="0"/>
              </a:spcAft>
              <a:buSzPts val="1400"/>
              <a:buChar char="■"/>
            </a:pPr>
            <a:r>
              <a:rPr lang="en"/>
              <a:t>Release the space after each recursive call is completed</a:t>
            </a:r>
            <a:endParaRPr/>
          </a:p>
        </p:txBody>
      </p:sp>
      <p:sp>
        <p:nvSpPr>
          <p:cNvPr id="1097" name="Google Shape;1097;p54"/>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6">
                                            <p:txEl>
                                              <p:pRg end="0" st="0"/>
                                            </p:txEl>
                                          </p:spTgt>
                                        </p:tgtEl>
                                        <p:attrNameLst>
                                          <p:attrName>style.visibility</p:attrName>
                                        </p:attrNameLst>
                                      </p:cBhvr>
                                      <p:to>
                                        <p:strVal val="visible"/>
                                      </p:to>
                                    </p:set>
                                    <p:animEffect filter="fade" transition="in">
                                      <p:cBhvr>
                                        <p:cTn dur="1000"/>
                                        <p:tgtEl>
                                          <p:spTgt spid="10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6">
                                            <p:txEl>
                                              <p:pRg end="1" st="1"/>
                                            </p:txEl>
                                          </p:spTgt>
                                        </p:tgtEl>
                                        <p:attrNameLst>
                                          <p:attrName>style.visibility</p:attrName>
                                        </p:attrNameLst>
                                      </p:cBhvr>
                                      <p:to>
                                        <p:strVal val="visible"/>
                                      </p:to>
                                    </p:set>
                                    <p:animEffect filter="fade" transition="in">
                                      <p:cBhvr>
                                        <p:cTn dur="1000"/>
                                        <p:tgtEl>
                                          <p:spTgt spid="10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6">
                                            <p:txEl>
                                              <p:pRg end="2" st="2"/>
                                            </p:txEl>
                                          </p:spTgt>
                                        </p:tgtEl>
                                        <p:attrNameLst>
                                          <p:attrName>style.visibility</p:attrName>
                                        </p:attrNameLst>
                                      </p:cBhvr>
                                      <p:to>
                                        <p:strVal val="visible"/>
                                      </p:to>
                                    </p:set>
                                    <p:animEffect filter="fade" transition="in">
                                      <p:cBhvr>
                                        <p:cTn dur="1000"/>
                                        <p:tgtEl>
                                          <p:spTgt spid="10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6">
                                            <p:txEl>
                                              <p:pRg end="3" st="3"/>
                                            </p:txEl>
                                          </p:spTgt>
                                        </p:tgtEl>
                                        <p:attrNameLst>
                                          <p:attrName>style.visibility</p:attrName>
                                        </p:attrNameLst>
                                      </p:cBhvr>
                                      <p:to>
                                        <p:strVal val="visible"/>
                                      </p:to>
                                    </p:set>
                                    <p:animEffect filter="fade" transition="in">
                                      <p:cBhvr>
                                        <p:cTn dur="1000"/>
                                        <p:tgtEl>
                                          <p:spTgt spid="10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6">
                                            <p:txEl>
                                              <p:pRg end="4" st="4"/>
                                            </p:txEl>
                                          </p:spTgt>
                                        </p:tgtEl>
                                        <p:attrNameLst>
                                          <p:attrName>style.visibility</p:attrName>
                                        </p:attrNameLst>
                                      </p:cBhvr>
                                      <p:to>
                                        <p:strVal val="visible"/>
                                      </p:to>
                                    </p:set>
                                    <p:animEffect filter="fade" transition="in">
                                      <p:cBhvr>
                                        <p:cTn dur="1000"/>
                                        <p:tgtEl>
                                          <p:spTgt spid="109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6">
                                            <p:txEl>
                                              <p:pRg end="5" st="5"/>
                                            </p:txEl>
                                          </p:spTgt>
                                        </p:tgtEl>
                                        <p:attrNameLst>
                                          <p:attrName>style.visibility</p:attrName>
                                        </p:attrNameLst>
                                      </p:cBhvr>
                                      <p:to>
                                        <p:strVal val="visible"/>
                                      </p:to>
                                    </p:set>
                                    <p:animEffect filter="fade" transition="in">
                                      <p:cBhvr>
                                        <p:cTn dur="1000"/>
                                        <p:tgtEl>
                                          <p:spTgt spid="109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6">
                                            <p:txEl>
                                              <p:pRg end="6" st="6"/>
                                            </p:txEl>
                                          </p:spTgt>
                                        </p:tgtEl>
                                        <p:attrNameLst>
                                          <p:attrName>style.visibility</p:attrName>
                                        </p:attrNameLst>
                                      </p:cBhvr>
                                      <p:to>
                                        <p:strVal val="visible"/>
                                      </p:to>
                                    </p:set>
                                    <p:animEffect filter="fade" transition="in">
                                      <p:cBhvr>
                                        <p:cTn dur="1000"/>
                                        <p:tgtEl>
                                          <p:spTgt spid="109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sp>
        <p:nvSpPr>
          <p:cNvPr id="1103" name="Google Shape;1103;p55"/>
          <p:cNvSpPr txBox="1"/>
          <p:nvPr>
            <p:ph idx="1" type="body"/>
          </p:nvPr>
        </p:nvSpPr>
        <p:spPr>
          <a:xfrm>
            <a:off x="5294375" y="1865275"/>
            <a:ext cx="3701400" cy="26076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100">
                <a:latin typeface="Roboto Mono"/>
                <a:ea typeface="Roboto Mono"/>
                <a:cs typeface="Roboto Mono"/>
                <a:sym typeface="Roboto Mono"/>
              </a:rPr>
              <a:t>v</a:t>
            </a:r>
            <a:r>
              <a:rPr lang="en" sz="1100">
                <a:latin typeface="Roboto Mono"/>
                <a:ea typeface="Roboto Mono"/>
                <a:cs typeface="Roboto Mono"/>
                <a:sym typeface="Roboto Mono"/>
              </a:rPr>
              <a:t>oid </a:t>
            </a:r>
            <a:r>
              <a:rPr lang="en" sz="1100">
                <a:latin typeface="Roboto Mono"/>
                <a:ea typeface="Roboto Mono"/>
                <a:cs typeface="Roboto Mono"/>
                <a:sym typeface="Roboto Mono"/>
              </a:rPr>
              <a:t>s</a:t>
            </a:r>
            <a:r>
              <a:rPr lang="en" sz="1100">
                <a:latin typeface="Roboto Mono"/>
                <a:ea typeface="Roboto Mono"/>
                <a:cs typeface="Roboto Mono"/>
                <a:sym typeface="Roboto Mono"/>
              </a:rPr>
              <a:t>um(int arr[], int n)</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a:t>
            </a:r>
            <a:r>
              <a:rPr lang="en" sz="1100">
                <a:latin typeface="Roboto Mono"/>
                <a:ea typeface="Roboto Mono"/>
                <a:cs typeface="Roboto Mono"/>
                <a:sym typeface="Roboto Mono"/>
              </a:rPr>
              <a:t>i</a:t>
            </a:r>
            <a:r>
              <a:rPr lang="en" sz="1100">
                <a:latin typeface="Roboto Mono"/>
                <a:ea typeface="Roboto Mono"/>
                <a:cs typeface="Roboto Mono"/>
                <a:sym typeface="Roboto Mono"/>
              </a:rPr>
              <a:t>f (n == 0)</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a:t>
            </a:r>
            <a:r>
              <a:rPr lang="en" sz="1100">
                <a:latin typeface="Roboto Mono"/>
                <a:ea typeface="Roboto Mono"/>
                <a:cs typeface="Roboto Mono"/>
                <a:sym typeface="Roboto Mono"/>
              </a:rPr>
              <a:t>r</a:t>
            </a:r>
            <a:r>
              <a:rPr lang="en" sz="1100">
                <a:latin typeface="Roboto Mono"/>
                <a:ea typeface="Roboto Mono"/>
                <a:cs typeface="Roboto Mono"/>
                <a:sym typeface="Roboto Mono"/>
              </a:rPr>
              <a:t>eturn arr[0];</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a:t>
            </a:r>
            <a:r>
              <a:rPr lang="en" sz="1100">
                <a:latin typeface="Roboto Mono"/>
                <a:ea typeface="Roboto Mono"/>
                <a:cs typeface="Roboto Mono"/>
                <a:sym typeface="Roboto Mono"/>
              </a:rPr>
              <a:t>e</a:t>
            </a:r>
            <a:r>
              <a:rPr lang="en" sz="1100">
                <a:latin typeface="Roboto Mono"/>
                <a:ea typeface="Roboto Mono"/>
                <a:cs typeface="Roboto Mono"/>
                <a:sym typeface="Roboto Mono"/>
              </a:rPr>
              <a:t>lse</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a:t>
            </a:r>
            <a:r>
              <a:rPr lang="en" sz="1100">
                <a:latin typeface="Roboto Mono"/>
                <a:ea typeface="Roboto Mono"/>
                <a:cs typeface="Roboto Mono"/>
                <a:sym typeface="Roboto Mono"/>
              </a:rPr>
              <a:t>r</a:t>
            </a:r>
            <a:r>
              <a:rPr lang="en" sz="1100">
                <a:latin typeface="Roboto Mono"/>
                <a:ea typeface="Roboto Mono"/>
                <a:cs typeface="Roboto Mono"/>
                <a:sym typeface="Roboto Mono"/>
              </a:rPr>
              <a:t>eturn arr[n] + sum(arr, n-1);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i</a:t>
            </a:r>
            <a:r>
              <a:rPr lang="en" sz="1100">
                <a:latin typeface="Roboto Mono"/>
                <a:ea typeface="Roboto Mono"/>
                <a:cs typeface="Roboto Mono"/>
                <a:sym typeface="Roboto Mono"/>
              </a:rPr>
              <a:t>nt main()</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a:t>
            </a:r>
            <a:r>
              <a:rPr lang="en" sz="1100">
                <a:latin typeface="Roboto Mono"/>
                <a:ea typeface="Roboto Mono"/>
                <a:cs typeface="Roboto Mono"/>
                <a:sym typeface="Roboto Mono"/>
              </a:rPr>
              <a:t>i</a:t>
            </a:r>
            <a:r>
              <a:rPr lang="en" sz="1100">
                <a:latin typeface="Roboto Mono"/>
                <a:ea typeface="Roboto Mono"/>
                <a:cs typeface="Roboto Mono"/>
                <a:sym typeface="Roboto Mono"/>
              </a:rPr>
              <a:t>nt arr = [3, 2, 9, 10];</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printf(“%d”, sum(arr, 3));</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p:txBody>
      </p:sp>
      <p:sp>
        <p:nvSpPr>
          <p:cNvPr id="1104" name="Google Shape;1104;p55"/>
          <p:cNvSpPr/>
          <p:nvPr/>
        </p:nvSpPr>
        <p:spPr>
          <a:xfrm>
            <a:off x="371050" y="1144400"/>
            <a:ext cx="2358000" cy="345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55"/>
          <p:cNvSpPr txBox="1"/>
          <p:nvPr/>
        </p:nvSpPr>
        <p:spPr>
          <a:xfrm>
            <a:off x="600550" y="4670025"/>
            <a:ext cx="189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Roboto"/>
                <a:ea typeface="Roboto"/>
                <a:cs typeface="Roboto"/>
                <a:sym typeface="Roboto"/>
              </a:rPr>
              <a:t>Function call stack</a:t>
            </a:r>
            <a:endParaRPr>
              <a:solidFill>
                <a:schemeClr val="dk2"/>
              </a:solidFill>
              <a:latin typeface="Roboto"/>
              <a:ea typeface="Roboto"/>
              <a:cs typeface="Roboto"/>
              <a:sym typeface="Roboto"/>
            </a:endParaRPr>
          </a:p>
        </p:txBody>
      </p:sp>
      <p:sp>
        <p:nvSpPr>
          <p:cNvPr id="1106" name="Google Shape;1106;p55"/>
          <p:cNvSpPr/>
          <p:nvPr/>
        </p:nvSpPr>
        <p:spPr>
          <a:xfrm>
            <a:off x="371050" y="4124875"/>
            <a:ext cx="2358000" cy="47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dk2"/>
                </a:solidFill>
                <a:latin typeface="Roboto Mono"/>
                <a:ea typeface="Roboto Mono"/>
                <a:cs typeface="Roboto Mono"/>
                <a:sym typeface="Roboto Mono"/>
              </a:rPr>
              <a:t>main()</a:t>
            </a:r>
            <a:endParaRPr/>
          </a:p>
        </p:txBody>
      </p:sp>
      <p:sp>
        <p:nvSpPr>
          <p:cNvPr id="1107" name="Google Shape;1107;p55"/>
          <p:cNvSpPr/>
          <p:nvPr/>
        </p:nvSpPr>
        <p:spPr>
          <a:xfrm>
            <a:off x="371050" y="3646975"/>
            <a:ext cx="2358000" cy="47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2"/>
                </a:solidFill>
                <a:latin typeface="Roboto Mono"/>
                <a:ea typeface="Roboto Mono"/>
                <a:cs typeface="Roboto Mono"/>
                <a:sym typeface="Roboto Mono"/>
              </a:rPr>
              <a:t>sum([3, 2, 9, 10], 3) = </a:t>
            </a:r>
            <a:r>
              <a:rPr lang="en" sz="1100">
                <a:solidFill>
                  <a:schemeClr val="dk2"/>
                </a:solidFill>
                <a:latin typeface="Roboto Mono"/>
                <a:ea typeface="Roboto Mono"/>
                <a:cs typeface="Roboto Mono"/>
                <a:sym typeface="Roboto Mono"/>
              </a:rPr>
              <a:t>arr[3] + sum(arr, 2)</a:t>
            </a:r>
            <a:endParaRPr/>
          </a:p>
        </p:txBody>
      </p:sp>
      <p:sp>
        <p:nvSpPr>
          <p:cNvPr id="1108" name="Google Shape;1108;p55"/>
          <p:cNvSpPr/>
          <p:nvPr/>
        </p:nvSpPr>
        <p:spPr>
          <a:xfrm>
            <a:off x="371050" y="3169075"/>
            <a:ext cx="2358000" cy="47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2"/>
                </a:solidFill>
                <a:latin typeface="Roboto Mono"/>
                <a:ea typeface="Roboto Mono"/>
                <a:cs typeface="Roboto Mono"/>
                <a:sym typeface="Roboto Mono"/>
              </a:rPr>
              <a:t>sum([3, 2, 9, 10], 2) = </a:t>
            </a:r>
            <a:r>
              <a:rPr lang="en" sz="1100">
                <a:solidFill>
                  <a:schemeClr val="dk2"/>
                </a:solidFill>
                <a:latin typeface="Roboto Mono"/>
                <a:ea typeface="Roboto Mono"/>
                <a:cs typeface="Roboto Mono"/>
                <a:sym typeface="Roboto Mono"/>
              </a:rPr>
              <a:t>arr[2] + sum(arr, 1)</a:t>
            </a:r>
            <a:endParaRPr/>
          </a:p>
        </p:txBody>
      </p:sp>
      <p:sp>
        <p:nvSpPr>
          <p:cNvPr id="1109" name="Google Shape;1109;p55"/>
          <p:cNvSpPr/>
          <p:nvPr/>
        </p:nvSpPr>
        <p:spPr>
          <a:xfrm>
            <a:off x="371050" y="2691175"/>
            <a:ext cx="2358000" cy="47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2"/>
                </a:solidFill>
                <a:latin typeface="Roboto Mono"/>
                <a:ea typeface="Roboto Mono"/>
                <a:cs typeface="Roboto Mono"/>
                <a:sym typeface="Roboto Mono"/>
              </a:rPr>
              <a:t>sum([3, 2, 9, 10], 1) = arr[1] + sum(arr, 0)</a:t>
            </a:r>
            <a:endParaRPr/>
          </a:p>
        </p:txBody>
      </p:sp>
      <p:sp>
        <p:nvSpPr>
          <p:cNvPr id="1110" name="Google Shape;1110;p55"/>
          <p:cNvSpPr/>
          <p:nvPr/>
        </p:nvSpPr>
        <p:spPr>
          <a:xfrm>
            <a:off x="371050" y="2212875"/>
            <a:ext cx="2358000" cy="47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2"/>
                </a:solidFill>
                <a:latin typeface="Roboto Mono"/>
                <a:ea typeface="Roboto Mono"/>
                <a:cs typeface="Roboto Mono"/>
                <a:sym typeface="Roboto Mono"/>
              </a:rPr>
              <a:t>sum(</a:t>
            </a:r>
            <a:r>
              <a:rPr lang="en" sz="1100">
                <a:solidFill>
                  <a:schemeClr val="dk2"/>
                </a:solidFill>
                <a:latin typeface="Roboto Mono"/>
                <a:ea typeface="Roboto Mono"/>
                <a:cs typeface="Roboto Mono"/>
                <a:sym typeface="Roboto Mono"/>
              </a:rPr>
              <a:t>[3, 2, 9, 10]</a:t>
            </a:r>
            <a:r>
              <a:rPr lang="en" sz="1100">
                <a:solidFill>
                  <a:schemeClr val="dk2"/>
                </a:solidFill>
                <a:latin typeface="Roboto Mono"/>
                <a:ea typeface="Roboto Mono"/>
                <a:cs typeface="Roboto Mono"/>
                <a:sym typeface="Roboto Mono"/>
              </a:rPr>
              <a:t>, 0) = return arr [0] </a:t>
            </a:r>
            <a:endParaRPr/>
          </a:p>
        </p:txBody>
      </p:sp>
      <p:cxnSp>
        <p:nvCxnSpPr>
          <p:cNvPr id="1111" name="Google Shape;1111;p55"/>
          <p:cNvCxnSpPr>
            <a:stCxn id="1110" idx="3"/>
            <a:endCxn id="1109" idx="3"/>
          </p:cNvCxnSpPr>
          <p:nvPr/>
        </p:nvCxnSpPr>
        <p:spPr>
          <a:xfrm>
            <a:off x="2729050" y="2451825"/>
            <a:ext cx="600" cy="478200"/>
          </a:xfrm>
          <a:prstGeom prst="curvedConnector3">
            <a:avLst>
              <a:gd fmla="val 39687500" name="adj1"/>
            </a:avLst>
          </a:prstGeom>
          <a:noFill/>
          <a:ln cap="flat" cmpd="sng" w="19050">
            <a:solidFill>
              <a:schemeClr val="dk2"/>
            </a:solidFill>
            <a:prstDash val="solid"/>
            <a:round/>
            <a:headEnd len="med" w="med" type="none"/>
            <a:tailEnd len="med" w="med" type="triangle"/>
          </a:ln>
        </p:spPr>
      </p:cxnSp>
      <p:sp>
        <p:nvSpPr>
          <p:cNvPr id="1112" name="Google Shape;1112;p55"/>
          <p:cNvSpPr txBox="1"/>
          <p:nvPr/>
        </p:nvSpPr>
        <p:spPr>
          <a:xfrm>
            <a:off x="2980475" y="2177625"/>
            <a:ext cx="189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Roboto"/>
                <a:ea typeface="Roboto"/>
                <a:cs typeface="Roboto"/>
                <a:sym typeface="Roboto"/>
              </a:rPr>
              <a:t>r</a:t>
            </a:r>
            <a:r>
              <a:rPr lang="en">
                <a:solidFill>
                  <a:schemeClr val="dk2"/>
                </a:solidFill>
                <a:latin typeface="Roboto"/>
                <a:ea typeface="Roboto"/>
                <a:cs typeface="Roboto"/>
                <a:sym typeface="Roboto"/>
              </a:rPr>
              <a:t>eturn arr[0] = 3</a:t>
            </a:r>
            <a:endParaRPr>
              <a:solidFill>
                <a:schemeClr val="dk2"/>
              </a:solidFill>
              <a:latin typeface="Roboto"/>
              <a:ea typeface="Roboto"/>
              <a:cs typeface="Roboto"/>
              <a:sym typeface="Roboto"/>
            </a:endParaRPr>
          </a:p>
        </p:txBody>
      </p:sp>
      <p:cxnSp>
        <p:nvCxnSpPr>
          <p:cNvPr id="1113" name="Google Shape;1113;p55"/>
          <p:cNvCxnSpPr/>
          <p:nvPr/>
        </p:nvCxnSpPr>
        <p:spPr>
          <a:xfrm>
            <a:off x="2729050" y="2930125"/>
            <a:ext cx="600" cy="477900"/>
          </a:xfrm>
          <a:prstGeom prst="curvedConnector3">
            <a:avLst>
              <a:gd fmla="val 39687500" name="adj1"/>
            </a:avLst>
          </a:prstGeom>
          <a:noFill/>
          <a:ln cap="flat" cmpd="sng" w="19050">
            <a:solidFill>
              <a:schemeClr val="dk2"/>
            </a:solidFill>
            <a:prstDash val="solid"/>
            <a:round/>
            <a:headEnd len="med" w="med" type="none"/>
            <a:tailEnd len="med" w="med" type="triangle"/>
          </a:ln>
        </p:spPr>
      </p:cxnSp>
      <p:sp>
        <p:nvSpPr>
          <p:cNvPr id="1114" name="Google Shape;1114;p55"/>
          <p:cNvSpPr txBox="1"/>
          <p:nvPr/>
        </p:nvSpPr>
        <p:spPr>
          <a:xfrm>
            <a:off x="2980475" y="3169075"/>
            <a:ext cx="189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Roboto"/>
                <a:ea typeface="Roboto"/>
                <a:cs typeface="Roboto"/>
                <a:sym typeface="Roboto"/>
              </a:rPr>
              <a:t>return arr[2] + 5 = 14 </a:t>
            </a:r>
            <a:endParaRPr>
              <a:solidFill>
                <a:schemeClr val="dk2"/>
              </a:solidFill>
              <a:latin typeface="Roboto"/>
              <a:ea typeface="Roboto"/>
              <a:cs typeface="Roboto"/>
              <a:sym typeface="Roboto"/>
            </a:endParaRPr>
          </a:p>
        </p:txBody>
      </p:sp>
      <p:cxnSp>
        <p:nvCxnSpPr>
          <p:cNvPr id="1115" name="Google Shape;1115;p55"/>
          <p:cNvCxnSpPr/>
          <p:nvPr/>
        </p:nvCxnSpPr>
        <p:spPr>
          <a:xfrm>
            <a:off x="2729050" y="3408025"/>
            <a:ext cx="600" cy="477900"/>
          </a:xfrm>
          <a:prstGeom prst="curvedConnector3">
            <a:avLst>
              <a:gd fmla="val 39687500" name="adj1"/>
            </a:avLst>
          </a:prstGeom>
          <a:noFill/>
          <a:ln cap="flat" cmpd="sng" w="19050">
            <a:solidFill>
              <a:schemeClr val="dk2"/>
            </a:solidFill>
            <a:prstDash val="solid"/>
            <a:round/>
            <a:headEnd len="med" w="med" type="none"/>
            <a:tailEnd len="med" w="med" type="triangle"/>
          </a:ln>
        </p:spPr>
      </p:cxnSp>
      <p:sp>
        <p:nvSpPr>
          <p:cNvPr id="1116" name="Google Shape;1116;p55"/>
          <p:cNvSpPr txBox="1"/>
          <p:nvPr/>
        </p:nvSpPr>
        <p:spPr>
          <a:xfrm>
            <a:off x="2980487" y="3664800"/>
            <a:ext cx="189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Roboto"/>
                <a:ea typeface="Roboto"/>
                <a:cs typeface="Roboto"/>
                <a:sym typeface="Roboto"/>
              </a:rPr>
              <a:t>return arr[3] + 14 = 24 </a:t>
            </a:r>
            <a:endParaRPr>
              <a:solidFill>
                <a:schemeClr val="dk2"/>
              </a:solidFill>
              <a:latin typeface="Roboto"/>
              <a:ea typeface="Roboto"/>
              <a:cs typeface="Roboto"/>
              <a:sym typeface="Roboto"/>
            </a:endParaRPr>
          </a:p>
        </p:txBody>
      </p:sp>
      <p:cxnSp>
        <p:nvCxnSpPr>
          <p:cNvPr id="1117" name="Google Shape;1117;p55"/>
          <p:cNvCxnSpPr/>
          <p:nvPr/>
        </p:nvCxnSpPr>
        <p:spPr>
          <a:xfrm>
            <a:off x="2729050" y="3885925"/>
            <a:ext cx="600" cy="477900"/>
          </a:xfrm>
          <a:prstGeom prst="curvedConnector3">
            <a:avLst>
              <a:gd fmla="val 39687500" name="adj1"/>
            </a:avLst>
          </a:prstGeom>
          <a:noFill/>
          <a:ln cap="flat" cmpd="sng" w="19050">
            <a:solidFill>
              <a:schemeClr val="dk2"/>
            </a:solidFill>
            <a:prstDash val="solid"/>
            <a:round/>
            <a:headEnd len="med" w="med" type="none"/>
            <a:tailEnd len="med" w="med" type="triangle"/>
          </a:ln>
        </p:spPr>
      </p:cxnSp>
      <p:sp>
        <p:nvSpPr>
          <p:cNvPr id="1118" name="Google Shape;1118;p55"/>
          <p:cNvSpPr txBox="1"/>
          <p:nvPr/>
        </p:nvSpPr>
        <p:spPr>
          <a:xfrm>
            <a:off x="2980475" y="2673350"/>
            <a:ext cx="240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Roboto"/>
                <a:ea typeface="Roboto"/>
                <a:cs typeface="Roboto"/>
                <a:sym typeface="Roboto"/>
              </a:rPr>
              <a:t>return arr[1] + 3 = 2 + 3 = 5 </a:t>
            </a:r>
            <a:endParaRPr>
              <a:solidFill>
                <a:schemeClr val="dk2"/>
              </a:solidFill>
              <a:latin typeface="Roboto"/>
              <a:ea typeface="Roboto"/>
              <a:cs typeface="Roboto"/>
              <a:sym typeface="Roboto"/>
            </a:endParaRPr>
          </a:p>
        </p:txBody>
      </p:sp>
      <p:sp>
        <p:nvSpPr>
          <p:cNvPr id="1119" name="Google Shape;1119;p55"/>
          <p:cNvSpPr txBox="1"/>
          <p:nvPr/>
        </p:nvSpPr>
        <p:spPr>
          <a:xfrm>
            <a:off x="2967187" y="4160525"/>
            <a:ext cx="189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Roboto"/>
                <a:ea typeface="Roboto"/>
                <a:cs typeface="Roboto"/>
                <a:sym typeface="Roboto"/>
              </a:rPr>
              <a:t>Prints 24</a:t>
            </a:r>
            <a:r>
              <a:rPr lang="en">
                <a:solidFill>
                  <a:schemeClr val="dk2"/>
                </a:solidFill>
                <a:latin typeface="Roboto"/>
                <a:ea typeface="Roboto"/>
                <a:cs typeface="Roboto"/>
                <a:sym typeface="Roboto"/>
              </a:rPr>
              <a:t> </a:t>
            </a:r>
            <a:endParaRPr>
              <a:solidFill>
                <a:schemeClr val="dk2"/>
              </a:solidFill>
              <a:latin typeface="Roboto"/>
              <a:ea typeface="Roboto"/>
              <a:cs typeface="Roboto"/>
              <a:sym typeface="Roboto"/>
            </a:endParaRPr>
          </a:p>
        </p:txBody>
      </p:sp>
      <p:sp>
        <p:nvSpPr>
          <p:cNvPr id="1120" name="Google Shape;1120;p55"/>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4"/>
                                        </p:tgtEl>
                                        <p:attrNameLst>
                                          <p:attrName>style.visibility</p:attrName>
                                        </p:attrNameLst>
                                      </p:cBhvr>
                                      <p:to>
                                        <p:strVal val="visible"/>
                                      </p:to>
                                    </p:set>
                                    <p:animEffect filter="fade" transition="in">
                                      <p:cBhvr>
                                        <p:cTn dur="1000"/>
                                        <p:tgtEl>
                                          <p:spTgt spid="1104"/>
                                        </p:tgtEl>
                                      </p:cBhvr>
                                    </p:animEffect>
                                  </p:childTnLst>
                                </p:cTn>
                              </p:par>
                              <p:par>
                                <p:cTn fill="hold" nodeType="withEffect" presetClass="entr" presetID="10" presetSubtype="0">
                                  <p:stCondLst>
                                    <p:cond delay="0"/>
                                  </p:stCondLst>
                                  <p:childTnLst>
                                    <p:set>
                                      <p:cBhvr>
                                        <p:cTn dur="1" fill="hold">
                                          <p:stCondLst>
                                            <p:cond delay="0"/>
                                          </p:stCondLst>
                                        </p:cTn>
                                        <p:tgtEl>
                                          <p:spTgt spid="1105"/>
                                        </p:tgtEl>
                                        <p:attrNameLst>
                                          <p:attrName>style.visibility</p:attrName>
                                        </p:attrNameLst>
                                      </p:cBhvr>
                                      <p:to>
                                        <p:strVal val="visible"/>
                                      </p:to>
                                    </p:set>
                                    <p:animEffect filter="fade" transition="in">
                                      <p:cBhvr>
                                        <p:cTn dur="1000"/>
                                        <p:tgtEl>
                                          <p:spTgt spid="11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6"/>
                                        </p:tgtEl>
                                        <p:attrNameLst>
                                          <p:attrName>style.visibility</p:attrName>
                                        </p:attrNameLst>
                                      </p:cBhvr>
                                      <p:to>
                                        <p:strVal val="visible"/>
                                      </p:to>
                                    </p:set>
                                    <p:animEffect filter="fade" transition="in">
                                      <p:cBhvr>
                                        <p:cTn dur="1000"/>
                                        <p:tgtEl>
                                          <p:spTgt spid="11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gtEl>
                                        <p:attrNameLst>
                                          <p:attrName>style.visibility</p:attrName>
                                        </p:attrNameLst>
                                      </p:cBhvr>
                                      <p:to>
                                        <p:strVal val="visible"/>
                                      </p:to>
                                    </p:set>
                                    <p:animEffect filter="fade" transition="in">
                                      <p:cBhvr>
                                        <p:cTn dur="1000"/>
                                        <p:tgtEl>
                                          <p:spTgt spid="11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8"/>
                                        </p:tgtEl>
                                        <p:attrNameLst>
                                          <p:attrName>style.visibility</p:attrName>
                                        </p:attrNameLst>
                                      </p:cBhvr>
                                      <p:to>
                                        <p:strVal val="visible"/>
                                      </p:to>
                                    </p:set>
                                    <p:animEffect filter="fade" transition="in">
                                      <p:cBhvr>
                                        <p:cTn dur="1000"/>
                                        <p:tgtEl>
                                          <p:spTgt spid="1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9"/>
                                        </p:tgtEl>
                                        <p:attrNameLst>
                                          <p:attrName>style.visibility</p:attrName>
                                        </p:attrNameLst>
                                      </p:cBhvr>
                                      <p:to>
                                        <p:strVal val="visible"/>
                                      </p:to>
                                    </p:set>
                                    <p:animEffect filter="fade" transition="in">
                                      <p:cBhvr>
                                        <p:cTn dur="1000"/>
                                        <p:tgtEl>
                                          <p:spTgt spid="11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0"/>
                                        </p:tgtEl>
                                        <p:attrNameLst>
                                          <p:attrName>style.visibility</p:attrName>
                                        </p:attrNameLst>
                                      </p:cBhvr>
                                      <p:to>
                                        <p:strVal val="visible"/>
                                      </p:to>
                                    </p:set>
                                    <p:animEffect filter="fade" transition="in">
                                      <p:cBhvr>
                                        <p:cTn dur="1000"/>
                                        <p:tgtEl>
                                          <p:spTgt spid="1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1"/>
                                        </p:tgtEl>
                                        <p:attrNameLst>
                                          <p:attrName>style.visibility</p:attrName>
                                        </p:attrNameLst>
                                      </p:cBhvr>
                                      <p:to>
                                        <p:strVal val="visible"/>
                                      </p:to>
                                    </p:set>
                                    <p:animEffect filter="fade" transition="in">
                                      <p:cBhvr>
                                        <p:cTn dur="1000"/>
                                        <p:tgtEl>
                                          <p:spTgt spid="1111"/>
                                        </p:tgtEl>
                                      </p:cBhvr>
                                    </p:animEffect>
                                  </p:childTnLst>
                                </p:cTn>
                              </p:par>
                              <p:par>
                                <p:cTn fill="hold" nodeType="withEffect" presetClass="entr" presetID="10" presetSubtype="0">
                                  <p:stCondLst>
                                    <p:cond delay="0"/>
                                  </p:stCondLst>
                                  <p:childTnLst>
                                    <p:set>
                                      <p:cBhvr>
                                        <p:cTn dur="1" fill="hold">
                                          <p:stCondLst>
                                            <p:cond delay="0"/>
                                          </p:stCondLst>
                                        </p:cTn>
                                        <p:tgtEl>
                                          <p:spTgt spid="1112"/>
                                        </p:tgtEl>
                                        <p:attrNameLst>
                                          <p:attrName>style.visibility</p:attrName>
                                        </p:attrNameLst>
                                      </p:cBhvr>
                                      <p:to>
                                        <p:strVal val="visible"/>
                                      </p:to>
                                    </p:set>
                                    <p:animEffect filter="fade" transition="in">
                                      <p:cBhvr>
                                        <p:cTn dur="1000"/>
                                        <p:tgtEl>
                                          <p:spTgt spid="11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1">
                                  <p:stCondLst>
                                    <p:cond delay="0"/>
                                  </p:stCondLst>
                                  <p:childTnLst>
                                    <p:anim calcmode="lin" valueType="num">
                                      <p:cBhvr additive="base">
                                        <p:cTn dur="1000"/>
                                        <p:tgtEl>
                                          <p:spTgt spid="1110"/>
                                        </p:tgtEl>
                                        <p:attrNameLst>
                                          <p:attrName>ppt_y</p:attrName>
                                        </p:attrNameLst>
                                      </p:cBhvr>
                                      <p:tavLst>
                                        <p:tav fmla="" tm="0">
                                          <p:val>
                                            <p:strVal val="#ppt_y"/>
                                          </p:val>
                                        </p:tav>
                                        <p:tav fmla="" tm="100000">
                                          <p:val>
                                            <p:strVal val="#ppt_y-1"/>
                                          </p:val>
                                        </p:tav>
                                      </p:tavLst>
                                    </p:anim>
                                    <p:set>
                                      <p:cBhvr>
                                        <p:cTn dur="1" fill="hold">
                                          <p:stCondLst>
                                            <p:cond delay="1000"/>
                                          </p:stCondLst>
                                        </p:cTn>
                                        <p:tgtEl>
                                          <p:spTgt spid="111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111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000"/>
                                          </p:stCondLst>
                                        </p:cTn>
                                        <p:tgtEl>
                                          <p:spTgt spid="111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3"/>
                                        </p:tgtEl>
                                        <p:attrNameLst>
                                          <p:attrName>style.visibility</p:attrName>
                                        </p:attrNameLst>
                                      </p:cBhvr>
                                      <p:to>
                                        <p:strVal val="visible"/>
                                      </p:to>
                                    </p:set>
                                    <p:animEffect filter="fade" transition="in">
                                      <p:cBhvr>
                                        <p:cTn dur="1000"/>
                                        <p:tgtEl>
                                          <p:spTgt spid="1113"/>
                                        </p:tgtEl>
                                      </p:cBhvr>
                                    </p:animEffect>
                                  </p:childTnLst>
                                </p:cTn>
                              </p:par>
                              <p:par>
                                <p:cTn fill="hold" nodeType="withEffect" presetClass="entr" presetID="10" presetSubtype="0">
                                  <p:stCondLst>
                                    <p:cond delay="0"/>
                                  </p:stCondLst>
                                  <p:childTnLst>
                                    <p:set>
                                      <p:cBhvr>
                                        <p:cTn dur="1" fill="hold">
                                          <p:stCondLst>
                                            <p:cond delay="0"/>
                                          </p:stCondLst>
                                        </p:cTn>
                                        <p:tgtEl>
                                          <p:spTgt spid="1118"/>
                                        </p:tgtEl>
                                        <p:attrNameLst>
                                          <p:attrName>style.visibility</p:attrName>
                                        </p:attrNameLst>
                                      </p:cBhvr>
                                      <p:to>
                                        <p:strVal val="visible"/>
                                      </p:to>
                                    </p:set>
                                    <p:animEffect filter="fade" transition="in">
                                      <p:cBhvr>
                                        <p:cTn dur="1000"/>
                                        <p:tgtEl>
                                          <p:spTgt spid="11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1">
                                  <p:stCondLst>
                                    <p:cond delay="0"/>
                                  </p:stCondLst>
                                  <p:childTnLst>
                                    <p:anim calcmode="lin" valueType="num">
                                      <p:cBhvr additive="base">
                                        <p:cTn dur="1000"/>
                                        <p:tgtEl>
                                          <p:spTgt spid="1109"/>
                                        </p:tgtEl>
                                        <p:attrNameLst>
                                          <p:attrName>ppt_y</p:attrName>
                                        </p:attrNameLst>
                                      </p:cBhvr>
                                      <p:tavLst>
                                        <p:tav fmla="" tm="0">
                                          <p:val>
                                            <p:strVal val="#ppt_y"/>
                                          </p:val>
                                        </p:tav>
                                        <p:tav fmla="" tm="100000">
                                          <p:val>
                                            <p:strVal val="#ppt_y-1"/>
                                          </p:val>
                                        </p:tav>
                                      </p:tavLst>
                                    </p:anim>
                                    <p:set>
                                      <p:cBhvr>
                                        <p:cTn dur="1" fill="hold">
                                          <p:stCondLst>
                                            <p:cond delay="1000"/>
                                          </p:stCondLst>
                                        </p:cTn>
                                        <p:tgtEl>
                                          <p:spTgt spid="110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111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100"/>
                                          </p:stCondLst>
                                        </p:cTn>
                                        <p:tgtEl>
                                          <p:spTgt spid="111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5"/>
                                        </p:tgtEl>
                                        <p:attrNameLst>
                                          <p:attrName>style.visibility</p:attrName>
                                        </p:attrNameLst>
                                      </p:cBhvr>
                                      <p:to>
                                        <p:strVal val="visible"/>
                                      </p:to>
                                    </p:set>
                                    <p:animEffect filter="fade" transition="in">
                                      <p:cBhvr>
                                        <p:cTn dur="1000"/>
                                        <p:tgtEl>
                                          <p:spTgt spid="1115"/>
                                        </p:tgtEl>
                                      </p:cBhvr>
                                    </p:animEffect>
                                  </p:childTnLst>
                                </p:cTn>
                              </p:par>
                              <p:par>
                                <p:cTn fill="hold" nodeType="withEffect" presetClass="entr" presetID="10" presetSubtype="0">
                                  <p:stCondLst>
                                    <p:cond delay="0"/>
                                  </p:stCondLst>
                                  <p:childTnLst>
                                    <p:set>
                                      <p:cBhvr>
                                        <p:cTn dur="1" fill="hold">
                                          <p:stCondLst>
                                            <p:cond delay="0"/>
                                          </p:stCondLst>
                                        </p:cTn>
                                        <p:tgtEl>
                                          <p:spTgt spid="1114"/>
                                        </p:tgtEl>
                                        <p:attrNameLst>
                                          <p:attrName>style.visibility</p:attrName>
                                        </p:attrNameLst>
                                      </p:cBhvr>
                                      <p:to>
                                        <p:strVal val="visible"/>
                                      </p:to>
                                    </p:set>
                                    <p:animEffect filter="fade" transition="in">
                                      <p:cBhvr>
                                        <p:cTn dur="1000"/>
                                        <p:tgtEl>
                                          <p:spTgt spid="11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1">
                                  <p:stCondLst>
                                    <p:cond delay="0"/>
                                  </p:stCondLst>
                                  <p:childTnLst>
                                    <p:anim calcmode="lin" valueType="num">
                                      <p:cBhvr additive="base">
                                        <p:cTn dur="1000"/>
                                        <p:tgtEl>
                                          <p:spTgt spid="1108"/>
                                        </p:tgtEl>
                                        <p:attrNameLst>
                                          <p:attrName>ppt_y</p:attrName>
                                        </p:attrNameLst>
                                      </p:cBhvr>
                                      <p:tavLst>
                                        <p:tav fmla="" tm="0">
                                          <p:val>
                                            <p:strVal val="#ppt_y"/>
                                          </p:val>
                                        </p:tav>
                                        <p:tav fmla="" tm="100000">
                                          <p:val>
                                            <p:strVal val="#ppt_y-1"/>
                                          </p:val>
                                        </p:tav>
                                      </p:tavLst>
                                    </p:anim>
                                    <p:set>
                                      <p:cBhvr>
                                        <p:cTn dur="1" fill="hold">
                                          <p:stCondLst>
                                            <p:cond delay="1000"/>
                                          </p:stCondLst>
                                        </p:cTn>
                                        <p:tgtEl>
                                          <p:spTgt spid="11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111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000"/>
                                          </p:stCondLst>
                                        </p:cTn>
                                        <p:tgtEl>
                                          <p:spTgt spid="111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6"/>
                                        </p:tgtEl>
                                        <p:attrNameLst>
                                          <p:attrName>style.visibility</p:attrName>
                                        </p:attrNameLst>
                                      </p:cBhvr>
                                      <p:to>
                                        <p:strVal val="visible"/>
                                      </p:to>
                                    </p:set>
                                    <p:animEffect filter="fade" transition="in">
                                      <p:cBhvr>
                                        <p:cTn dur="1000"/>
                                        <p:tgtEl>
                                          <p:spTgt spid="1116"/>
                                        </p:tgtEl>
                                      </p:cBhvr>
                                    </p:animEffect>
                                  </p:childTnLst>
                                </p:cTn>
                              </p:par>
                              <p:par>
                                <p:cTn fill="hold" nodeType="withEffect" presetClass="entr" presetID="10" presetSubtype="0">
                                  <p:stCondLst>
                                    <p:cond delay="0"/>
                                  </p:stCondLst>
                                  <p:childTnLst>
                                    <p:set>
                                      <p:cBhvr>
                                        <p:cTn dur="1" fill="hold">
                                          <p:stCondLst>
                                            <p:cond delay="0"/>
                                          </p:stCondLst>
                                        </p:cTn>
                                        <p:tgtEl>
                                          <p:spTgt spid="1117"/>
                                        </p:tgtEl>
                                        <p:attrNameLst>
                                          <p:attrName>style.visibility</p:attrName>
                                        </p:attrNameLst>
                                      </p:cBhvr>
                                      <p:to>
                                        <p:strVal val="visible"/>
                                      </p:to>
                                    </p:set>
                                    <p:animEffect filter="fade" transition="in">
                                      <p:cBhvr>
                                        <p:cTn dur="1000"/>
                                        <p:tgtEl>
                                          <p:spTgt spid="11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1">
                                  <p:stCondLst>
                                    <p:cond delay="0"/>
                                  </p:stCondLst>
                                  <p:childTnLst>
                                    <p:anim calcmode="lin" valueType="num">
                                      <p:cBhvr additive="base">
                                        <p:cTn dur="1000"/>
                                        <p:tgtEl>
                                          <p:spTgt spid="1107"/>
                                        </p:tgtEl>
                                        <p:attrNameLst>
                                          <p:attrName>ppt_y</p:attrName>
                                        </p:attrNameLst>
                                      </p:cBhvr>
                                      <p:tavLst>
                                        <p:tav fmla="" tm="0">
                                          <p:val>
                                            <p:strVal val="#ppt_y"/>
                                          </p:val>
                                        </p:tav>
                                        <p:tav fmla="" tm="100000">
                                          <p:val>
                                            <p:strVal val="#ppt_y-1"/>
                                          </p:val>
                                        </p:tav>
                                      </p:tavLst>
                                    </p:anim>
                                    <p:set>
                                      <p:cBhvr>
                                        <p:cTn dur="1" fill="hold">
                                          <p:stCondLst>
                                            <p:cond delay="1000"/>
                                          </p:stCondLst>
                                        </p:cTn>
                                        <p:tgtEl>
                                          <p:spTgt spid="110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111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000"/>
                                          </p:stCondLst>
                                        </p:cTn>
                                        <p:tgtEl>
                                          <p:spTgt spid="11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9"/>
                                        </p:tgtEl>
                                        <p:attrNameLst>
                                          <p:attrName>style.visibility</p:attrName>
                                        </p:attrNameLst>
                                      </p:cBhvr>
                                      <p:to>
                                        <p:strVal val="visible"/>
                                      </p:to>
                                    </p:set>
                                    <p:animEffect filter="fade" transition="in">
                                      <p:cBhvr>
                                        <p:cTn dur="1000"/>
                                        <p:tgtEl>
                                          <p:spTgt spid="1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Things to consider </a:t>
            </a:r>
            <a:endParaRPr/>
          </a:p>
        </p:txBody>
      </p:sp>
      <p:sp>
        <p:nvSpPr>
          <p:cNvPr id="1126" name="Google Shape;1126;p56"/>
          <p:cNvSpPr txBox="1"/>
          <p:nvPr>
            <p:ph idx="1" type="body"/>
          </p:nvPr>
        </p:nvSpPr>
        <p:spPr>
          <a:xfrm>
            <a:off x="311700" y="1192275"/>
            <a:ext cx="5373900" cy="3697500"/>
          </a:xfrm>
          <a:prstGeom prst="rect">
            <a:avLst/>
          </a:prstGeom>
        </p:spPr>
        <p:txBody>
          <a:bodyPr anchorCtr="0" anchor="t" bIns="91425" lIns="91425" spcFirstLastPara="1" rIns="91425" wrap="square" tIns="91425">
            <a:normAutofit fontScale="70000" lnSpcReduction="10000"/>
          </a:bodyPr>
          <a:lstStyle/>
          <a:p>
            <a:pPr indent="-297180" lvl="0" marL="457200" rtl="0" algn="l">
              <a:lnSpc>
                <a:spcPct val="200000"/>
              </a:lnSpc>
              <a:spcBef>
                <a:spcPts val="0"/>
              </a:spcBef>
              <a:spcAft>
                <a:spcPts val="0"/>
              </a:spcAft>
              <a:buSzPct val="100000"/>
              <a:buFont typeface="Roboto"/>
              <a:buChar char="●"/>
            </a:pPr>
            <a:r>
              <a:rPr lang="en" sz="1542">
                <a:latin typeface="Roboto"/>
                <a:ea typeface="Roboto"/>
                <a:cs typeface="Roboto"/>
                <a:sym typeface="Roboto"/>
              </a:rPr>
              <a:t>Recursion call stack grows upwards </a:t>
            </a:r>
            <a:endParaRPr sz="1542">
              <a:latin typeface="Roboto"/>
              <a:ea typeface="Roboto"/>
              <a:cs typeface="Roboto"/>
              <a:sym typeface="Roboto"/>
            </a:endParaRPr>
          </a:p>
          <a:p>
            <a:pPr indent="-297180" lvl="0" marL="457200" rtl="0" algn="l">
              <a:lnSpc>
                <a:spcPct val="200000"/>
              </a:lnSpc>
              <a:spcBef>
                <a:spcPts val="0"/>
              </a:spcBef>
              <a:spcAft>
                <a:spcPts val="0"/>
              </a:spcAft>
              <a:buSzPct val="100000"/>
              <a:buFont typeface="Roboto"/>
              <a:buChar char="●"/>
            </a:pPr>
            <a:r>
              <a:rPr lang="en" sz="1542">
                <a:latin typeface="Roboto"/>
                <a:ea typeface="Roboto"/>
                <a:cs typeface="Roboto"/>
                <a:sym typeface="Roboto"/>
              </a:rPr>
              <a:t>Depending on the input size, call stacks with individual stack frames for each recursive call can grow large!</a:t>
            </a:r>
            <a:endParaRPr sz="1542">
              <a:latin typeface="Roboto"/>
              <a:ea typeface="Roboto"/>
              <a:cs typeface="Roboto"/>
              <a:sym typeface="Roboto"/>
            </a:endParaRPr>
          </a:p>
          <a:p>
            <a:pPr indent="-297180" lvl="0" marL="457200" rtl="0" algn="l">
              <a:lnSpc>
                <a:spcPct val="200000"/>
              </a:lnSpc>
              <a:spcBef>
                <a:spcPts val="0"/>
              </a:spcBef>
              <a:spcAft>
                <a:spcPts val="0"/>
              </a:spcAft>
              <a:buSzPct val="100000"/>
              <a:buFont typeface="Roboto"/>
              <a:buChar char="●"/>
            </a:pPr>
            <a:r>
              <a:rPr lang="en" sz="1542">
                <a:latin typeface="Roboto"/>
                <a:ea typeface="Roboto"/>
                <a:cs typeface="Roboto"/>
                <a:sym typeface="Roboto"/>
              </a:rPr>
              <a:t>Code can run out of stack space</a:t>
            </a:r>
            <a:endParaRPr sz="1542">
              <a:latin typeface="Roboto"/>
              <a:ea typeface="Roboto"/>
              <a:cs typeface="Roboto"/>
              <a:sym typeface="Roboto"/>
            </a:endParaRPr>
          </a:p>
          <a:p>
            <a:pPr indent="-297180" lvl="0" marL="457200" rtl="0" algn="l">
              <a:lnSpc>
                <a:spcPct val="200000"/>
              </a:lnSpc>
              <a:spcBef>
                <a:spcPts val="0"/>
              </a:spcBef>
              <a:spcAft>
                <a:spcPts val="0"/>
              </a:spcAft>
              <a:buSzPct val="100000"/>
              <a:buFont typeface="Roboto"/>
              <a:buChar char="●"/>
            </a:pPr>
            <a:r>
              <a:rPr lang="en" sz="1542">
                <a:latin typeface="Roboto"/>
                <a:ea typeface="Roboto"/>
                <a:cs typeface="Roboto"/>
                <a:sym typeface="Roboto"/>
              </a:rPr>
              <a:t>Program can terminate </a:t>
            </a:r>
            <a:r>
              <a:rPr lang="en" sz="1542">
                <a:latin typeface="Roboto"/>
                <a:ea typeface="Roboto"/>
                <a:cs typeface="Roboto"/>
                <a:sym typeface="Roboto"/>
              </a:rPr>
              <a:t>abruptly!</a:t>
            </a:r>
            <a:endParaRPr sz="1542">
              <a:latin typeface="Roboto"/>
              <a:ea typeface="Roboto"/>
              <a:cs typeface="Roboto"/>
              <a:sym typeface="Roboto"/>
            </a:endParaRPr>
          </a:p>
          <a:p>
            <a:pPr indent="-297180" lvl="0" marL="457200" rtl="0" algn="l">
              <a:lnSpc>
                <a:spcPct val="200000"/>
              </a:lnSpc>
              <a:spcBef>
                <a:spcPts val="0"/>
              </a:spcBef>
              <a:spcAft>
                <a:spcPts val="0"/>
              </a:spcAft>
              <a:buSzPct val="100000"/>
              <a:buFont typeface="Roboto"/>
              <a:buChar char="●"/>
            </a:pPr>
            <a:r>
              <a:rPr lang="en" sz="1542">
                <a:latin typeface="Roboto"/>
                <a:ea typeface="Roboto"/>
                <a:cs typeface="Roboto"/>
                <a:sym typeface="Roboto"/>
              </a:rPr>
              <a:t>Solution:</a:t>
            </a:r>
            <a:endParaRPr sz="1542">
              <a:latin typeface="Roboto"/>
              <a:ea typeface="Roboto"/>
              <a:cs typeface="Roboto"/>
              <a:sym typeface="Roboto"/>
            </a:endParaRPr>
          </a:p>
          <a:p>
            <a:pPr indent="-297180" lvl="1" marL="914400" rtl="0" algn="l">
              <a:lnSpc>
                <a:spcPct val="200000"/>
              </a:lnSpc>
              <a:spcBef>
                <a:spcPts val="0"/>
              </a:spcBef>
              <a:spcAft>
                <a:spcPts val="0"/>
              </a:spcAft>
              <a:buSzPct val="100000"/>
              <a:buFont typeface="Roboto"/>
              <a:buChar char="○"/>
            </a:pPr>
            <a:r>
              <a:rPr b="1" lang="en" sz="1542">
                <a:latin typeface="Roboto"/>
                <a:ea typeface="Roboto"/>
                <a:cs typeface="Roboto"/>
                <a:sym typeface="Roboto"/>
              </a:rPr>
              <a:t>Tail-recursive optimization</a:t>
            </a:r>
            <a:endParaRPr b="1" sz="1542">
              <a:latin typeface="Roboto"/>
              <a:ea typeface="Roboto"/>
              <a:cs typeface="Roboto"/>
              <a:sym typeface="Roboto"/>
            </a:endParaRPr>
          </a:p>
          <a:p>
            <a:pPr indent="-297180" lvl="0" marL="457200" rtl="0" algn="l">
              <a:lnSpc>
                <a:spcPct val="200000"/>
              </a:lnSpc>
              <a:spcBef>
                <a:spcPts val="0"/>
              </a:spcBef>
              <a:spcAft>
                <a:spcPts val="0"/>
              </a:spcAft>
              <a:buSzPct val="100000"/>
              <a:buFont typeface="Roboto"/>
              <a:buChar char="●"/>
            </a:pPr>
            <a:r>
              <a:rPr lang="en" sz="1542">
                <a:latin typeface="Roboto"/>
                <a:ea typeface="Roboto"/>
                <a:cs typeface="Roboto"/>
                <a:sym typeface="Roboto"/>
              </a:rPr>
              <a:t>What is tail recursion?</a:t>
            </a:r>
            <a:endParaRPr sz="1542">
              <a:latin typeface="Roboto"/>
              <a:ea typeface="Roboto"/>
              <a:cs typeface="Roboto"/>
              <a:sym typeface="Roboto"/>
            </a:endParaRPr>
          </a:p>
          <a:p>
            <a:pPr indent="-297180" lvl="1" marL="914400" rtl="0" algn="l">
              <a:lnSpc>
                <a:spcPct val="200000"/>
              </a:lnSpc>
              <a:spcBef>
                <a:spcPts val="0"/>
              </a:spcBef>
              <a:spcAft>
                <a:spcPts val="0"/>
              </a:spcAft>
              <a:buSzPct val="100000"/>
              <a:buFont typeface="Roboto"/>
              <a:buChar char="○"/>
            </a:pPr>
            <a:r>
              <a:rPr lang="en" sz="1542">
                <a:latin typeface="Roboto"/>
                <a:ea typeface="Roboto"/>
                <a:cs typeface="Roboto"/>
                <a:sym typeface="Roboto"/>
              </a:rPr>
              <a:t>A tail recursive function is a function where recursive call is the last thing executed by the function.</a:t>
            </a:r>
            <a:endParaRPr sz="1542">
              <a:latin typeface="Roboto"/>
              <a:ea typeface="Roboto"/>
              <a:cs typeface="Roboto"/>
              <a:sym typeface="Roboto"/>
            </a:endParaRPr>
          </a:p>
          <a:p>
            <a:pPr indent="0" lvl="0" marL="0" rtl="0" algn="l">
              <a:lnSpc>
                <a:spcPct val="200000"/>
              </a:lnSpc>
              <a:spcBef>
                <a:spcPts val="1200"/>
              </a:spcBef>
              <a:spcAft>
                <a:spcPts val="1200"/>
              </a:spcAft>
              <a:buNone/>
            </a:pPr>
            <a:r>
              <a:t/>
            </a:r>
            <a:endParaRPr sz="1400">
              <a:latin typeface="Roboto"/>
              <a:ea typeface="Roboto"/>
              <a:cs typeface="Roboto"/>
              <a:sym typeface="Roboto"/>
            </a:endParaRPr>
          </a:p>
        </p:txBody>
      </p:sp>
      <p:sp>
        <p:nvSpPr>
          <p:cNvPr id="1127" name="Google Shape;1127;p56"/>
          <p:cNvSpPr/>
          <p:nvPr/>
        </p:nvSpPr>
        <p:spPr>
          <a:xfrm>
            <a:off x="6429575" y="807275"/>
            <a:ext cx="2358000" cy="345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56"/>
          <p:cNvSpPr txBox="1"/>
          <p:nvPr/>
        </p:nvSpPr>
        <p:spPr>
          <a:xfrm>
            <a:off x="6716875" y="4352175"/>
            <a:ext cx="189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Roboto"/>
                <a:ea typeface="Roboto"/>
                <a:cs typeface="Roboto"/>
                <a:sym typeface="Roboto"/>
              </a:rPr>
              <a:t>Function call stack</a:t>
            </a:r>
            <a:endParaRPr>
              <a:solidFill>
                <a:schemeClr val="dk2"/>
              </a:solidFill>
              <a:latin typeface="Roboto"/>
              <a:ea typeface="Roboto"/>
              <a:cs typeface="Roboto"/>
              <a:sym typeface="Roboto"/>
            </a:endParaRPr>
          </a:p>
        </p:txBody>
      </p:sp>
      <p:sp>
        <p:nvSpPr>
          <p:cNvPr id="1129" name="Google Shape;1129;p56"/>
          <p:cNvSpPr/>
          <p:nvPr/>
        </p:nvSpPr>
        <p:spPr>
          <a:xfrm>
            <a:off x="6429575" y="3787750"/>
            <a:ext cx="2358000" cy="47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2"/>
                </a:solidFill>
                <a:latin typeface="Roboto Mono"/>
                <a:ea typeface="Roboto Mono"/>
                <a:cs typeface="Roboto Mono"/>
                <a:sym typeface="Roboto Mono"/>
              </a:rPr>
              <a:t>main()</a:t>
            </a:r>
            <a:endParaRPr/>
          </a:p>
        </p:txBody>
      </p:sp>
      <p:sp>
        <p:nvSpPr>
          <p:cNvPr id="1130" name="Google Shape;1130;p56"/>
          <p:cNvSpPr/>
          <p:nvPr/>
        </p:nvSpPr>
        <p:spPr>
          <a:xfrm>
            <a:off x="6429575" y="3309850"/>
            <a:ext cx="2358000" cy="47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2"/>
                </a:solidFill>
                <a:latin typeface="Roboto Mono"/>
                <a:ea typeface="Roboto Mono"/>
                <a:cs typeface="Roboto Mono"/>
                <a:sym typeface="Roboto Mono"/>
              </a:rPr>
              <a:t>sum(arr, 60)</a:t>
            </a:r>
            <a:endParaRPr/>
          </a:p>
        </p:txBody>
      </p:sp>
      <p:sp>
        <p:nvSpPr>
          <p:cNvPr id="1131" name="Google Shape;1131;p56"/>
          <p:cNvSpPr/>
          <p:nvPr/>
        </p:nvSpPr>
        <p:spPr>
          <a:xfrm>
            <a:off x="6429575" y="2831950"/>
            <a:ext cx="2358000" cy="47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2"/>
                </a:solidFill>
                <a:latin typeface="Roboto Mono"/>
                <a:ea typeface="Roboto Mono"/>
                <a:cs typeface="Roboto Mono"/>
                <a:sym typeface="Roboto Mono"/>
              </a:rPr>
              <a:t>sum(arr, 59)</a:t>
            </a:r>
            <a:endParaRPr/>
          </a:p>
        </p:txBody>
      </p:sp>
      <p:sp>
        <p:nvSpPr>
          <p:cNvPr id="1132" name="Google Shape;1132;p56"/>
          <p:cNvSpPr/>
          <p:nvPr/>
        </p:nvSpPr>
        <p:spPr>
          <a:xfrm>
            <a:off x="6429575" y="1876150"/>
            <a:ext cx="2358000" cy="47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2"/>
                </a:solidFill>
                <a:latin typeface="Roboto Mono"/>
                <a:ea typeface="Roboto Mono"/>
                <a:cs typeface="Roboto Mono"/>
                <a:sym typeface="Roboto Mono"/>
              </a:rPr>
              <a:t>sum(arr, 1)</a:t>
            </a:r>
            <a:endParaRPr/>
          </a:p>
        </p:txBody>
      </p:sp>
      <p:sp>
        <p:nvSpPr>
          <p:cNvPr id="1133" name="Google Shape;1133;p56"/>
          <p:cNvSpPr/>
          <p:nvPr/>
        </p:nvSpPr>
        <p:spPr>
          <a:xfrm>
            <a:off x="6429575" y="1394388"/>
            <a:ext cx="2358000" cy="4779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2"/>
                </a:solidFill>
                <a:latin typeface="Roboto Mono"/>
                <a:ea typeface="Roboto Mono"/>
                <a:cs typeface="Roboto Mono"/>
                <a:sym typeface="Roboto Mono"/>
              </a:rPr>
              <a:t>sum(arr, 0)</a:t>
            </a:r>
            <a:endParaRPr/>
          </a:p>
        </p:txBody>
      </p:sp>
      <p:sp>
        <p:nvSpPr>
          <p:cNvPr id="1134" name="Google Shape;1134;p56"/>
          <p:cNvSpPr txBox="1"/>
          <p:nvPr/>
        </p:nvSpPr>
        <p:spPr>
          <a:xfrm>
            <a:off x="7407050" y="2392888"/>
            <a:ext cx="103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sp>
        <p:nvSpPr>
          <p:cNvPr id="1135" name="Google Shape;1135;p56"/>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7"/>
                                        </p:tgtEl>
                                        <p:attrNameLst>
                                          <p:attrName>style.visibility</p:attrName>
                                        </p:attrNameLst>
                                      </p:cBhvr>
                                      <p:to>
                                        <p:strVal val="visible"/>
                                      </p:to>
                                    </p:set>
                                    <p:animEffect filter="fade" transition="in">
                                      <p:cBhvr>
                                        <p:cTn dur="1000"/>
                                        <p:tgtEl>
                                          <p:spTgt spid="1127"/>
                                        </p:tgtEl>
                                      </p:cBhvr>
                                    </p:animEffect>
                                  </p:childTnLst>
                                </p:cTn>
                              </p:par>
                              <p:par>
                                <p:cTn fill="hold" nodeType="withEffect" presetClass="entr" presetID="10" presetSubtype="0">
                                  <p:stCondLst>
                                    <p:cond delay="0"/>
                                  </p:stCondLst>
                                  <p:childTnLst>
                                    <p:set>
                                      <p:cBhvr>
                                        <p:cTn dur="1" fill="hold">
                                          <p:stCondLst>
                                            <p:cond delay="0"/>
                                          </p:stCondLst>
                                        </p:cTn>
                                        <p:tgtEl>
                                          <p:spTgt spid="1128"/>
                                        </p:tgtEl>
                                        <p:attrNameLst>
                                          <p:attrName>style.visibility</p:attrName>
                                        </p:attrNameLst>
                                      </p:cBhvr>
                                      <p:to>
                                        <p:strVal val="visible"/>
                                      </p:to>
                                    </p:set>
                                    <p:animEffect filter="fade" transition="in">
                                      <p:cBhvr>
                                        <p:cTn dur="1000"/>
                                        <p:tgtEl>
                                          <p:spTgt spid="1128"/>
                                        </p:tgtEl>
                                      </p:cBhvr>
                                    </p:animEffect>
                                  </p:childTnLst>
                                </p:cTn>
                              </p:par>
                              <p:par>
                                <p:cTn fill="hold" nodeType="withEffect" presetClass="entr" presetID="10" presetSubtype="0">
                                  <p:stCondLst>
                                    <p:cond delay="0"/>
                                  </p:stCondLst>
                                  <p:childTnLst>
                                    <p:set>
                                      <p:cBhvr>
                                        <p:cTn dur="1" fill="hold">
                                          <p:stCondLst>
                                            <p:cond delay="0"/>
                                          </p:stCondLst>
                                        </p:cTn>
                                        <p:tgtEl>
                                          <p:spTgt spid="1129"/>
                                        </p:tgtEl>
                                        <p:attrNameLst>
                                          <p:attrName>style.visibility</p:attrName>
                                        </p:attrNameLst>
                                      </p:cBhvr>
                                      <p:to>
                                        <p:strVal val="visible"/>
                                      </p:to>
                                    </p:set>
                                    <p:animEffect filter="fade" transition="in">
                                      <p:cBhvr>
                                        <p:cTn dur="1000"/>
                                        <p:tgtEl>
                                          <p:spTgt spid="1129"/>
                                        </p:tgtEl>
                                      </p:cBhvr>
                                    </p:animEffect>
                                  </p:childTnLst>
                                </p:cTn>
                              </p:par>
                              <p:par>
                                <p:cTn fill="hold" nodeType="withEffect" presetClass="entr" presetID="10" presetSubtype="0">
                                  <p:stCondLst>
                                    <p:cond delay="0"/>
                                  </p:stCondLst>
                                  <p:childTnLst>
                                    <p:set>
                                      <p:cBhvr>
                                        <p:cTn dur="1" fill="hold">
                                          <p:stCondLst>
                                            <p:cond delay="0"/>
                                          </p:stCondLst>
                                        </p:cTn>
                                        <p:tgtEl>
                                          <p:spTgt spid="1130"/>
                                        </p:tgtEl>
                                        <p:attrNameLst>
                                          <p:attrName>style.visibility</p:attrName>
                                        </p:attrNameLst>
                                      </p:cBhvr>
                                      <p:to>
                                        <p:strVal val="visible"/>
                                      </p:to>
                                    </p:set>
                                    <p:animEffect filter="fade" transition="in">
                                      <p:cBhvr>
                                        <p:cTn dur="1000"/>
                                        <p:tgtEl>
                                          <p:spTgt spid="1130"/>
                                        </p:tgtEl>
                                      </p:cBhvr>
                                    </p:animEffect>
                                  </p:childTnLst>
                                </p:cTn>
                              </p:par>
                              <p:par>
                                <p:cTn fill="hold" nodeType="withEffect" presetClass="entr" presetID="10" presetSubtype="0">
                                  <p:stCondLst>
                                    <p:cond delay="0"/>
                                  </p:stCondLst>
                                  <p:childTnLst>
                                    <p:set>
                                      <p:cBhvr>
                                        <p:cTn dur="1" fill="hold">
                                          <p:stCondLst>
                                            <p:cond delay="0"/>
                                          </p:stCondLst>
                                        </p:cTn>
                                        <p:tgtEl>
                                          <p:spTgt spid="1131"/>
                                        </p:tgtEl>
                                        <p:attrNameLst>
                                          <p:attrName>style.visibility</p:attrName>
                                        </p:attrNameLst>
                                      </p:cBhvr>
                                      <p:to>
                                        <p:strVal val="visible"/>
                                      </p:to>
                                    </p:set>
                                    <p:animEffect filter="fade" transition="in">
                                      <p:cBhvr>
                                        <p:cTn dur="1000"/>
                                        <p:tgtEl>
                                          <p:spTgt spid="1131"/>
                                        </p:tgtEl>
                                      </p:cBhvr>
                                    </p:animEffect>
                                  </p:childTnLst>
                                </p:cTn>
                              </p:par>
                              <p:par>
                                <p:cTn fill="hold" nodeType="withEffect" presetClass="entr" presetID="10" presetSubtype="0">
                                  <p:stCondLst>
                                    <p:cond delay="0"/>
                                  </p:stCondLst>
                                  <p:childTnLst>
                                    <p:set>
                                      <p:cBhvr>
                                        <p:cTn dur="1" fill="hold">
                                          <p:stCondLst>
                                            <p:cond delay="0"/>
                                          </p:stCondLst>
                                        </p:cTn>
                                        <p:tgtEl>
                                          <p:spTgt spid="1132"/>
                                        </p:tgtEl>
                                        <p:attrNameLst>
                                          <p:attrName>style.visibility</p:attrName>
                                        </p:attrNameLst>
                                      </p:cBhvr>
                                      <p:to>
                                        <p:strVal val="visible"/>
                                      </p:to>
                                    </p:set>
                                    <p:animEffect filter="fade" transition="in">
                                      <p:cBhvr>
                                        <p:cTn dur="1000"/>
                                        <p:tgtEl>
                                          <p:spTgt spid="1132"/>
                                        </p:tgtEl>
                                      </p:cBhvr>
                                    </p:animEffect>
                                  </p:childTnLst>
                                </p:cTn>
                              </p:par>
                              <p:par>
                                <p:cTn fill="hold" nodeType="withEffect" presetClass="entr" presetID="10" presetSubtype="0">
                                  <p:stCondLst>
                                    <p:cond delay="0"/>
                                  </p:stCondLst>
                                  <p:childTnLst>
                                    <p:set>
                                      <p:cBhvr>
                                        <p:cTn dur="1" fill="hold">
                                          <p:stCondLst>
                                            <p:cond delay="0"/>
                                          </p:stCondLst>
                                        </p:cTn>
                                        <p:tgtEl>
                                          <p:spTgt spid="1133"/>
                                        </p:tgtEl>
                                        <p:attrNameLst>
                                          <p:attrName>style.visibility</p:attrName>
                                        </p:attrNameLst>
                                      </p:cBhvr>
                                      <p:to>
                                        <p:strVal val="visible"/>
                                      </p:to>
                                    </p:set>
                                    <p:animEffect filter="fade" transition="in">
                                      <p:cBhvr>
                                        <p:cTn dur="1000"/>
                                        <p:tgtEl>
                                          <p:spTgt spid="1133"/>
                                        </p:tgtEl>
                                      </p:cBhvr>
                                    </p:animEffect>
                                  </p:childTnLst>
                                </p:cTn>
                              </p:par>
                              <p:par>
                                <p:cTn fill="hold" nodeType="withEffect" presetClass="entr" presetID="10" presetSubtype="0">
                                  <p:stCondLst>
                                    <p:cond delay="0"/>
                                  </p:stCondLst>
                                  <p:childTnLst>
                                    <p:set>
                                      <p:cBhvr>
                                        <p:cTn dur="1" fill="hold">
                                          <p:stCondLst>
                                            <p:cond delay="0"/>
                                          </p:stCondLst>
                                        </p:cTn>
                                        <p:tgtEl>
                                          <p:spTgt spid="1134"/>
                                        </p:tgtEl>
                                        <p:attrNameLst>
                                          <p:attrName>style.visibility</p:attrName>
                                        </p:attrNameLst>
                                      </p:cBhvr>
                                      <p:to>
                                        <p:strVal val="visible"/>
                                      </p:to>
                                    </p:set>
                                    <p:animEffect filter="fade" transition="in">
                                      <p:cBhvr>
                                        <p:cTn dur="1000"/>
                                        <p:tgtEl>
                                          <p:spTgt spid="1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6">
                                            <p:txEl>
                                              <p:pRg end="0" st="0"/>
                                            </p:txEl>
                                          </p:spTgt>
                                        </p:tgtEl>
                                        <p:attrNameLst>
                                          <p:attrName>style.visibility</p:attrName>
                                        </p:attrNameLst>
                                      </p:cBhvr>
                                      <p:to>
                                        <p:strVal val="visible"/>
                                      </p:to>
                                    </p:set>
                                    <p:animEffect filter="fade" transition="in">
                                      <p:cBhvr>
                                        <p:cTn dur="1000"/>
                                        <p:tgtEl>
                                          <p:spTgt spid="112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6">
                                            <p:txEl>
                                              <p:pRg end="1" st="1"/>
                                            </p:txEl>
                                          </p:spTgt>
                                        </p:tgtEl>
                                        <p:attrNameLst>
                                          <p:attrName>style.visibility</p:attrName>
                                        </p:attrNameLst>
                                      </p:cBhvr>
                                      <p:to>
                                        <p:strVal val="visible"/>
                                      </p:to>
                                    </p:set>
                                    <p:animEffect filter="fade" transition="in">
                                      <p:cBhvr>
                                        <p:cTn dur="1000"/>
                                        <p:tgtEl>
                                          <p:spTgt spid="112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6">
                                            <p:txEl>
                                              <p:pRg end="2" st="2"/>
                                            </p:txEl>
                                          </p:spTgt>
                                        </p:tgtEl>
                                        <p:attrNameLst>
                                          <p:attrName>style.visibility</p:attrName>
                                        </p:attrNameLst>
                                      </p:cBhvr>
                                      <p:to>
                                        <p:strVal val="visible"/>
                                      </p:to>
                                    </p:set>
                                    <p:animEffect filter="fade" transition="in">
                                      <p:cBhvr>
                                        <p:cTn dur="1000"/>
                                        <p:tgtEl>
                                          <p:spTgt spid="112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6">
                                            <p:txEl>
                                              <p:pRg end="3" st="3"/>
                                            </p:txEl>
                                          </p:spTgt>
                                        </p:tgtEl>
                                        <p:attrNameLst>
                                          <p:attrName>style.visibility</p:attrName>
                                        </p:attrNameLst>
                                      </p:cBhvr>
                                      <p:to>
                                        <p:strVal val="visible"/>
                                      </p:to>
                                    </p:set>
                                    <p:animEffect filter="fade" transition="in">
                                      <p:cBhvr>
                                        <p:cTn dur="1000"/>
                                        <p:tgtEl>
                                          <p:spTgt spid="112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6">
                                            <p:txEl>
                                              <p:pRg end="4" st="4"/>
                                            </p:txEl>
                                          </p:spTgt>
                                        </p:tgtEl>
                                        <p:attrNameLst>
                                          <p:attrName>style.visibility</p:attrName>
                                        </p:attrNameLst>
                                      </p:cBhvr>
                                      <p:to>
                                        <p:strVal val="visible"/>
                                      </p:to>
                                    </p:set>
                                    <p:animEffect filter="fade" transition="in">
                                      <p:cBhvr>
                                        <p:cTn dur="1000"/>
                                        <p:tgtEl>
                                          <p:spTgt spid="112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6">
                                            <p:txEl>
                                              <p:pRg end="5" st="5"/>
                                            </p:txEl>
                                          </p:spTgt>
                                        </p:tgtEl>
                                        <p:attrNameLst>
                                          <p:attrName>style.visibility</p:attrName>
                                        </p:attrNameLst>
                                      </p:cBhvr>
                                      <p:to>
                                        <p:strVal val="visible"/>
                                      </p:to>
                                    </p:set>
                                    <p:animEffect filter="fade" transition="in">
                                      <p:cBhvr>
                                        <p:cTn dur="1000"/>
                                        <p:tgtEl>
                                          <p:spTgt spid="112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6">
                                            <p:txEl>
                                              <p:pRg end="6" st="6"/>
                                            </p:txEl>
                                          </p:spTgt>
                                        </p:tgtEl>
                                        <p:attrNameLst>
                                          <p:attrName>style.visibility</p:attrName>
                                        </p:attrNameLst>
                                      </p:cBhvr>
                                      <p:to>
                                        <p:strVal val="visible"/>
                                      </p:to>
                                    </p:set>
                                    <p:animEffect filter="fade" transition="in">
                                      <p:cBhvr>
                                        <p:cTn dur="1000"/>
                                        <p:tgtEl>
                                          <p:spTgt spid="112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6">
                                            <p:txEl>
                                              <p:pRg end="7" st="7"/>
                                            </p:txEl>
                                          </p:spTgt>
                                        </p:tgtEl>
                                        <p:attrNameLst>
                                          <p:attrName>style.visibility</p:attrName>
                                        </p:attrNameLst>
                                      </p:cBhvr>
                                      <p:to>
                                        <p:strVal val="visible"/>
                                      </p:to>
                                    </p:set>
                                    <p:animEffect filter="fade" transition="in">
                                      <p:cBhvr>
                                        <p:cTn dur="1000"/>
                                        <p:tgtEl>
                                          <p:spTgt spid="112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6">
                                            <p:txEl>
                                              <p:pRg end="8" st="8"/>
                                            </p:txEl>
                                          </p:spTgt>
                                        </p:tgtEl>
                                        <p:attrNameLst>
                                          <p:attrName>style.visibility</p:attrName>
                                        </p:attrNameLst>
                                      </p:cBhvr>
                                      <p:to>
                                        <p:strVal val="visible"/>
                                      </p:to>
                                    </p:set>
                                    <p:animEffect filter="fade" transition="in">
                                      <p:cBhvr>
                                        <p:cTn dur="1000"/>
                                        <p:tgtEl>
                                          <p:spTgt spid="1126">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Tail Recursive Optimization</a:t>
            </a:r>
            <a:endParaRPr/>
          </a:p>
        </p:txBody>
      </p:sp>
      <p:sp>
        <p:nvSpPr>
          <p:cNvPr id="1141" name="Google Shape;1141;p57"/>
          <p:cNvSpPr txBox="1"/>
          <p:nvPr>
            <p:ph idx="1" type="body"/>
          </p:nvPr>
        </p:nvSpPr>
        <p:spPr>
          <a:xfrm>
            <a:off x="4966450" y="1685625"/>
            <a:ext cx="4029000" cy="26076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lang="en" sz="1000">
                <a:latin typeface="Roboto Mono"/>
                <a:ea typeface="Roboto Mono"/>
                <a:cs typeface="Roboto Mono"/>
                <a:sym typeface="Roboto Mono"/>
              </a:rPr>
              <a:t>void sumTR(int arr[], int n, </a:t>
            </a:r>
            <a:r>
              <a:rPr lang="en" sz="1000">
                <a:highlight>
                  <a:srgbClr val="FFF2CC"/>
                </a:highlight>
                <a:latin typeface="Roboto Mono"/>
                <a:ea typeface="Roboto Mono"/>
                <a:cs typeface="Roboto Mono"/>
                <a:sym typeface="Roboto Mono"/>
              </a:rPr>
              <a:t>part_sum</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	if (n == 0)</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		return </a:t>
            </a:r>
            <a:r>
              <a:rPr lang="en" sz="1000">
                <a:highlight>
                  <a:srgbClr val="FFF2CC"/>
                </a:highlight>
                <a:latin typeface="Roboto Mono"/>
                <a:ea typeface="Roboto Mono"/>
                <a:cs typeface="Roboto Mono"/>
                <a:sym typeface="Roboto Mono"/>
              </a:rPr>
              <a:t>part_sum + arr[0]</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	else</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		return sum(arr, n-1, </a:t>
            </a:r>
            <a:r>
              <a:rPr lang="en" sz="1000">
                <a:highlight>
                  <a:srgbClr val="FFF2CC"/>
                </a:highlight>
                <a:latin typeface="Roboto Mono"/>
                <a:ea typeface="Roboto Mono"/>
                <a:cs typeface="Roboto Mono"/>
                <a:sym typeface="Roboto Mono"/>
              </a:rPr>
              <a:t>part_sum+</a:t>
            </a:r>
            <a:r>
              <a:rPr lang="en" sz="1000">
                <a:highlight>
                  <a:srgbClr val="FFF2CC"/>
                </a:highlight>
                <a:latin typeface="Roboto Mono"/>
                <a:ea typeface="Roboto Mono"/>
                <a:cs typeface="Roboto Mono"/>
                <a:sym typeface="Roboto Mono"/>
              </a:rPr>
              <a:t>arr[n]</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int main()</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	int arr = [3, 2, 9, 10];</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	printf(“%d”, </a:t>
            </a:r>
            <a:r>
              <a:rPr lang="en" sz="1000">
                <a:highlight>
                  <a:srgbClr val="FFF2CC"/>
                </a:highlight>
                <a:latin typeface="Roboto Mono"/>
                <a:ea typeface="Roboto Mono"/>
                <a:cs typeface="Roboto Mono"/>
                <a:sym typeface="Roboto Mono"/>
              </a:rPr>
              <a:t>sumTR(arr, 3, 0)</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a:t>
            </a:r>
            <a:endParaRPr sz="1000">
              <a:latin typeface="Roboto Mono"/>
              <a:ea typeface="Roboto Mono"/>
              <a:cs typeface="Roboto Mono"/>
              <a:sym typeface="Roboto Mono"/>
            </a:endParaRPr>
          </a:p>
        </p:txBody>
      </p:sp>
      <p:sp>
        <p:nvSpPr>
          <p:cNvPr id="1142" name="Google Shape;1142;p57"/>
          <p:cNvSpPr/>
          <p:nvPr/>
        </p:nvSpPr>
        <p:spPr>
          <a:xfrm>
            <a:off x="228100" y="1163425"/>
            <a:ext cx="2430300" cy="2789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57"/>
          <p:cNvSpPr txBox="1"/>
          <p:nvPr/>
        </p:nvSpPr>
        <p:spPr>
          <a:xfrm>
            <a:off x="464603" y="4007450"/>
            <a:ext cx="1957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latin typeface="Roboto"/>
                <a:ea typeface="Roboto"/>
                <a:cs typeface="Roboto"/>
                <a:sym typeface="Roboto"/>
              </a:rPr>
              <a:t>Function call stack</a:t>
            </a:r>
            <a:endParaRPr sz="1100">
              <a:solidFill>
                <a:schemeClr val="dk2"/>
              </a:solidFill>
              <a:latin typeface="Roboto"/>
              <a:ea typeface="Roboto"/>
              <a:cs typeface="Roboto"/>
              <a:sym typeface="Roboto"/>
            </a:endParaRPr>
          </a:p>
        </p:txBody>
      </p:sp>
      <p:sp>
        <p:nvSpPr>
          <p:cNvPr id="1144" name="Google Shape;1144;p57"/>
          <p:cNvSpPr/>
          <p:nvPr/>
        </p:nvSpPr>
        <p:spPr>
          <a:xfrm>
            <a:off x="228100" y="3567692"/>
            <a:ext cx="2430300" cy="385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chemeClr val="dk2"/>
                </a:solidFill>
                <a:latin typeface="Roboto Mono"/>
                <a:ea typeface="Roboto Mono"/>
                <a:cs typeface="Roboto Mono"/>
                <a:sym typeface="Roboto Mono"/>
              </a:rPr>
              <a:t>main()</a:t>
            </a:r>
            <a:endParaRPr sz="1100"/>
          </a:p>
        </p:txBody>
      </p:sp>
      <p:sp>
        <p:nvSpPr>
          <p:cNvPr id="1145" name="Google Shape;1145;p57"/>
          <p:cNvSpPr/>
          <p:nvPr/>
        </p:nvSpPr>
        <p:spPr>
          <a:xfrm>
            <a:off x="228100" y="3182184"/>
            <a:ext cx="2430300" cy="385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chemeClr val="dk2"/>
                </a:solidFill>
                <a:latin typeface="Roboto Mono"/>
                <a:ea typeface="Roboto Mono"/>
                <a:cs typeface="Roboto Mono"/>
                <a:sym typeface="Roboto Mono"/>
              </a:rPr>
              <a:t>sumTR([3, 2, 9, 10], 3, 0)</a:t>
            </a:r>
            <a:endParaRPr sz="1100"/>
          </a:p>
        </p:txBody>
      </p:sp>
      <p:sp>
        <p:nvSpPr>
          <p:cNvPr id="1146" name="Google Shape;1146;p57"/>
          <p:cNvSpPr/>
          <p:nvPr/>
        </p:nvSpPr>
        <p:spPr>
          <a:xfrm>
            <a:off x="228100" y="2796675"/>
            <a:ext cx="2430300" cy="385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chemeClr val="dk2"/>
                </a:solidFill>
                <a:latin typeface="Roboto Mono"/>
                <a:ea typeface="Roboto Mono"/>
                <a:cs typeface="Roboto Mono"/>
                <a:sym typeface="Roboto Mono"/>
              </a:rPr>
              <a:t>sumTR([3, 2, 9, 10], 2, 10)</a:t>
            </a:r>
            <a:endParaRPr sz="1100"/>
          </a:p>
        </p:txBody>
      </p:sp>
      <p:sp>
        <p:nvSpPr>
          <p:cNvPr id="1147" name="Google Shape;1147;p57"/>
          <p:cNvSpPr/>
          <p:nvPr/>
        </p:nvSpPr>
        <p:spPr>
          <a:xfrm>
            <a:off x="228100" y="2411166"/>
            <a:ext cx="2430300" cy="385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chemeClr val="dk2"/>
                </a:solidFill>
                <a:latin typeface="Roboto Mono"/>
                <a:ea typeface="Roboto Mono"/>
                <a:cs typeface="Roboto Mono"/>
                <a:sym typeface="Roboto Mono"/>
              </a:rPr>
              <a:t>sumTR([3, 2, 9, 10], 1, 19)</a:t>
            </a:r>
            <a:endParaRPr sz="1100"/>
          </a:p>
        </p:txBody>
      </p:sp>
      <p:sp>
        <p:nvSpPr>
          <p:cNvPr id="1148" name="Google Shape;1148;p57"/>
          <p:cNvSpPr/>
          <p:nvPr/>
        </p:nvSpPr>
        <p:spPr>
          <a:xfrm>
            <a:off x="228100" y="2025334"/>
            <a:ext cx="2430300" cy="385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chemeClr val="dk2"/>
                </a:solidFill>
                <a:latin typeface="Roboto Mono"/>
                <a:ea typeface="Roboto Mono"/>
                <a:cs typeface="Roboto Mono"/>
                <a:sym typeface="Roboto Mono"/>
              </a:rPr>
              <a:t>sumTR([3, 2, 9, 10], 0, 21)</a:t>
            </a:r>
            <a:endParaRPr sz="1100"/>
          </a:p>
        </p:txBody>
      </p:sp>
      <p:sp>
        <p:nvSpPr>
          <p:cNvPr id="1149" name="Google Shape;1149;p57"/>
          <p:cNvSpPr txBox="1"/>
          <p:nvPr/>
        </p:nvSpPr>
        <p:spPr>
          <a:xfrm>
            <a:off x="2782276" y="3205574"/>
            <a:ext cx="170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part_sum = 0 + 10 = 10</a:t>
            </a:r>
            <a:endParaRPr sz="1000">
              <a:solidFill>
                <a:schemeClr val="dk2"/>
              </a:solidFill>
              <a:latin typeface="Roboto"/>
              <a:ea typeface="Roboto"/>
              <a:cs typeface="Roboto"/>
              <a:sym typeface="Roboto"/>
            </a:endParaRPr>
          </a:p>
        </p:txBody>
      </p:sp>
      <p:sp>
        <p:nvSpPr>
          <p:cNvPr id="1150" name="Google Shape;1150;p57"/>
          <p:cNvSpPr txBox="1"/>
          <p:nvPr/>
        </p:nvSpPr>
        <p:spPr>
          <a:xfrm>
            <a:off x="2738812" y="5207112"/>
            <a:ext cx="170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return arr[3] + 14 = 24 </a:t>
            </a:r>
            <a:endParaRPr sz="1000">
              <a:solidFill>
                <a:schemeClr val="dk2"/>
              </a:solidFill>
              <a:latin typeface="Roboto"/>
              <a:ea typeface="Roboto"/>
              <a:cs typeface="Roboto"/>
              <a:sym typeface="Roboto"/>
            </a:endParaRPr>
          </a:p>
        </p:txBody>
      </p:sp>
      <p:sp>
        <p:nvSpPr>
          <p:cNvPr id="1151" name="Google Shape;1151;p57"/>
          <p:cNvSpPr txBox="1"/>
          <p:nvPr/>
        </p:nvSpPr>
        <p:spPr>
          <a:xfrm>
            <a:off x="2726877" y="5607000"/>
            <a:ext cx="170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Prints 24 </a:t>
            </a:r>
            <a:endParaRPr sz="1000">
              <a:solidFill>
                <a:schemeClr val="dk2"/>
              </a:solidFill>
              <a:latin typeface="Roboto"/>
              <a:ea typeface="Roboto"/>
              <a:cs typeface="Roboto"/>
              <a:sym typeface="Roboto"/>
            </a:endParaRPr>
          </a:p>
        </p:txBody>
      </p:sp>
      <p:sp>
        <p:nvSpPr>
          <p:cNvPr id="1152" name="Google Shape;1152;p57"/>
          <p:cNvSpPr txBox="1"/>
          <p:nvPr/>
        </p:nvSpPr>
        <p:spPr>
          <a:xfrm>
            <a:off x="4894000" y="807050"/>
            <a:ext cx="4173900" cy="666300"/>
          </a:xfrm>
          <a:prstGeom prst="rect">
            <a:avLst/>
          </a:prstGeom>
          <a:solidFill>
            <a:schemeClr val="lt2"/>
          </a:solidFill>
          <a:ln>
            <a:noFill/>
          </a:ln>
        </p:spPr>
        <p:txBody>
          <a:bodyPr anchorCtr="0" anchor="t" bIns="91425" lIns="91425" spcFirstLastPara="1" rIns="91425" wrap="square" tIns="91425">
            <a:spAutoFit/>
          </a:bodyPr>
          <a:lstStyle/>
          <a:p>
            <a:pPr indent="0" lvl="0" marL="0" rtl="0" algn="l">
              <a:lnSpc>
                <a:spcPct val="200000"/>
              </a:lnSpc>
              <a:spcBef>
                <a:spcPts val="0"/>
              </a:spcBef>
              <a:spcAft>
                <a:spcPts val="1200"/>
              </a:spcAft>
              <a:buNone/>
            </a:pPr>
            <a:r>
              <a:rPr lang="en" sz="1042">
                <a:solidFill>
                  <a:schemeClr val="dk2"/>
                </a:solidFill>
                <a:latin typeface="Roboto"/>
                <a:ea typeface="Roboto"/>
                <a:cs typeface="Roboto"/>
                <a:sym typeface="Roboto"/>
              </a:rPr>
              <a:t>A tail recursive function is a function where recursive call is the last thing executed by the function.</a:t>
            </a:r>
            <a:endParaRPr sz="900">
              <a:latin typeface="Roboto"/>
              <a:ea typeface="Roboto"/>
              <a:cs typeface="Roboto"/>
              <a:sym typeface="Roboto"/>
            </a:endParaRPr>
          </a:p>
        </p:txBody>
      </p:sp>
      <p:sp>
        <p:nvSpPr>
          <p:cNvPr id="1153" name="Google Shape;1153;p57"/>
          <p:cNvSpPr txBox="1"/>
          <p:nvPr/>
        </p:nvSpPr>
        <p:spPr>
          <a:xfrm>
            <a:off x="2782276" y="2820087"/>
            <a:ext cx="170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part_sum = 10 + 9 = 19 </a:t>
            </a:r>
            <a:endParaRPr sz="1000">
              <a:solidFill>
                <a:schemeClr val="dk2"/>
              </a:solidFill>
              <a:latin typeface="Roboto"/>
              <a:ea typeface="Roboto"/>
              <a:cs typeface="Roboto"/>
              <a:sym typeface="Roboto"/>
            </a:endParaRPr>
          </a:p>
        </p:txBody>
      </p:sp>
      <p:sp>
        <p:nvSpPr>
          <p:cNvPr id="1154" name="Google Shape;1154;p57"/>
          <p:cNvSpPr txBox="1"/>
          <p:nvPr/>
        </p:nvSpPr>
        <p:spPr>
          <a:xfrm>
            <a:off x="2782276" y="2434587"/>
            <a:ext cx="170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part_sum = 19 + 2 = 21 </a:t>
            </a:r>
            <a:endParaRPr sz="1000">
              <a:solidFill>
                <a:schemeClr val="dk2"/>
              </a:solidFill>
              <a:latin typeface="Roboto"/>
              <a:ea typeface="Roboto"/>
              <a:cs typeface="Roboto"/>
              <a:sym typeface="Roboto"/>
            </a:endParaRPr>
          </a:p>
        </p:txBody>
      </p:sp>
      <p:sp>
        <p:nvSpPr>
          <p:cNvPr id="1155" name="Google Shape;1155;p57"/>
          <p:cNvSpPr txBox="1"/>
          <p:nvPr/>
        </p:nvSpPr>
        <p:spPr>
          <a:xfrm>
            <a:off x="2782276" y="2049087"/>
            <a:ext cx="170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part_sum = 21 + 3 = 24 </a:t>
            </a:r>
            <a:endParaRPr sz="1000">
              <a:solidFill>
                <a:schemeClr val="dk2"/>
              </a:solidFill>
              <a:latin typeface="Roboto"/>
              <a:ea typeface="Roboto"/>
              <a:cs typeface="Roboto"/>
              <a:sym typeface="Roboto"/>
            </a:endParaRPr>
          </a:p>
        </p:txBody>
      </p:sp>
      <p:sp>
        <p:nvSpPr>
          <p:cNvPr id="1156" name="Google Shape;1156;p57"/>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gtEl>
                                        <p:attrNameLst>
                                          <p:attrName>style.visibility</p:attrName>
                                        </p:attrNameLst>
                                      </p:cBhvr>
                                      <p:to>
                                        <p:strVal val="visible"/>
                                      </p:to>
                                    </p:set>
                                    <p:animEffect filter="fade" transition="in">
                                      <p:cBhvr>
                                        <p:cTn dur="1000"/>
                                        <p:tgtEl>
                                          <p:spTgt spid="1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1">
                                            <p:txEl>
                                              <p:pRg end="0" st="0"/>
                                            </p:txEl>
                                          </p:spTgt>
                                        </p:tgtEl>
                                        <p:attrNameLst>
                                          <p:attrName>style.visibility</p:attrName>
                                        </p:attrNameLst>
                                      </p:cBhvr>
                                      <p:to>
                                        <p:strVal val="visible"/>
                                      </p:to>
                                    </p:set>
                                    <p:animEffect filter="fade" transition="in">
                                      <p:cBhvr>
                                        <p:cTn dur="1000"/>
                                        <p:tgtEl>
                                          <p:spTgt spid="11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1">
                                            <p:txEl>
                                              <p:pRg end="1" st="1"/>
                                            </p:txEl>
                                          </p:spTgt>
                                        </p:tgtEl>
                                        <p:attrNameLst>
                                          <p:attrName>style.visibility</p:attrName>
                                        </p:attrNameLst>
                                      </p:cBhvr>
                                      <p:to>
                                        <p:strVal val="visible"/>
                                      </p:to>
                                    </p:set>
                                    <p:animEffect filter="fade" transition="in">
                                      <p:cBhvr>
                                        <p:cTn dur="1000"/>
                                        <p:tgtEl>
                                          <p:spTgt spid="11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1">
                                            <p:txEl>
                                              <p:pRg end="2" st="2"/>
                                            </p:txEl>
                                          </p:spTgt>
                                        </p:tgtEl>
                                        <p:attrNameLst>
                                          <p:attrName>style.visibility</p:attrName>
                                        </p:attrNameLst>
                                      </p:cBhvr>
                                      <p:to>
                                        <p:strVal val="visible"/>
                                      </p:to>
                                    </p:set>
                                    <p:animEffect filter="fade" transition="in">
                                      <p:cBhvr>
                                        <p:cTn dur="1000"/>
                                        <p:tgtEl>
                                          <p:spTgt spid="11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1">
                                            <p:txEl>
                                              <p:pRg end="3" st="3"/>
                                            </p:txEl>
                                          </p:spTgt>
                                        </p:tgtEl>
                                        <p:attrNameLst>
                                          <p:attrName>style.visibility</p:attrName>
                                        </p:attrNameLst>
                                      </p:cBhvr>
                                      <p:to>
                                        <p:strVal val="visible"/>
                                      </p:to>
                                    </p:set>
                                    <p:animEffect filter="fade" transition="in">
                                      <p:cBhvr>
                                        <p:cTn dur="1000"/>
                                        <p:tgtEl>
                                          <p:spTgt spid="11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1">
                                            <p:txEl>
                                              <p:pRg end="4" st="4"/>
                                            </p:txEl>
                                          </p:spTgt>
                                        </p:tgtEl>
                                        <p:attrNameLst>
                                          <p:attrName>style.visibility</p:attrName>
                                        </p:attrNameLst>
                                      </p:cBhvr>
                                      <p:to>
                                        <p:strVal val="visible"/>
                                      </p:to>
                                    </p:set>
                                    <p:animEffect filter="fade" transition="in">
                                      <p:cBhvr>
                                        <p:cTn dur="1000"/>
                                        <p:tgtEl>
                                          <p:spTgt spid="11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1">
                                            <p:txEl>
                                              <p:pRg end="5" st="5"/>
                                            </p:txEl>
                                          </p:spTgt>
                                        </p:tgtEl>
                                        <p:attrNameLst>
                                          <p:attrName>style.visibility</p:attrName>
                                        </p:attrNameLst>
                                      </p:cBhvr>
                                      <p:to>
                                        <p:strVal val="visible"/>
                                      </p:to>
                                    </p:set>
                                    <p:animEffect filter="fade" transition="in">
                                      <p:cBhvr>
                                        <p:cTn dur="1000"/>
                                        <p:tgtEl>
                                          <p:spTgt spid="114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1">
                                            <p:txEl>
                                              <p:pRg end="6" st="6"/>
                                            </p:txEl>
                                          </p:spTgt>
                                        </p:tgtEl>
                                        <p:attrNameLst>
                                          <p:attrName>style.visibility</p:attrName>
                                        </p:attrNameLst>
                                      </p:cBhvr>
                                      <p:to>
                                        <p:strVal val="visible"/>
                                      </p:to>
                                    </p:set>
                                    <p:animEffect filter="fade" transition="in">
                                      <p:cBhvr>
                                        <p:cTn dur="1000"/>
                                        <p:tgtEl>
                                          <p:spTgt spid="114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1">
                                            <p:txEl>
                                              <p:pRg end="7" st="7"/>
                                            </p:txEl>
                                          </p:spTgt>
                                        </p:tgtEl>
                                        <p:attrNameLst>
                                          <p:attrName>style.visibility</p:attrName>
                                        </p:attrNameLst>
                                      </p:cBhvr>
                                      <p:to>
                                        <p:strVal val="visible"/>
                                      </p:to>
                                    </p:set>
                                    <p:animEffect filter="fade" transition="in">
                                      <p:cBhvr>
                                        <p:cTn dur="1000"/>
                                        <p:tgtEl>
                                          <p:spTgt spid="114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1">
                                            <p:txEl>
                                              <p:pRg end="8" st="8"/>
                                            </p:txEl>
                                          </p:spTgt>
                                        </p:tgtEl>
                                        <p:attrNameLst>
                                          <p:attrName>style.visibility</p:attrName>
                                        </p:attrNameLst>
                                      </p:cBhvr>
                                      <p:to>
                                        <p:strVal val="visible"/>
                                      </p:to>
                                    </p:set>
                                    <p:animEffect filter="fade" transition="in">
                                      <p:cBhvr>
                                        <p:cTn dur="1000"/>
                                        <p:tgtEl>
                                          <p:spTgt spid="114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1">
                                            <p:txEl>
                                              <p:pRg end="9" st="9"/>
                                            </p:txEl>
                                          </p:spTgt>
                                        </p:tgtEl>
                                        <p:attrNameLst>
                                          <p:attrName>style.visibility</p:attrName>
                                        </p:attrNameLst>
                                      </p:cBhvr>
                                      <p:to>
                                        <p:strVal val="visible"/>
                                      </p:to>
                                    </p:set>
                                    <p:animEffect filter="fade" transition="in">
                                      <p:cBhvr>
                                        <p:cTn dur="1000"/>
                                        <p:tgtEl>
                                          <p:spTgt spid="114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1">
                                            <p:txEl>
                                              <p:pRg end="10" st="10"/>
                                            </p:txEl>
                                          </p:spTgt>
                                        </p:tgtEl>
                                        <p:attrNameLst>
                                          <p:attrName>style.visibility</p:attrName>
                                        </p:attrNameLst>
                                      </p:cBhvr>
                                      <p:to>
                                        <p:strVal val="visible"/>
                                      </p:to>
                                    </p:set>
                                    <p:animEffect filter="fade" transition="in">
                                      <p:cBhvr>
                                        <p:cTn dur="1000"/>
                                        <p:tgtEl>
                                          <p:spTgt spid="114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1">
                                            <p:txEl>
                                              <p:pRg end="11" st="11"/>
                                            </p:txEl>
                                          </p:spTgt>
                                        </p:tgtEl>
                                        <p:attrNameLst>
                                          <p:attrName>style.visibility</p:attrName>
                                        </p:attrNameLst>
                                      </p:cBhvr>
                                      <p:to>
                                        <p:strVal val="visible"/>
                                      </p:to>
                                    </p:set>
                                    <p:animEffect filter="fade" transition="in">
                                      <p:cBhvr>
                                        <p:cTn dur="1000"/>
                                        <p:tgtEl>
                                          <p:spTgt spid="114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1">
                                            <p:txEl>
                                              <p:pRg end="12" st="12"/>
                                            </p:txEl>
                                          </p:spTgt>
                                        </p:tgtEl>
                                        <p:attrNameLst>
                                          <p:attrName>style.visibility</p:attrName>
                                        </p:attrNameLst>
                                      </p:cBhvr>
                                      <p:to>
                                        <p:strVal val="visible"/>
                                      </p:to>
                                    </p:set>
                                    <p:animEffect filter="fade" transition="in">
                                      <p:cBhvr>
                                        <p:cTn dur="1000"/>
                                        <p:tgtEl>
                                          <p:spTgt spid="114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3"/>
                                        </p:tgtEl>
                                        <p:attrNameLst>
                                          <p:attrName>style.visibility</p:attrName>
                                        </p:attrNameLst>
                                      </p:cBhvr>
                                      <p:to>
                                        <p:strVal val="visible"/>
                                      </p:to>
                                    </p:set>
                                    <p:animEffect filter="fade" transition="in">
                                      <p:cBhvr>
                                        <p:cTn dur="1000"/>
                                        <p:tgtEl>
                                          <p:spTgt spid="1143"/>
                                        </p:tgtEl>
                                      </p:cBhvr>
                                    </p:animEffect>
                                  </p:childTnLst>
                                </p:cTn>
                              </p:par>
                              <p:par>
                                <p:cTn fill="hold" nodeType="withEffect" presetClass="entr" presetID="10" presetSubtype="0">
                                  <p:stCondLst>
                                    <p:cond delay="0"/>
                                  </p:stCondLst>
                                  <p:childTnLst>
                                    <p:set>
                                      <p:cBhvr>
                                        <p:cTn dur="1" fill="hold">
                                          <p:stCondLst>
                                            <p:cond delay="0"/>
                                          </p:stCondLst>
                                        </p:cTn>
                                        <p:tgtEl>
                                          <p:spTgt spid="1142"/>
                                        </p:tgtEl>
                                        <p:attrNameLst>
                                          <p:attrName>style.visibility</p:attrName>
                                        </p:attrNameLst>
                                      </p:cBhvr>
                                      <p:to>
                                        <p:strVal val="visible"/>
                                      </p:to>
                                    </p:set>
                                    <p:animEffect filter="fade" transition="in">
                                      <p:cBhvr>
                                        <p:cTn dur="1000"/>
                                        <p:tgtEl>
                                          <p:spTgt spid="1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4"/>
                                        </p:tgtEl>
                                        <p:attrNameLst>
                                          <p:attrName>style.visibility</p:attrName>
                                        </p:attrNameLst>
                                      </p:cBhvr>
                                      <p:to>
                                        <p:strVal val="visible"/>
                                      </p:to>
                                    </p:set>
                                    <p:animEffect filter="fade" transition="in">
                                      <p:cBhvr>
                                        <p:cTn dur="1000"/>
                                        <p:tgtEl>
                                          <p:spTgt spid="1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gtEl>
                                        <p:attrNameLst>
                                          <p:attrName>style.visibility</p:attrName>
                                        </p:attrNameLst>
                                      </p:cBhvr>
                                      <p:to>
                                        <p:strVal val="visible"/>
                                      </p:to>
                                    </p:set>
                                    <p:animEffect filter="fade" transition="in">
                                      <p:cBhvr>
                                        <p:cTn dur="1000"/>
                                        <p:tgtEl>
                                          <p:spTgt spid="1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9"/>
                                        </p:tgtEl>
                                        <p:attrNameLst>
                                          <p:attrName>style.visibility</p:attrName>
                                        </p:attrNameLst>
                                      </p:cBhvr>
                                      <p:to>
                                        <p:strVal val="visible"/>
                                      </p:to>
                                    </p:set>
                                    <p:animEffect filter="fade" transition="in">
                                      <p:cBhvr>
                                        <p:cTn dur="1000"/>
                                        <p:tgtEl>
                                          <p:spTgt spid="1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6"/>
                                        </p:tgtEl>
                                        <p:attrNameLst>
                                          <p:attrName>style.visibility</p:attrName>
                                        </p:attrNameLst>
                                      </p:cBhvr>
                                      <p:to>
                                        <p:strVal val="visible"/>
                                      </p:to>
                                    </p:set>
                                    <p:animEffect filter="fade" transition="in">
                                      <p:cBhvr>
                                        <p:cTn dur="1000"/>
                                        <p:tgtEl>
                                          <p:spTgt spid="1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3"/>
                                        </p:tgtEl>
                                        <p:attrNameLst>
                                          <p:attrName>style.visibility</p:attrName>
                                        </p:attrNameLst>
                                      </p:cBhvr>
                                      <p:to>
                                        <p:strVal val="visible"/>
                                      </p:to>
                                    </p:set>
                                    <p:animEffect filter="fade" transition="in">
                                      <p:cBhvr>
                                        <p:cTn dur="1000"/>
                                        <p:tgtEl>
                                          <p:spTgt spid="1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7"/>
                                        </p:tgtEl>
                                        <p:attrNameLst>
                                          <p:attrName>style.visibility</p:attrName>
                                        </p:attrNameLst>
                                      </p:cBhvr>
                                      <p:to>
                                        <p:strVal val="visible"/>
                                      </p:to>
                                    </p:set>
                                    <p:animEffect filter="fade" transition="in">
                                      <p:cBhvr>
                                        <p:cTn dur="1000"/>
                                        <p:tgtEl>
                                          <p:spTgt spid="1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4"/>
                                        </p:tgtEl>
                                        <p:attrNameLst>
                                          <p:attrName>style.visibility</p:attrName>
                                        </p:attrNameLst>
                                      </p:cBhvr>
                                      <p:to>
                                        <p:strVal val="visible"/>
                                      </p:to>
                                    </p:set>
                                    <p:animEffect filter="fade" transition="in">
                                      <p:cBhvr>
                                        <p:cTn dur="1000"/>
                                        <p:tgtEl>
                                          <p:spTgt spid="11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8"/>
                                        </p:tgtEl>
                                        <p:attrNameLst>
                                          <p:attrName>style.visibility</p:attrName>
                                        </p:attrNameLst>
                                      </p:cBhvr>
                                      <p:to>
                                        <p:strVal val="visible"/>
                                      </p:to>
                                    </p:set>
                                    <p:animEffect filter="fade" transition="in">
                                      <p:cBhvr>
                                        <p:cTn dur="1000"/>
                                        <p:tgtEl>
                                          <p:spTgt spid="1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5"/>
                                        </p:tgtEl>
                                        <p:attrNameLst>
                                          <p:attrName>style.visibility</p:attrName>
                                        </p:attrNameLst>
                                      </p:cBhvr>
                                      <p:to>
                                        <p:strVal val="visible"/>
                                      </p:to>
                                    </p:set>
                                    <p:animEffect filter="fade" transition="in">
                                      <p:cBhvr>
                                        <p:cTn dur="1000"/>
                                        <p:tgtEl>
                                          <p:spTgt spid="1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Tail Recursive Optimization</a:t>
            </a:r>
            <a:endParaRPr/>
          </a:p>
        </p:txBody>
      </p:sp>
      <p:sp>
        <p:nvSpPr>
          <p:cNvPr id="1162" name="Google Shape;1162;p58"/>
          <p:cNvSpPr txBox="1"/>
          <p:nvPr>
            <p:ph idx="1" type="body"/>
          </p:nvPr>
        </p:nvSpPr>
        <p:spPr>
          <a:xfrm>
            <a:off x="4610450" y="1685625"/>
            <a:ext cx="4385100" cy="26076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lang="en" sz="1000">
                <a:latin typeface="Roboto Mono"/>
                <a:ea typeface="Roboto Mono"/>
                <a:cs typeface="Roboto Mono"/>
                <a:sym typeface="Roboto Mono"/>
              </a:rPr>
              <a:t>void sumTR(int arr[], int n, </a:t>
            </a:r>
            <a:r>
              <a:rPr lang="en" sz="1000">
                <a:highlight>
                  <a:srgbClr val="FFF2CC"/>
                </a:highlight>
                <a:latin typeface="Roboto Mono"/>
                <a:ea typeface="Roboto Mono"/>
                <a:cs typeface="Roboto Mono"/>
                <a:sym typeface="Roboto Mono"/>
              </a:rPr>
              <a:t>part_sum</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	if (n == 0)</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		return </a:t>
            </a:r>
            <a:r>
              <a:rPr lang="en" sz="1000">
                <a:highlight>
                  <a:srgbClr val="FFF2CC"/>
                </a:highlight>
                <a:latin typeface="Roboto Mono"/>
                <a:ea typeface="Roboto Mono"/>
                <a:cs typeface="Roboto Mono"/>
                <a:sym typeface="Roboto Mono"/>
              </a:rPr>
              <a:t>part_sum + arr[0]</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	else</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		return sumTR(arr, n-1, </a:t>
            </a:r>
            <a:r>
              <a:rPr lang="en" sz="1000">
                <a:highlight>
                  <a:srgbClr val="FFF2CC"/>
                </a:highlight>
                <a:latin typeface="Roboto Mono"/>
                <a:ea typeface="Roboto Mono"/>
                <a:cs typeface="Roboto Mono"/>
                <a:sym typeface="Roboto Mono"/>
              </a:rPr>
              <a:t>part_sum+arr[n]</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int main()</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	int arr = [3, 2, 9, 10];</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	printf(“%d”, </a:t>
            </a:r>
            <a:r>
              <a:rPr lang="en" sz="1000">
                <a:highlight>
                  <a:srgbClr val="FFF2CC"/>
                </a:highlight>
                <a:latin typeface="Roboto Mono"/>
                <a:ea typeface="Roboto Mono"/>
                <a:cs typeface="Roboto Mono"/>
                <a:sym typeface="Roboto Mono"/>
              </a:rPr>
              <a:t>sumTR(arr, 3, 0)</a:t>
            </a:r>
            <a:r>
              <a:rPr lang="en" sz="1000">
                <a:latin typeface="Roboto Mono"/>
                <a:ea typeface="Roboto Mono"/>
                <a:cs typeface="Roboto Mono"/>
                <a:sym typeface="Roboto Mono"/>
              </a:rPr>
              <a:t>);</a:t>
            </a:r>
            <a:endParaRPr sz="1000">
              <a:latin typeface="Roboto Mono"/>
              <a:ea typeface="Roboto Mono"/>
              <a:cs typeface="Roboto Mono"/>
              <a:sym typeface="Roboto Mono"/>
            </a:endParaRPr>
          </a:p>
          <a:p>
            <a:pPr indent="0" lvl="0" marL="0" rtl="0" algn="l">
              <a:lnSpc>
                <a:spcPct val="105000"/>
              </a:lnSpc>
              <a:spcBef>
                <a:spcPts val="0"/>
              </a:spcBef>
              <a:spcAft>
                <a:spcPts val="0"/>
              </a:spcAft>
              <a:buNone/>
            </a:pPr>
            <a:r>
              <a:rPr lang="en" sz="1000">
                <a:latin typeface="Roboto Mono"/>
                <a:ea typeface="Roboto Mono"/>
                <a:cs typeface="Roboto Mono"/>
                <a:sym typeface="Roboto Mono"/>
              </a:rPr>
              <a:t>}</a:t>
            </a:r>
            <a:endParaRPr sz="1000">
              <a:latin typeface="Roboto Mono"/>
              <a:ea typeface="Roboto Mono"/>
              <a:cs typeface="Roboto Mono"/>
              <a:sym typeface="Roboto Mono"/>
            </a:endParaRPr>
          </a:p>
        </p:txBody>
      </p:sp>
      <p:sp>
        <p:nvSpPr>
          <p:cNvPr id="1163" name="Google Shape;1163;p58"/>
          <p:cNvSpPr/>
          <p:nvPr/>
        </p:nvSpPr>
        <p:spPr>
          <a:xfrm>
            <a:off x="228100" y="1163425"/>
            <a:ext cx="2430300" cy="2789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58"/>
          <p:cNvSpPr txBox="1"/>
          <p:nvPr/>
        </p:nvSpPr>
        <p:spPr>
          <a:xfrm>
            <a:off x="464603" y="4007450"/>
            <a:ext cx="1957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latin typeface="Roboto"/>
                <a:ea typeface="Roboto"/>
                <a:cs typeface="Roboto"/>
                <a:sym typeface="Roboto"/>
              </a:rPr>
              <a:t>Function call stack</a:t>
            </a:r>
            <a:endParaRPr sz="1100">
              <a:solidFill>
                <a:schemeClr val="dk2"/>
              </a:solidFill>
              <a:latin typeface="Roboto"/>
              <a:ea typeface="Roboto"/>
              <a:cs typeface="Roboto"/>
              <a:sym typeface="Roboto"/>
            </a:endParaRPr>
          </a:p>
        </p:txBody>
      </p:sp>
      <p:sp>
        <p:nvSpPr>
          <p:cNvPr id="1165" name="Google Shape;1165;p58"/>
          <p:cNvSpPr/>
          <p:nvPr/>
        </p:nvSpPr>
        <p:spPr>
          <a:xfrm>
            <a:off x="228100" y="3567692"/>
            <a:ext cx="2430300" cy="385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chemeClr val="dk2"/>
                </a:solidFill>
                <a:latin typeface="Roboto Mono"/>
                <a:ea typeface="Roboto Mono"/>
                <a:cs typeface="Roboto Mono"/>
                <a:sym typeface="Roboto Mono"/>
              </a:rPr>
              <a:t>main()</a:t>
            </a:r>
            <a:endParaRPr sz="1100"/>
          </a:p>
        </p:txBody>
      </p:sp>
      <p:sp>
        <p:nvSpPr>
          <p:cNvPr id="1166" name="Google Shape;1166;p58"/>
          <p:cNvSpPr/>
          <p:nvPr/>
        </p:nvSpPr>
        <p:spPr>
          <a:xfrm>
            <a:off x="228100" y="3182184"/>
            <a:ext cx="2430300" cy="385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chemeClr val="dk2"/>
                </a:solidFill>
                <a:latin typeface="Roboto Mono"/>
                <a:ea typeface="Roboto Mono"/>
                <a:cs typeface="Roboto Mono"/>
                <a:sym typeface="Roboto Mono"/>
              </a:rPr>
              <a:t>sumTR([3, 2, 9, 10], 3, 0)</a:t>
            </a:r>
            <a:endParaRPr sz="1100"/>
          </a:p>
        </p:txBody>
      </p:sp>
      <p:sp>
        <p:nvSpPr>
          <p:cNvPr id="1167" name="Google Shape;1167;p58"/>
          <p:cNvSpPr/>
          <p:nvPr/>
        </p:nvSpPr>
        <p:spPr>
          <a:xfrm>
            <a:off x="228100" y="3197612"/>
            <a:ext cx="2430300" cy="385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chemeClr val="dk2"/>
                </a:solidFill>
                <a:latin typeface="Roboto Mono"/>
                <a:ea typeface="Roboto Mono"/>
                <a:cs typeface="Roboto Mono"/>
                <a:sym typeface="Roboto Mono"/>
              </a:rPr>
              <a:t>sumTR([3, 2, 9, 10], 2, 10)</a:t>
            </a:r>
            <a:endParaRPr sz="1100"/>
          </a:p>
        </p:txBody>
      </p:sp>
      <p:sp>
        <p:nvSpPr>
          <p:cNvPr id="1168" name="Google Shape;1168;p58"/>
          <p:cNvSpPr/>
          <p:nvPr/>
        </p:nvSpPr>
        <p:spPr>
          <a:xfrm>
            <a:off x="228100" y="3197616"/>
            <a:ext cx="2430300" cy="385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chemeClr val="dk2"/>
                </a:solidFill>
                <a:latin typeface="Roboto Mono"/>
                <a:ea typeface="Roboto Mono"/>
                <a:cs typeface="Roboto Mono"/>
                <a:sym typeface="Roboto Mono"/>
              </a:rPr>
              <a:t>sumTR([3, 2, 9, 10], 1, 19)</a:t>
            </a:r>
            <a:endParaRPr sz="1100"/>
          </a:p>
        </p:txBody>
      </p:sp>
      <p:sp>
        <p:nvSpPr>
          <p:cNvPr id="1169" name="Google Shape;1169;p58"/>
          <p:cNvSpPr/>
          <p:nvPr/>
        </p:nvSpPr>
        <p:spPr>
          <a:xfrm>
            <a:off x="228100" y="3197634"/>
            <a:ext cx="2430300" cy="385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800">
                <a:solidFill>
                  <a:schemeClr val="dk2"/>
                </a:solidFill>
                <a:latin typeface="Roboto Mono"/>
                <a:ea typeface="Roboto Mono"/>
                <a:cs typeface="Roboto Mono"/>
                <a:sym typeface="Roboto Mono"/>
              </a:rPr>
              <a:t>sumTR([3, 2, 9, 10], 0, 21)</a:t>
            </a:r>
            <a:endParaRPr sz="1100"/>
          </a:p>
        </p:txBody>
      </p:sp>
      <p:sp>
        <p:nvSpPr>
          <p:cNvPr id="1170" name="Google Shape;1170;p58"/>
          <p:cNvSpPr txBox="1"/>
          <p:nvPr/>
        </p:nvSpPr>
        <p:spPr>
          <a:xfrm>
            <a:off x="2782276" y="3205574"/>
            <a:ext cx="170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part_sum = 0 + 10 = 10</a:t>
            </a:r>
            <a:endParaRPr sz="1000">
              <a:solidFill>
                <a:schemeClr val="dk2"/>
              </a:solidFill>
              <a:latin typeface="Roboto"/>
              <a:ea typeface="Roboto"/>
              <a:cs typeface="Roboto"/>
              <a:sym typeface="Roboto"/>
            </a:endParaRPr>
          </a:p>
        </p:txBody>
      </p:sp>
      <p:sp>
        <p:nvSpPr>
          <p:cNvPr id="1171" name="Google Shape;1171;p58"/>
          <p:cNvSpPr txBox="1"/>
          <p:nvPr/>
        </p:nvSpPr>
        <p:spPr>
          <a:xfrm>
            <a:off x="2738812" y="5207112"/>
            <a:ext cx="170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return arr[3] + 14 = 24 </a:t>
            </a:r>
            <a:endParaRPr sz="1000">
              <a:solidFill>
                <a:schemeClr val="dk2"/>
              </a:solidFill>
              <a:latin typeface="Roboto"/>
              <a:ea typeface="Roboto"/>
              <a:cs typeface="Roboto"/>
              <a:sym typeface="Roboto"/>
            </a:endParaRPr>
          </a:p>
        </p:txBody>
      </p:sp>
      <p:sp>
        <p:nvSpPr>
          <p:cNvPr id="1172" name="Google Shape;1172;p58"/>
          <p:cNvSpPr txBox="1"/>
          <p:nvPr/>
        </p:nvSpPr>
        <p:spPr>
          <a:xfrm>
            <a:off x="2726877" y="5607000"/>
            <a:ext cx="170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Prints 24 </a:t>
            </a:r>
            <a:endParaRPr sz="1000">
              <a:solidFill>
                <a:schemeClr val="dk2"/>
              </a:solidFill>
              <a:latin typeface="Roboto"/>
              <a:ea typeface="Roboto"/>
              <a:cs typeface="Roboto"/>
              <a:sym typeface="Roboto"/>
            </a:endParaRPr>
          </a:p>
        </p:txBody>
      </p:sp>
      <p:sp>
        <p:nvSpPr>
          <p:cNvPr id="1173" name="Google Shape;1173;p58"/>
          <p:cNvSpPr txBox="1"/>
          <p:nvPr/>
        </p:nvSpPr>
        <p:spPr>
          <a:xfrm>
            <a:off x="4894000" y="807050"/>
            <a:ext cx="4173900" cy="666300"/>
          </a:xfrm>
          <a:prstGeom prst="rect">
            <a:avLst/>
          </a:prstGeom>
          <a:solidFill>
            <a:schemeClr val="lt2"/>
          </a:solidFill>
          <a:ln>
            <a:noFill/>
          </a:ln>
        </p:spPr>
        <p:txBody>
          <a:bodyPr anchorCtr="0" anchor="t" bIns="91425" lIns="91425" spcFirstLastPara="1" rIns="91425" wrap="square" tIns="91425">
            <a:spAutoFit/>
          </a:bodyPr>
          <a:lstStyle/>
          <a:p>
            <a:pPr indent="0" lvl="0" marL="0" rtl="0" algn="l">
              <a:lnSpc>
                <a:spcPct val="200000"/>
              </a:lnSpc>
              <a:spcBef>
                <a:spcPts val="0"/>
              </a:spcBef>
              <a:spcAft>
                <a:spcPts val="1200"/>
              </a:spcAft>
              <a:buNone/>
            </a:pPr>
            <a:r>
              <a:rPr lang="en" sz="1042">
                <a:solidFill>
                  <a:schemeClr val="dk2"/>
                </a:solidFill>
                <a:latin typeface="Roboto"/>
                <a:ea typeface="Roboto"/>
                <a:cs typeface="Roboto"/>
                <a:sym typeface="Roboto"/>
              </a:rPr>
              <a:t>A tail recursive function is a function where recursive call is the last thing executed by the function.</a:t>
            </a:r>
            <a:endParaRPr sz="900">
              <a:latin typeface="Roboto"/>
              <a:ea typeface="Roboto"/>
              <a:cs typeface="Roboto"/>
              <a:sym typeface="Roboto"/>
            </a:endParaRPr>
          </a:p>
        </p:txBody>
      </p:sp>
      <p:sp>
        <p:nvSpPr>
          <p:cNvPr id="1174" name="Google Shape;1174;p58"/>
          <p:cNvSpPr txBox="1"/>
          <p:nvPr/>
        </p:nvSpPr>
        <p:spPr>
          <a:xfrm>
            <a:off x="2782276" y="3221024"/>
            <a:ext cx="170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part_sum = 10 + 9 = 19 </a:t>
            </a:r>
            <a:endParaRPr sz="1000">
              <a:solidFill>
                <a:schemeClr val="dk2"/>
              </a:solidFill>
              <a:latin typeface="Roboto"/>
              <a:ea typeface="Roboto"/>
              <a:cs typeface="Roboto"/>
              <a:sym typeface="Roboto"/>
            </a:endParaRPr>
          </a:p>
        </p:txBody>
      </p:sp>
      <p:sp>
        <p:nvSpPr>
          <p:cNvPr id="1175" name="Google Shape;1175;p58"/>
          <p:cNvSpPr txBox="1"/>
          <p:nvPr/>
        </p:nvSpPr>
        <p:spPr>
          <a:xfrm>
            <a:off x="2782276" y="3221037"/>
            <a:ext cx="170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part_sum = 19 + 2 = 21 </a:t>
            </a:r>
            <a:endParaRPr sz="1000">
              <a:solidFill>
                <a:schemeClr val="dk2"/>
              </a:solidFill>
              <a:latin typeface="Roboto"/>
              <a:ea typeface="Roboto"/>
              <a:cs typeface="Roboto"/>
              <a:sym typeface="Roboto"/>
            </a:endParaRPr>
          </a:p>
        </p:txBody>
      </p:sp>
      <p:sp>
        <p:nvSpPr>
          <p:cNvPr id="1176" name="Google Shape;1176;p58"/>
          <p:cNvSpPr txBox="1"/>
          <p:nvPr/>
        </p:nvSpPr>
        <p:spPr>
          <a:xfrm>
            <a:off x="2782276" y="3221387"/>
            <a:ext cx="1704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part_sum = 21 + 3 = 24 </a:t>
            </a:r>
            <a:endParaRPr sz="1000">
              <a:solidFill>
                <a:schemeClr val="dk2"/>
              </a:solidFill>
              <a:latin typeface="Roboto"/>
              <a:ea typeface="Roboto"/>
              <a:cs typeface="Roboto"/>
              <a:sym typeface="Roboto"/>
            </a:endParaRPr>
          </a:p>
        </p:txBody>
      </p:sp>
      <p:sp>
        <p:nvSpPr>
          <p:cNvPr id="1177" name="Google Shape;1177;p58"/>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3"/>
                                        </p:tgtEl>
                                        <p:attrNameLst>
                                          <p:attrName>style.visibility</p:attrName>
                                        </p:attrNameLst>
                                      </p:cBhvr>
                                      <p:to>
                                        <p:strVal val="visible"/>
                                      </p:to>
                                    </p:set>
                                    <p:animEffect filter="fade" transition="in">
                                      <p:cBhvr>
                                        <p:cTn dur="1000"/>
                                        <p:tgtEl>
                                          <p:spTgt spid="1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2">
                                            <p:txEl>
                                              <p:pRg end="0" st="0"/>
                                            </p:txEl>
                                          </p:spTgt>
                                        </p:tgtEl>
                                        <p:attrNameLst>
                                          <p:attrName>style.visibility</p:attrName>
                                        </p:attrNameLst>
                                      </p:cBhvr>
                                      <p:to>
                                        <p:strVal val="visible"/>
                                      </p:to>
                                    </p:set>
                                    <p:animEffect filter="fade" transition="in">
                                      <p:cBhvr>
                                        <p:cTn dur="1000"/>
                                        <p:tgtEl>
                                          <p:spTgt spid="11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2">
                                            <p:txEl>
                                              <p:pRg end="1" st="1"/>
                                            </p:txEl>
                                          </p:spTgt>
                                        </p:tgtEl>
                                        <p:attrNameLst>
                                          <p:attrName>style.visibility</p:attrName>
                                        </p:attrNameLst>
                                      </p:cBhvr>
                                      <p:to>
                                        <p:strVal val="visible"/>
                                      </p:to>
                                    </p:set>
                                    <p:animEffect filter="fade" transition="in">
                                      <p:cBhvr>
                                        <p:cTn dur="1000"/>
                                        <p:tgtEl>
                                          <p:spTgt spid="11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2">
                                            <p:txEl>
                                              <p:pRg end="2" st="2"/>
                                            </p:txEl>
                                          </p:spTgt>
                                        </p:tgtEl>
                                        <p:attrNameLst>
                                          <p:attrName>style.visibility</p:attrName>
                                        </p:attrNameLst>
                                      </p:cBhvr>
                                      <p:to>
                                        <p:strVal val="visible"/>
                                      </p:to>
                                    </p:set>
                                    <p:animEffect filter="fade" transition="in">
                                      <p:cBhvr>
                                        <p:cTn dur="1000"/>
                                        <p:tgtEl>
                                          <p:spTgt spid="11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2">
                                            <p:txEl>
                                              <p:pRg end="3" st="3"/>
                                            </p:txEl>
                                          </p:spTgt>
                                        </p:tgtEl>
                                        <p:attrNameLst>
                                          <p:attrName>style.visibility</p:attrName>
                                        </p:attrNameLst>
                                      </p:cBhvr>
                                      <p:to>
                                        <p:strVal val="visible"/>
                                      </p:to>
                                    </p:set>
                                    <p:animEffect filter="fade" transition="in">
                                      <p:cBhvr>
                                        <p:cTn dur="1000"/>
                                        <p:tgtEl>
                                          <p:spTgt spid="11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2">
                                            <p:txEl>
                                              <p:pRg end="4" st="4"/>
                                            </p:txEl>
                                          </p:spTgt>
                                        </p:tgtEl>
                                        <p:attrNameLst>
                                          <p:attrName>style.visibility</p:attrName>
                                        </p:attrNameLst>
                                      </p:cBhvr>
                                      <p:to>
                                        <p:strVal val="visible"/>
                                      </p:to>
                                    </p:set>
                                    <p:animEffect filter="fade" transition="in">
                                      <p:cBhvr>
                                        <p:cTn dur="1000"/>
                                        <p:tgtEl>
                                          <p:spTgt spid="116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2">
                                            <p:txEl>
                                              <p:pRg end="5" st="5"/>
                                            </p:txEl>
                                          </p:spTgt>
                                        </p:tgtEl>
                                        <p:attrNameLst>
                                          <p:attrName>style.visibility</p:attrName>
                                        </p:attrNameLst>
                                      </p:cBhvr>
                                      <p:to>
                                        <p:strVal val="visible"/>
                                      </p:to>
                                    </p:set>
                                    <p:animEffect filter="fade" transition="in">
                                      <p:cBhvr>
                                        <p:cTn dur="1000"/>
                                        <p:tgtEl>
                                          <p:spTgt spid="116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2">
                                            <p:txEl>
                                              <p:pRg end="6" st="6"/>
                                            </p:txEl>
                                          </p:spTgt>
                                        </p:tgtEl>
                                        <p:attrNameLst>
                                          <p:attrName>style.visibility</p:attrName>
                                        </p:attrNameLst>
                                      </p:cBhvr>
                                      <p:to>
                                        <p:strVal val="visible"/>
                                      </p:to>
                                    </p:set>
                                    <p:animEffect filter="fade" transition="in">
                                      <p:cBhvr>
                                        <p:cTn dur="1000"/>
                                        <p:tgtEl>
                                          <p:spTgt spid="116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2">
                                            <p:txEl>
                                              <p:pRg end="7" st="7"/>
                                            </p:txEl>
                                          </p:spTgt>
                                        </p:tgtEl>
                                        <p:attrNameLst>
                                          <p:attrName>style.visibility</p:attrName>
                                        </p:attrNameLst>
                                      </p:cBhvr>
                                      <p:to>
                                        <p:strVal val="visible"/>
                                      </p:to>
                                    </p:set>
                                    <p:animEffect filter="fade" transition="in">
                                      <p:cBhvr>
                                        <p:cTn dur="1000"/>
                                        <p:tgtEl>
                                          <p:spTgt spid="116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2">
                                            <p:txEl>
                                              <p:pRg end="8" st="8"/>
                                            </p:txEl>
                                          </p:spTgt>
                                        </p:tgtEl>
                                        <p:attrNameLst>
                                          <p:attrName>style.visibility</p:attrName>
                                        </p:attrNameLst>
                                      </p:cBhvr>
                                      <p:to>
                                        <p:strVal val="visible"/>
                                      </p:to>
                                    </p:set>
                                    <p:animEffect filter="fade" transition="in">
                                      <p:cBhvr>
                                        <p:cTn dur="1000"/>
                                        <p:tgtEl>
                                          <p:spTgt spid="116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2">
                                            <p:txEl>
                                              <p:pRg end="9" st="9"/>
                                            </p:txEl>
                                          </p:spTgt>
                                        </p:tgtEl>
                                        <p:attrNameLst>
                                          <p:attrName>style.visibility</p:attrName>
                                        </p:attrNameLst>
                                      </p:cBhvr>
                                      <p:to>
                                        <p:strVal val="visible"/>
                                      </p:to>
                                    </p:set>
                                    <p:animEffect filter="fade" transition="in">
                                      <p:cBhvr>
                                        <p:cTn dur="1000"/>
                                        <p:tgtEl>
                                          <p:spTgt spid="116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2">
                                            <p:txEl>
                                              <p:pRg end="10" st="10"/>
                                            </p:txEl>
                                          </p:spTgt>
                                        </p:tgtEl>
                                        <p:attrNameLst>
                                          <p:attrName>style.visibility</p:attrName>
                                        </p:attrNameLst>
                                      </p:cBhvr>
                                      <p:to>
                                        <p:strVal val="visible"/>
                                      </p:to>
                                    </p:set>
                                    <p:animEffect filter="fade" transition="in">
                                      <p:cBhvr>
                                        <p:cTn dur="1000"/>
                                        <p:tgtEl>
                                          <p:spTgt spid="116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2">
                                            <p:txEl>
                                              <p:pRg end="11" st="11"/>
                                            </p:txEl>
                                          </p:spTgt>
                                        </p:tgtEl>
                                        <p:attrNameLst>
                                          <p:attrName>style.visibility</p:attrName>
                                        </p:attrNameLst>
                                      </p:cBhvr>
                                      <p:to>
                                        <p:strVal val="visible"/>
                                      </p:to>
                                    </p:set>
                                    <p:animEffect filter="fade" transition="in">
                                      <p:cBhvr>
                                        <p:cTn dur="1000"/>
                                        <p:tgtEl>
                                          <p:spTgt spid="116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2">
                                            <p:txEl>
                                              <p:pRg end="12" st="12"/>
                                            </p:txEl>
                                          </p:spTgt>
                                        </p:tgtEl>
                                        <p:attrNameLst>
                                          <p:attrName>style.visibility</p:attrName>
                                        </p:attrNameLst>
                                      </p:cBhvr>
                                      <p:to>
                                        <p:strVal val="visible"/>
                                      </p:to>
                                    </p:set>
                                    <p:animEffect filter="fade" transition="in">
                                      <p:cBhvr>
                                        <p:cTn dur="1000"/>
                                        <p:tgtEl>
                                          <p:spTgt spid="1162">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gtEl>
                                        <p:attrNameLst>
                                          <p:attrName>style.visibility</p:attrName>
                                        </p:attrNameLst>
                                      </p:cBhvr>
                                      <p:to>
                                        <p:strVal val="visible"/>
                                      </p:to>
                                    </p:set>
                                    <p:animEffect filter="fade" transition="in">
                                      <p:cBhvr>
                                        <p:cTn dur="1000"/>
                                        <p:tgtEl>
                                          <p:spTgt spid="1164"/>
                                        </p:tgtEl>
                                      </p:cBhvr>
                                    </p:animEffect>
                                  </p:childTnLst>
                                </p:cTn>
                              </p:par>
                              <p:par>
                                <p:cTn fill="hold" nodeType="withEffect" presetClass="entr" presetID="10" presetSubtype="0">
                                  <p:stCondLst>
                                    <p:cond delay="0"/>
                                  </p:stCondLst>
                                  <p:childTnLst>
                                    <p:set>
                                      <p:cBhvr>
                                        <p:cTn dur="1" fill="hold">
                                          <p:stCondLst>
                                            <p:cond delay="0"/>
                                          </p:stCondLst>
                                        </p:cTn>
                                        <p:tgtEl>
                                          <p:spTgt spid="1163"/>
                                        </p:tgtEl>
                                        <p:attrNameLst>
                                          <p:attrName>style.visibility</p:attrName>
                                        </p:attrNameLst>
                                      </p:cBhvr>
                                      <p:to>
                                        <p:strVal val="visible"/>
                                      </p:to>
                                    </p:set>
                                    <p:animEffect filter="fade" transition="in">
                                      <p:cBhvr>
                                        <p:cTn dur="1000"/>
                                        <p:tgtEl>
                                          <p:spTgt spid="1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gtEl>
                                        <p:attrNameLst>
                                          <p:attrName>style.visibility</p:attrName>
                                        </p:attrNameLst>
                                      </p:cBhvr>
                                      <p:to>
                                        <p:strVal val="visible"/>
                                      </p:to>
                                    </p:set>
                                    <p:animEffect filter="fade" transition="in">
                                      <p:cBhvr>
                                        <p:cTn dur="1000"/>
                                        <p:tgtEl>
                                          <p:spTgt spid="1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6"/>
                                        </p:tgtEl>
                                        <p:attrNameLst>
                                          <p:attrName>style.visibility</p:attrName>
                                        </p:attrNameLst>
                                      </p:cBhvr>
                                      <p:to>
                                        <p:strVal val="visible"/>
                                      </p:to>
                                    </p:set>
                                    <p:animEffect filter="fade" transition="in">
                                      <p:cBhvr>
                                        <p:cTn dur="1000"/>
                                        <p:tgtEl>
                                          <p:spTgt spid="1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0"/>
                                        </p:tgtEl>
                                        <p:attrNameLst>
                                          <p:attrName>style.visibility</p:attrName>
                                        </p:attrNameLst>
                                      </p:cBhvr>
                                      <p:to>
                                        <p:strVal val="visible"/>
                                      </p:to>
                                    </p:set>
                                    <p:animEffect filter="fade" transition="in">
                                      <p:cBhvr>
                                        <p:cTn dur="1000"/>
                                        <p:tgtEl>
                                          <p:spTgt spid="1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1">
                                  <p:stCondLst>
                                    <p:cond delay="0"/>
                                  </p:stCondLst>
                                  <p:childTnLst>
                                    <p:anim calcmode="lin" valueType="num">
                                      <p:cBhvr additive="base">
                                        <p:cTn dur="1000"/>
                                        <p:tgtEl>
                                          <p:spTgt spid="1166"/>
                                        </p:tgtEl>
                                        <p:attrNameLst>
                                          <p:attrName>ppt_y</p:attrName>
                                        </p:attrNameLst>
                                      </p:cBhvr>
                                      <p:tavLst>
                                        <p:tav fmla="" tm="0">
                                          <p:val>
                                            <p:strVal val="#ppt_y"/>
                                          </p:val>
                                        </p:tav>
                                        <p:tav fmla="" tm="100000">
                                          <p:val>
                                            <p:strVal val="#ppt_y-1"/>
                                          </p:val>
                                        </p:tav>
                                      </p:tavLst>
                                    </p:anim>
                                    <p:set>
                                      <p:cBhvr>
                                        <p:cTn dur="1" fill="hold">
                                          <p:stCondLst>
                                            <p:cond delay="1000"/>
                                          </p:stCondLst>
                                        </p:cTn>
                                        <p:tgtEl>
                                          <p:spTgt spid="116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000"/>
                                          </p:stCondLst>
                                        </p:cTn>
                                        <p:tgtEl>
                                          <p:spTgt spid="117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7"/>
                                        </p:tgtEl>
                                        <p:attrNameLst>
                                          <p:attrName>style.visibility</p:attrName>
                                        </p:attrNameLst>
                                      </p:cBhvr>
                                      <p:to>
                                        <p:strVal val="visible"/>
                                      </p:to>
                                    </p:set>
                                    <p:animEffect filter="fade" transition="in">
                                      <p:cBhvr>
                                        <p:cTn dur="1000"/>
                                        <p:tgtEl>
                                          <p:spTgt spid="1167"/>
                                        </p:tgtEl>
                                      </p:cBhvr>
                                    </p:animEffect>
                                  </p:childTnLst>
                                </p:cTn>
                              </p:par>
                              <p:par>
                                <p:cTn fill="hold" nodeType="withEffect" presetClass="entr" presetID="10" presetSubtype="0">
                                  <p:stCondLst>
                                    <p:cond delay="0"/>
                                  </p:stCondLst>
                                  <p:childTnLst>
                                    <p:set>
                                      <p:cBhvr>
                                        <p:cTn dur="1" fill="hold">
                                          <p:stCondLst>
                                            <p:cond delay="0"/>
                                          </p:stCondLst>
                                        </p:cTn>
                                        <p:tgtEl>
                                          <p:spTgt spid="1174"/>
                                        </p:tgtEl>
                                        <p:attrNameLst>
                                          <p:attrName>style.visibility</p:attrName>
                                        </p:attrNameLst>
                                      </p:cBhvr>
                                      <p:to>
                                        <p:strVal val="visible"/>
                                      </p:to>
                                    </p:set>
                                    <p:animEffect filter="fade" transition="in">
                                      <p:cBhvr>
                                        <p:cTn dur="1000"/>
                                        <p:tgtEl>
                                          <p:spTgt spid="11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1">
                                  <p:stCondLst>
                                    <p:cond delay="0"/>
                                  </p:stCondLst>
                                  <p:childTnLst>
                                    <p:anim calcmode="lin" valueType="num">
                                      <p:cBhvr additive="base">
                                        <p:cTn dur="1000"/>
                                        <p:tgtEl>
                                          <p:spTgt spid="1167"/>
                                        </p:tgtEl>
                                        <p:attrNameLst>
                                          <p:attrName>ppt_y</p:attrName>
                                        </p:attrNameLst>
                                      </p:cBhvr>
                                      <p:tavLst>
                                        <p:tav fmla="" tm="0">
                                          <p:val>
                                            <p:strVal val="#ppt_y"/>
                                          </p:val>
                                        </p:tav>
                                        <p:tav fmla="" tm="100000">
                                          <p:val>
                                            <p:strVal val="#ppt_y-1"/>
                                          </p:val>
                                        </p:tav>
                                      </p:tavLst>
                                    </p:anim>
                                    <p:set>
                                      <p:cBhvr>
                                        <p:cTn dur="1" fill="hold">
                                          <p:stCondLst>
                                            <p:cond delay="1000"/>
                                          </p:stCondLst>
                                        </p:cTn>
                                        <p:tgtEl>
                                          <p:spTgt spid="116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000"/>
                                          </p:stCondLst>
                                        </p:cTn>
                                        <p:tgtEl>
                                          <p:spTgt spid="11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8"/>
                                        </p:tgtEl>
                                        <p:attrNameLst>
                                          <p:attrName>style.visibility</p:attrName>
                                        </p:attrNameLst>
                                      </p:cBhvr>
                                      <p:to>
                                        <p:strVal val="visible"/>
                                      </p:to>
                                    </p:set>
                                    <p:animEffect filter="fade" transition="in">
                                      <p:cBhvr>
                                        <p:cTn dur="1000"/>
                                        <p:tgtEl>
                                          <p:spTgt spid="1168"/>
                                        </p:tgtEl>
                                      </p:cBhvr>
                                    </p:animEffect>
                                  </p:childTnLst>
                                </p:cTn>
                              </p:par>
                              <p:par>
                                <p:cTn fill="hold" nodeType="withEffect" presetClass="entr" presetID="10" presetSubtype="0">
                                  <p:stCondLst>
                                    <p:cond delay="0"/>
                                  </p:stCondLst>
                                  <p:childTnLst>
                                    <p:set>
                                      <p:cBhvr>
                                        <p:cTn dur="1" fill="hold">
                                          <p:stCondLst>
                                            <p:cond delay="0"/>
                                          </p:stCondLst>
                                        </p:cTn>
                                        <p:tgtEl>
                                          <p:spTgt spid="1175"/>
                                        </p:tgtEl>
                                        <p:attrNameLst>
                                          <p:attrName>style.visibility</p:attrName>
                                        </p:attrNameLst>
                                      </p:cBhvr>
                                      <p:to>
                                        <p:strVal val="visible"/>
                                      </p:to>
                                    </p:set>
                                    <p:animEffect filter="fade" transition="in">
                                      <p:cBhvr>
                                        <p:cTn dur="1000"/>
                                        <p:tgtEl>
                                          <p:spTgt spid="1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1">
                                  <p:stCondLst>
                                    <p:cond delay="0"/>
                                  </p:stCondLst>
                                  <p:childTnLst>
                                    <p:anim calcmode="lin" valueType="num">
                                      <p:cBhvr additive="base">
                                        <p:cTn dur="1000"/>
                                        <p:tgtEl>
                                          <p:spTgt spid="1168"/>
                                        </p:tgtEl>
                                        <p:attrNameLst>
                                          <p:attrName>ppt_y</p:attrName>
                                        </p:attrNameLst>
                                      </p:cBhvr>
                                      <p:tavLst>
                                        <p:tav fmla="" tm="0">
                                          <p:val>
                                            <p:strVal val="#ppt_y"/>
                                          </p:val>
                                        </p:tav>
                                        <p:tav fmla="" tm="100000">
                                          <p:val>
                                            <p:strVal val="#ppt_y-1"/>
                                          </p:val>
                                        </p:tav>
                                      </p:tavLst>
                                    </p:anim>
                                    <p:set>
                                      <p:cBhvr>
                                        <p:cTn dur="1" fill="hold">
                                          <p:stCondLst>
                                            <p:cond delay="1000"/>
                                          </p:stCondLst>
                                        </p:cTn>
                                        <p:tgtEl>
                                          <p:spTgt spid="116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000"/>
                                          </p:stCondLst>
                                        </p:cTn>
                                        <p:tgtEl>
                                          <p:spTgt spid="11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9"/>
                                        </p:tgtEl>
                                        <p:attrNameLst>
                                          <p:attrName>style.visibility</p:attrName>
                                        </p:attrNameLst>
                                      </p:cBhvr>
                                      <p:to>
                                        <p:strVal val="visible"/>
                                      </p:to>
                                    </p:set>
                                    <p:animEffect filter="fade" transition="in">
                                      <p:cBhvr>
                                        <p:cTn dur="1000"/>
                                        <p:tgtEl>
                                          <p:spTgt spid="1169"/>
                                        </p:tgtEl>
                                      </p:cBhvr>
                                    </p:animEffect>
                                  </p:childTnLst>
                                </p:cTn>
                              </p:par>
                              <p:par>
                                <p:cTn fill="hold" nodeType="withEffect" presetClass="entr" presetID="10" presetSubtype="0">
                                  <p:stCondLst>
                                    <p:cond delay="0"/>
                                  </p:stCondLst>
                                  <p:childTnLst>
                                    <p:set>
                                      <p:cBhvr>
                                        <p:cTn dur="1" fill="hold">
                                          <p:stCondLst>
                                            <p:cond delay="0"/>
                                          </p:stCondLst>
                                        </p:cTn>
                                        <p:tgtEl>
                                          <p:spTgt spid="1176"/>
                                        </p:tgtEl>
                                        <p:attrNameLst>
                                          <p:attrName>style.visibility</p:attrName>
                                        </p:attrNameLst>
                                      </p:cBhvr>
                                      <p:to>
                                        <p:strVal val="visible"/>
                                      </p:to>
                                    </p:set>
                                    <p:animEffect filter="fade" transition="in">
                                      <p:cBhvr>
                                        <p:cTn dur="1000"/>
                                        <p:tgtEl>
                                          <p:spTgt spid="11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1">
                                  <p:stCondLst>
                                    <p:cond delay="0"/>
                                  </p:stCondLst>
                                  <p:childTnLst>
                                    <p:anim calcmode="lin" valueType="num">
                                      <p:cBhvr additive="base">
                                        <p:cTn dur="1000"/>
                                        <p:tgtEl>
                                          <p:spTgt spid="1169"/>
                                        </p:tgtEl>
                                        <p:attrNameLst>
                                          <p:attrName>ppt_y</p:attrName>
                                        </p:attrNameLst>
                                      </p:cBhvr>
                                      <p:tavLst>
                                        <p:tav fmla="" tm="0">
                                          <p:val>
                                            <p:strVal val="#ppt_y"/>
                                          </p:val>
                                        </p:tav>
                                        <p:tav fmla="" tm="100000">
                                          <p:val>
                                            <p:strVal val="#ppt_y-1"/>
                                          </p:val>
                                        </p:tav>
                                      </p:tavLst>
                                    </p:anim>
                                    <p:set>
                                      <p:cBhvr>
                                        <p:cTn dur="1" fill="hold">
                                          <p:stCondLst>
                                            <p:cond delay="1000"/>
                                          </p:stCondLst>
                                        </p:cTn>
                                        <p:tgtEl>
                                          <p:spTgt spid="116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000"/>
                                          </p:stCondLst>
                                        </p:cTn>
                                        <p:tgtEl>
                                          <p:spTgt spid="117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59"/>
          <p:cNvSpPr txBox="1"/>
          <p:nvPr>
            <p:ph type="title"/>
          </p:nvPr>
        </p:nvSpPr>
        <p:spPr>
          <a:xfrm>
            <a:off x="264175" y="5916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Factorial</a:t>
            </a:r>
            <a:endParaRPr/>
          </a:p>
        </p:txBody>
      </p:sp>
      <p:pic>
        <p:nvPicPr>
          <p:cNvPr id="1183" name="Google Shape;1183;p59"/>
          <p:cNvPicPr preferRelativeResize="0"/>
          <p:nvPr/>
        </p:nvPicPr>
        <p:blipFill>
          <a:blip r:embed="rId3">
            <a:alphaModFix/>
          </a:blip>
          <a:stretch>
            <a:fillRect/>
          </a:stretch>
        </p:blipFill>
        <p:spPr>
          <a:xfrm>
            <a:off x="1986077" y="1747500"/>
            <a:ext cx="5766875" cy="2445250"/>
          </a:xfrm>
          <a:prstGeom prst="rect">
            <a:avLst/>
          </a:prstGeom>
          <a:noFill/>
          <a:ln>
            <a:noFill/>
          </a:ln>
        </p:spPr>
      </p:pic>
      <p:sp>
        <p:nvSpPr>
          <p:cNvPr id="1184" name="Google Shape;1184;p59"/>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Iteration vs Recursion vs Tail recursion</a:t>
            </a:r>
            <a:endParaRPr/>
          </a:p>
        </p:txBody>
      </p:sp>
      <p:sp>
        <p:nvSpPr>
          <p:cNvPr id="1190" name="Google Shape;1190;p60"/>
          <p:cNvSpPr txBox="1"/>
          <p:nvPr>
            <p:ph idx="1" type="body"/>
          </p:nvPr>
        </p:nvSpPr>
        <p:spPr>
          <a:xfrm>
            <a:off x="311700" y="1376538"/>
            <a:ext cx="2252100" cy="164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solidFill>
                  <a:srgbClr val="38761D"/>
                </a:solidFill>
                <a:latin typeface="Roboto"/>
                <a:ea typeface="Roboto"/>
                <a:cs typeface="Roboto"/>
                <a:sym typeface="Roboto"/>
              </a:rPr>
              <a:t>Iteration</a:t>
            </a:r>
            <a:endParaRPr b="1" sz="1100">
              <a:solidFill>
                <a:srgbClr val="38761D"/>
              </a:solidFill>
              <a:latin typeface="Roboto"/>
              <a:ea typeface="Roboto"/>
              <a:cs typeface="Roboto"/>
              <a:sym typeface="Roboto"/>
            </a:endParaRPr>
          </a:p>
          <a:p>
            <a:pPr indent="0" lvl="0" marL="0" rtl="0" algn="l">
              <a:spcBef>
                <a:spcPts val="1200"/>
              </a:spcBef>
              <a:spcAft>
                <a:spcPts val="1200"/>
              </a:spcAft>
              <a:buNone/>
            </a:pPr>
            <a:r>
              <a:rPr lang="en" sz="1100">
                <a:latin typeface="Roboto"/>
                <a:ea typeface="Roboto"/>
                <a:cs typeface="Roboto"/>
                <a:sym typeface="Roboto"/>
              </a:rPr>
              <a:t>Every recursive program can be modeled  into iterative program </a:t>
            </a:r>
            <a:endParaRPr sz="1100">
              <a:latin typeface="Roboto"/>
              <a:ea typeface="Roboto"/>
              <a:cs typeface="Roboto"/>
              <a:sym typeface="Roboto"/>
            </a:endParaRPr>
          </a:p>
        </p:txBody>
      </p:sp>
      <p:sp>
        <p:nvSpPr>
          <p:cNvPr id="1191" name="Google Shape;1191;p60"/>
          <p:cNvSpPr txBox="1"/>
          <p:nvPr>
            <p:ph idx="1" type="body"/>
          </p:nvPr>
        </p:nvSpPr>
        <p:spPr>
          <a:xfrm>
            <a:off x="3088400" y="1287450"/>
            <a:ext cx="2720700" cy="1734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018"/>
              <a:buNone/>
            </a:pPr>
            <a:r>
              <a:rPr b="1" lang="en" sz="1025">
                <a:solidFill>
                  <a:srgbClr val="3C78D8"/>
                </a:solidFill>
                <a:latin typeface="Roboto"/>
                <a:ea typeface="Roboto"/>
                <a:cs typeface="Roboto"/>
                <a:sym typeface="Roboto"/>
              </a:rPr>
              <a:t>Recursion</a:t>
            </a:r>
            <a:endParaRPr b="1" sz="1025">
              <a:solidFill>
                <a:srgbClr val="3C78D8"/>
              </a:solidFill>
              <a:latin typeface="Roboto"/>
              <a:ea typeface="Roboto"/>
              <a:cs typeface="Roboto"/>
              <a:sym typeface="Roboto"/>
            </a:endParaRPr>
          </a:p>
          <a:p>
            <a:pPr indent="-293687" lvl="0" marL="457200" rtl="0" algn="l">
              <a:lnSpc>
                <a:spcPct val="95000"/>
              </a:lnSpc>
              <a:spcBef>
                <a:spcPts val="1200"/>
              </a:spcBef>
              <a:spcAft>
                <a:spcPts val="0"/>
              </a:spcAft>
              <a:buSzPts val="1025"/>
              <a:buFont typeface="Roboto"/>
              <a:buChar char="●"/>
            </a:pPr>
            <a:r>
              <a:rPr lang="en" sz="1025">
                <a:latin typeface="Roboto"/>
                <a:ea typeface="Roboto"/>
                <a:cs typeface="Roboto"/>
                <a:sym typeface="Roboto"/>
              </a:rPr>
              <a:t>Advantage:</a:t>
            </a:r>
            <a:endParaRPr sz="1025">
              <a:latin typeface="Roboto"/>
              <a:ea typeface="Roboto"/>
              <a:cs typeface="Roboto"/>
              <a:sym typeface="Roboto"/>
            </a:endParaRPr>
          </a:p>
          <a:p>
            <a:pPr indent="-179387" lvl="1" marL="628650" rtl="0" algn="l">
              <a:lnSpc>
                <a:spcPct val="95000"/>
              </a:lnSpc>
              <a:spcBef>
                <a:spcPts val="0"/>
              </a:spcBef>
              <a:spcAft>
                <a:spcPts val="0"/>
              </a:spcAft>
              <a:buSzPts val="1025"/>
              <a:buFont typeface="Roboto"/>
              <a:buChar char="○"/>
            </a:pPr>
            <a:r>
              <a:rPr lang="en" sz="1025">
                <a:latin typeface="Roboto"/>
                <a:ea typeface="Roboto"/>
                <a:cs typeface="Roboto"/>
                <a:sym typeface="Roboto"/>
              </a:rPr>
              <a:t>More elegant</a:t>
            </a:r>
            <a:endParaRPr sz="1025">
              <a:latin typeface="Roboto"/>
              <a:ea typeface="Roboto"/>
              <a:cs typeface="Roboto"/>
              <a:sym typeface="Roboto"/>
            </a:endParaRPr>
          </a:p>
          <a:p>
            <a:pPr indent="-179387" lvl="1" marL="628650" rtl="0" algn="l">
              <a:lnSpc>
                <a:spcPct val="95000"/>
              </a:lnSpc>
              <a:spcBef>
                <a:spcPts val="0"/>
              </a:spcBef>
              <a:spcAft>
                <a:spcPts val="0"/>
              </a:spcAft>
              <a:buSzPts val="1025"/>
              <a:buFont typeface="Roboto"/>
              <a:buChar char="○"/>
            </a:pPr>
            <a:r>
              <a:rPr lang="en" sz="1025">
                <a:latin typeface="Roboto"/>
                <a:ea typeface="Roboto"/>
                <a:cs typeface="Roboto"/>
                <a:sym typeface="Roboto"/>
              </a:rPr>
              <a:t>Shorter code</a:t>
            </a:r>
            <a:endParaRPr sz="1025">
              <a:latin typeface="Roboto"/>
              <a:ea typeface="Roboto"/>
              <a:cs typeface="Roboto"/>
              <a:sym typeface="Roboto"/>
            </a:endParaRPr>
          </a:p>
          <a:p>
            <a:pPr indent="-179387" lvl="1" marL="628650" rtl="0" algn="l">
              <a:lnSpc>
                <a:spcPct val="95000"/>
              </a:lnSpc>
              <a:spcBef>
                <a:spcPts val="0"/>
              </a:spcBef>
              <a:spcAft>
                <a:spcPts val="0"/>
              </a:spcAft>
              <a:buSzPts val="1025"/>
              <a:buFont typeface="Roboto"/>
              <a:buChar char="○"/>
            </a:pPr>
            <a:r>
              <a:rPr lang="en" sz="1025">
                <a:latin typeface="Roboto"/>
                <a:ea typeface="Roboto"/>
                <a:cs typeface="Roboto"/>
                <a:sym typeface="Roboto"/>
              </a:rPr>
              <a:t>Intuitive approach</a:t>
            </a:r>
            <a:endParaRPr sz="1025">
              <a:latin typeface="Roboto"/>
              <a:ea typeface="Roboto"/>
              <a:cs typeface="Roboto"/>
              <a:sym typeface="Roboto"/>
            </a:endParaRPr>
          </a:p>
          <a:p>
            <a:pPr indent="-293687" lvl="0" marL="457200" rtl="0" algn="l">
              <a:lnSpc>
                <a:spcPct val="95000"/>
              </a:lnSpc>
              <a:spcBef>
                <a:spcPts val="0"/>
              </a:spcBef>
              <a:spcAft>
                <a:spcPts val="0"/>
              </a:spcAft>
              <a:buSzPts val="1025"/>
              <a:buFont typeface="Roboto"/>
              <a:buChar char="●"/>
            </a:pPr>
            <a:r>
              <a:rPr lang="en" sz="1025">
                <a:latin typeface="Roboto"/>
                <a:ea typeface="Roboto"/>
                <a:cs typeface="Roboto"/>
                <a:sym typeface="Roboto"/>
              </a:rPr>
              <a:t>Disadvantage:</a:t>
            </a:r>
            <a:endParaRPr sz="1025">
              <a:latin typeface="Roboto"/>
              <a:ea typeface="Roboto"/>
              <a:cs typeface="Roboto"/>
              <a:sym typeface="Roboto"/>
            </a:endParaRPr>
          </a:p>
          <a:p>
            <a:pPr indent="-236537" lvl="1" marL="628650" rtl="0" algn="l">
              <a:lnSpc>
                <a:spcPct val="95000"/>
              </a:lnSpc>
              <a:spcBef>
                <a:spcPts val="0"/>
              </a:spcBef>
              <a:spcAft>
                <a:spcPts val="0"/>
              </a:spcAft>
              <a:buSzPts val="1025"/>
              <a:buFont typeface="Roboto"/>
              <a:buChar char="○"/>
            </a:pPr>
            <a:r>
              <a:rPr lang="en" sz="1025">
                <a:latin typeface="Roboto"/>
                <a:ea typeface="Roboto"/>
                <a:cs typeface="Roboto"/>
                <a:sym typeface="Roboto"/>
              </a:rPr>
              <a:t>Larger problems can occupy more space</a:t>
            </a:r>
            <a:endParaRPr sz="1125">
              <a:latin typeface="Roboto"/>
              <a:ea typeface="Roboto"/>
              <a:cs typeface="Roboto"/>
              <a:sym typeface="Roboto"/>
            </a:endParaRPr>
          </a:p>
          <a:p>
            <a:pPr indent="-236537" lvl="1" marL="628650" rtl="0" algn="l">
              <a:lnSpc>
                <a:spcPct val="95000"/>
              </a:lnSpc>
              <a:spcBef>
                <a:spcPts val="0"/>
              </a:spcBef>
              <a:spcAft>
                <a:spcPts val="0"/>
              </a:spcAft>
              <a:buSzPts val="1025"/>
              <a:buFont typeface="Roboto"/>
              <a:buChar char="○"/>
            </a:pPr>
            <a:r>
              <a:rPr lang="en" sz="1025">
                <a:latin typeface="Roboto"/>
                <a:ea typeface="Roboto"/>
                <a:cs typeface="Roboto"/>
                <a:sym typeface="Roboto"/>
              </a:rPr>
              <a:t>Function call stack can grow large</a:t>
            </a:r>
            <a:endParaRPr sz="1025">
              <a:latin typeface="Roboto"/>
              <a:ea typeface="Roboto"/>
              <a:cs typeface="Roboto"/>
              <a:sym typeface="Roboto"/>
            </a:endParaRPr>
          </a:p>
        </p:txBody>
      </p:sp>
      <p:sp>
        <p:nvSpPr>
          <p:cNvPr id="1192" name="Google Shape;1192;p60"/>
          <p:cNvSpPr txBox="1"/>
          <p:nvPr/>
        </p:nvSpPr>
        <p:spPr>
          <a:xfrm>
            <a:off x="3247588" y="3381150"/>
            <a:ext cx="2210700" cy="1108200"/>
          </a:xfrm>
          <a:prstGeom prst="rect">
            <a:avLst/>
          </a:prstGeom>
          <a:solidFill>
            <a:srgbClr val="E2F1FF"/>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273239"/>
                </a:solidFill>
                <a:latin typeface="Roboto Mono"/>
                <a:ea typeface="Roboto Mono"/>
                <a:cs typeface="Roboto Mono"/>
                <a:sym typeface="Roboto Mono"/>
              </a:rPr>
              <a:t>int</a:t>
            </a:r>
            <a:r>
              <a:rPr lang="en" sz="1000">
                <a:solidFill>
                  <a:srgbClr val="273239"/>
                </a:solidFill>
                <a:latin typeface="Roboto Mono"/>
                <a:ea typeface="Roboto Mono"/>
                <a:cs typeface="Roboto Mono"/>
                <a:sym typeface="Roboto Mono"/>
              </a:rPr>
              <a:t> fact(int n)</a:t>
            </a:r>
            <a:endParaRPr sz="1000">
              <a:solidFill>
                <a:srgbClr val="273239"/>
              </a:solidFill>
              <a:latin typeface="Roboto Mono"/>
              <a:ea typeface="Roboto Mono"/>
              <a:cs typeface="Roboto Mono"/>
              <a:sym typeface="Roboto Mono"/>
            </a:endParaRPr>
          </a:p>
          <a:p>
            <a:pPr indent="0" lvl="0" marL="0" rtl="0" algn="l">
              <a:spcBef>
                <a:spcPts val="0"/>
              </a:spcBef>
              <a:spcAft>
                <a:spcPts val="0"/>
              </a:spcAft>
              <a:buNone/>
            </a:pPr>
            <a:r>
              <a:rPr lang="en" sz="1000">
                <a:solidFill>
                  <a:srgbClr val="273239"/>
                </a:solidFill>
                <a:latin typeface="Roboto Mono"/>
                <a:ea typeface="Roboto Mono"/>
                <a:cs typeface="Roboto Mono"/>
                <a:sym typeface="Roboto Mono"/>
              </a:rPr>
              <a:t>{</a:t>
            </a:r>
            <a:endParaRPr sz="1000">
              <a:solidFill>
                <a:srgbClr val="273239"/>
              </a:solidFill>
              <a:latin typeface="Roboto Mono"/>
              <a:ea typeface="Roboto Mono"/>
              <a:cs typeface="Roboto Mono"/>
              <a:sym typeface="Roboto Mono"/>
            </a:endParaRPr>
          </a:p>
          <a:p>
            <a:pPr indent="0" lvl="0" marL="0" rtl="0" algn="l">
              <a:spcBef>
                <a:spcPts val="0"/>
              </a:spcBef>
              <a:spcAft>
                <a:spcPts val="0"/>
              </a:spcAft>
              <a:buNone/>
            </a:pPr>
            <a:r>
              <a:rPr lang="en" sz="1000">
                <a:solidFill>
                  <a:srgbClr val="273239"/>
                </a:solidFill>
                <a:latin typeface="Roboto Mono"/>
                <a:ea typeface="Roboto Mono"/>
                <a:cs typeface="Roboto Mono"/>
                <a:sym typeface="Roboto Mono"/>
              </a:rPr>
              <a:t>    if (n == 0) </a:t>
            </a:r>
            <a:endParaRPr sz="1000">
              <a:solidFill>
                <a:srgbClr val="273239"/>
              </a:solidFill>
              <a:latin typeface="Roboto Mono"/>
              <a:ea typeface="Roboto Mono"/>
              <a:cs typeface="Roboto Mono"/>
              <a:sym typeface="Roboto Mono"/>
            </a:endParaRPr>
          </a:p>
          <a:p>
            <a:pPr indent="0" lvl="0" marL="457200" rtl="0" algn="l">
              <a:spcBef>
                <a:spcPts val="0"/>
              </a:spcBef>
              <a:spcAft>
                <a:spcPts val="0"/>
              </a:spcAft>
              <a:buNone/>
            </a:pPr>
            <a:r>
              <a:rPr lang="en" sz="1000">
                <a:solidFill>
                  <a:srgbClr val="273239"/>
                </a:solidFill>
                <a:latin typeface="Roboto Mono"/>
                <a:ea typeface="Roboto Mono"/>
                <a:cs typeface="Roboto Mono"/>
                <a:sym typeface="Roboto Mono"/>
              </a:rPr>
              <a:t>return 1;</a:t>
            </a:r>
            <a:endParaRPr sz="1000">
              <a:solidFill>
                <a:srgbClr val="273239"/>
              </a:solidFill>
              <a:latin typeface="Roboto Mono"/>
              <a:ea typeface="Roboto Mono"/>
              <a:cs typeface="Roboto Mono"/>
              <a:sym typeface="Roboto Mono"/>
            </a:endParaRPr>
          </a:p>
          <a:p>
            <a:pPr indent="0" lvl="0" marL="0" rtl="0" algn="l">
              <a:spcBef>
                <a:spcPts val="0"/>
              </a:spcBef>
              <a:spcAft>
                <a:spcPts val="0"/>
              </a:spcAft>
              <a:buNone/>
            </a:pPr>
            <a:r>
              <a:rPr lang="en" sz="1000">
                <a:solidFill>
                  <a:srgbClr val="273239"/>
                </a:solidFill>
                <a:latin typeface="Roboto Mono"/>
                <a:ea typeface="Roboto Mono"/>
                <a:cs typeface="Roboto Mono"/>
                <a:sym typeface="Roboto Mono"/>
              </a:rPr>
              <a:t>    return n * fact(n-1);</a:t>
            </a:r>
            <a:endParaRPr sz="1000">
              <a:solidFill>
                <a:srgbClr val="273239"/>
              </a:solidFill>
              <a:latin typeface="Roboto Mono"/>
              <a:ea typeface="Roboto Mono"/>
              <a:cs typeface="Roboto Mono"/>
              <a:sym typeface="Roboto Mono"/>
            </a:endParaRPr>
          </a:p>
          <a:p>
            <a:pPr indent="0" lvl="0" marL="0" rtl="0" algn="l">
              <a:spcBef>
                <a:spcPts val="0"/>
              </a:spcBef>
              <a:spcAft>
                <a:spcPts val="0"/>
              </a:spcAft>
              <a:buNone/>
            </a:pPr>
            <a:r>
              <a:rPr lang="en" sz="1000">
                <a:solidFill>
                  <a:srgbClr val="273239"/>
                </a:solidFill>
                <a:latin typeface="Roboto Mono"/>
                <a:ea typeface="Roboto Mono"/>
                <a:cs typeface="Roboto Mono"/>
                <a:sym typeface="Roboto Mono"/>
              </a:rPr>
              <a:t>}</a:t>
            </a:r>
            <a:endParaRPr sz="1000">
              <a:solidFill>
                <a:srgbClr val="273239"/>
              </a:solidFill>
              <a:latin typeface="Roboto Mono"/>
              <a:ea typeface="Roboto Mono"/>
              <a:cs typeface="Roboto Mono"/>
              <a:sym typeface="Roboto Mono"/>
            </a:endParaRPr>
          </a:p>
        </p:txBody>
      </p:sp>
      <p:sp>
        <p:nvSpPr>
          <p:cNvPr id="1193" name="Google Shape;1193;p60"/>
          <p:cNvSpPr txBox="1"/>
          <p:nvPr/>
        </p:nvSpPr>
        <p:spPr>
          <a:xfrm>
            <a:off x="208375" y="3304200"/>
            <a:ext cx="2793000" cy="1262100"/>
          </a:xfrm>
          <a:prstGeom prst="rect">
            <a:avLst/>
          </a:prstGeom>
          <a:solidFill>
            <a:srgbClr val="EFFAEB"/>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Roboto Mono"/>
                <a:ea typeface="Roboto Mono"/>
                <a:cs typeface="Roboto Mono"/>
                <a:sym typeface="Roboto Mono"/>
              </a:rPr>
              <a:t>int factorial(int n)</a:t>
            </a:r>
            <a:endParaRPr sz="1000">
              <a:solidFill>
                <a:schemeClr val="dk2"/>
              </a:solidFill>
              <a:latin typeface="Roboto Mono"/>
              <a:ea typeface="Roboto Mono"/>
              <a:cs typeface="Roboto Mono"/>
              <a:sym typeface="Roboto Mono"/>
            </a:endParaRPr>
          </a:p>
          <a:p>
            <a:pPr indent="0" lvl="0" marL="0" rtl="0" algn="l">
              <a:spcBef>
                <a:spcPts val="0"/>
              </a:spcBef>
              <a:spcAft>
                <a:spcPts val="0"/>
              </a:spcAft>
              <a:buNone/>
            </a:pPr>
            <a:r>
              <a:rPr lang="en" sz="1000">
                <a:solidFill>
                  <a:schemeClr val="dk2"/>
                </a:solidFill>
                <a:latin typeface="Roboto Mono"/>
                <a:ea typeface="Roboto Mono"/>
                <a:cs typeface="Roboto Mono"/>
                <a:sym typeface="Roboto Mono"/>
              </a:rPr>
              <a:t>{</a:t>
            </a:r>
            <a:endParaRPr sz="1000">
              <a:solidFill>
                <a:schemeClr val="dk2"/>
              </a:solidFill>
              <a:latin typeface="Roboto Mono"/>
              <a:ea typeface="Roboto Mono"/>
              <a:cs typeface="Roboto Mono"/>
              <a:sym typeface="Roboto Mono"/>
            </a:endParaRPr>
          </a:p>
          <a:p>
            <a:pPr indent="0" lvl="0" marL="0" rtl="0" algn="l">
              <a:spcBef>
                <a:spcPts val="0"/>
              </a:spcBef>
              <a:spcAft>
                <a:spcPts val="0"/>
              </a:spcAft>
              <a:buNone/>
            </a:pPr>
            <a:r>
              <a:rPr lang="en" sz="1000">
                <a:solidFill>
                  <a:schemeClr val="dk2"/>
                </a:solidFill>
                <a:latin typeface="Roboto Mono"/>
                <a:ea typeface="Roboto Mono"/>
                <a:cs typeface="Roboto Mono"/>
                <a:sym typeface="Roboto Mono"/>
              </a:rPr>
              <a:t>    int fact = 1, i;</a:t>
            </a:r>
            <a:endParaRPr sz="1000">
              <a:solidFill>
                <a:schemeClr val="dk2"/>
              </a:solidFill>
              <a:latin typeface="Roboto Mono"/>
              <a:ea typeface="Roboto Mono"/>
              <a:cs typeface="Roboto Mono"/>
              <a:sym typeface="Roboto Mono"/>
            </a:endParaRPr>
          </a:p>
          <a:p>
            <a:pPr indent="0" lvl="0" marL="0" rtl="0" algn="l">
              <a:spcBef>
                <a:spcPts val="0"/>
              </a:spcBef>
              <a:spcAft>
                <a:spcPts val="0"/>
              </a:spcAft>
              <a:buNone/>
            </a:pPr>
            <a:r>
              <a:rPr lang="en" sz="1000">
                <a:solidFill>
                  <a:schemeClr val="dk2"/>
                </a:solidFill>
                <a:latin typeface="Roboto Mono"/>
                <a:ea typeface="Roboto Mono"/>
                <a:cs typeface="Roboto Mono"/>
                <a:sym typeface="Roboto Mono"/>
              </a:rPr>
              <a:t>    for (i = 2; i &lt;= n; i++)</a:t>
            </a:r>
            <a:endParaRPr sz="1000">
              <a:solidFill>
                <a:schemeClr val="dk2"/>
              </a:solidFill>
              <a:latin typeface="Roboto Mono"/>
              <a:ea typeface="Roboto Mono"/>
              <a:cs typeface="Roboto Mono"/>
              <a:sym typeface="Roboto Mono"/>
            </a:endParaRPr>
          </a:p>
          <a:p>
            <a:pPr indent="457200" lvl="0" marL="0" rtl="0" algn="l">
              <a:spcBef>
                <a:spcPts val="0"/>
              </a:spcBef>
              <a:spcAft>
                <a:spcPts val="0"/>
              </a:spcAft>
              <a:buNone/>
            </a:pPr>
            <a:r>
              <a:rPr lang="en" sz="1000">
                <a:solidFill>
                  <a:schemeClr val="dk2"/>
                </a:solidFill>
                <a:latin typeface="Roboto Mono"/>
                <a:ea typeface="Roboto Mono"/>
                <a:cs typeface="Roboto Mono"/>
                <a:sym typeface="Roboto Mono"/>
              </a:rPr>
              <a:t>f</a:t>
            </a:r>
            <a:r>
              <a:rPr lang="en" sz="1000">
                <a:solidFill>
                  <a:schemeClr val="dk2"/>
                </a:solidFill>
                <a:latin typeface="Roboto Mono"/>
                <a:ea typeface="Roboto Mono"/>
                <a:cs typeface="Roboto Mono"/>
                <a:sym typeface="Roboto Mono"/>
              </a:rPr>
              <a:t>act *= i;</a:t>
            </a:r>
            <a:endParaRPr sz="1000">
              <a:solidFill>
                <a:schemeClr val="dk2"/>
              </a:solidFill>
              <a:latin typeface="Roboto Mono"/>
              <a:ea typeface="Roboto Mono"/>
              <a:cs typeface="Roboto Mono"/>
              <a:sym typeface="Roboto Mono"/>
            </a:endParaRPr>
          </a:p>
          <a:p>
            <a:pPr indent="0" lvl="0" marL="0" rtl="0" algn="l">
              <a:spcBef>
                <a:spcPts val="0"/>
              </a:spcBef>
              <a:spcAft>
                <a:spcPts val="0"/>
              </a:spcAft>
              <a:buNone/>
            </a:pPr>
            <a:r>
              <a:rPr lang="en" sz="1000">
                <a:solidFill>
                  <a:schemeClr val="dk2"/>
                </a:solidFill>
                <a:latin typeface="Roboto Mono"/>
                <a:ea typeface="Roboto Mono"/>
                <a:cs typeface="Roboto Mono"/>
                <a:sym typeface="Roboto Mono"/>
              </a:rPr>
              <a:t>    return fact;</a:t>
            </a:r>
            <a:endParaRPr sz="1000">
              <a:solidFill>
                <a:schemeClr val="dk2"/>
              </a:solidFill>
              <a:latin typeface="Roboto Mono"/>
              <a:ea typeface="Roboto Mono"/>
              <a:cs typeface="Roboto Mono"/>
              <a:sym typeface="Roboto Mono"/>
            </a:endParaRPr>
          </a:p>
          <a:p>
            <a:pPr indent="0" lvl="0" marL="0" rtl="0" algn="l">
              <a:spcBef>
                <a:spcPts val="0"/>
              </a:spcBef>
              <a:spcAft>
                <a:spcPts val="0"/>
              </a:spcAft>
              <a:buNone/>
            </a:pPr>
            <a:r>
              <a:rPr lang="en" sz="1000">
                <a:solidFill>
                  <a:schemeClr val="dk2"/>
                </a:solidFill>
                <a:latin typeface="Roboto Mono"/>
                <a:ea typeface="Roboto Mono"/>
                <a:cs typeface="Roboto Mono"/>
                <a:sym typeface="Roboto Mono"/>
              </a:rPr>
              <a:t>}</a:t>
            </a:r>
            <a:endParaRPr sz="1000">
              <a:solidFill>
                <a:schemeClr val="dk2"/>
              </a:solidFill>
              <a:latin typeface="Roboto Mono"/>
              <a:ea typeface="Roboto Mono"/>
              <a:cs typeface="Roboto Mono"/>
              <a:sym typeface="Roboto Mono"/>
            </a:endParaRPr>
          </a:p>
        </p:txBody>
      </p:sp>
      <p:sp>
        <p:nvSpPr>
          <p:cNvPr id="1194" name="Google Shape;1194;p60"/>
          <p:cNvSpPr txBox="1"/>
          <p:nvPr>
            <p:ph idx="1" type="body"/>
          </p:nvPr>
        </p:nvSpPr>
        <p:spPr>
          <a:xfrm>
            <a:off x="6085000" y="1353125"/>
            <a:ext cx="2252100" cy="16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solidFill>
                  <a:srgbClr val="674EA7"/>
                </a:solidFill>
                <a:latin typeface="Roboto"/>
                <a:ea typeface="Roboto"/>
                <a:cs typeface="Roboto"/>
                <a:sym typeface="Roboto"/>
              </a:rPr>
              <a:t>Tail </a:t>
            </a:r>
            <a:r>
              <a:rPr b="1" lang="en" sz="1100">
                <a:solidFill>
                  <a:srgbClr val="674EA7"/>
                </a:solidFill>
                <a:latin typeface="Roboto"/>
                <a:ea typeface="Roboto"/>
                <a:cs typeface="Roboto"/>
                <a:sym typeface="Roboto"/>
              </a:rPr>
              <a:t>Recursion</a:t>
            </a:r>
            <a:endParaRPr b="1" sz="1100">
              <a:solidFill>
                <a:srgbClr val="674EA7"/>
              </a:solidFill>
              <a:latin typeface="Roboto"/>
              <a:ea typeface="Roboto"/>
              <a:cs typeface="Roboto"/>
              <a:sym typeface="Roboto"/>
            </a:endParaRPr>
          </a:p>
          <a:p>
            <a:pPr indent="0" lvl="0" marL="0" rtl="0" algn="l">
              <a:spcBef>
                <a:spcPts val="1200"/>
              </a:spcBef>
              <a:spcAft>
                <a:spcPts val="0"/>
              </a:spcAft>
              <a:buNone/>
            </a:pPr>
            <a:r>
              <a:rPr lang="en" sz="1100">
                <a:latin typeface="Roboto"/>
                <a:ea typeface="Roboto"/>
                <a:cs typeface="Roboto"/>
                <a:sym typeface="Roboto"/>
              </a:rPr>
              <a:t>Better performance since stack space is saved by the compiler</a:t>
            </a:r>
            <a:endParaRPr sz="1100">
              <a:latin typeface="Roboto"/>
              <a:ea typeface="Roboto"/>
              <a:cs typeface="Roboto"/>
              <a:sym typeface="Roboto"/>
            </a:endParaRPr>
          </a:p>
          <a:p>
            <a:pPr indent="0" lvl="0" marL="0" rtl="0" algn="l">
              <a:spcBef>
                <a:spcPts val="1200"/>
              </a:spcBef>
              <a:spcAft>
                <a:spcPts val="1200"/>
              </a:spcAft>
              <a:buNone/>
            </a:pPr>
            <a:r>
              <a:t/>
            </a:r>
            <a:endParaRPr sz="1100">
              <a:latin typeface="Roboto"/>
              <a:ea typeface="Roboto"/>
              <a:cs typeface="Roboto"/>
              <a:sym typeface="Roboto"/>
            </a:endParaRPr>
          </a:p>
        </p:txBody>
      </p:sp>
      <p:sp>
        <p:nvSpPr>
          <p:cNvPr id="1195" name="Google Shape;1195;p60"/>
          <p:cNvSpPr txBox="1"/>
          <p:nvPr/>
        </p:nvSpPr>
        <p:spPr>
          <a:xfrm>
            <a:off x="5704500" y="3381150"/>
            <a:ext cx="3127800" cy="1108200"/>
          </a:xfrm>
          <a:prstGeom prst="rect">
            <a:avLst/>
          </a:prstGeom>
          <a:solidFill>
            <a:srgbClr val="F9F6FF"/>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273239"/>
                </a:solidFill>
                <a:latin typeface="Roboto Mono"/>
                <a:ea typeface="Roboto Mono"/>
                <a:cs typeface="Roboto Mono"/>
                <a:sym typeface="Roboto Mono"/>
              </a:rPr>
              <a:t>i</a:t>
            </a:r>
            <a:r>
              <a:rPr lang="en" sz="1000">
                <a:solidFill>
                  <a:srgbClr val="273239"/>
                </a:solidFill>
                <a:latin typeface="Roboto Mono"/>
                <a:ea typeface="Roboto Mono"/>
                <a:cs typeface="Roboto Mono"/>
                <a:sym typeface="Roboto Mono"/>
              </a:rPr>
              <a:t>nt </a:t>
            </a:r>
            <a:r>
              <a:rPr lang="en" sz="1000">
                <a:solidFill>
                  <a:srgbClr val="273239"/>
                </a:solidFill>
                <a:latin typeface="Roboto Mono"/>
                <a:ea typeface="Roboto Mono"/>
                <a:cs typeface="Roboto Mono"/>
                <a:sym typeface="Roboto Mono"/>
              </a:rPr>
              <a:t>factTR(int n, int part_fact)</a:t>
            </a:r>
            <a:endParaRPr sz="1000">
              <a:solidFill>
                <a:srgbClr val="273239"/>
              </a:solidFill>
              <a:latin typeface="Roboto Mono"/>
              <a:ea typeface="Roboto Mono"/>
              <a:cs typeface="Roboto Mono"/>
              <a:sym typeface="Roboto Mono"/>
            </a:endParaRPr>
          </a:p>
          <a:p>
            <a:pPr indent="0" lvl="0" marL="0" rtl="0" algn="l">
              <a:spcBef>
                <a:spcPts val="0"/>
              </a:spcBef>
              <a:spcAft>
                <a:spcPts val="0"/>
              </a:spcAft>
              <a:buNone/>
            </a:pPr>
            <a:r>
              <a:rPr lang="en" sz="1000">
                <a:solidFill>
                  <a:srgbClr val="273239"/>
                </a:solidFill>
                <a:latin typeface="Roboto Mono"/>
                <a:ea typeface="Roboto Mono"/>
                <a:cs typeface="Roboto Mono"/>
                <a:sym typeface="Roboto Mono"/>
              </a:rPr>
              <a:t>{</a:t>
            </a:r>
            <a:endParaRPr sz="1000">
              <a:solidFill>
                <a:srgbClr val="273239"/>
              </a:solidFill>
              <a:latin typeface="Roboto Mono"/>
              <a:ea typeface="Roboto Mono"/>
              <a:cs typeface="Roboto Mono"/>
              <a:sym typeface="Roboto Mono"/>
            </a:endParaRPr>
          </a:p>
          <a:p>
            <a:pPr indent="0" lvl="0" marL="0" rtl="0" algn="l">
              <a:spcBef>
                <a:spcPts val="0"/>
              </a:spcBef>
              <a:spcAft>
                <a:spcPts val="0"/>
              </a:spcAft>
              <a:buNone/>
            </a:pPr>
            <a:r>
              <a:rPr lang="en" sz="1000">
                <a:solidFill>
                  <a:srgbClr val="273239"/>
                </a:solidFill>
                <a:latin typeface="Roboto Mono"/>
                <a:ea typeface="Roboto Mono"/>
                <a:cs typeface="Roboto Mono"/>
                <a:sym typeface="Roboto Mono"/>
              </a:rPr>
              <a:t>    if (n == 1)  </a:t>
            </a:r>
            <a:endParaRPr sz="1000">
              <a:solidFill>
                <a:srgbClr val="273239"/>
              </a:solidFill>
              <a:latin typeface="Roboto Mono"/>
              <a:ea typeface="Roboto Mono"/>
              <a:cs typeface="Roboto Mono"/>
              <a:sym typeface="Roboto Mono"/>
            </a:endParaRPr>
          </a:p>
          <a:p>
            <a:pPr indent="457200" lvl="0" marL="0" rtl="0" algn="l">
              <a:spcBef>
                <a:spcPts val="0"/>
              </a:spcBef>
              <a:spcAft>
                <a:spcPts val="0"/>
              </a:spcAft>
              <a:buNone/>
            </a:pPr>
            <a:r>
              <a:rPr lang="en" sz="1000">
                <a:solidFill>
                  <a:srgbClr val="273239"/>
                </a:solidFill>
                <a:latin typeface="Roboto Mono"/>
                <a:ea typeface="Roboto Mono"/>
                <a:cs typeface="Roboto Mono"/>
                <a:sym typeface="Roboto Mono"/>
              </a:rPr>
              <a:t>return part_fact;</a:t>
            </a:r>
            <a:endParaRPr sz="1000">
              <a:solidFill>
                <a:srgbClr val="273239"/>
              </a:solidFill>
              <a:latin typeface="Roboto Mono"/>
              <a:ea typeface="Roboto Mono"/>
              <a:cs typeface="Roboto Mono"/>
              <a:sym typeface="Roboto Mono"/>
            </a:endParaRPr>
          </a:p>
          <a:p>
            <a:pPr indent="0" lvl="0" marL="0" rtl="0" algn="l">
              <a:spcBef>
                <a:spcPts val="0"/>
              </a:spcBef>
              <a:spcAft>
                <a:spcPts val="0"/>
              </a:spcAft>
              <a:buNone/>
            </a:pPr>
            <a:r>
              <a:rPr lang="en" sz="1000">
                <a:solidFill>
                  <a:srgbClr val="273239"/>
                </a:solidFill>
                <a:latin typeface="Roboto Mono"/>
                <a:ea typeface="Roboto Mono"/>
                <a:cs typeface="Roboto Mono"/>
                <a:sym typeface="Roboto Mono"/>
              </a:rPr>
              <a:t>    return factTR(n-1, n * </a:t>
            </a:r>
            <a:r>
              <a:rPr lang="en" sz="1000">
                <a:solidFill>
                  <a:srgbClr val="273239"/>
                </a:solidFill>
                <a:latin typeface="Roboto Mono"/>
                <a:ea typeface="Roboto Mono"/>
                <a:cs typeface="Roboto Mono"/>
                <a:sym typeface="Roboto Mono"/>
              </a:rPr>
              <a:t>part_fact</a:t>
            </a:r>
            <a:r>
              <a:rPr lang="en" sz="1000">
                <a:solidFill>
                  <a:srgbClr val="273239"/>
                </a:solidFill>
                <a:latin typeface="Roboto Mono"/>
                <a:ea typeface="Roboto Mono"/>
                <a:cs typeface="Roboto Mono"/>
                <a:sym typeface="Roboto Mono"/>
              </a:rPr>
              <a:t>);</a:t>
            </a:r>
            <a:endParaRPr sz="1000">
              <a:solidFill>
                <a:srgbClr val="273239"/>
              </a:solidFill>
              <a:latin typeface="Roboto Mono"/>
              <a:ea typeface="Roboto Mono"/>
              <a:cs typeface="Roboto Mono"/>
              <a:sym typeface="Roboto Mono"/>
            </a:endParaRPr>
          </a:p>
          <a:p>
            <a:pPr indent="0" lvl="0" marL="0" rtl="0" algn="l">
              <a:spcBef>
                <a:spcPts val="0"/>
              </a:spcBef>
              <a:spcAft>
                <a:spcPts val="0"/>
              </a:spcAft>
              <a:buNone/>
            </a:pPr>
            <a:r>
              <a:rPr lang="en" sz="1000">
                <a:solidFill>
                  <a:srgbClr val="273239"/>
                </a:solidFill>
                <a:latin typeface="Roboto Mono"/>
                <a:ea typeface="Roboto Mono"/>
                <a:cs typeface="Roboto Mono"/>
                <a:sym typeface="Roboto Mono"/>
              </a:rPr>
              <a:t>}</a:t>
            </a:r>
            <a:endParaRPr sz="1000">
              <a:solidFill>
                <a:srgbClr val="273239"/>
              </a:solidFill>
              <a:latin typeface="Roboto Mono"/>
              <a:ea typeface="Roboto Mono"/>
              <a:cs typeface="Roboto Mono"/>
              <a:sym typeface="Roboto Mono"/>
            </a:endParaRPr>
          </a:p>
        </p:txBody>
      </p:sp>
      <p:sp>
        <p:nvSpPr>
          <p:cNvPr id="1196" name="Google Shape;1196;p60"/>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0"/>
                                        </p:tgtEl>
                                        <p:attrNameLst>
                                          <p:attrName>style.visibility</p:attrName>
                                        </p:attrNameLst>
                                      </p:cBhvr>
                                      <p:to>
                                        <p:strVal val="visible"/>
                                      </p:to>
                                    </p:set>
                                    <p:animEffect filter="fade" transition="in">
                                      <p:cBhvr>
                                        <p:cTn dur="1000"/>
                                        <p:tgtEl>
                                          <p:spTgt spid="1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3"/>
                                        </p:tgtEl>
                                        <p:attrNameLst>
                                          <p:attrName>style.visibility</p:attrName>
                                        </p:attrNameLst>
                                      </p:cBhvr>
                                      <p:to>
                                        <p:strVal val="visible"/>
                                      </p:to>
                                    </p:set>
                                    <p:animEffect filter="fade" transition="in">
                                      <p:cBhvr>
                                        <p:cTn dur="1000"/>
                                        <p:tgtEl>
                                          <p:spTgt spid="1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1"/>
                                        </p:tgtEl>
                                        <p:attrNameLst>
                                          <p:attrName>style.visibility</p:attrName>
                                        </p:attrNameLst>
                                      </p:cBhvr>
                                      <p:to>
                                        <p:strVal val="visible"/>
                                      </p:to>
                                    </p:set>
                                    <p:animEffect filter="fade" transition="in">
                                      <p:cBhvr>
                                        <p:cTn dur="1000"/>
                                        <p:tgtEl>
                                          <p:spTgt spid="11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2"/>
                                        </p:tgtEl>
                                        <p:attrNameLst>
                                          <p:attrName>style.visibility</p:attrName>
                                        </p:attrNameLst>
                                      </p:cBhvr>
                                      <p:to>
                                        <p:strVal val="visible"/>
                                      </p:to>
                                    </p:set>
                                    <p:animEffect filter="fade" transition="in">
                                      <p:cBhvr>
                                        <p:cTn dur="1000"/>
                                        <p:tgtEl>
                                          <p:spTgt spid="11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4"/>
                                        </p:tgtEl>
                                        <p:attrNameLst>
                                          <p:attrName>style.visibility</p:attrName>
                                        </p:attrNameLst>
                                      </p:cBhvr>
                                      <p:to>
                                        <p:strVal val="visible"/>
                                      </p:to>
                                    </p:set>
                                    <p:animEffect filter="fade" transition="in">
                                      <p:cBhvr>
                                        <p:cTn dur="1000"/>
                                        <p:tgtEl>
                                          <p:spTgt spid="11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5"/>
                                        </p:tgtEl>
                                        <p:attrNameLst>
                                          <p:attrName>style.visibility</p:attrName>
                                        </p:attrNameLst>
                                      </p:cBhvr>
                                      <p:to>
                                        <p:strVal val="visible"/>
                                      </p:to>
                                    </p:set>
                                    <p:animEffect filter="fade" transition="in">
                                      <p:cBhvr>
                                        <p:cTn dur="1000"/>
                                        <p:tgtEl>
                                          <p:spTgt spid="11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 to Graphs</a:t>
            </a:r>
            <a:endParaRPr/>
          </a:p>
        </p:txBody>
      </p:sp>
      <p:pic>
        <p:nvPicPr>
          <p:cNvPr id="1202" name="Google Shape;1202;p61"/>
          <p:cNvPicPr preferRelativeResize="0"/>
          <p:nvPr/>
        </p:nvPicPr>
        <p:blipFill rotWithShape="1">
          <a:blip r:embed="rId3">
            <a:alphaModFix/>
          </a:blip>
          <a:srcRect b="0" l="47992" r="0" t="0"/>
          <a:stretch/>
        </p:blipFill>
        <p:spPr>
          <a:xfrm>
            <a:off x="396698" y="1129075"/>
            <a:ext cx="4237549" cy="3820975"/>
          </a:xfrm>
          <a:prstGeom prst="rect">
            <a:avLst/>
          </a:prstGeom>
          <a:noFill/>
          <a:ln>
            <a:noFill/>
          </a:ln>
        </p:spPr>
      </p:pic>
      <p:sp>
        <p:nvSpPr>
          <p:cNvPr id="1203" name="Google Shape;1203;p61"/>
          <p:cNvSpPr txBox="1"/>
          <p:nvPr/>
        </p:nvSpPr>
        <p:spPr>
          <a:xfrm>
            <a:off x="4770400" y="2976075"/>
            <a:ext cx="4121400" cy="20319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Base Case:</a:t>
            </a:r>
            <a:endParaRPr sz="1200">
              <a:solidFill>
                <a:schemeClr val="dk2"/>
              </a:solidFill>
              <a:latin typeface="Roboto"/>
              <a:ea typeface="Roboto"/>
              <a:cs typeface="Roboto"/>
              <a:sym typeface="Roboto"/>
            </a:endParaRPr>
          </a:p>
          <a:p>
            <a:pPr indent="-304800" lvl="1" marL="914400" rtl="0" algn="l">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Reached destination node</a:t>
            </a:r>
            <a:endParaRPr sz="1200">
              <a:solidFill>
                <a:schemeClr val="dk2"/>
              </a:solidFill>
              <a:latin typeface="Roboto"/>
              <a:ea typeface="Roboto"/>
              <a:cs typeface="Roboto"/>
              <a:sym typeface="Roboto"/>
            </a:endParaRPr>
          </a:p>
          <a:p>
            <a:pPr indent="-304800" lvl="1" marL="914400" rtl="0" algn="l">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No nodes left</a:t>
            </a:r>
            <a:endParaRPr sz="1200">
              <a:solidFill>
                <a:schemeClr val="dk2"/>
              </a:solidFill>
              <a:latin typeface="Roboto"/>
              <a:ea typeface="Roboto"/>
              <a:cs typeface="Roboto"/>
              <a:sym typeface="Roboto"/>
            </a:endParaRPr>
          </a:p>
          <a:p>
            <a:pPr indent="-304800" lvl="0" marL="457200" rtl="0" algn="l">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Recursive Case:</a:t>
            </a:r>
            <a:endParaRPr sz="1200">
              <a:solidFill>
                <a:schemeClr val="dk2"/>
              </a:solidFill>
              <a:latin typeface="Roboto"/>
              <a:ea typeface="Roboto"/>
              <a:cs typeface="Roboto"/>
              <a:sym typeface="Roboto"/>
            </a:endParaRPr>
          </a:p>
          <a:p>
            <a:pPr indent="-304800" lvl="1" marL="914400" rtl="0" algn="l">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Finding the path from given node</a:t>
            </a:r>
            <a:endParaRPr sz="1200">
              <a:solidFill>
                <a:schemeClr val="dk2"/>
              </a:solidFill>
              <a:latin typeface="Roboto"/>
              <a:ea typeface="Roboto"/>
              <a:cs typeface="Roboto"/>
              <a:sym typeface="Roboto"/>
            </a:endParaRPr>
          </a:p>
          <a:p>
            <a:pPr indent="-304800" lvl="1" marL="914400" rtl="0" algn="l">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Removing current node</a:t>
            </a:r>
            <a:endParaRPr sz="1200">
              <a:solidFill>
                <a:schemeClr val="dk2"/>
              </a:solidFill>
              <a:latin typeface="Roboto"/>
              <a:ea typeface="Roboto"/>
              <a:cs typeface="Roboto"/>
              <a:sym typeface="Roboto"/>
            </a:endParaRPr>
          </a:p>
          <a:p>
            <a:pPr indent="-304800" lvl="1" marL="914400" rtl="0" algn="l">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Finding path from from each neighbour of the current node to the destination</a:t>
            </a:r>
            <a:endParaRPr sz="1200">
              <a:solidFill>
                <a:schemeClr val="dk2"/>
              </a:solidFill>
              <a:latin typeface="Roboto"/>
              <a:ea typeface="Roboto"/>
              <a:cs typeface="Roboto"/>
              <a:sym typeface="Roboto"/>
            </a:endParaRPr>
          </a:p>
          <a:p>
            <a:pPr indent="-304800" lvl="1" marL="914400" rtl="0" algn="l">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Once destination is identified, Attach current node to start of path</a:t>
            </a:r>
            <a:endParaRPr sz="1200">
              <a:solidFill>
                <a:schemeClr val="dk2"/>
              </a:solidFill>
              <a:latin typeface="Roboto"/>
              <a:ea typeface="Roboto"/>
              <a:cs typeface="Roboto"/>
              <a:sym typeface="Roboto"/>
            </a:endParaRPr>
          </a:p>
        </p:txBody>
      </p:sp>
      <p:sp>
        <p:nvSpPr>
          <p:cNvPr id="1204" name="Google Shape;1204;p61"/>
          <p:cNvSpPr txBox="1"/>
          <p:nvPr/>
        </p:nvSpPr>
        <p:spPr>
          <a:xfrm>
            <a:off x="4770400" y="1187525"/>
            <a:ext cx="3336000" cy="5541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Represent with Adjacency Matrix:</a:t>
            </a:r>
            <a:endParaRPr sz="1200">
              <a:solidFill>
                <a:schemeClr val="dk2"/>
              </a:solidFill>
              <a:latin typeface="Roboto"/>
              <a:ea typeface="Roboto"/>
              <a:cs typeface="Roboto"/>
              <a:sym typeface="Roboto"/>
            </a:endParaRPr>
          </a:p>
          <a:p>
            <a:pPr indent="-304800" lvl="1" marL="914400" rtl="0" algn="l">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Size 64 ✕ 64</a:t>
            </a:r>
            <a:endParaRPr sz="1200">
              <a:solidFill>
                <a:schemeClr val="dk2"/>
              </a:solidFill>
              <a:latin typeface="Roboto"/>
              <a:ea typeface="Roboto"/>
              <a:cs typeface="Roboto"/>
              <a:sym typeface="Roboto"/>
            </a:endParaRPr>
          </a:p>
        </p:txBody>
      </p:sp>
      <p:sp>
        <p:nvSpPr>
          <p:cNvPr id="1205" name="Google Shape;1205;p61"/>
          <p:cNvSpPr txBox="1"/>
          <p:nvPr/>
        </p:nvSpPr>
        <p:spPr>
          <a:xfrm>
            <a:off x="4770400" y="1911425"/>
            <a:ext cx="3336000" cy="9234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Problem: Find a path, which consists of a sequence of connected nodes, leading from the start node to the destination.</a:t>
            </a:r>
            <a:endParaRPr sz="1200">
              <a:solidFill>
                <a:schemeClr val="dk2"/>
              </a:solidFill>
              <a:latin typeface="Roboto"/>
              <a:ea typeface="Roboto"/>
              <a:cs typeface="Roboto"/>
              <a:sym typeface="Roboto"/>
            </a:endParaRPr>
          </a:p>
        </p:txBody>
      </p:sp>
      <p:sp>
        <p:nvSpPr>
          <p:cNvPr id="1206" name="Google Shape;1206;p61"/>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2"/>
                                        </p:tgtEl>
                                        <p:attrNameLst>
                                          <p:attrName>style.visibility</p:attrName>
                                        </p:attrNameLst>
                                      </p:cBhvr>
                                      <p:to>
                                        <p:strVal val="visible"/>
                                      </p:to>
                                    </p:set>
                                    <p:animEffect filter="fade" transition="in">
                                      <p:cBhvr>
                                        <p:cTn dur="1000"/>
                                        <p:tgtEl>
                                          <p:spTgt spid="1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4"/>
                                        </p:tgtEl>
                                        <p:attrNameLst>
                                          <p:attrName>style.visibility</p:attrName>
                                        </p:attrNameLst>
                                      </p:cBhvr>
                                      <p:to>
                                        <p:strVal val="visible"/>
                                      </p:to>
                                    </p:set>
                                    <p:animEffect filter="fade" transition="in">
                                      <p:cBhvr>
                                        <p:cTn dur="1000"/>
                                        <p:tgtEl>
                                          <p:spTgt spid="1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gtEl>
                                        <p:attrNameLst>
                                          <p:attrName>style.visibility</p:attrName>
                                        </p:attrNameLst>
                                      </p:cBhvr>
                                      <p:to>
                                        <p:strVal val="visible"/>
                                      </p:to>
                                    </p:set>
                                    <p:animEffect filter="fade" transition="in">
                                      <p:cBhvr>
                                        <p:cTn dur="1000"/>
                                        <p:tgtEl>
                                          <p:spTgt spid="12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3">
                                            <p:txEl>
                                              <p:pRg end="0" st="0"/>
                                            </p:txEl>
                                          </p:spTgt>
                                        </p:tgtEl>
                                        <p:attrNameLst>
                                          <p:attrName>style.visibility</p:attrName>
                                        </p:attrNameLst>
                                      </p:cBhvr>
                                      <p:to>
                                        <p:strVal val="visible"/>
                                      </p:to>
                                    </p:set>
                                    <p:animEffect filter="fade" transition="in">
                                      <p:cBhvr>
                                        <p:cTn dur="1000"/>
                                        <p:tgtEl>
                                          <p:spTgt spid="12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3">
                                            <p:txEl>
                                              <p:pRg end="1" st="1"/>
                                            </p:txEl>
                                          </p:spTgt>
                                        </p:tgtEl>
                                        <p:attrNameLst>
                                          <p:attrName>style.visibility</p:attrName>
                                        </p:attrNameLst>
                                      </p:cBhvr>
                                      <p:to>
                                        <p:strVal val="visible"/>
                                      </p:to>
                                    </p:set>
                                    <p:animEffect filter="fade" transition="in">
                                      <p:cBhvr>
                                        <p:cTn dur="1000"/>
                                        <p:tgtEl>
                                          <p:spTgt spid="12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3">
                                            <p:txEl>
                                              <p:pRg end="2" st="2"/>
                                            </p:txEl>
                                          </p:spTgt>
                                        </p:tgtEl>
                                        <p:attrNameLst>
                                          <p:attrName>style.visibility</p:attrName>
                                        </p:attrNameLst>
                                      </p:cBhvr>
                                      <p:to>
                                        <p:strVal val="visible"/>
                                      </p:to>
                                    </p:set>
                                    <p:animEffect filter="fade" transition="in">
                                      <p:cBhvr>
                                        <p:cTn dur="1000"/>
                                        <p:tgtEl>
                                          <p:spTgt spid="12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3">
                                            <p:txEl>
                                              <p:pRg end="3" st="3"/>
                                            </p:txEl>
                                          </p:spTgt>
                                        </p:tgtEl>
                                        <p:attrNameLst>
                                          <p:attrName>style.visibility</p:attrName>
                                        </p:attrNameLst>
                                      </p:cBhvr>
                                      <p:to>
                                        <p:strVal val="visible"/>
                                      </p:to>
                                    </p:set>
                                    <p:animEffect filter="fade" transition="in">
                                      <p:cBhvr>
                                        <p:cTn dur="1000"/>
                                        <p:tgtEl>
                                          <p:spTgt spid="12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3">
                                            <p:txEl>
                                              <p:pRg end="4" st="4"/>
                                            </p:txEl>
                                          </p:spTgt>
                                        </p:tgtEl>
                                        <p:attrNameLst>
                                          <p:attrName>style.visibility</p:attrName>
                                        </p:attrNameLst>
                                      </p:cBhvr>
                                      <p:to>
                                        <p:strVal val="visible"/>
                                      </p:to>
                                    </p:set>
                                    <p:animEffect filter="fade" transition="in">
                                      <p:cBhvr>
                                        <p:cTn dur="1000"/>
                                        <p:tgtEl>
                                          <p:spTgt spid="12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3">
                                            <p:txEl>
                                              <p:pRg end="5" st="5"/>
                                            </p:txEl>
                                          </p:spTgt>
                                        </p:tgtEl>
                                        <p:attrNameLst>
                                          <p:attrName>style.visibility</p:attrName>
                                        </p:attrNameLst>
                                      </p:cBhvr>
                                      <p:to>
                                        <p:strVal val="visible"/>
                                      </p:to>
                                    </p:set>
                                    <p:animEffect filter="fade" transition="in">
                                      <p:cBhvr>
                                        <p:cTn dur="1000"/>
                                        <p:tgtEl>
                                          <p:spTgt spid="12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3">
                                            <p:txEl>
                                              <p:pRg end="6" st="6"/>
                                            </p:txEl>
                                          </p:spTgt>
                                        </p:tgtEl>
                                        <p:attrNameLst>
                                          <p:attrName>style.visibility</p:attrName>
                                        </p:attrNameLst>
                                      </p:cBhvr>
                                      <p:to>
                                        <p:strVal val="visible"/>
                                      </p:to>
                                    </p:set>
                                    <p:animEffect filter="fade" transition="in">
                                      <p:cBhvr>
                                        <p:cTn dur="1000"/>
                                        <p:tgtEl>
                                          <p:spTgt spid="120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3">
                                            <p:txEl>
                                              <p:pRg end="7" st="7"/>
                                            </p:txEl>
                                          </p:spTgt>
                                        </p:tgtEl>
                                        <p:attrNameLst>
                                          <p:attrName>style.visibility</p:attrName>
                                        </p:attrNameLst>
                                      </p:cBhvr>
                                      <p:to>
                                        <p:strVal val="visible"/>
                                      </p:to>
                                    </p:set>
                                    <p:animEffect filter="fade" transition="in">
                                      <p:cBhvr>
                                        <p:cTn dur="1000"/>
                                        <p:tgtEl>
                                          <p:spTgt spid="1203">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62"/>
          <p:cNvSpPr txBox="1"/>
          <p:nvPr>
            <p:ph type="title"/>
          </p:nvPr>
        </p:nvSpPr>
        <p:spPr>
          <a:xfrm>
            <a:off x="311700" y="454550"/>
            <a:ext cx="2533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Graph Traversal</a:t>
            </a:r>
            <a:endParaRPr/>
          </a:p>
        </p:txBody>
      </p:sp>
      <p:grpSp>
        <p:nvGrpSpPr>
          <p:cNvPr id="1212" name="Google Shape;1212;p62"/>
          <p:cNvGrpSpPr/>
          <p:nvPr/>
        </p:nvGrpSpPr>
        <p:grpSpPr>
          <a:xfrm>
            <a:off x="551875" y="1535250"/>
            <a:ext cx="1948528" cy="2054844"/>
            <a:chOff x="551875" y="1535250"/>
            <a:chExt cx="1948528" cy="2054844"/>
          </a:xfrm>
        </p:grpSpPr>
        <p:sp>
          <p:nvSpPr>
            <p:cNvPr id="1213" name="Google Shape;1213;p62"/>
            <p:cNvSpPr/>
            <p:nvPr/>
          </p:nvSpPr>
          <p:spPr>
            <a:xfrm>
              <a:off x="1328680" y="1535250"/>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1214" name="Google Shape;1214;p62"/>
            <p:cNvSpPr/>
            <p:nvPr/>
          </p:nvSpPr>
          <p:spPr>
            <a:xfrm>
              <a:off x="797215" y="2117363"/>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1215" name="Google Shape;1215;p62"/>
            <p:cNvSpPr/>
            <p:nvPr/>
          </p:nvSpPr>
          <p:spPr>
            <a:xfrm>
              <a:off x="1901066" y="2094390"/>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4</a:t>
              </a:r>
              <a:endParaRPr/>
            </a:p>
          </p:txBody>
        </p:sp>
        <p:sp>
          <p:nvSpPr>
            <p:cNvPr id="1216" name="Google Shape;1216;p62"/>
            <p:cNvSpPr/>
            <p:nvPr/>
          </p:nvSpPr>
          <p:spPr>
            <a:xfrm>
              <a:off x="1328973" y="2094390"/>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1217" name="Google Shape;1217;p62"/>
            <p:cNvSpPr/>
            <p:nvPr/>
          </p:nvSpPr>
          <p:spPr>
            <a:xfrm>
              <a:off x="551875" y="2663628"/>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5</a:t>
              </a:r>
              <a:endParaRPr/>
            </a:p>
          </p:txBody>
        </p:sp>
        <p:sp>
          <p:nvSpPr>
            <p:cNvPr id="1218" name="Google Shape;1218;p62"/>
            <p:cNvSpPr/>
            <p:nvPr/>
          </p:nvSpPr>
          <p:spPr>
            <a:xfrm>
              <a:off x="1004991" y="2653530"/>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6</a:t>
              </a:r>
              <a:endParaRPr/>
            </a:p>
          </p:txBody>
        </p:sp>
        <p:sp>
          <p:nvSpPr>
            <p:cNvPr id="1219" name="Google Shape;1219;p62"/>
            <p:cNvSpPr/>
            <p:nvPr/>
          </p:nvSpPr>
          <p:spPr>
            <a:xfrm>
              <a:off x="1633944" y="2628042"/>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7</a:t>
              </a:r>
              <a:endParaRPr/>
            </a:p>
          </p:txBody>
        </p:sp>
        <p:sp>
          <p:nvSpPr>
            <p:cNvPr id="1220" name="Google Shape;1220;p62"/>
            <p:cNvSpPr/>
            <p:nvPr/>
          </p:nvSpPr>
          <p:spPr>
            <a:xfrm>
              <a:off x="2139503" y="2601448"/>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8</a:t>
              </a:r>
              <a:endParaRPr/>
            </a:p>
          </p:txBody>
        </p:sp>
        <p:cxnSp>
          <p:nvCxnSpPr>
            <p:cNvPr id="1221" name="Google Shape;1221;p62"/>
            <p:cNvCxnSpPr>
              <a:stCxn id="1213" idx="4"/>
              <a:endCxn id="1214" idx="0"/>
            </p:cNvCxnSpPr>
            <p:nvPr/>
          </p:nvCxnSpPr>
          <p:spPr>
            <a:xfrm flipH="1">
              <a:off x="977530" y="1963650"/>
              <a:ext cx="531600" cy="153600"/>
            </a:xfrm>
            <a:prstGeom prst="straightConnector1">
              <a:avLst/>
            </a:prstGeom>
            <a:noFill/>
            <a:ln cap="flat" cmpd="sng" w="9525">
              <a:solidFill>
                <a:schemeClr val="dk2"/>
              </a:solidFill>
              <a:prstDash val="solid"/>
              <a:round/>
              <a:headEnd len="med" w="med" type="none"/>
              <a:tailEnd len="med" w="med" type="triangle"/>
            </a:ln>
          </p:spPr>
        </p:cxnSp>
        <p:cxnSp>
          <p:nvCxnSpPr>
            <p:cNvPr id="1222" name="Google Shape;1222;p62"/>
            <p:cNvCxnSpPr>
              <a:endCxn id="1216" idx="0"/>
            </p:cNvCxnSpPr>
            <p:nvPr/>
          </p:nvCxnSpPr>
          <p:spPr>
            <a:xfrm>
              <a:off x="1509123" y="1963590"/>
              <a:ext cx="300" cy="130800"/>
            </a:xfrm>
            <a:prstGeom prst="straightConnector1">
              <a:avLst/>
            </a:prstGeom>
            <a:noFill/>
            <a:ln cap="flat" cmpd="sng" w="9525">
              <a:solidFill>
                <a:schemeClr val="dk2"/>
              </a:solidFill>
              <a:prstDash val="solid"/>
              <a:round/>
              <a:headEnd len="med" w="med" type="none"/>
              <a:tailEnd len="med" w="med" type="triangle"/>
            </a:ln>
          </p:spPr>
        </p:cxnSp>
        <p:cxnSp>
          <p:nvCxnSpPr>
            <p:cNvPr id="1223" name="Google Shape;1223;p62"/>
            <p:cNvCxnSpPr>
              <a:stCxn id="1213" idx="4"/>
              <a:endCxn id="1215" idx="0"/>
            </p:cNvCxnSpPr>
            <p:nvPr/>
          </p:nvCxnSpPr>
          <p:spPr>
            <a:xfrm>
              <a:off x="1509130" y="1963650"/>
              <a:ext cx="572400" cy="130800"/>
            </a:xfrm>
            <a:prstGeom prst="straightConnector1">
              <a:avLst/>
            </a:prstGeom>
            <a:noFill/>
            <a:ln cap="flat" cmpd="sng" w="9525">
              <a:solidFill>
                <a:schemeClr val="dk2"/>
              </a:solidFill>
              <a:prstDash val="solid"/>
              <a:round/>
              <a:headEnd len="med" w="med" type="none"/>
              <a:tailEnd len="med" w="med" type="triangle"/>
            </a:ln>
          </p:spPr>
        </p:cxnSp>
        <p:cxnSp>
          <p:nvCxnSpPr>
            <p:cNvPr id="1224" name="Google Shape;1224;p62"/>
            <p:cNvCxnSpPr>
              <a:stCxn id="1214" idx="4"/>
              <a:endCxn id="1217" idx="0"/>
            </p:cNvCxnSpPr>
            <p:nvPr/>
          </p:nvCxnSpPr>
          <p:spPr>
            <a:xfrm flipH="1">
              <a:off x="732265" y="2545763"/>
              <a:ext cx="245400" cy="117900"/>
            </a:xfrm>
            <a:prstGeom prst="straightConnector1">
              <a:avLst/>
            </a:prstGeom>
            <a:noFill/>
            <a:ln cap="flat" cmpd="sng" w="9525">
              <a:solidFill>
                <a:schemeClr val="dk2"/>
              </a:solidFill>
              <a:prstDash val="solid"/>
              <a:round/>
              <a:headEnd len="med" w="med" type="none"/>
              <a:tailEnd len="med" w="med" type="triangle"/>
            </a:ln>
          </p:spPr>
        </p:cxnSp>
        <p:cxnSp>
          <p:nvCxnSpPr>
            <p:cNvPr id="1225" name="Google Shape;1225;p62"/>
            <p:cNvCxnSpPr>
              <a:stCxn id="1214" idx="4"/>
              <a:endCxn id="1218" idx="0"/>
            </p:cNvCxnSpPr>
            <p:nvPr/>
          </p:nvCxnSpPr>
          <p:spPr>
            <a:xfrm>
              <a:off x="977665" y="2545763"/>
              <a:ext cx="207900" cy="107700"/>
            </a:xfrm>
            <a:prstGeom prst="straightConnector1">
              <a:avLst/>
            </a:prstGeom>
            <a:noFill/>
            <a:ln cap="flat" cmpd="sng" w="9525">
              <a:solidFill>
                <a:schemeClr val="dk2"/>
              </a:solidFill>
              <a:prstDash val="solid"/>
              <a:round/>
              <a:headEnd len="med" w="med" type="none"/>
              <a:tailEnd len="med" w="med" type="triangle"/>
            </a:ln>
          </p:spPr>
        </p:cxnSp>
        <p:cxnSp>
          <p:nvCxnSpPr>
            <p:cNvPr id="1226" name="Google Shape;1226;p62"/>
            <p:cNvCxnSpPr>
              <a:stCxn id="1215" idx="4"/>
              <a:endCxn id="1219" idx="0"/>
            </p:cNvCxnSpPr>
            <p:nvPr/>
          </p:nvCxnSpPr>
          <p:spPr>
            <a:xfrm flipH="1">
              <a:off x="1814516" y="2522790"/>
              <a:ext cx="267000" cy="105300"/>
            </a:xfrm>
            <a:prstGeom prst="straightConnector1">
              <a:avLst/>
            </a:prstGeom>
            <a:noFill/>
            <a:ln cap="flat" cmpd="sng" w="9525">
              <a:solidFill>
                <a:schemeClr val="dk2"/>
              </a:solidFill>
              <a:prstDash val="solid"/>
              <a:round/>
              <a:headEnd len="med" w="med" type="none"/>
              <a:tailEnd len="med" w="med" type="triangle"/>
            </a:ln>
          </p:spPr>
        </p:cxnSp>
        <p:cxnSp>
          <p:nvCxnSpPr>
            <p:cNvPr id="1227" name="Google Shape;1227;p62"/>
            <p:cNvCxnSpPr>
              <a:stCxn id="1215" idx="4"/>
              <a:endCxn id="1220" idx="0"/>
            </p:cNvCxnSpPr>
            <p:nvPr/>
          </p:nvCxnSpPr>
          <p:spPr>
            <a:xfrm>
              <a:off x="2081516" y="2522790"/>
              <a:ext cx="238500" cy="78600"/>
            </a:xfrm>
            <a:prstGeom prst="straightConnector1">
              <a:avLst/>
            </a:prstGeom>
            <a:noFill/>
            <a:ln cap="flat" cmpd="sng" w="9525">
              <a:solidFill>
                <a:schemeClr val="dk2"/>
              </a:solidFill>
              <a:prstDash val="solid"/>
              <a:round/>
              <a:headEnd len="med" w="med" type="none"/>
              <a:tailEnd len="med" w="med" type="triangle"/>
            </a:ln>
          </p:spPr>
        </p:cxnSp>
        <p:sp>
          <p:nvSpPr>
            <p:cNvPr id="1228" name="Google Shape;1228;p62"/>
            <p:cNvSpPr/>
            <p:nvPr/>
          </p:nvSpPr>
          <p:spPr>
            <a:xfrm>
              <a:off x="1416909" y="3161694"/>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9</a:t>
              </a:r>
              <a:endParaRPr/>
            </a:p>
          </p:txBody>
        </p:sp>
        <p:cxnSp>
          <p:nvCxnSpPr>
            <p:cNvPr id="1229" name="Google Shape;1229;p62"/>
            <p:cNvCxnSpPr>
              <a:stCxn id="1219" idx="4"/>
              <a:endCxn id="1228" idx="7"/>
            </p:cNvCxnSpPr>
            <p:nvPr/>
          </p:nvCxnSpPr>
          <p:spPr>
            <a:xfrm flipH="1">
              <a:off x="1724994" y="3056442"/>
              <a:ext cx="89400" cy="168000"/>
            </a:xfrm>
            <a:prstGeom prst="straightConnector1">
              <a:avLst/>
            </a:prstGeom>
            <a:noFill/>
            <a:ln cap="flat" cmpd="sng" w="9525">
              <a:solidFill>
                <a:schemeClr val="dk2"/>
              </a:solidFill>
              <a:prstDash val="solid"/>
              <a:round/>
              <a:headEnd len="med" w="med" type="none"/>
              <a:tailEnd len="med" w="med" type="triangle"/>
            </a:ln>
          </p:spPr>
        </p:cxnSp>
      </p:grpSp>
      <p:grpSp>
        <p:nvGrpSpPr>
          <p:cNvPr id="1230" name="Google Shape;1230;p62"/>
          <p:cNvGrpSpPr/>
          <p:nvPr/>
        </p:nvGrpSpPr>
        <p:grpSpPr>
          <a:xfrm>
            <a:off x="2845501" y="1506714"/>
            <a:ext cx="1944161" cy="2054844"/>
            <a:chOff x="2672126" y="1445839"/>
            <a:chExt cx="1944161" cy="2054844"/>
          </a:xfrm>
        </p:grpSpPr>
        <p:sp>
          <p:nvSpPr>
            <p:cNvPr id="1231" name="Google Shape;1231;p62"/>
            <p:cNvSpPr/>
            <p:nvPr/>
          </p:nvSpPr>
          <p:spPr>
            <a:xfrm>
              <a:off x="3448931" y="1445839"/>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1232" name="Google Shape;1232;p62"/>
            <p:cNvSpPr/>
            <p:nvPr/>
          </p:nvSpPr>
          <p:spPr>
            <a:xfrm>
              <a:off x="2917466" y="2027952"/>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1233" name="Google Shape;1233;p62"/>
            <p:cNvSpPr/>
            <p:nvPr/>
          </p:nvSpPr>
          <p:spPr>
            <a:xfrm>
              <a:off x="4021317" y="2004979"/>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6</a:t>
              </a:r>
              <a:endParaRPr/>
            </a:p>
          </p:txBody>
        </p:sp>
        <p:sp>
          <p:nvSpPr>
            <p:cNvPr id="1234" name="Google Shape;1234;p62"/>
            <p:cNvSpPr/>
            <p:nvPr/>
          </p:nvSpPr>
          <p:spPr>
            <a:xfrm>
              <a:off x="3449224" y="2004979"/>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5</a:t>
              </a:r>
              <a:endParaRPr/>
            </a:p>
          </p:txBody>
        </p:sp>
        <p:sp>
          <p:nvSpPr>
            <p:cNvPr id="1235" name="Google Shape;1235;p62"/>
            <p:cNvSpPr/>
            <p:nvPr/>
          </p:nvSpPr>
          <p:spPr>
            <a:xfrm>
              <a:off x="2672126" y="2574218"/>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1236" name="Google Shape;1236;p62"/>
            <p:cNvSpPr/>
            <p:nvPr/>
          </p:nvSpPr>
          <p:spPr>
            <a:xfrm>
              <a:off x="3125242" y="2564119"/>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4</a:t>
              </a:r>
              <a:endParaRPr/>
            </a:p>
          </p:txBody>
        </p:sp>
        <p:sp>
          <p:nvSpPr>
            <p:cNvPr id="1237" name="Google Shape;1237;p62"/>
            <p:cNvSpPr/>
            <p:nvPr/>
          </p:nvSpPr>
          <p:spPr>
            <a:xfrm>
              <a:off x="3754195" y="2538631"/>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7</a:t>
              </a:r>
              <a:endParaRPr/>
            </a:p>
          </p:txBody>
        </p:sp>
        <p:sp>
          <p:nvSpPr>
            <p:cNvPr id="1238" name="Google Shape;1238;p62"/>
            <p:cNvSpPr/>
            <p:nvPr/>
          </p:nvSpPr>
          <p:spPr>
            <a:xfrm>
              <a:off x="4255387" y="2527145"/>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9</a:t>
              </a:r>
              <a:endParaRPr/>
            </a:p>
          </p:txBody>
        </p:sp>
        <p:cxnSp>
          <p:nvCxnSpPr>
            <p:cNvPr id="1239" name="Google Shape;1239;p62"/>
            <p:cNvCxnSpPr>
              <a:stCxn id="1231" idx="4"/>
              <a:endCxn id="1232" idx="0"/>
            </p:cNvCxnSpPr>
            <p:nvPr/>
          </p:nvCxnSpPr>
          <p:spPr>
            <a:xfrm flipH="1">
              <a:off x="3097781" y="1874239"/>
              <a:ext cx="531600" cy="153600"/>
            </a:xfrm>
            <a:prstGeom prst="straightConnector1">
              <a:avLst/>
            </a:prstGeom>
            <a:noFill/>
            <a:ln cap="flat" cmpd="sng" w="9525">
              <a:solidFill>
                <a:schemeClr val="dk2"/>
              </a:solidFill>
              <a:prstDash val="solid"/>
              <a:round/>
              <a:headEnd len="med" w="med" type="none"/>
              <a:tailEnd len="med" w="med" type="triangle"/>
            </a:ln>
          </p:spPr>
        </p:cxnSp>
        <p:cxnSp>
          <p:nvCxnSpPr>
            <p:cNvPr id="1240" name="Google Shape;1240;p62"/>
            <p:cNvCxnSpPr>
              <a:endCxn id="1234" idx="0"/>
            </p:cNvCxnSpPr>
            <p:nvPr/>
          </p:nvCxnSpPr>
          <p:spPr>
            <a:xfrm>
              <a:off x="3629374" y="1874179"/>
              <a:ext cx="300" cy="130800"/>
            </a:xfrm>
            <a:prstGeom prst="straightConnector1">
              <a:avLst/>
            </a:prstGeom>
            <a:noFill/>
            <a:ln cap="flat" cmpd="sng" w="9525">
              <a:solidFill>
                <a:schemeClr val="dk2"/>
              </a:solidFill>
              <a:prstDash val="solid"/>
              <a:round/>
              <a:headEnd len="med" w="med" type="none"/>
              <a:tailEnd len="med" w="med" type="triangle"/>
            </a:ln>
          </p:spPr>
        </p:cxnSp>
        <p:cxnSp>
          <p:nvCxnSpPr>
            <p:cNvPr id="1241" name="Google Shape;1241;p62"/>
            <p:cNvCxnSpPr>
              <a:stCxn id="1231" idx="4"/>
              <a:endCxn id="1233" idx="0"/>
            </p:cNvCxnSpPr>
            <p:nvPr/>
          </p:nvCxnSpPr>
          <p:spPr>
            <a:xfrm>
              <a:off x="3629381" y="1874239"/>
              <a:ext cx="572400" cy="130800"/>
            </a:xfrm>
            <a:prstGeom prst="straightConnector1">
              <a:avLst/>
            </a:prstGeom>
            <a:noFill/>
            <a:ln cap="flat" cmpd="sng" w="9525">
              <a:solidFill>
                <a:schemeClr val="dk2"/>
              </a:solidFill>
              <a:prstDash val="solid"/>
              <a:round/>
              <a:headEnd len="med" w="med" type="none"/>
              <a:tailEnd len="med" w="med" type="triangle"/>
            </a:ln>
          </p:spPr>
        </p:cxnSp>
        <p:cxnSp>
          <p:nvCxnSpPr>
            <p:cNvPr id="1242" name="Google Shape;1242;p62"/>
            <p:cNvCxnSpPr>
              <a:stCxn id="1232" idx="4"/>
              <a:endCxn id="1235" idx="0"/>
            </p:cNvCxnSpPr>
            <p:nvPr/>
          </p:nvCxnSpPr>
          <p:spPr>
            <a:xfrm flipH="1">
              <a:off x="2852516" y="2456352"/>
              <a:ext cx="245400" cy="117900"/>
            </a:xfrm>
            <a:prstGeom prst="straightConnector1">
              <a:avLst/>
            </a:prstGeom>
            <a:noFill/>
            <a:ln cap="flat" cmpd="sng" w="9525">
              <a:solidFill>
                <a:schemeClr val="dk2"/>
              </a:solidFill>
              <a:prstDash val="solid"/>
              <a:round/>
              <a:headEnd len="med" w="med" type="none"/>
              <a:tailEnd len="med" w="med" type="triangle"/>
            </a:ln>
          </p:spPr>
        </p:cxnSp>
        <p:cxnSp>
          <p:nvCxnSpPr>
            <p:cNvPr id="1243" name="Google Shape;1243;p62"/>
            <p:cNvCxnSpPr>
              <a:stCxn id="1232" idx="4"/>
              <a:endCxn id="1236" idx="0"/>
            </p:cNvCxnSpPr>
            <p:nvPr/>
          </p:nvCxnSpPr>
          <p:spPr>
            <a:xfrm>
              <a:off x="3097916" y="2456352"/>
              <a:ext cx="207900" cy="107700"/>
            </a:xfrm>
            <a:prstGeom prst="straightConnector1">
              <a:avLst/>
            </a:prstGeom>
            <a:noFill/>
            <a:ln cap="flat" cmpd="sng" w="9525">
              <a:solidFill>
                <a:schemeClr val="dk2"/>
              </a:solidFill>
              <a:prstDash val="solid"/>
              <a:round/>
              <a:headEnd len="med" w="med" type="none"/>
              <a:tailEnd len="med" w="med" type="triangle"/>
            </a:ln>
          </p:spPr>
        </p:cxnSp>
        <p:cxnSp>
          <p:nvCxnSpPr>
            <p:cNvPr id="1244" name="Google Shape;1244;p62"/>
            <p:cNvCxnSpPr>
              <a:stCxn id="1233" idx="4"/>
              <a:endCxn id="1237" idx="0"/>
            </p:cNvCxnSpPr>
            <p:nvPr/>
          </p:nvCxnSpPr>
          <p:spPr>
            <a:xfrm flipH="1">
              <a:off x="3934767" y="2433379"/>
              <a:ext cx="267000" cy="105300"/>
            </a:xfrm>
            <a:prstGeom prst="straightConnector1">
              <a:avLst/>
            </a:prstGeom>
            <a:noFill/>
            <a:ln cap="flat" cmpd="sng" w="9525">
              <a:solidFill>
                <a:schemeClr val="dk2"/>
              </a:solidFill>
              <a:prstDash val="solid"/>
              <a:round/>
              <a:headEnd len="med" w="med" type="none"/>
              <a:tailEnd len="med" w="med" type="triangle"/>
            </a:ln>
          </p:spPr>
        </p:cxnSp>
        <p:cxnSp>
          <p:nvCxnSpPr>
            <p:cNvPr id="1245" name="Google Shape;1245;p62"/>
            <p:cNvCxnSpPr>
              <a:stCxn id="1233" idx="4"/>
              <a:endCxn id="1238" idx="0"/>
            </p:cNvCxnSpPr>
            <p:nvPr/>
          </p:nvCxnSpPr>
          <p:spPr>
            <a:xfrm>
              <a:off x="4201767" y="2433379"/>
              <a:ext cx="234000" cy="93900"/>
            </a:xfrm>
            <a:prstGeom prst="straightConnector1">
              <a:avLst/>
            </a:prstGeom>
            <a:noFill/>
            <a:ln cap="flat" cmpd="sng" w="9525">
              <a:solidFill>
                <a:schemeClr val="dk2"/>
              </a:solidFill>
              <a:prstDash val="solid"/>
              <a:round/>
              <a:headEnd len="med" w="med" type="none"/>
              <a:tailEnd len="med" w="med" type="triangle"/>
            </a:ln>
          </p:spPr>
        </p:cxnSp>
        <p:sp>
          <p:nvSpPr>
            <p:cNvPr id="1246" name="Google Shape;1246;p62"/>
            <p:cNvSpPr/>
            <p:nvPr/>
          </p:nvSpPr>
          <p:spPr>
            <a:xfrm>
              <a:off x="3537160" y="3072284"/>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8</a:t>
              </a:r>
              <a:endParaRPr/>
            </a:p>
          </p:txBody>
        </p:sp>
        <p:cxnSp>
          <p:nvCxnSpPr>
            <p:cNvPr id="1247" name="Google Shape;1247;p62"/>
            <p:cNvCxnSpPr>
              <a:stCxn id="1237" idx="4"/>
              <a:endCxn id="1246" idx="7"/>
            </p:cNvCxnSpPr>
            <p:nvPr/>
          </p:nvCxnSpPr>
          <p:spPr>
            <a:xfrm flipH="1">
              <a:off x="3845245" y="2967031"/>
              <a:ext cx="89400" cy="168000"/>
            </a:xfrm>
            <a:prstGeom prst="straightConnector1">
              <a:avLst/>
            </a:prstGeom>
            <a:noFill/>
            <a:ln cap="flat" cmpd="sng" w="9525">
              <a:solidFill>
                <a:schemeClr val="dk2"/>
              </a:solidFill>
              <a:prstDash val="solid"/>
              <a:round/>
              <a:headEnd len="med" w="med" type="none"/>
              <a:tailEnd len="med" w="med" type="triangle"/>
            </a:ln>
          </p:spPr>
        </p:cxnSp>
      </p:grpSp>
      <p:pic>
        <p:nvPicPr>
          <p:cNvPr id="1248" name="Google Shape;1248;p62"/>
          <p:cNvPicPr preferRelativeResize="0"/>
          <p:nvPr/>
        </p:nvPicPr>
        <p:blipFill rotWithShape="1">
          <a:blip r:embed="rId3">
            <a:alphaModFix/>
          </a:blip>
          <a:srcRect b="0" l="47992" r="0" t="0"/>
          <a:stretch/>
        </p:blipFill>
        <p:spPr>
          <a:xfrm>
            <a:off x="6127850" y="2699375"/>
            <a:ext cx="2590050" cy="2335425"/>
          </a:xfrm>
          <a:prstGeom prst="rect">
            <a:avLst/>
          </a:prstGeom>
          <a:noFill/>
          <a:ln>
            <a:noFill/>
          </a:ln>
        </p:spPr>
      </p:pic>
      <p:grpSp>
        <p:nvGrpSpPr>
          <p:cNvPr id="1249" name="Google Shape;1249;p62"/>
          <p:cNvGrpSpPr/>
          <p:nvPr/>
        </p:nvGrpSpPr>
        <p:grpSpPr>
          <a:xfrm>
            <a:off x="6268177" y="348076"/>
            <a:ext cx="2137216" cy="1953952"/>
            <a:chOff x="5939701" y="1636139"/>
            <a:chExt cx="1944161" cy="2054844"/>
          </a:xfrm>
        </p:grpSpPr>
        <p:sp>
          <p:nvSpPr>
            <p:cNvPr id="1250" name="Google Shape;1250;p62"/>
            <p:cNvSpPr/>
            <p:nvPr/>
          </p:nvSpPr>
          <p:spPr>
            <a:xfrm>
              <a:off x="6716506" y="1636139"/>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62"/>
            <p:cNvSpPr/>
            <p:nvPr/>
          </p:nvSpPr>
          <p:spPr>
            <a:xfrm>
              <a:off x="6185041" y="2218252"/>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62"/>
            <p:cNvSpPr/>
            <p:nvPr/>
          </p:nvSpPr>
          <p:spPr>
            <a:xfrm>
              <a:off x="7288892" y="2195279"/>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62"/>
            <p:cNvSpPr/>
            <p:nvPr/>
          </p:nvSpPr>
          <p:spPr>
            <a:xfrm>
              <a:off x="6707418" y="2300574"/>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62"/>
            <p:cNvSpPr/>
            <p:nvPr/>
          </p:nvSpPr>
          <p:spPr>
            <a:xfrm>
              <a:off x="5939701" y="2764518"/>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62"/>
            <p:cNvSpPr/>
            <p:nvPr/>
          </p:nvSpPr>
          <p:spPr>
            <a:xfrm>
              <a:off x="6392817" y="2754419"/>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62"/>
            <p:cNvSpPr/>
            <p:nvPr/>
          </p:nvSpPr>
          <p:spPr>
            <a:xfrm>
              <a:off x="7021770" y="2728931"/>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62"/>
            <p:cNvSpPr/>
            <p:nvPr/>
          </p:nvSpPr>
          <p:spPr>
            <a:xfrm>
              <a:off x="7522962" y="2717445"/>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58" name="Google Shape;1258;p62"/>
            <p:cNvCxnSpPr>
              <a:stCxn id="1250" idx="4"/>
              <a:endCxn id="1251" idx="0"/>
            </p:cNvCxnSpPr>
            <p:nvPr/>
          </p:nvCxnSpPr>
          <p:spPr>
            <a:xfrm flipH="1">
              <a:off x="6365356" y="2064539"/>
              <a:ext cx="531600" cy="153600"/>
            </a:xfrm>
            <a:prstGeom prst="straightConnector1">
              <a:avLst/>
            </a:prstGeom>
            <a:noFill/>
            <a:ln cap="flat" cmpd="sng" w="9525">
              <a:solidFill>
                <a:schemeClr val="dk2"/>
              </a:solidFill>
              <a:prstDash val="solid"/>
              <a:round/>
              <a:headEnd len="med" w="med" type="none"/>
              <a:tailEnd len="med" w="med" type="triangle"/>
            </a:ln>
          </p:spPr>
        </p:cxnSp>
        <p:cxnSp>
          <p:nvCxnSpPr>
            <p:cNvPr id="1259" name="Google Shape;1259;p62"/>
            <p:cNvCxnSpPr>
              <a:stCxn id="1250" idx="4"/>
              <a:endCxn id="1253" idx="0"/>
            </p:cNvCxnSpPr>
            <p:nvPr/>
          </p:nvCxnSpPr>
          <p:spPr>
            <a:xfrm flipH="1">
              <a:off x="6887956" y="2064539"/>
              <a:ext cx="9000" cy="236100"/>
            </a:xfrm>
            <a:prstGeom prst="straightConnector1">
              <a:avLst/>
            </a:prstGeom>
            <a:noFill/>
            <a:ln cap="flat" cmpd="sng" w="9525">
              <a:solidFill>
                <a:schemeClr val="dk2"/>
              </a:solidFill>
              <a:prstDash val="solid"/>
              <a:round/>
              <a:headEnd len="med" w="med" type="none"/>
              <a:tailEnd len="med" w="med" type="triangle"/>
            </a:ln>
          </p:spPr>
        </p:cxnSp>
        <p:cxnSp>
          <p:nvCxnSpPr>
            <p:cNvPr id="1260" name="Google Shape;1260;p62"/>
            <p:cNvCxnSpPr>
              <a:stCxn id="1250" idx="4"/>
              <a:endCxn id="1252" idx="0"/>
            </p:cNvCxnSpPr>
            <p:nvPr/>
          </p:nvCxnSpPr>
          <p:spPr>
            <a:xfrm>
              <a:off x="6896956" y="2064539"/>
              <a:ext cx="572400" cy="130800"/>
            </a:xfrm>
            <a:prstGeom prst="straightConnector1">
              <a:avLst/>
            </a:prstGeom>
            <a:noFill/>
            <a:ln cap="flat" cmpd="sng" w="9525">
              <a:solidFill>
                <a:schemeClr val="dk2"/>
              </a:solidFill>
              <a:prstDash val="solid"/>
              <a:round/>
              <a:headEnd len="med" w="med" type="none"/>
              <a:tailEnd len="med" w="med" type="triangle"/>
            </a:ln>
          </p:spPr>
        </p:cxnSp>
        <p:cxnSp>
          <p:nvCxnSpPr>
            <p:cNvPr id="1261" name="Google Shape;1261;p62"/>
            <p:cNvCxnSpPr>
              <a:stCxn id="1251" idx="4"/>
              <a:endCxn id="1254" idx="0"/>
            </p:cNvCxnSpPr>
            <p:nvPr/>
          </p:nvCxnSpPr>
          <p:spPr>
            <a:xfrm flipH="1">
              <a:off x="6120091" y="2646652"/>
              <a:ext cx="245400" cy="117900"/>
            </a:xfrm>
            <a:prstGeom prst="straightConnector1">
              <a:avLst/>
            </a:prstGeom>
            <a:noFill/>
            <a:ln cap="flat" cmpd="sng" w="9525">
              <a:solidFill>
                <a:schemeClr val="dk2"/>
              </a:solidFill>
              <a:prstDash val="solid"/>
              <a:round/>
              <a:headEnd len="med" w="med" type="none"/>
              <a:tailEnd len="med" w="med" type="triangle"/>
            </a:ln>
          </p:spPr>
        </p:cxnSp>
        <p:cxnSp>
          <p:nvCxnSpPr>
            <p:cNvPr id="1262" name="Google Shape;1262;p62"/>
            <p:cNvCxnSpPr>
              <a:stCxn id="1251" idx="4"/>
              <a:endCxn id="1255" idx="0"/>
            </p:cNvCxnSpPr>
            <p:nvPr/>
          </p:nvCxnSpPr>
          <p:spPr>
            <a:xfrm>
              <a:off x="6365491" y="2646652"/>
              <a:ext cx="207900" cy="107700"/>
            </a:xfrm>
            <a:prstGeom prst="straightConnector1">
              <a:avLst/>
            </a:prstGeom>
            <a:noFill/>
            <a:ln cap="flat" cmpd="sng" w="9525">
              <a:solidFill>
                <a:schemeClr val="dk2"/>
              </a:solidFill>
              <a:prstDash val="solid"/>
              <a:round/>
              <a:headEnd len="med" w="med" type="none"/>
              <a:tailEnd len="med" w="med" type="triangle"/>
            </a:ln>
          </p:spPr>
        </p:cxnSp>
        <p:cxnSp>
          <p:nvCxnSpPr>
            <p:cNvPr id="1263" name="Google Shape;1263;p62"/>
            <p:cNvCxnSpPr>
              <a:stCxn id="1252" idx="4"/>
              <a:endCxn id="1256" idx="0"/>
            </p:cNvCxnSpPr>
            <p:nvPr/>
          </p:nvCxnSpPr>
          <p:spPr>
            <a:xfrm flipH="1">
              <a:off x="7202342" y="2623679"/>
              <a:ext cx="267000" cy="105300"/>
            </a:xfrm>
            <a:prstGeom prst="straightConnector1">
              <a:avLst/>
            </a:prstGeom>
            <a:noFill/>
            <a:ln cap="flat" cmpd="sng" w="9525">
              <a:solidFill>
                <a:schemeClr val="dk2"/>
              </a:solidFill>
              <a:prstDash val="solid"/>
              <a:round/>
              <a:headEnd len="med" w="med" type="none"/>
              <a:tailEnd len="med" w="med" type="triangle"/>
            </a:ln>
          </p:spPr>
        </p:cxnSp>
        <p:cxnSp>
          <p:nvCxnSpPr>
            <p:cNvPr id="1264" name="Google Shape;1264;p62"/>
            <p:cNvCxnSpPr>
              <a:stCxn id="1252" idx="4"/>
              <a:endCxn id="1257" idx="0"/>
            </p:cNvCxnSpPr>
            <p:nvPr/>
          </p:nvCxnSpPr>
          <p:spPr>
            <a:xfrm>
              <a:off x="7469342" y="2623679"/>
              <a:ext cx="234000" cy="93900"/>
            </a:xfrm>
            <a:prstGeom prst="straightConnector1">
              <a:avLst/>
            </a:prstGeom>
            <a:noFill/>
            <a:ln cap="flat" cmpd="sng" w="9525">
              <a:solidFill>
                <a:schemeClr val="dk2"/>
              </a:solidFill>
              <a:prstDash val="solid"/>
              <a:round/>
              <a:headEnd len="med" w="med" type="none"/>
              <a:tailEnd len="med" w="med" type="triangle"/>
            </a:ln>
          </p:spPr>
        </p:cxnSp>
        <p:sp>
          <p:nvSpPr>
            <p:cNvPr id="1265" name="Google Shape;1265;p62"/>
            <p:cNvSpPr/>
            <p:nvPr/>
          </p:nvSpPr>
          <p:spPr>
            <a:xfrm>
              <a:off x="6804735" y="3262584"/>
              <a:ext cx="360900" cy="42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6" name="Google Shape;1266;p62"/>
            <p:cNvCxnSpPr>
              <a:stCxn id="1256" idx="4"/>
              <a:endCxn id="1265" idx="7"/>
            </p:cNvCxnSpPr>
            <p:nvPr/>
          </p:nvCxnSpPr>
          <p:spPr>
            <a:xfrm flipH="1">
              <a:off x="7112820" y="3157331"/>
              <a:ext cx="89400" cy="168000"/>
            </a:xfrm>
            <a:prstGeom prst="straightConnector1">
              <a:avLst/>
            </a:prstGeom>
            <a:noFill/>
            <a:ln cap="flat" cmpd="sng" w="9525">
              <a:solidFill>
                <a:schemeClr val="dk2"/>
              </a:solidFill>
              <a:prstDash val="solid"/>
              <a:round/>
              <a:headEnd len="med" w="med" type="none"/>
              <a:tailEnd len="med" w="med" type="triangle"/>
            </a:ln>
          </p:spPr>
        </p:cxnSp>
      </p:grpSp>
      <p:sp>
        <p:nvSpPr>
          <p:cNvPr id="1267" name="Google Shape;1267;p62"/>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9"/>
                                        </p:tgtEl>
                                        <p:attrNameLst>
                                          <p:attrName>style.visibility</p:attrName>
                                        </p:attrNameLst>
                                      </p:cBhvr>
                                      <p:to>
                                        <p:strVal val="visible"/>
                                      </p:to>
                                    </p:set>
                                    <p:animEffect filter="fade" transition="in">
                                      <p:cBhvr>
                                        <p:cTn dur="1000"/>
                                        <p:tgtEl>
                                          <p:spTgt spid="1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2"/>
                                        </p:tgtEl>
                                        <p:attrNameLst>
                                          <p:attrName>style.visibility</p:attrName>
                                        </p:attrNameLst>
                                      </p:cBhvr>
                                      <p:to>
                                        <p:strVal val="visible"/>
                                      </p:to>
                                    </p:set>
                                    <p:animEffect filter="fade" transition="in">
                                      <p:cBhvr>
                                        <p:cTn dur="1000"/>
                                        <p:tgtEl>
                                          <p:spTgt spid="1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0"/>
                                        </p:tgtEl>
                                        <p:attrNameLst>
                                          <p:attrName>style.visibility</p:attrName>
                                        </p:attrNameLst>
                                      </p:cBhvr>
                                      <p:to>
                                        <p:strVal val="visible"/>
                                      </p:to>
                                    </p:set>
                                    <p:animEffect filter="fade" transition="in">
                                      <p:cBhvr>
                                        <p:cTn dur="1000"/>
                                        <p:tgtEl>
                                          <p:spTgt spid="1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8"/>
                                        </p:tgtEl>
                                        <p:attrNameLst>
                                          <p:attrName>style.visibility</p:attrName>
                                        </p:attrNameLst>
                                      </p:cBhvr>
                                      <p:to>
                                        <p:strVal val="visible"/>
                                      </p:to>
                                    </p:set>
                                    <p:animEffect filter="fade" transition="in">
                                      <p:cBhvr>
                                        <p:cTn dur="1000"/>
                                        <p:tgtEl>
                                          <p:spTgt spid="1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1" name="Shape 1271"/>
        <p:cNvGrpSpPr/>
        <p:nvPr/>
      </p:nvGrpSpPr>
      <p:grpSpPr>
        <a:xfrm>
          <a:off x="0" y="0"/>
          <a:ext cx="0" cy="0"/>
          <a:chOff x="0" y="0"/>
          <a:chExt cx="0" cy="0"/>
        </a:xfrm>
      </p:grpSpPr>
      <p:sp>
        <p:nvSpPr>
          <p:cNvPr id="1272" name="Google Shape;1272;p63"/>
          <p:cNvSpPr txBox="1"/>
          <p:nvPr>
            <p:ph type="title"/>
          </p:nvPr>
        </p:nvSpPr>
        <p:spPr>
          <a:xfrm>
            <a:off x="126900" y="92675"/>
            <a:ext cx="2533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Graph Traversal</a:t>
            </a:r>
            <a:endParaRPr/>
          </a:p>
          <a:p>
            <a:pPr indent="0" lvl="0" marL="0" rtl="0" algn="l">
              <a:spcBef>
                <a:spcPts val="0"/>
              </a:spcBef>
              <a:spcAft>
                <a:spcPts val="0"/>
              </a:spcAft>
              <a:buNone/>
            </a:pPr>
            <a:r>
              <a:rPr lang="en"/>
              <a:t>For search</a:t>
            </a:r>
            <a:endParaRPr/>
          </a:p>
        </p:txBody>
      </p:sp>
      <p:sp>
        <p:nvSpPr>
          <p:cNvPr id="1273" name="Google Shape;1273;p63"/>
          <p:cNvSpPr/>
          <p:nvPr/>
        </p:nvSpPr>
        <p:spPr>
          <a:xfrm>
            <a:off x="3356553" y="249275"/>
            <a:ext cx="184800" cy="171600"/>
          </a:xfrm>
          <a:prstGeom prst="ellipse">
            <a:avLst/>
          </a:prstGeom>
          <a:solidFill>
            <a:srgbClr val="B4A7D6"/>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63"/>
          <p:cNvSpPr/>
          <p:nvPr/>
        </p:nvSpPr>
        <p:spPr>
          <a:xfrm>
            <a:off x="3861423" y="249275"/>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63"/>
          <p:cNvSpPr/>
          <p:nvPr/>
        </p:nvSpPr>
        <p:spPr>
          <a:xfrm>
            <a:off x="3156999" y="579587"/>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63"/>
          <p:cNvSpPr/>
          <p:nvPr/>
        </p:nvSpPr>
        <p:spPr>
          <a:xfrm>
            <a:off x="3626615" y="579587"/>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63"/>
          <p:cNvSpPr/>
          <p:nvPr/>
        </p:nvSpPr>
        <p:spPr>
          <a:xfrm>
            <a:off x="4122949" y="579587"/>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63"/>
          <p:cNvSpPr/>
          <p:nvPr/>
        </p:nvSpPr>
        <p:spPr>
          <a:xfrm>
            <a:off x="3837937" y="846124"/>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63"/>
          <p:cNvSpPr/>
          <p:nvPr/>
        </p:nvSpPr>
        <p:spPr>
          <a:xfrm>
            <a:off x="4565846" y="579587"/>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63"/>
          <p:cNvSpPr/>
          <p:nvPr/>
        </p:nvSpPr>
        <p:spPr>
          <a:xfrm>
            <a:off x="4366307" y="249275"/>
            <a:ext cx="184800" cy="171600"/>
          </a:xfrm>
          <a:prstGeom prst="ellipse">
            <a:avLst/>
          </a:prstGeom>
          <a:solidFill>
            <a:srgbClr val="B6D7A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81" name="Google Shape;1281;p63"/>
          <p:cNvCxnSpPr>
            <a:stCxn id="1273" idx="3"/>
            <a:endCxn id="1275" idx="0"/>
          </p:cNvCxnSpPr>
          <p:nvPr/>
        </p:nvCxnSpPr>
        <p:spPr>
          <a:xfrm flipH="1">
            <a:off x="3249516" y="395745"/>
            <a:ext cx="134100" cy="183900"/>
          </a:xfrm>
          <a:prstGeom prst="straightConnector1">
            <a:avLst/>
          </a:prstGeom>
          <a:noFill/>
          <a:ln cap="flat" cmpd="sng" w="9525">
            <a:solidFill>
              <a:srgbClr val="1155CC"/>
            </a:solidFill>
            <a:prstDash val="solid"/>
            <a:round/>
            <a:headEnd len="med" w="med" type="none"/>
            <a:tailEnd len="med" w="med" type="none"/>
          </a:ln>
        </p:spPr>
      </p:cxnSp>
      <p:cxnSp>
        <p:nvCxnSpPr>
          <p:cNvPr id="1282" name="Google Shape;1282;p63"/>
          <p:cNvCxnSpPr>
            <a:stCxn id="1273" idx="5"/>
            <a:endCxn id="1276" idx="1"/>
          </p:cNvCxnSpPr>
          <p:nvPr/>
        </p:nvCxnSpPr>
        <p:spPr>
          <a:xfrm>
            <a:off x="3514290" y="395745"/>
            <a:ext cx="139500" cy="209100"/>
          </a:xfrm>
          <a:prstGeom prst="straightConnector1">
            <a:avLst/>
          </a:prstGeom>
          <a:noFill/>
          <a:ln cap="flat" cmpd="sng" w="9525">
            <a:solidFill>
              <a:srgbClr val="1155CC"/>
            </a:solidFill>
            <a:prstDash val="solid"/>
            <a:round/>
            <a:headEnd len="med" w="med" type="none"/>
            <a:tailEnd len="med" w="med" type="none"/>
          </a:ln>
        </p:spPr>
      </p:cxnSp>
      <p:cxnSp>
        <p:nvCxnSpPr>
          <p:cNvPr id="1283" name="Google Shape;1283;p63"/>
          <p:cNvCxnSpPr>
            <a:stCxn id="1276" idx="2"/>
            <a:endCxn id="1275" idx="6"/>
          </p:cNvCxnSpPr>
          <p:nvPr/>
        </p:nvCxnSpPr>
        <p:spPr>
          <a:xfrm rot="10800000">
            <a:off x="3341915" y="665387"/>
            <a:ext cx="284700" cy="0"/>
          </a:xfrm>
          <a:prstGeom prst="straightConnector1">
            <a:avLst/>
          </a:prstGeom>
          <a:noFill/>
          <a:ln cap="flat" cmpd="sng" w="9525">
            <a:solidFill>
              <a:srgbClr val="1155CC"/>
            </a:solidFill>
            <a:prstDash val="solid"/>
            <a:round/>
            <a:headEnd len="med" w="med" type="none"/>
            <a:tailEnd len="med" w="med" type="none"/>
          </a:ln>
        </p:spPr>
      </p:cxnSp>
      <p:cxnSp>
        <p:nvCxnSpPr>
          <p:cNvPr id="1284" name="Google Shape;1284;p63"/>
          <p:cNvCxnSpPr>
            <a:stCxn id="1274" idx="3"/>
            <a:endCxn id="1276" idx="0"/>
          </p:cNvCxnSpPr>
          <p:nvPr/>
        </p:nvCxnSpPr>
        <p:spPr>
          <a:xfrm flipH="1">
            <a:off x="3718986" y="395745"/>
            <a:ext cx="169500" cy="183900"/>
          </a:xfrm>
          <a:prstGeom prst="straightConnector1">
            <a:avLst/>
          </a:prstGeom>
          <a:noFill/>
          <a:ln cap="flat" cmpd="sng" w="9525">
            <a:solidFill>
              <a:srgbClr val="1155CC"/>
            </a:solidFill>
            <a:prstDash val="solid"/>
            <a:round/>
            <a:headEnd len="med" w="med" type="none"/>
            <a:tailEnd len="med" w="med" type="none"/>
          </a:ln>
        </p:spPr>
      </p:cxnSp>
      <p:cxnSp>
        <p:nvCxnSpPr>
          <p:cNvPr id="1285" name="Google Shape;1285;p63"/>
          <p:cNvCxnSpPr>
            <a:stCxn id="1274" idx="5"/>
            <a:endCxn id="1277" idx="1"/>
          </p:cNvCxnSpPr>
          <p:nvPr/>
        </p:nvCxnSpPr>
        <p:spPr>
          <a:xfrm>
            <a:off x="4019160" y="395745"/>
            <a:ext cx="130800" cy="209100"/>
          </a:xfrm>
          <a:prstGeom prst="straightConnector1">
            <a:avLst/>
          </a:prstGeom>
          <a:noFill/>
          <a:ln cap="flat" cmpd="sng" w="9525">
            <a:solidFill>
              <a:srgbClr val="1155CC"/>
            </a:solidFill>
            <a:prstDash val="solid"/>
            <a:round/>
            <a:headEnd len="med" w="med" type="none"/>
            <a:tailEnd len="med" w="med" type="none"/>
          </a:ln>
        </p:spPr>
      </p:cxnSp>
      <p:cxnSp>
        <p:nvCxnSpPr>
          <p:cNvPr id="1286" name="Google Shape;1286;p63"/>
          <p:cNvCxnSpPr>
            <a:stCxn id="1277" idx="2"/>
            <a:endCxn id="1276" idx="6"/>
          </p:cNvCxnSpPr>
          <p:nvPr/>
        </p:nvCxnSpPr>
        <p:spPr>
          <a:xfrm rot="10800000">
            <a:off x="3811549" y="665387"/>
            <a:ext cx="311400" cy="0"/>
          </a:xfrm>
          <a:prstGeom prst="straightConnector1">
            <a:avLst/>
          </a:prstGeom>
          <a:noFill/>
          <a:ln cap="flat" cmpd="sng" w="9525">
            <a:solidFill>
              <a:srgbClr val="1C4587"/>
            </a:solidFill>
            <a:prstDash val="solid"/>
            <a:round/>
            <a:headEnd len="med" w="med" type="none"/>
            <a:tailEnd len="med" w="med" type="none"/>
          </a:ln>
        </p:spPr>
      </p:cxnSp>
      <p:cxnSp>
        <p:nvCxnSpPr>
          <p:cNvPr id="1287" name="Google Shape;1287;p63"/>
          <p:cNvCxnSpPr>
            <a:stCxn id="1277" idx="3"/>
            <a:endCxn id="1278" idx="7"/>
          </p:cNvCxnSpPr>
          <p:nvPr/>
        </p:nvCxnSpPr>
        <p:spPr>
          <a:xfrm flipH="1">
            <a:off x="3995813" y="726057"/>
            <a:ext cx="154200" cy="145200"/>
          </a:xfrm>
          <a:prstGeom prst="straightConnector1">
            <a:avLst/>
          </a:prstGeom>
          <a:noFill/>
          <a:ln cap="flat" cmpd="sng" w="9525">
            <a:solidFill>
              <a:srgbClr val="1155CC"/>
            </a:solidFill>
            <a:prstDash val="solid"/>
            <a:round/>
            <a:headEnd len="med" w="med" type="none"/>
            <a:tailEnd len="med" w="med" type="none"/>
          </a:ln>
        </p:spPr>
      </p:cxnSp>
      <p:cxnSp>
        <p:nvCxnSpPr>
          <p:cNvPr id="1288" name="Google Shape;1288;p63"/>
          <p:cNvCxnSpPr>
            <a:stCxn id="1276" idx="4"/>
            <a:endCxn id="1278" idx="1"/>
          </p:cNvCxnSpPr>
          <p:nvPr/>
        </p:nvCxnSpPr>
        <p:spPr>
          <a:xfrm>
            <a:off x="3719015" y="751187"/>
            <a:ext cx="146100" cy="120000"/>
          </a:xfrm>
          <a:prstGeom prst="straightConnector1">
            <a:avLst/>
          </a:prstGeom>
          <a:noFill/>
          <a:ln cap="flat" cmpd="sng" w="9525">
            <a:solidFill>
              <a:srgbClr val="1155CC"/>
            </a:solidFill>
            <a:prstDash val="solid"/>
            <a:round/>
            <a:headEnd len="med" w="med" type="none"/>
            <a:tailEnd len="med" w="med" type="none"/>
          </a:ln>
        </p:spPr>
      </p:cxnSp>
      <p:cxnSp>
        <p:nvCxnSpPr>
          <p:cNvPr id="1289" name="Google Shape;1289;p63"/>
          <p:cNvCxnSpPr>
            <a:stCxn id="1280" idx="3"/>
            <a:endCxn id="1277" idx="7"/>
          </p:cNvCxnSpPr>
          <p:nvPr/>
        </p:nvCxnSpPr>
        <p:spPr>
          <a:xfrm flipH="1">
            <a:off x="4280571" y="395745"/>
            <a:ext cx="112800" cy="209100"/>
          </a:xfrm>
          <a:prstGeom prst="straightConnector1">
            <a:avLst/>
          </a:prstGeom>
          <a:noFill/>
          <a:ln cap="flat" cmpd="sng" w="9525">
            <a:solidFill>
              <a:srgbClr val="1155CC"/>
            </a:solidFill>
            <a:prstDash val="solid"/>
            <a:round/>
            <a:headEnd len="med" w="med" type="none"/>
            <a:tailEnd len="med" w="med" type="none"/>
          </a:ln>
        </p:spPr>
      </p:cxnSp>
      <p:cxnSp>
        <p:nvCxnSpPr>
          <p:cNvPr id="1290" name="Google Shape;1290;p63"/>
          <p:cNvCxnSpPr>
            <a:stCxn id="1280" idx="5"/>
            <a:endCxn id="1279" idx="0"/>
          </p:cNvCxnSpPr>
          <p:nvPr/>
        </p:nvCxnSpPr>
        <p:spPr>
          <a:xfrm>
            <a:off x="4524044" y="395745"/>
            <a:ext cx="134100" cy="183900"/>
          </a:xfrm>
          <a:prstGeom prst="straightConnector1">
            <a:avLst/>
          </a:prstGeom>
          <a:noFill/>
          <a:ln cap="flat" cmpd="sng" w="9525">
            <a:solidFill>
              <a:srgbClr val="1155CC"/>
            </a:solidFill>
            <a:prstDash val="solid"/>
            <a:round/>
            <a:headEnd len="med" w="med" type="none"/>
            <a:tailEnd len="med" w="med" type="none"/>
          </a:ln>
        </p:spPr>
      </p:cxnSp>
      <p:cxnSp>
        <p:nvCxnSpPr>
          <p:cNvPr id="1291" name="Google Shape;1291;p63"/>
          <p:cNvCxnSpPr>
            <a:stCxn id="1279" idx="2"/>
            <a:endCxn id="1277" idx="6"/>
          </p:cNvCxnSpPr>
          <p:nvPr/>
        </p:nvCxnSpPr>
        <p:spPr>
          <a:xfrm rot="10800000">
            <a:off x="4307846" y="665387"/>
            <a:ext cx="258000" cy="0"/>
          </a:xfrm>
          <a:prstGeom prst="straightConnector1">
            <a:avLst/>
          </a:prstGeom>
          <a:noFill/>
          <a:ln cap="flat" cmpd="sng" w="9525">
            <a:solidFill>
              <a:srgbClr val="1C4587"/>
            </a:solidFill>
            <a:prstDash val="solid"/>
            <a:round/>
            <a:headEnd len="med" w="med" type="none"/>
            <a:tailEnd len="med" w="med" type="none"/>
          </a:ln>
        </p:spPr>
      </p:cxnSp>
      <p:cxnSp>
        <p:nvCxnSpPr>
          <p:cNvPr id="1292" name="Google Shape;1292;p63"/>
          <p:cNvCxnSpPr>
            <a:stCxn id="1280" idx="2"/>
            <a:endCxn id="1274" idx="6"/>
          </p:cNvCxnSpPr>
          <p:nvPr/>
        </p:nvCxnSpPr>
        <p:spPr>
          <a:xfrm rot="10800000">
            <a:off x="4046207" y="335075"/>
            <a:ext cx="320100" cy="0"/>
          </a:xfrm>
          <a:prstGeom prst="straightConnector1">
            <a:avLst/>
          </a:prstGeom>
          <a:noFill/>
          <a:ln cap="flat" cmpd="sng" w="9525">
            <a:solidFill>
              <a:srgbClr val="1155CC"/>
            </a:solidFill>
            <a:prstDash val="solid"/>
            <a:round/>
            <a:headEnd len="med" w="med" type="none"/>
            <a:tailEnd len="med" w="med" type="none"/>
          </a:ln>
        </p:spPr>
      </p:cxnSp>
      <p:grpSp>
        <p:nvGrpSpPr>
          <p:cNvPr id="1293" name="Google Shape;1293;p63"/>
          <p:cNvGrpSpPr/>
          <p:nvPr/>
        </p:nvGrpSpPr>
        <p:grpSpPr>
          <a:xfrm>
            <a:off x="4803700" y="1105650"/>
            <a:ext cx="3221100" cy="1907400"/>
            <a:chOff x="4765900" y="1210300"/>
            <a:chExt cx="3221100" cy="1907400"/>
          </a:xfrm>
        </p:grpSpPr>
        <p:sp>
          <p:nvSpPr>
            <p:cNvPr id="1294" name="Google Shape;1294;p63"/>
            <p:cNvSpPr/>
            <p:nvPr/>
          </p:nvSpPr>
          <p:spPr>
            <a:xfrm>
              <a:off x="4765900" y="1210300"/>
              <a:ext cx="3221100" cy="1907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5" name="Google Shape;1295;p63"/>
            <p:cNvGrpSpPr/>
            <p:nvPr/>
          </p:nvGrpSpPr>
          <p:grpSpPr>
            <a:xfrm>
              <a:off x="4925975" y="1311800"/>
              <a:ext cx="2762300" cy="1742375"/>
              <a:chOff x="801375" y="1146650"/>
              <a:chExt cx="2762300" cy="1742375"/>
            </a:xfrm>
          </p:grpSpPr>
          <p:grpSp>
            <p:nvGrpSpPr>
              <p:cNvPr id="1296" name="Google Shape;1296;p63"/>
              <p:cNvGrpSpPr/>
              <p:nvPr/>
            </p:nvGrpSpPr>
            <p:grpSpPr>
              <a:xfrm>
                <a:off x="801375" y="1146650"/>
                <a:ext cx="2762300" cy="1742375"/>
                <a:chOff x="801375" y="1146650"/>
                <a:chExt cx="2762300" cy="1742375"/>
              </a:xfrm>
            </p:grpSpPr>
            <p:sp>
              <p:nvSpPr>
                <p:cNvPr id="1297" name="Google Shape;1297;p63"/>
                <p:cNvSpPr/>
                <p:nvPr/>
              </p:nvSpPr>
              <p:spPr>
                <a:xfrm>
                  <a:off x="1144725" y="1350350"/>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63"/>
                <p:cNvSpPr/>
                <p:nvPr/>
              </p:nvSpPr>
              <p:spPr>
                <a:xfrm>
                  <a:off x="1939900" y="1350350"/>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2</a:t>
                  </a:r>
                  <a:endParaRPr>
                    <a:solidFill>
                      <a:srgbClr val="000000"/>
                    </a:solidFill>
                  </a:endParaRPr>
                </a:p>
              </p:txBody>
            </p:sp>
            <p:sp>
              <p:nvSpPr>
                <p:cNvPr id="1299" name="Google Shape;1299;p63"/>
                <p:cNvSpPr/>
                <p:nvPr/>
              </p:nvSpPr>
              <p:spPr>
                <a:xfrm>
                  <a:off x="801375" y="201162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63"/>
                <p:cNvSpPr/>
                <p:nvPr/>
              </p:nvSpPr>
              <p:spPr>
                <a:xfrm>
                  <a:off x="1609450" y="2011625"/>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5</a:t>
                  </a:r>
                  <a:endParaRPr/>
                </a:p>
              </p:txBody>
            </p:sp>
            <p:sp>
              <p:nvSpPr>
                <p:cNvPr id="1301" name="Google Shape;1301;p63"/>
                <p:cNvSpPr/>
                <p:nvPr/>
              </p:nvSpPr>
              <p:spPr>
                <a:xfrm>
                  <a:off x="2463500" y="2011625"/>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3</a:t>
                  </a:r>
                  <a:endParaRPr>
                    <a:solidFill>
                      <a:srgbClr val="000000"/>
                    </a:solidFill>
                  </a:endParaRPr>
                </a:p>
              </p:txBody>
            </p:sp>
            <p:sp>
              <p:nvSpPr>
                <p:cNvPr id="1302" name="Google Shape;1302;p63"/>
                <p:cNvSpPr/>
                <p:nvPr/>
              </p:nvSpPr>
              <p:spPr>
                <a:xfrm>
                  <a:off x="1973075" y="2545225"/>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6</a:t>
                  </a:r>
                  <a:endParaRPr/>
                </a:p>
              </p:txBody>
            </p:sp>
            <p:sp>
              <p:nvSpPr>
                <p:cNvPr id="1303" name="Google Shape;1303;p63"/>
                <p:cNvSpPr/>
                <p:nvPr/>
              </p:nvSpPr>
              <p:spPr>
                <a:xfrm>
                  <a:off x="3225600" y="2011625"/>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4</a:t>
                  </a:r>
                  <a:endParaRPr>
                    <a:solidFill>
                      <a:srgbClr val="000000"/>
                    </a:solidFill>
                  </a:endParaRPr>
                </a:p>
              </p:txBody>
            </p:sp>
            <p:sp>
              <p:nvSpPr>
                <p:cNvPr id="1304" name="Google Shape;1304;p63"/>
                <p:cNvSpPr/>
                <p:nvPr/>
              </p:nvSpPr>
              <p:spPr>
                <a:xfrm>
                  <a:off x="2882250" y="1350350"/>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1</a:t>
                  </a:r>
                  <a:endParaRPr>
                    <a:solidFill>
                      <a:srgbClr val="000000"/>
                    </a:solidFill>
                  </a:endParaRPr>
                </a:p>
              </p:txBody>
            </p:sp>
            <p:cxnSp>
              <p:nvCxnSpPr>
                <p:cNvPr id="1305" name="Google Shape;1305;p63"/>
                <p:cNvCxnSpPr>
                  <a:stCxn id="1297" idx="3"/>
                  <a:endCxn id="1299" idx="0"/>
                </p:cNvCxnSpPr>
                <p:nvPr/>
              </p:nvCxnSpPr>
              <p:spPr>
                <a:xfrm flipH="1">
                  <a:off x="960639" y="1643802"/>
                  <a:ext cx="230700" cy="367800"/>
                </a:xfrm>
                <a:prstGeom prst="straightConnector1">
                  <a:avLst/>
                </a:prstGeom>
                <a:noFill/>
                <a:ln cap="flat" cmpd="sng" w="9525">
                  <a:solidFill>
                    <a:srgbClr val="1155CC"/>
                  </a:solidFill>
                  <a:prstDash val="solid"/>
                  <a:round/>
                  <a:headEnd len="med" w="med" type="none"/>
                  <a:tailEnd len="med" w="med" type="none"/>
                </a:ln>
              </p:spPr>
            </p:cxnSp>
            <p:cxnSp>
              <p:nvCxnSpPr>
                <p:cNvPr id="1306" name="Google Shape;1306;p63"/>
                <p:cNvCxnSpPr>
                  <a:stCxn id="1297" idx="5"/>
                  <a:endCxn id="1300" idx="1"/>
                </p:cNvCxnSpPr>
                <p:nvPr/>
              </p:nvCxnSpPr>
              <p:spPr>
                <a:xfrm>
                  <a:off x="1416411" y="1643802"/>
                  <a:ext cx="239700" cy="418200"/>
                </a:xfrm>
                <a:prstGeom prst="straightConnector1">
                  <a:avLst/>
                </a:prstGeom>
                <a:noFill/>
                <a:ln cap="flat" cmpd="sng" w="9525">
                  <a:solidFill>
                    <a:srgbClr val="1155CC"/>
                  </a:solidFill>
                  <a:prstDash val="solid"/>
                  <a:round/>
                  <a:headEnd len="med" w="med" type="none"/>
                  <a:tailEnd len="med" w="med" type="none"/>
                </a:ln>
              </p:spPr>
            </p:cxnSp>
            <p:cxnSp>
              <p:nvCxnSpPr>
                <p:cNvPr id="1307" name="Google Shape;1307;p63"/>
                <p:cNvCxnSpPr>
                  <a:stCxn id="1300" idx="2"/>
                  <a:endCxn id="1299" idx="6"/>
                </p:cNvCxnSpPr>
                <p:nvPr/>
              </p:nvCxnSpPr>
              <p:spPr>
                <a:xfrm rot="10800000">
                  <a:off x="1119550" y="2183525"/>
                  <a:ext cx="489900" cy="0"/>
                </a:xfrm>
                <a:prstGeom prst="straightConnector1">
                  <a:avLst/>
                </a:prstGeom>
                <a:noFill/>
                <a:ln cap="flat" cmpd="sng" w="9525">
                  <a:solidFill>
                    <a:srgbClr val="1155CC"/>
                  </a:solidFill>
                  <a:prstDash val="solid"/>
                  <a:round/>
                  <a:headEnd len="med" w="med" type="none"/>
                  <a:tailEnd len="med" w="med" type="none"/>
                </a:ln>
              </p:spPr>
            </p:cxnSp>
            <p:cxnSp>
              <p:nvCxnSpPr>
                <p:cNvPr id="1308" name="Google Shape;1308;p63"/>
                <p:cNvCxnSpPr>
                  <a:stCxn id="1298" idx="3"/>
                  <a:endCxn id="1300" idx="0"/>
                </p:cNvCxnSpPr>
                <p:nvPr/>
              </p:nvCxnSpPr>
              <p:spPr>
                <a:xfrm flipH="1">
                  <a:off x="1768714" y="1643802"/>
                  <a:ext cx="217800" cy="367800"/>
                </a:xfrm>
                <a:prstGeom prst="straightConnector1">
                  <a:avLst/>
                </a:prstGeom>
                <a:noFill/>
                <a:ln cap="flat" cmpd="sng" w="19050">
                  <a:solidFill>
                    <a:srgbClr val="F1C232"/>
                  </a:solidFill>
                  <a:prstDash val="solid"/>
                  <a:round/>
                  <a:headEnd len="med" w="med" type="none"/>
                  <a:tailEnd len="med" w="med" type="none"/>
                </a:ln>
              </p:spPr>
            </p:cxnSp>
            <p:cxnSp>
              <p:nvCxnSpPr>
                <p:cNvPr id="1309" name="Google Shape;1309;p63"/>
                <p:cNvCxnSpPr>
                  <a:stCxn id="1298" idx="5"/>
                  <a:endCxn id="1301" idx="1"/>
                </p:cNvCxnSpPr>
                <p:nvPr/>
              </p:nvCxnSpPr>
              <p:spPr>
                <a:xfrm>
                  <a:off x="2211586" y="1643802"/>
                  <a:ext cx="298500" cy="418200"/>
                </a:xfrm>
                <a:prstGeom prst="straightConnector1">
                  <a:avLst/>
                </a:prstGeom>
                <a:noFill/>
                <a:ln cap="flat" cmpd="sng" w="9525">
                  <a:solidFill>
                    <a:srgbClr val="1155CC"/>
                  </a:solidFill>
                  <a:prstDash val="solid"/>
                  <a:round/>
                  <a:headEnd len="med" w="med" type="none"/>
                  <a:tailEnd len="med" w="med" type="none"/>
                </a:ln>
              </p:spPr>
            </p:cxnSp>
            <p:cxnSp>
              <p:nvCxnSpPr>
                <p:cNvPr id="1310" name="Google Shape;1310;p63"/>
                <p:cNvCxnSpPr>
                  <a:stCxn id="1301" idx="2"/>
                  <a:endCxn id="1300" idx="6"/>
                </p:cNvCxnSpPr>
                <p:nvPr/>
              </p:nvCxnSpPr>
              <p:spPr>
                <a:xfrm rot="10800000">
                  <a:off x="1927700" y="2183525"/>
                  <a:ext cx="535800" cy="0"/>
                </a:xfrm>
                <a:prstGeom prst="straightConnector1">
                  <a:avLst/>
                </a:prstGeom>
                <a:noFill/>
                <a:ln cap="flat" cmpd="sng" w="9525">
                  <a:solidFill>
                    <a:srgbClr val="1C4587"/>
                  </a:solidFill>
                  <a:prstDash val="solid"/>
                  <a:round/>
                  <a:headEnd len="med" w="med" type="none"/>
                  <a:tailEnd len="med" w="med" type="none"/>
                </a:ln>
              </p:spPr>
            </p:cxnSp>
            <p:cxnSp>
              <p:nvCxnSpPr>
                <p:cNvPr id="1311" name="Google Shape;1311;p63"/>
                <p:cNvCxnSpPr>
                  <a:stCxn id="1301" idx="3"/>
                  <a:endCxn id="1302" idx="7"/>
                </p:cNvCxnSpPr>
                <p:nvPr/>
              </p:nvCxnSpPr>
              <p:spPr>
                <a:xfrm flipH="1">
                  <a:off x="2244614" y="2305077"/>
                  <a:ext cx="265500" cy="290400"/>
                </a:xfrm>
                <a:prstGeom prst="straightConnector1">
                  <a:avLst/>
                </a:prstGeom>
                <a:noFill/>
                <a:ln cap="flat" cmpd="sng" w="19050">
                  <a:solidFill>
                    <a:srgbClr val="F1C232"/>
                  </a:solidFill>
                  <a:prstDash val="solid"/>
                  <a:round/>
                  <a:headEnd len="med" w="med" type="none"/>
                  <a:tailEnd len="med" w="med" type="none"/>
                </a:ln>
              </p:spPr>
            </p:cxnSp>
            <p:cxnSp>
              <p:nvCxnSpPr>
                <p:cNvPr id="1312" name="Google Shape;1312;p63"/>
                <p:cNvCxnSpPr>
                  <a:stCxn id="1300" idx="4"/>
                  <a:endCxn id="1302" idx="1"/>
                </p:cNvCxnSpPr>
                <p:nvPr/>
              </p:nvCxnSpPr>
              <p:spPr>
                <a:xfrm>
                  <a:off x="1768600" y="2355425"/>
                  <a:ext cx="251100" cy="240000"/>
                </a:xfrm>
                <a:prstGeom prst="straightConnector1">
                  <a:avLst/>
                </a:prstGeom>
                <a:noFill/>
                <a:ln cap="flat" cmpd="sng" w="9525">
                  <a:solidFill>
                    <a:srgbClr val="1155CC"/>
                  </a:solidFill>
                  <a:prstDash val="solid"/>
                  <a:round/>
                  <a:headEnd len="med" w="med" type="none"/>
                  <a:tailEnd len="med" w="med" type="none"/>
                </a:ln>
              </p:spPr>
            </p:cxnSp>
            <p:cxnSp>
              <p:nvCxnSpPr>
                <p:cNvPr id="1313" name="Google Shape;1313;p63"/>
                <p:cNvCxnSpPr>
                  <a:stCxn id="1304" idx="3"/>
                  <a:endCxn id="1301" idx="7"/>
                </p:cNvCxnSpPr>
                <p:nvPr/>
              </p:nvCxnSpPr>
              <p:spPr>
                <a:xfrm flipH="1">
                  <a:off x="2735064" y="1643802"/>
                  <a:ext cx="193800" cy="418200"/>
                </a:xfrm>
                <a:prstGeom prst="straightConnector1">
                  <a:avLst/>
                </a:prstGeom>
                <a:noFill/>
                <a:ln cap="flat" cmpd="sng" w="19050">
                  <a:solidFill>
                    <a:srgbClr val="F1C232"/>
                  </a:solidFill>
                  <a:prstDash val="solid"/>
                  <a:round/>
                  <a:headEnd len="med" w="med" type="none"/>
                  <a:tailEnd len="med" w="med" type="none"/>
                </a:ln>
              </p:spPr>
            </p:cxnSp>
            <p:cxnSp>
              <p:nvCxnSpPr>
                <p:cNvPr id="1314" name="Google Shape;1314;p63"/>
                <p:cNvCxnSpPr>
                  <a:stCxn id="1304" idx="5"/>
                  <a:endCxn id="1303" idx="0"/>
                </p:cNvCxnSpPr>
                <p:nvPr/>
              </p:nvCxnSpPr>
              <p:spPr>
                <a:xfrm>
                  <a:off x="3153936" y="1643802"/>
                  <a:ext cx="230700" cy="367800"/>
                </a:xfrm>
                <a:prstGeom prst="straightConnector1">
                  <a:avLst/>
                </a:prstGeom>
                <a:noFill/>
                <a:ln cap="flat" cmpd="sng" w="19050">
                  <a:solidFill>
                    <a:srgbClr val="F1C232"/>
                  </a:solidFill>
                  <a:prstDash val="solid"/>
                  <a:round/>
                  <a:headEnd len="med" w="med" type="none"/>
                  <a:tailEnd len="med" w="med" type="none"/>
                </a:ln>
              </p:spPr>
            </p:cxnSp>
            <p:cxnSp>
              <p:nvCxnSpPr>
                <p:cNvPr id="1315" name="Google Shape;1315;p63"/>
                <p:cNvCxnSpPr>
                  <a:stCxn id="1303" idx="2"/>
                  <a:endCxn id="1301" idx="6"/>
                </p:cNvCxnSpPr>
                <p:nvPr/>
              </p:nvCxnSpPr>
              <p:spPr>
                <a:xfrm rot="10800000">
                  <a:off x="2781900" y="2183525"/>
                  <a:ext cx="443700" cy="0"/>
                </a:xfrm>
                <a:prstGeom prst="straightConnector1">
                  <a:avLst/>
                </a:prstGeom>
                <a:noFill/>
                <a:ln cap="flat" cmpd="sng" w="9525">
                  <a:solidFill>
                    <a:srgbClr val="1C4587"/>
                  </a:solidFill>
                  <a:prstDash val="solid"/>
                  <a:round/>
                  <a:headEnd len="med" w="med" type="none"/>
                  <a:tailEnd len="med" w="med" type="none"/>
                </a:ln>
              </p:spPr>
            </p:cxnSp>
            <p:sp>
              <p:nvSpPr>
                <p:cNvPr id="1316" name="Google Shape;1316;p63"/>
                <p:cNvSpPr txBox="1"/>
                <p:nvPr/>
              </p:nvSpPr>
              <p:spPr>
                <a:xfrm>
                  <a:off x="3272075" y="1146650"/>
                  <a:ext cx="29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rebuchet MS"/>
                      <a:ea typeface="Trebuchet MS"/>
                      <a:cs typeface="Trebuchet MS"/>
                      <a:sym typeface="Trebuchet MS"/>
                    </a:rPr>
                    <a:t>v</a:t>
                  </a:r>
                  <a:endParaRPr>
                    <a:latin typeface="Trebuchet MS"/>
                    <a:ea typeface="Trebuchet MS"/>
                    <a:cs typeface="Trebuchet MS"/>
                    <a:sym typeface="Trebuchet MS"/>
                  </a:endParaRPr>
                </a:p>
              </p:txBody>
            </p:sp>
          </p:grpSp>
          <p:cxnSp>
            <p:nvCxnSpPr>
              <p:cNvPr id="1317" name="Google Shape;1317;p63"/>
              <p:cNvCxnSpPr>
                <a:stCxn id="1304" idx="2"/>
                <a:endCxn id="1298" idx="6"/>
              </p:cNvCxnSpPr>
              <p:nvPr/>
            </p:nvCxnSpPr>
            <p:spPr>
              <a:xfrm rot="10800000">
                <a:off x="2258250" y="1522250"/>
                <a:ext cx="624000" cy="0"/>
              </a:xfrm>
              <a:prstGeom prst="straightConnector1">
                <a:avLst/>
              </a:prstGeom>
              <a:noFill/>
              <a:ln cap="flat" cmpd="sng" w="19050">
                <a:solidFill>
                  <a:srgbClr val="F1C232"/>
                </a:solidFill>
                <a:prstDash val="solid"/>
                <a:round/>
                <a:headEnd len="med" w="med" type="none"/>
                <a:tailEnd len="med" w="med" type="none"/>
              </a:ln>
            </p:spPr>
          </p:cxnSp>
        </p:grpSp>
      </p:grpSp>
      <p:grpSp>
        <p:nvGrpSpPr>
          <p:cNvPr id="1318" name="Google Shape;1318;p63"/>
          <p:cNvGrpSpPr/>
          <p:nvPr/>
        </p:nvGrpSpPr>
        <p:grpSpPr>
          <a:xfrm>
            <a:off x="585050" y="3186513"/>
            <a:ext cx="3221100" cy="1907400"/>
            <a:chOff x="2748300" y="3247338"/>
            <a:chExt cx="3221100" cy="1907400"/>
          </a:xfrm>
        </p:grpSpPr>
        <p:sp>
          <p:nvSpPr>
            <p:cNvPr id="1319" name="Google Shape;1319;p63"/>
            <p:cNvSpPr/>
            <p:nvPr/>
          </p:nvSpPr>
          <p:spPr>
            <a:xfrm>
              <a:off x="2748300" y="3247338"/>
              <a:ext cx="3221100" cy="1907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0" name="Google Shape;1320;p63"/>
            <p:cNvGrpSpPr/>
            <p:nvPr/>
          </p:nvGrpSpPr>
          <p:grpSpPr>
            <a:xfrm>
              <a:off x="2977700" y="3329850"/>
              <a:ext cx="2762300" cy="1742375"/>
              <a:chOff x="801375" y="1146650"/>
              <a:chExt cx="2762300" cy="1742375"/>
            </a:xfrm>
          </p:grpSpPr>
          <p:grpSp>
            <p:nvGrpSpPr>
              <p:cNvPr id="1321" name="Google Shape;1321;p63"/>
              <p:cNvGrpSpPr/>
              <p:nvPr/>
            </p:nvGrpSpPr>
            <p:grpSpPr>
              <a:xfrm>
                <a:off x="801375" y="1146650"/>
                <a:ext cx="2762300" cy="1742375"/>
                <a:chOff x="801375" y="1146650"/>
                <a:chExt cx="2762300" cy="1742375"/>
              </a:xfrm>
            </p:grpSpPr>
            <p:sp>
              <p:nvSpPr>
                <p:cNvPr id="1322" name="Google Shape;1322;p63"/>
                <p:cNvSpPr/>
                <p:nvPr/>
              </p:nvSpPr>
              <p:spPr>
                <a:xfrm>
                  <a:off x="1144725" y="1350350"/>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7</a:t>
                  </a:r>
                  <a:endParaRPr/>
                </a:p>
              </p:txBody>
            </p:sp>
            <p:sp>
              <p:nvSpPr>
                <p:cNvPr id="1323" name="Google Shape;1323;p63"/>
                <p:cNvSpPr/>
                <p:nvPr/>
              </p:nvSpPr>
              <p:spPr>
                <a:xfrm>
                  <a:off x="1939900" y="1350350"/>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2</a:t>
                  </a:r>
                  <a:endParaRPr>
                    <a:solidFill>
                      <a:srgbClr val="000000"/>
                    </a:solidFill>
                  </a:endParaRPr>
                </a:p>
              </p:txBody>
            </p:sp>
            <p:sp>
              <p:nvSpPr>
                <p:cNvPr id="1324" name="Google Shape;1324;p63"/>
                <p:cNvSpPr/>
                <p:nvPr/>
              </p:nvSpPr>
              <p:spPr>
                <a:xfrm>
                  <a:off x="801375" y="2011625"/>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8</a:t>
                  </a:r>
                  <a:endParaRPr/>
                </a:p>
              </p:txBody>
            </p:sp>
            <p:sp>
              <p:nvSpPr>
                <p:cNvPr id="1325" name="Google Shape;1325;p63"/>
                <p:cNvSpPr/>
                <p:nvPr/>
              </p:nvSpPr>
              <p:spPr>
                <a:xfrm>
                  <a:off x="1609450" y="2011625"/>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5</a:t>
                  </a:r>
                  <a:endParaRPr/>
                </a:p>
              </p:txBody>
            </p:sp>
            <p:sp>
              <p:nvSpPr>
                <p:cNvPr id="1326" name="Google Shape;1326;p63"/>
                <p:cNvSpPr/>
                <p:nvPr/>
              </p:nvSpPr>
              <p:spPr>
                <a:xfrm>
                  <a:off x="2463500" y="2011625"/>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3</a:t>
                  </a:r>
                  <a:endParaRPr>
                    <a:solidFill>
                      <a:srgbClr val="000000"/>
                    </a:solidFill>
                  </a:endParaRPr>
                </a:p>
              </p:txBody>
            </p:sp>
            <p:sp>
              <p:nvSpPr>
                <p:cNvPr id="1327" name="Google Shape;1327;p63"/>
                <p:cNvSpPr/>
                <p:nvPr/>
              </p:nvSpPr>
              <p:spPr>
                <a:xfrm>
                  <a:off x="1973075" y="2545225"/>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6</a:t>
                  </a:r>
                  <a:endParaRPr/>
                </a:p>
              </p:txBody>
            </p:sp>
            <p:sp>
              <p:nvSpPr>
                <p:cNvPr id="1328" name="Google Shape;1328;p63"/>
                <p:cNvSpPr/>
                <p:nvPr/>
              </p:nvSpPr>
              <p:spPr>
                <a:xfrm>
                  <a:off x="3225600" y="2011625"/>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4</a:t>
                  </a:r>
                  <a:endParaRPr>
                    <a:solidFill>
                      <a:srgbClr val="000000"/>
                    </a:solidFill>
                  </a:endParaRPr>
                </a:p>
              </p:txBody>
            </p:sp>
            <p:sp>
              <p:nvSpPr>
                <p:cNvPr id="1329" name="Google Shape;1329;p63"/>
                <p:cNvSpPr/>
                <p:nvPr/>
              </p:nvSpPr>
              <p:spPr>
                <a:xfrm>
                  <a:off x="2882250" y="1350350"/>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1</a:t>
                  </a:r>
                  <a:endParaRPr>
                    <a:solidFill>
                      <a:srgbClr val="000000"/>
                    </a:solidFill>
                  </a:endParaRPr>
                </a:p>
              </p:txBody>
            </p:sp>
            <p:cxnSp>
              <p:nvCxnSpPr>
                <p:cNvPr id="1330" name="Google Shape;1330;p63"/>
                <p:cNvCxnSpPr>
                  <a:stCxn id="1322" idx="3"/>
                  <a:endCxn id="1324" idx="0"/>
                </p:cNvCxnSpPr>
                <p:nvPr/>
              </p:nvCxnSpPr>
              <p:spPr>
                <a:xfrm flipH="1">
                  <a:off x="960639" y="1643802"/>
                  <a:ext cx="230700" cy="367800"/>
                </a:xfrm>
                <a:prstGeom prst="straightConnector1">
                  <a:avLst/>
                </a:prstGeom>
                <a:noFill/>
                <a:ln cap="flat" cmpd="sng" w="9525">
                  <a:solidFill>
                    <a:srgbClr val="1155CC"/>
                  </a:solidFill>
                  <a:prstDash val="solid"/>
                  <a:round/>
                  <a:headEnd len="med" w="med" type="none"/>
                  <a:tailEnd len="med" w="med" type="none"/>
                </a:ln>
              </p:spPr>
            </p:cxnSp>
            <p:cxnSp>
              <p:nvCxnSpPr>
                <p:cNvPr id="1331" name="Google Shape;1331;p63"/>
                <p:cNvCxnSpPr>
                  <a:stCxn id="1322" idx="5"/>
                  <a:endCxn id="1325" idx="1"/>
                </p:cNvCxnSpPr>
                <p:nvPr/>
              </p:nvCxnSpPr>
              <p:spPr>
                <a:xfrm>
                  <a:off x="1416411" y="1643802"/>
                  <a:ext cx="239700" cy="418200"/>
                </a:xfrm>
                <a:prstGeom prst="straightConnector1">
                  <a:avLst/>
                </a:prstGeom>
                <a:noFill/>
                <a:ln cap="flat" cmpd="sng" w="19050">
                  <a:solidFill>
                    <a:srgbClr val="F1C232"/>
                  </a:solidFill>
                  <a:prstDash val="solid"/>
                  <a:round/>
                  <a:headEnd len="med" w="med" type="none"/>
                  <a:tailEnd len="med" w="med" type="none"/>
                </a:ln>
              </p:spPr>
            </p:cxnSp>
            <p:cxnSp>
              <p:nvCxnSpPr>
                <p:cNvPr id="1332" name="Google Shape;1332;p63"/>
                <p:cNvCxnSpPr>
                  <a:stCxn id="1325" idx="2"/>
                  <a:endCxn id="1324" idx="6"/>
                </p:cNvCxnSpPr>
                <p:nvPr/>
              </p:nvCxnSpPr>
              <p:spPr>
                <a:xfrm rot="10800000">
                  <a:off x="1119550" y="2183525"/>
                  <a:ext cx="489900" cy="0"/>
                </a:xfrm>
                <a:prstGeom prst="straightConnector1">
                  <a:avLst/>
                </a:prstGeom>
                <a:noFill/>
                <a:ln cap="flat" cmpd="sng" w="19050">
                  <a:solidFill>
                    <a:srgbClr val="F1C232"/>
                  </a:solidFill>
                  <a:prstDash val="solid"/>
                  <a:round/>
                  <a:headEnd len="med" w="med" type="none"/>
                  <a:tailEnd len="med" w="med" type="none"/>
                </a:ln>
              </p:spPr>
            </p:cxnSp>
            <p:cxnSp>
              <p:nvCxnSpPr>
                <p:cNvPr id="1333" name="Google Shape;1333;p63"/>
                <p:cNvCxnSpPr>
                  <a:stCxn id="1323" idx="3"/>
                  <a:endCxn id="1325" idx="0"/>
                </p:cNvCxnSpPr>
                <p:nvPr/>
              </p:nvCxnSpPr>
              <p:spPr>
                <a:xfrm flipH="1">
                  <a:off x="1768714" y="1643802"/>
                  <a:ext cx="217800" cy="367800"/>
                </a:xfrm>
                <a:prstGeom prst="straightConnector1">
                  <a:avLst/>
                </a:prstGeom>
                <a:noFill/>
                <a:ln cap="flat" cmpd="sng" w="19050">
                  <a:solidFill>
                    <a:srgbClr val="F1C232"/>
                  </a:solidFill>
                  <a:prstDash val="solid"/>
                  <a:round/>
                  <a:headEnd len="med" w="med" type="none"/>
                  <a:tailEnd len="med" w="med" type="none"/>
                </a:ln>
              </p:spPr>
            </p:cxnSp>
            <p:cxnSp>
              <p:nvCxnSpPr>
                <p:cNvPr id="1334" name="Google Shape;1334;p63"/>
                <p:cNvCxnSpPr>
                  <a:stCxn id="1323" idx="5"/>
                  <a:endCxn id="1326" idx="1"/>
                </p:cNvCxnSpPr>
                <p:nvPr/>
              </p:nvCxnSpPr>
              <p:spPr>
                <a:xfrm>
                  <a:off x="2211586" y="1643802"/>
                  <a:ext cx="298500" cy="418200"/>
                </a:xfrm>
                <a:prstGeom prst="straightConnector1">
                  <a:avLst/>
                </a:prstGeom>
                <a:noFill/>
                <a:ln cap="flat" cmpd="sng" w="9525">
                  <a:solidFill>
                    <a:srgbClr val="1155CC"/>
                  </a:solidFill>
                  <a:prstDash val="solid"/>
                  <a:round/>
                  <a:headEnd len="med" w="med" type="none"/>
                  <a:tailEnd len="med" w="med" type="none"/>
                </a:ln>
              </p:spPr>
            </p:cxnSp>
            <p:cxnSp>
              <p:nvCxnSpPr>
                <p:cNvPr id="1335" name="Google Shape;1335;p63"/>
                <p:cNvCxnSpPr>
                  <a:stCxn id="1326" idx="2"/>
                  <a:endCxn id="1325" idx="6"/>
                </p:cNvCxnSpPr>
                <p:nvPr/>
              </p:nvCxnSpPr>
              <p:spPr>
                <a:xfrm rot="10800000">
                  <a:off x="1927700" y="2183525"/>
                  <a:ext cx="535800" cy="0"/>
                </a:xfrm>
                <a:prstGeom prst="straightConnector1">
                  <a:avLst/>
                </a:prstGeom>
                <a:noFill/>
                <a:ln cap="flat" cmpd="sng" w="9525">
                  <a:solidFill>
                    <a:srgbClr val="1C4587"/>
                  </a:solidFill>
                  <a:prstDash val="solid"/>
                  <a:round/>
                  <a:headEnd len="med" w="med" type="none"/>
                  <a:tailEnd len="med" w="med" type="none"/>
                </a:ln>
              </p:spPr>
            </p:cxnSp>
            <p:cxnSp>
              <p:nvCxnSpPr>
                <p:cNvPr id="1336" name="Google Shape;1336;p63"/>
                <p:cNvCxnSpPr>
                  <a:stCxn id="1326" idx="3"/>
                  <a:endCxn id="1327" idx="7"/>
                </p:cNvCxnSpPr>
                <p:nvPr/>
              </p:nvCxnSpPr>
              <p:spPr>
                <a:xfrm flipH="1">
                  <a:off x="2244614" y="2305077"/>
                  <a:ext cx="265500" cy="290400"/>
                </a:xfrm>
                <a:prstGeom prst="straightConnector1">
                  <a:avLst/>
                </a:prstGeom>
                <a:noFill/>
                <a:ln cap="flat" cmpd="sng" w="19050">
                  <a:solidFill>
                    <a:srgbClr val="F1C232"/>
                  </a:solidFill>
                  <a:prstDash val="solid"/>
                  <a:round/>
                  <a:headEnd len="med" w="med" type="none"/>
                  <a:tailEnd len="med" w="med" type="none"/>
                </a:ln>
              </p:spPr>
            </p:cxnSp>
            <p:cxnSp>
              <p:nvCxnSpPr>
                <p:cNvPr id="1337" name="Google Shape;1337;p63"/>
                <p:cNvCxnSpPr>
                  <a:stCxn id="1325" idx="4"/>
                  <a:endCxn id="1327" idx="1"/>
                </p:cNvCxnSpPr>
                <p:nvPr/>
              </p:nvCxnSpPr>
              <p:spPr>
                <a:xfrm>
                  <a:off x="1768600" y="2355425"/>
                  <a:ext cx="251100" cy="240000"/>
                </a:xfrm>
                <a:prstGeom prst="straightConnector1">
                  <a:avLst/>
                </a:prstGeom>
                <a:noFill/>
                <a:ln cap="flat" cmpd="sng" w="9525">
                  <a:solidFill>
                    <a:srgbClr val="1155CC"/>
                  </a:solidFill>
                  <a:prstDash val="solid"/>
                  <a:round/>
                  <a:headEnd len="med" w="med" type="none"/>
                  <a:tailEnd len="med" w="med" type="none"/>
                </a:ln>
              </p:spPr>
            </p:cxnSp>
            <p:cxnSp>
              <p:nvCxnSpPr>
                <p:cNvPr id="1338" name="Google Shape;1338;p63"/>
                <p:cNvCxnSpPr>
                  <a:stCxn id="1329" idx="3"/>
                  <a:endCxn id="1326" idx="7"/>
                </p:cNvCxnSpPr>
                <p:nvPr/>
              </p:nvCxnSpPr>
              <p:spPr>
                <a:xfrm flipH="1">
                  <a:off x="2735064" y="1643802"/>
                  <a:ext cx="193800" cy="418200"/>
                </a:xfrm>
                <a:prstGeom prst="straightConnector1">
                  <a:avLst/>
                </a:prstGeom>
                <a:noFill/>
                <a:ln cap="flat" cmpd="sng" w="19050">
                  <a:solidFill>
                    <a:srgbClr val="F1C232"/>
                  </a:solidFill>
                  <a:prstDash val="solid"/>
                  <a:round/>
                  <a:headEnd len="med" w="med" type="none"/>
                  <a:tailEnd len="med" w="med" type="none"/>
                </a:ln>
              </p:spPr>
            </p:cxnSp>
            <p:cxnSp>
              <p:nvCxnSpPr>
                <p:cNvPr id="1339" name="Google Shape;1339;p63"/>
                <p:cNvCxnSpPr>
                  <a:stCxn id="1329" idx="5"/>
                  <a:endCxn id="1328" idx="0"/>
                </p:cNvCxnSpPr>
                <p:nvPr/>
              </p:nvCxnSpPr>
              <p:spPr>
                <a:xfrm>
                  <a:off x="3153936" y="1643802"/>
                  <a:ext cx="230700" cy="367800"/>
                </a:xfrm>
                <a:prstGeom prst="straightConnector1">
                  <a:avLst/>
                </a:prstGeom>
                <a:noFill/>
                <a:ln cap="flat" cmpd="sng" w="19050">
                  <a:solidFill>
                    <a:srgbClr val="F1C232"/>
                  </a:solidFill>
                  <a:prstDash val="solid"/>
                  <a:round/>
                  <a:headEnd len="med" w="med" type="none"/>
                  <a:tailEnd len="med" w="med" type="none"/>
                </a:ln>
              </p:spPr>
            </p:cxnSp>
            <p:cxnSp>
              <p:nvCxnSpPr>
                <p:cNvPr id="1340" name="Google Shape;1340;p63"/>
                <p:cNvCxnSpPr>
                  <a:stCxn id="1328" idx="2"/>
                  <a:endCxn id="1326" idx="6"/>
                </p:cNvCxnSpPr>
                <p:nvPr/>
              </p:nvCxnSpPr>
              <p:spPr>
                <a:xfrm rot="10800000">
                  <a:off x="2781900" y="2183525"/>
                  <a:ext cx="443700" cy="0"/>
                </a:xfrm>
                <a:prstGeom prst="straightConnector1">
                  <a:avLst/>
                </a:prstGeom>
                <a:noFill/>
                <a:ln cap="flat" cmpd="sng" w="9525">
                  <a:solidFill>
                    <a:srgbClr val="1C4587"/>
                  </a:solidFill>
                  <a:prstDash val="solid"/>
                  <a:round/>
                  <a:headEnd len="med" w="med" type="none"/>
                  <a:tailEnd len="med" w="med" type="none"/>
                </a:ln>
              </p:spPr>
            </p:cxnSp>
            <p:sp>
              <p:nvSpPr>
                <p:cNvPr id="1341" name="Google Shape;1341;p63"/>
                <p:cNvSpPr txBox="1"/>
                <p:nvPr/>
              </p:nvSpPr>
              <p:spPr>
                <a:xfrm>
                  <a:off x="3272075" y="1146650"/>
                  <a:ext cx="29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rebuchet MS"/>
                      <a:ea typeface="Trebuchet MS"/>
                      <a:cs typeface="Trebuchet MS"/>
                      <a:sym typeface="Trebuchet MS"/>
                    </a:rPr>
                    <a:t>v</a:t>
                  </a:r>
                  <a:endParaRPr>
                    <a:latin typeface="Trebuchet MS"/>
                    <a:ea typeface="Trebuchet MS"/>
                    <a:cs typeface="Trebuchet MS"/>
                    <a:sym typeface="Trebuchet MS"/>
                  </a:endParaRPr>
                </a:p>
              </p:txBody>
            </p:sp>
          </p:grpSp>
          <p:cxnSp>
            <p:nvCxnSpPr>
              <p:cNvPr id="1342" name="Google Shape;1342;p63"/>
              <p:cNvCxnSpPr>
                <a:stCxn id="1329" idx="2"/>
                <a:endCxn id="1323" idx="6"/>
              </p:cNvCxnSpPr>
              <p:nvPr/>
            </p:nvCxnSpPr>
            <p:spPr>
              <a:xfrm rot="10800000">
                <a:off x="2258250" y="1522250"/>
                <a:ext cx="624000" cy="0"/>
              </a:xfrm>
              <a:prstGeom prst="straightConnector1">
                <a:avLst/>
              </a:prstGeom>
              <a:noFill/>
              <a:ln cap="flat" cmpd="sng" w="19050">
                <a:solidFill>
                  <a:srgbClr val="F1C232"/>
                </a:solidFill>
                <a:prstDash val="solid"/>
                <a:round/>
                <a:headEnd len="med" w="med" type="none"/>
                <a:tailEnd len="med" w="med" type="none"/>
              </a:ln>
            </p:spPr>
          </p:cxnSp>
        </p:grpSp>
      </p:grpSp>
      <p:grpSp>
        <p:nvGrpSpPr>
          <p:cNvPr id="1343" name="Google Shape;1343;p63"/>
          <p:cNvGrpSpPr/>
          <p:nvPr/>
        </p:nvGrpSpPr>
        <p:grpSpPr>
          <a:xfrm>
            <a:off x="4750650" y="3236088"/>
            <a:ext cx="3221100" cy="1907400"/>
            <a:chOff x="2748300" y="3247338"/>
            <a:chExt cx="3221100" cy="1907400"/>
          </a:xfrm>
        </p:grpSpPr>
        <p:sp>
          <p:nvSpPr>
            <p:cNvPr id="1344" name="Google Shape;1344;p63"/>
            <p:cNvSpPr/>
            <p:nvPr/>
          </p:nvSpPr>
          <p:spPr>
            <a:xfrm>
              <a:off x="2748300" y="3247338"/>
              <a:ext cx="3221100" cy="1907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5" name="Google Shape;1345;p63"/>
            <p:cNvGrpSpPr/>
            <p:nvPr/>
          </p:nvGrpSpPr>
          <p:grpSpPr>
            <a:xfrm>
              <a:off x="2977700" y="3329850"/>
              <a:ext cx="2762300" cy="1742375"/>
              <a:chOff x="801375" y="1146650"/>
              <a:chExt cx="2762300" cy="1742375"/>
            </a:xfrm>
          </p:grpSpPr>
          <p:grpSp>
            <p:nvGrpSpPr>
              <p:cNvPr id="1346" name="Google Shape;1346;p63"/>
              <p:cNvGrpSpPr/>
              <p:nvPr/>
            </p:nvGrpSpPr>
            <p:grpSpPr>
              <a:xfrm>
                <a:off x="801375" y="1146650"/>
                <a:ext cx="2762300" cy="1742375"/>
                <a:chOff x="801375" y="1146650"/>
                <a:chExt cx="2762300" cy="1742375"/>
              </a:xfrm>
            </p:grpSpPr>
            <p:sp>
              <p:nvSpPr>
                <p:cNvPr id="1347" name="Google Shape;1347;p63"/>
                <p:cNvSpPr/>
                <p:nvPr/>
              </p:nvSpPr>
              <p:spPr>
                <a:xfrm>
                  <a:off x="1144725" y="1350350"/>
                  <a:ext cx="318300" cy="343800"/>
                </a:xfrm>
                <a:prstGeom prst="ellipse">
                  <a:avLst/>
                </a:prstGeom>
                <a:solidFill>
                  <a:srgbClr val="B4A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7</a:t>
                  </a:r>
                  <a:endParaRPr/>
                </a:p>
              </p:txBody>
            </p:sp>
            <p:sp>
              <p:nvSpPr>
                <p:cNvPr id="1348" name="Google Shape;1348;p63"/>
                <p:cNvSpPr/>
                <p:nvPr/>
              </p:nvSpPr>
              <p:spPr>
                <a:xfrm>
                  <a:off x="1939900" y="1350350"/>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2</a:t>
                  </a:r>
                  <a:endParaRPr>
                    <a:solidFill>
                      <a:srgbClr val="000000"/>
                    </a:solidFill>
                  </a:endParaRPr>
                </a:p>
              </p:txBody>
            </p:sp>
            <p:sp>
              <p:nvSpPr>
                <p:cNvPr id="1349" name="Google Shape;1349;p63"/>
                <p:cNvSpPr/>
                <p:nvPr/>
              </p:nvSpPr>
              <p:spPr>
                <a:xfrm>
                  <a:off x="801375" y="2011625"/>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8</a:t>
                  </a:r>
                  <a:endParaRPr/>
                </a:p>
              </p:txBody>
            </p:sp>
            <p:sp>
              <p:nvSpPr>
                <p:cNvPr id="1350" name="Google Shape;1350;p63"/>
                <p:cNvSpPr/>
                <p:nvPr/>
              </p:nvSpPr>
              <p:spPr>
                <a:xfrm>
                  <a:off x="1609450" y="2011625"/>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5</a:t>
                  </a:r>
                  <a:endParaRPr/>
                </a:p>
              </p:txBody>
            </p:sp>
            <p:sp>
              <p:nvSpPr>
                <p:cNvPr id="1351" name="Google Shape;1351;p63"/>
                <p:cNvSpPr/>
                <p:nvPr/>
              </p:nvSpPr>
              <p:spPr>
                <a:xfrm>
                  <a:off x="2463500" y="2011625"/>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3</a:t>
                  </a:r>
                  <a:endParaRPr>
                    <a:solidFill>
                      <a:srgbClr val="000000"/>
                    </a:solidFill>
                  </a:endParaRPr>
                </a:p>
              </p:txBody>
            </p:sp>
            <p:sp>
              <p:nvSpPr>
                <p:cNvPr id="1352" name="Google Shape;1352;p63"/>
                <p:cNvSpPr/>
                <p:nvPr/>
              </p:nvSpPr>
              <p:spPr>
                <a:xfrm>
                  <a:off x="1973075" y="2545225"/>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6</a:t>
                  </a:r>
                  <a:endParaRPr/>
                </a:p>
              </p:txBody>
            </p:sp>
            <p:sp>
              <p:nvSpPr>
                <p:cNvPr id="1353" name="Google Shape;1353;p63"/>
                <p:cNvSpPr/>
                <p:nvPr/>
              </p:nvSpPr>
              <p:spPr>
                <a:xfrm>
                  <a:off x="3225600" y="2011625"/>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4</a:t>
                  </a:r>
                  <a:endParaRPr>
                    <a:solidFill>
                      <a:srgbClr val="000000"/>
                    </a:solidFill>
                  </a:endParaRPr>
                </a:p>
              </p:txBody>
            </p:sp>
            <p:sp>
              <p:nvSpPr>
                <p:cNvPr id="1354" name="Google Shape;1354;p63"/>
                <p:cNvSpPr/>
                <p:nvPr/>
              </p:nvSpPr>
              <p:spPr>
                <a:xfrm>
                  <a:off x="2882250" y="1350350"/>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1</a:t>
                  </a:r>
                  <a:endParaRPr>
                    <a:solidFill>
                      <a:srgbClr val="000000"/>
                    </a:solidFill>
                  </a:endParaRPr>
                </a:p>
              </p:txBody>
            </p:sp>
            <p:cxnSp>
              <p:nvCxnSpPr>
                <p:cNvPr id="1355" name="Google Shape;1355;p63"/>
                <p:cNvCxnSpPr>
                  <a:stCxn id="1347" idx="3"/>
                  <a:endCxn id="1349" idx="0"/>
                </p:cNvCxnSpPr>
                <p:nvPr/>
              </p:nvCxnSpPr>
              <p:spPr>
                <a:xfrm flipH="1">
                  <a:off x="960639" y="1643802"/>
                  <a:ext cx="230700" cy="367800"/>
                </a:xfrm>
                <a:prstGeom prst="straightConnector1">
                  <a:avLst/>
                </a:prstGeom>
                <a:noFill/>
                <a:ln cap="flat" cmpd="sng" w="9525">
                  <a:solidFill>
                    <a:srgbClr val="1155CC"/>
                  </a:solidFill>
                  <a:prstDash val="solid"/>
                  <a:round/>
                  <a:headEnd len="med" w="med" type="none"/>
                  <a:tailEnd len="med" w="med" type="none"/>
                </a:ln>
              </p:spPr>
            </p:cxnSp>
            <p:cxnSp>
              <p:nvCxnSpPr>
                <p:cNvPr id="1356" name="Google Shape;1356;p63"/>
                <p:cNvCxnSpPr>
                  <a:stCxn id="1347" idx="5"/>
                  <a:endCxn id="1350" idx="1"/>
                </p:cNvCxnSpPr>
                <p:nvPr/>
              </p:nvCxnSpPr>
              <p:spPr>
                <a:xfrm>
                  <a:off x="1416411" y="1643802"/>
                  <a:ext cx="239700" cy="418200"/>
                </a:xfrm>
                <a:prstGeom prst="straightConnector1">
                  <a:avLst/>
                </a:prstGeom>
                <a:noFill/>
                <a:ln cap="flat" cmpd="sng" w="19050">
                  <a:solidFill>
                    <a:srgbClr val="F1C232"/>
                  </a:solidFill>
                  <a:prstDash val="solid"/>
                  <a:round/>
                  <a:headEnd len="med" w="med" type="none"/>
                  <a:tailEnd len="med" w="med" type="none"/>
                </a:ln>
              </p:spPr>
            </p:cxnSp>
            <p:cxnSp>
              <p:nvCxnSpPr>
                <p:cNvPr id="1357" name="Google Shape;1357;p63"/>
                <p:cNvCxnSpPr>
                  <a:stCxn id="1350" idx="2"/>
                  <a:endCxn id="1349" idx="6"/>
                </p:cNvCxnSpPr>
                <p:nvPr/>
              </p:nvCxnSpPr>
              <p:spPr>
                <a:xfrm rot="10800000">
                  <a:off x="1119550" y="2183525"/>
                  <a:ext cx="489900" cy="0"/>
                </a:xfrm>
                <a:prstGeom prst="straightConnector1">
                  <a:avLst/>
                </a:prstGeom>
                <a:noFill/>
                <a:ln cap="flat" cmpd="sng" w="19050">
                  <a:solidFill>
                    <a:srgbClr val="F1C232"/>
                  </a:solidFill>
                  <a:prstDash val="solid"/>
                  <a:round/>
                  <a:headEnd len="med" w="med" type="none"/>
                  <a:tailEnd len="med" w="med" type="none"/>
                </a:ln>
              </p:spPr>
            </p:cxnSp>
            <p:cxnSp>
              <p:nvCxnSpPr>
                <p:cNvPr id="1358" name="Google Shape;1358;p63"/>
                <p:cNvCxnSpPr>
                  <a:stCxn id="1348" idx="3"/>
                  <a:endCxn id="1350" idx="0"/>
                </p:cNvCxnSpPr>
                <p:nvPr/>
              </p:nvCxnSpPr>
              <p:spPr>
                <a:xfrm flipH="1">
                  <a:off x="1768714" y="1643802"/>
                  <a:ext cx="217800" cy="367800"/>
                </a:xfrm>
                <a:prstGeom prst="straightConnector1">
                  <a:avLst/>
                </a:prstGeom>
                <a:noFill/>
                <a:ln cap="flat" cmpd="sng" w="19050">
                  <a:solidFill>
                    <a:srgbClr val="F1C232"/>
                  </a:solidFill>
                  <a:prstDash val="solid"/>
                  <a:round/>
                  <a:headEnd len="med" w="med" type="none"/>
                  <a:tailEnd len="med" w="med" type="none"/>
                </a:ln>
              </p:spPr>
            </p:cxnSp>
            <p:cxnSp>
              <p:nvCxnSpPr>
                <p:cNvPr id="1359" name="Google Shape;1359;p63"/>
                <p:cNvCxnSpPr>
                  <a:stCxn id="1348" idx="5"/>
                  <a:endCxn id="1351" idx="1"/>
                </p:cNvCxnSpPr>
                <p:nvPr/>
              </p:nvCxnSpPr>
              <p:spPr>
                <a:xfrm>
                  <a:off x="2211586" y="1643802"/>
                  <a:ext cx="298500" cy="418200"/>
                </a:xfrm>
                <a:prstGeom prst="straightConnector1">
                  <a:avLst/>
                </a:prstGeom>
                <a:noFill/>
                <a:ln cap="flat" cmpd="sng" w="9525">
                  <a:solidFill>
                    <a:srgbClr val="1155CC"/>
                  </a:solidFill>
                  <a:prstDash val="solid"/>
                  <a:round/>
                  <a:headEnd len="med" w="med" type="none"/>
                  <a:tailEnd len="med" w="med" type="none"/>
                </a:ln>
              </p:spPr>
            </p:cxnSp>
            <p:cxnSp>
              <p:nvCxnSpPr>
                <p:cNvPr id="1360" name="Google Shape;1360;p63"/>
                <p:cNvCxnSpPr>
                  <a:stCxn id="1351" idx="2"/>
                  <a:endCxn id="1350" idx="6"/>
                </p:cNvCxnSpPr>
                <p:nvPr/>
              </p:nvCxnSpPr>
              <p:spPr>
                <a:xfrm rot="10800000">
                  <a:off x="1927700" y="2183525"/>
                  <a:ext cx="535800" cy="0"/>
                </a:xfrm>
                <a:prstGeom prst="straightConnector1">
                  <a:avLst/>
                </a:prstGeom>
                <a:noFill/>
                <a:ln cap="flat" cmpd="sng" w="9525">
                  <a:solidFill>
                    <a:srgbClr val="1C4587"/>
                  </a:solidFill>
                  <a:prstDash val="solid"/>
                  <a:round/>
                  <a:headEnd len="med" w="med" type="none"/>
                  <a:tailEnd len="med" w="med" type="none"/>
                </a:ln>
              </p:spPr>
            </p:cxnSp>
            <p:cxnSp>
              <p:nvCxnSpPr>
                <p:cNvPr id="1361" name="Google Shape;1361;p63"/>
                <p:cNvCxnSpPr>
                  <a:stCxn id="1351" idx="3"/>
                  <a:endCxn id="1352" idx="7"/>
                </p:cNvCxnSpPr>
                <p:nvPr/>
              </p:nvCxnSpPr>
              <p:spPr>
                <a:xfrm flipH="1">
                  <a:off x="2244614" y="2305077"/>
                  <a:ext cx="265500" cy="290400"/>
                </a:xfrm>
                <a:prstGeom prst="straightConnector1">
                  <a:avLst/>
                </a:prstGeom>
                <a:noFill/>
                <a:ln cap="flat" cmpd="sng" w="19050">
                  <a:solidFill>
                    <a:srgbClr val="F1C232"/>
                  </a:solidFill>
                  <a:prstDash val="solid"/>
                  <a:round/>
                  <a:headEnd len="med" w="med" type="none"/>
                  <a:tailEnd len="med" w="med" type="none"/>
                </a:ln>
              </p:spPr>
            </p:cxnSp>
            <p:cxnSp>
              <p:nvCxnSpPr>
                <p:cNvPr id="1362" name="Google Shape;1362;p63"/>
                <p:cNvCxnSpPr>
                  <a:stCxn id="1350" idx="4"/>
                  <a:endCxn id="1352" idx="1"/>
                </p:cNvCxnSpPr>
                <p:nvPr/>
              </p:nvCxnSpPr>
              <p:spPr>
                <a:xfrm>
                  <a:off x="1768600" y="2355425"/>
                  <a:ext cx="251100" cy="240000"/>
                </a:xfrm>
                <a:prstGeom prst="straightConnector1">
                  <a:avLst/>
                </a:prstGeom>
                <a:noFill/>
                <a:ln cap="flat" cmpd="sng" w="9525">
                  <a:solidFill>
                    <a:srgbClr val="1155CC"/>
                  </a:solidFill>
                  <a:prstDash val="solid"/>
                  <a:round/>
                  <a:headEnd len="med" w="med" type="none"/>
                  <a:tailEnd len="med" w="med" type="none"/>
                </a:ln>
              </p:spPr>
            </p:cxnSp>
            <p:cxnSp>
              <p:nvCxnSpPr>
                <p:cNvPr id="1363" name="Google Shape;1363;p63"/>
                <p:cNvCxnSpPr>
                  <a:stCxn id="1354" idx="3"/>
                  <a:endCxn id="1351" idx="7"/>
                </p:cNvCxnSpPr>
                <p:nvPr/>
              </p:nvCxnSpPr>
              <p:spPr>
                <a:xfrm flipH="1">
                  <a:off x="2735064" y="1643802"/>
                  <a:ext cx="193800" cy="418200"/>
                </a:xfrm>
                <a:prstGeom prst="straightConnector1">
                  <a:avLst/>
                </a:prstGeom>
                <a:noFill/>
                <a:ln cap="flat" cmpd="sng" w="19050">
                  <a:solidFill>
                    <a:srgbClr val="F1C232"/>
                  </a:solidFill>
                  <a:prstDash val="solid"/>
                  <a:round/>
                  <a:headEnd len="med" w="med" type="none"/>
                  <a:tailEnd len="med" w="med" type="none"/>
                </a:ln>
              </p:spPr>
            </p:cxnSp>
            <p:cxnSp>
              <p:nvCxnSpPr>
                <p:cNvPr id="1364" name="Google Shape;1364;p63"/>
                <p:cNvCxnSpPr>
                  <a:stCxn id="1354" idx="5"/>
                  <a:endCxn id="1353" idx="0"/>
                </p:cNvCxnSpPr>
                <p:nvPr/>
              </p:nvCxnSpPr>
              <p:spPr>
                <a:xfrm>
                  <a:off x="3153936" y="1643802"/>
                  <a:ext cx="230700" cy="367800"/>
                </a:xfrm>
                <a:prstGeom prst="straightConnector1">
                  <a:avLst/>
                </a:prstGeom>
                <a:noFill/>
                <a:ln cap="flat" cmpd="sng" w="19050">
                  <a:solidFill>
                    <a:srgbClr val="F1C232"/>
                  </a:solidFill>
                  <a:prstDash val="solid"/>
                  <a:round/>
                  <a:headEnd len="med" w="med" type="none"/>
                  <a:tailEnd len="med" w="med" type="none"/>
                </a:ln>
              </p:spPr>
            </p:cxnSp>
            <p:cxnSp>
              <p:nvCxnSpPr>
                <p:cNvPr id="1365" name="Google Shape;1365;p63"/>
                <p:cNvCxnSpPr>
                  <a:stCxn id="1353" idx="2"/>
                  <a:endCxn id="1351" idx="6"/>
                </p:cNvCxnSpPr>
                <p:nvPr/>
              </p:nvCxnSpPr>
              <p:spPr>
                <a:xfrm rot="10800000">
                  <a:off x="2781900" y="2183525"/>
                  <a:ext cx="443700" cy="0"/>
                </a:xfrm>
                <a:prstGeom prst="straightConnector1">
                  <a:avLst/>
                </a:prstGeom>
                <a:noFill/>
                <a:ln cap="flat" cmpd="sng" w="9525">
                  <a:solidFill>
                    <a:srgbClr val="1C4587"/>
                  </a:solidFill>
                  <a:prstDash val="solid"/>
                  <a:round/>
                  <a:headEnd len="med" w="med" type="none"/>
                  <a:tailEnd len="med" w="med" type="none"/>
                </a:ln>
              </p:spPr>
            </p:cxnSp>
            <p:sp>
              <p:nvSpPr>
                <p:cNvPr id="1366" name="Google Shape;1366;p63"/>
                <p:cNvSpPr txBox="1"/>
                <p:nvPr/>
              </p:nvSpPr>
              <p:spPr>
                <a:xfrm>
                  <a:off x="3272075" y="1146650"/>
                  <a:ext cx="29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rebuchet MS"/>
                      <a:ea typeface="Trebuchet MS"/>
                      <a:cs typeface="Trebuchet MS"/>
                      <a:sym typeface="Trebuchet MS"/>
                    </a:rPr>
                    <a:t>v</a:t>
                  </a:r>
                  <a:endParaRPr>
                    <a:latin typeface="Trebuchet MS"/>
                    <a:ea typeface="Trebuchet MS"/>
                    <a:cs typeface="Trebuchet MS"/>
                    <a:sym typeface="Trebuchet MS"/>
                  </a:endParaRPr>
                </a:p>
              </p:txBody>
            </p:sp>
          </p:grpSp>
          <p:cxnSp>
            <p:nvCxnSpPr>
              <p:cNvPr id="1367" name="Google Shape;1367;p63"/>
              <p:cNvCxnSpPr>
                <a:stCxn id="1354" idx="2"/>
                <a:endCxn id="1348" idx="6"/>
              </p:cNvCxnSpPr>
              <p:nvPr/>
            </p:nvCxnSpPr>
            <p:spPr>
              <a:xfrm rot="10800000">
                <a:off x="2258250" y="1522250"/>
                <a:ext cx="624000" cy="0"/>
              </a:xfrm>
              <a:prstGeom prst="straightConnector1">
                <a:avLst/>
              </a:prstGeom>
              <a:noFill/>
              <a:ln cap="flat" cmpd="sng" w="19050">
                <a:solidFill>
                  <a:srgbClr val="F1C232"/>
                </a:solidFill>
                <a:prstDash val="solid"/>
                <a:round/>
                <a:headEnd len="med" w="med" type="none"/>
                <a:tailEnd len="med" w="med" type="none"/>
              </a:ln>
            </p:spPr>
          </p:cxnSp>
        </p:grpSp>
      </p:grpSp>
      <p:sp>
        <p:nvSpPr>
          <p:cNvPr id="1368" name="Google Shape;1368;p63"/>
          <p:cNvSpPr txBox="1"/>
          <p:nvPr>
            <p:ph type="title"/>
          </p:nvPr>
        </p:nvSpPr>
        <p:spPr>
          <a:xfrm>
            <a:off x="5062575" y="379100"/>
            <a:ext cx="3221100" cy="572700"/>
          </a:xfrm>
          <a:prstGeom prst="rect">
            <a:avLst/>
          </a:prstGeom>
          <a:solidFill>
            <a:schemeClr val="lt2"/>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 First Search</a:t>
            </a:r>
            <a:endParaRPr/>
          </a:p>
        </p:txBody>
      </p:sp>
      <p:grpSp>
        <p:nvGrpSpPr>
          <p:cNvPr id="1369" name="Google Shape;1369;p63"/>
          <p:cNvGrpSpPr/>
          <p:nvPr/>
        </p:nvGrpSpPr>
        <p:grpSpPr>
          <a:xfrm>
            <a:off x="585050" y="1105638"/>
            <a:ext cx="3221100" cy="1907400"/>
            <a:chOff x="585050" y="1105638"/>
            <a:chExt cx="3221100" cy="1907400"/>
          </a:xfrm>
        </p:grpSpPr>
        <p:sp>
          <p:nvSpPr>
            <p:cNvPr id="1370" name="Google Shape;1370;p63"/>
            <p:cNvSpPr/>
            <p:nvPr/>
          </p:nvSpPr>
          <p:spPr>
            <a:xfrm>
              <a:off x="585050" y="1105638"/>
              <a:ext cx="3221100" cy="1907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1" name="Google Shape;1371;p63"/>
            <p:cNvGrpSpPr/>
            <p:nvPr/>
          </p:nvGrpSpPr>
          <p:grpSpPr>
            <a:xfrm>
              <a:off x="801375" y="1146650"/>
              <a:ext cx="2762300" cy="1742375"/>
              <a:chOff x="801375" y="1146650"/>
              <a:chExt cx="2762300" cy="1742375"/>
            </a:xfrm>
          </p:grpSpPr>
          <p:grpSp>
            <p:nvGrpSpPr>
              <p:cNvPr id="1372" name="Google Shape;1372;p63"/>
              <p:cNvGrpSpPr/>
              <p:nvPr/>
            </p:nvGrpSpPr>
            <p:grpSpPr>
              <a:xfrm>
                <a:off x="801375" y="1146650"/>
                <a:ext cx="2762300" cy="1742375"/>
                <a:chOff x="801375" y="1146650"/>
                <a:chExt cx="2762300" cy="1742375"/>
              </a:xfrm>
            </p:grpSpPr>
            <p:sp>
              <p:nvSpPr>
                <p:cNvPr id="1373" name="Google Shape;1373;p63"/>
                <p:cNvSpPr/>
                <p:nvPr/>
              </p:nvSpPr>
              <p:spPr>
                <a:xfrm>
                  <a:off x="1144725" y="1350350"/>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63"/>
                <p:cNvSpPr/>
                <p:nvPr/>
              </p:nvSpPr>
              <p:spPr>
                <a:xfrm>
                  <a:off x="1939900" y="1350350"/>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2</a:t>
                  </a:r>
                  <a:endParaRPr>
                    <a:solidFill>
                      <a:srgbClr val="000000"/>
                    </a:solidFill>
                  </a:endParaRPr>
                </a:p>
              </p:txBody>
            </p:sp>
            <p:sp>
              <p:nvSpPr>
                <p:cNvPr id="1375" name="Google Shape;1375;p63"/>
                <p:cNvSpPr/>
                <p:nvPr/>
              </p:nvSpPr>
              <p:spPr>
                <a:xfrm>
                  <a:off x="801375" y="201162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63"/>
                <p:cNvSpPr/>
                <p:nvPr/>
              </p:nvSpPr>
              <p:spPr>
                <a:xfrm>
                  <a:off x="1609450" y="201162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63"/>
                <p:cNvSpPr/>
                <p:nvPr/>
              </p:nvSpPr>
              <p:spPr>
                <a:xfrm>
                  <a:off x="2463500" y="2011625"/>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3</a:t>
                  </a:r>
                  <a:endParaRPr>
                    <a:solidFill>
                      <a:srgbClr val="000000"/>
                    </a:solidFill>
                  </a:endParaRPr>
                </a:p>
              </p:txBody>
            </p:sp>
            <p:sp>
              <p:nvSpPr>
                <p:cNvPr id="1378" name="Google Shape;1378;p63"/>
                <p:cNvSpPr/>
                <p:nvPr/>
              </p:nvSpPr>
              <p:spPr>
                <a:xfrm>
                  <a:off x="1973075" y="254522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63"/>
                <p:cNvSpPr/>
                <p:nvPr/>
              </p:nvSpPr>
              <p:spPr>
                <a:xfrm>
                  <a:off x="3225600" y="2011625"/>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4</a:t>
                  </a:r>
                  <a:endParaRPr>
                    <a:solidFill>
                      <a:srgbClr val="000000"/>
                    </a:solidFill>
                  </a:endParaRPr>
                </a:p>
              </p:txBody>
            </p:sp>
            <p:sp>
              <p:nvSpPr>
                <p:cNvPr id="1380" name="Google Shape;1380;p63"/>
                <p:cNvSpPr/>
                <p:nvPr/>
              </p:nvSpPr>
              <p:spPr>
                <a:xfrm>
                  <a:off x="2882250" y="1350350"/>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1</a:t>
                  </a:r>
                  <a:endParaRPr>
                    <a:solidFill>
                      <a:srgbClr val="000000"/>
                    </a:solidFill>
                  </a:endParaRPr>
                </a:p>
              </p:txBody>
            </p:sp>
            <p:cxnSp>
              <p:nvCxnSpPr>
                <p:cNvPr id="1381" name="Google Shape;1381;p63"/>
                <p:cNvCxnSpPr>
                  <a:stCxn id="1373" idx="3"/>
                  <a:endCxn id="1375" idx="0"/>
                </p:cNvCxnSpPr>
                <p:nvPr/>
              </p:nvCxnSpPr>
              <p:spPr>
                <a:xfrm flipH="1">
                  <a:off x="960639" y="1643802"/>
                  <a:ext cx="230700" cy="367800"/>
                </a:xfrm>
                <a:prstGeom prst="straightConnector1">
                  <a:avLst/>
                </a:prstGeom>
                <a:noFill/>
                <a:ln cap="flat" cmpd="sng" w="9525">
                  <a:solidFill>
                    <a:srgbClr val="1155CC"/>
                  </a:solidFill>
                  <a:prstDash val="solid"/>
                  <a:round/>
                  <a:headEnd len="med" w="med" type="none"/>
                  <a:tailEnd len="med" w="med" type="none"/>
                </a:ln>
              </p:spPr>
            </p:cxnSp>
            <p:cxnSp>
              <p:nvCxnSpPr>
                <p:cNvPr id="1382" name="Google Shape;1382;p63"/>
                <p:cNvCxnSpPr>
                  <a:stCxn id="1373" idx="5"/>
                  <a:endCxn id="1376" idx="1"/>
                </p:cNvCxnSpPr>
                <p:nvPr/>
              </p:nvCxnSpPr>
              <p:spPr>
                <a:xfrm>
                  <a:off x="1416411" y="1643802"/>
                  <a:ext cx="239700" cy="418200"/>
                </a:xfrm>
                <a:prstGeom prst="straightConnector1">
                  <a:avLst/>
                </a:prstGeom>
                <a:noFill/>
                <a:ln cap="flat" cmpd="sng" w="9525">
                  <a:solidFill>
                    <a:srgbClr val="1155CC"/>
                  </a:solidFill>
                  <a:prstDash val="solid"/>
                  <a:round/>
                  <a:headEnd len="med" w="med" type="none"/>
                  <a:tailEnd len="med" w="med" type="none"/>
                </a:ln>
              </p:spPr>
            </p:cxnSp>
            <p:cxnSp>
              <p:nvCxnSpPr>
                <p:cNvPr id="1383" name="Google Shape;1383;p63"/>
                <p:cNvCxnSpPr>
                  <a:stCxn id="1376" idx="2"/>
                  <a:endCxn id="1375" idx="6"/>
                </p:cNvCxnSpPr>
                <p:nvPr/>
              </p:nvCxnSpPr>
              <p:spPr>
                <a:xfrm rot="10800000">
                  <a:off x="1119550" y="2183525"/>
                  <a:ext cx="489900" cy="0"/>
                </a:xfrm>
                <a:prstGeom prst="straightConnector1">
                  <a:avLst/>
                </a:prstGeom>
                <a:noFill/>
                <a:ln cap="flat" cmpd="sng" w="9525">
                  <a:solidFill>
                    <a:srgbClr val="1155CC"/>
                  </a:solidFill>
                  <a:prstDash val="solid"/>
                  <a:round/>
                  <a:headEnd len="med" w="med" type="none"/>
                  <a:tailEnd len="med" w="med" type="none"/>
                </a:ln>
              </p:spPr>
            </p:cxnSp>
            <p:cxnSp>
              <p:nvCxnSpPr>
                <p:cNvPr id="1384" name="Google Shape;1384;p63"/>
                <p:cNvCxnSpPr>
                  <a:stCxn id="1374" idx="3"/>
                  <a:endCxn id="1376" idx="0"/>
                </p:cNvCxnSpPr>
                <p:nvPr/>
              </p:nvCxnSpPr>
              <p:spPr>
                <a:xfrm flipH="1">
                  <a:off x="1768714" y="1643802"/>
                  <a:ext cx="217800" cy="367800"/>
                </a:xfrm>
                <a:prstGeom prst="straightConnector1">
                  <a:avLst/>
                </a:prstGeom>
                <a:noFill/>
                <a:ln cap="flat" cmpd="sng" w="9525">
                  <a:solidFill>
                    <a:srgbClr val="1155CC"/>
                  </a:solidFill>
                  <a:prstDash val="solid"/>
                  <a:round/>
                  <a:headEnd len="med" w="med" type="none"/>
                  <a:tailEnd len="med" w="med" type="none"/>
                </a:ln>
              </p:spPr>
            </p:cxnSp>
            <p:cxnSp>
              <p:nvCxnSpPr>
                <p:cNvPr id="1385" name="Google Shape;1385;p63"/>
                <p:cNvCxnSpPr>
                  <a:stCxn id="1374" idx="5"/>
                  <a:endCxn id="1377" idx="1"/>
                </p:cNvCxnSpPr>
                <p:nvPr/>
              </p:nvCxnSpPr>
              <p:spPr>
                <a:xfrm>
                  <a:off x="2211586" y="1643802"/>
                  <a:ext cx="298500" cy="418200"/>
                </a:xfrm>
                <a:prstGeom prst="straightConnector1">
                  <a:avLst/>
                </a:prstGeom>
                <a:noFill/>
                <a:ln cap="flat" cmpd="sng" w="9525">
                  <a:solidFill>
                    <a:srgbClr val="1155CC"/>
                  </a:solidFill>
                  <a:prstDash val="solid"/>
                  <a:round/>
                  <a:headEnd len="med" w="med" type="none"/>
                  <a:tailEnd len="med" w="med" type="none"/>
                </a:ln>
              </p:spPr>
            </p:cxnSp>
            <p:cxnSp>
              <p:nvCxnSpPr>
                <p:cNvPr id="1386" name="Google Shape;1386;p63"/>
                <p:cNvCxnSpPr>
                  <a:stCxn id="1377" idx="2"/>
                  <a:endCxn id="1376" idx="6"/>
                </p:cNvCxnSpPr>
                <p:nvPr/>
              </p:nvCxnSpPr>
              <p:spPr>
                <a:xfrm rot="10800000">
                  <a:off x="1927700" y="2183525"/>
                  <a:ext cx="535800" cy="0"/>
                </a:xfrm>
                <a:prstGeom prst="straightConnector1">
                  <a:avLst/>
                </a:prstGeom>
                <a:noFill/>
                <a:ln cap="flat" cmpd="sng" w="9525">
                  <a:solidFill>
                    <a:srgbClr val="1C4587"/>
                  </a:solidFill>
                  <a:prstDash val="solid"/>
                  <a:round/>
                  <a:headEnd len="med" w="med" type="none"/>
                  <a:tailEnd len="med" w="med" type="none"/>
                </a:ln>
              </p:spPr>
            </p:cxnSp>
            <p:cxnSp>
              <p:nvCxnSpPr>
                <p:cNvPr id="1387" name="Google Shape;1387;p63"/>
                <p:cNvCxnSpPr>
                  <a:stCxn id="1377" idx="3"/>
                  <a:endCxn id="1378" idx="7"/>
                </p:cNvCxnSpPr>
                <p:nvPr/>
              </p:nvCxnSpPr>
              <p:spPr>
                <a:xfrm flipH="1">
                  <a:off x="2244614" y="2305077"/>
                  <a:ext cx="265500" cy="290400"/>
                </a:xfrm>
                <a:prstGeom prst="straightConnector1">
                  <a:avLst/>
                </a:prstGeom>
                <a:noFill/>
                <a:ln cap="flat" cmpd="sng" w="9525">
                  <a:solidFill>
                    <a:srgbClr val="1155CC"/>
                  </a:solidFill>
                  <a:prstDash val="solid"/>
                  <a:round/>
                  <a:headEnd len="med" w="med" type="none"/>
                  <a:tailEnd len="med" w="med" type="none"/>
                </a:ln>
              </p:spPr>
            </p:cxnSp>
            <p:cxnSp>
              <p:nvCxnSpPr>
                <p:cNvPr id="1388" name="Google Shape;1388;p63"/>
                <p:cNvCxnSpPr>
                  <a:stCxn id="1376" idx="4"/>
                  <a:endCxn id="1378" idx="1"/>
                </p:cNvCxnSpPr>
                <p:nvPr/>
              </p:nvCxnSpPr>
              <p:spPr>
                <a:xfrm>
                  <a:off x="1768600" y="2355425"/>
                  <a:ext cx="251100" cy="240000"/>
                </a:xfrm>
                <a:prstGeom prst="straightConnector1">
                  <a:avLst/>
                </a:prstGeom>
                <a:noFill/>
                <a:ln cap="flat" cmpd="sng" w="9525">
                  <a:solidFill>
                    <a:srgbClr val="1155CC"/>
                  </a:solidFill>
                  <a:prstDash val="solid"/>
                  <a:round/>
                  <a:headEnd len="med" w="med" type="none"/>
                  <a:tailEnd len="med" w="med" type="none"/>
                </a:ln>
              </p:spPr>
            </p:cxnSp>
            <p:cxnSp>
              <p:nvCxnSpPr>
                <p:cNvPr id="1389" name="Google Shape;1389;p63"/>
                <p:cNvCxnSpPr>
                  <a:stCxn id="1380" idx="3"/>
                  <a:endCxn id="1377" idx="7"/>
                </p:cNvCxnSpPr>
                <p:nvPr/>
              </p:nvCxnSpPr>
              <p:spPr>
                <a:xfrm flipH="1">
                  <a:off x="2735064" y="1643802"/>
                  <a:ext cx="193800" cy="418200"/>
                </a:xfrm>
                <a:prstGeom prst="straightConnector1">
                  <a:avLst/>
                </a:prstGeom>
                <a:noFill/>
                <a:ln cap="flat" cmpd="sng" w="19050">
                  <a:solidFill>
                    <a:srgbClr val="F1C232"/>
                  </a:solidFill>
                  <a:prstDash val="solid"/>
                  <a:round/>
                  <a:headEnd len="med" w="med" type="none"/>
                  <a:tailEnd len="med" w="med" type="none"/>
                </a:ln>
              </p:spPr>
            </p:cxnSp>
            <p:cxnSp>
              <p:nvCxnSpPr>
                <p:cNvPr id="1390" name="Google Shape;1390;p63"/>
                <p:cNvCxnSpPr>
                  <a:stCxn id="1380" idx="5"/>
                  <a:endCxn id="1379" idx="0"/>
                </p:cNvCxnSpPr>
                <p:nvPr/>
              </p:nvCxnSpPr>
              <p:spPr>
                <a:xfrm>
                  <a:off x="3153936" y="1643802"/>
                  <a:ext cx="230700" cy="367800"/>
                </a:xfrm>
                <a:prstGeom prst="straightConnector1">
                  <a:avLst/>
                </a:prstGeom>
                <a:noFill/>
                <a:ln cap="flat" cmpd="sng" w="19050">
                  <a:solidFill>
                    <a:srgbClr val="F1C232"/>
                  </a:solidFill>
                  <a:prstDash val="solid"/>
                  <a:round/>
                  <a:headEnd len="med" w="med" type="none"/>
                  <a:tailEnd len="med" w="med" type="none"/>
                </a:ln>
              </p:spPr>
            </p:cxnSp>
            <p:cxnSp>
              <p:nvCxnSpPr>
                <p:cNvPr id="1391" name="Google Shape;1391;p63"/>
                <p:cNvCxnSpPr>
                  <a:stCxn id="1379" idx="2"/>
                  <a:endCxn id="1377" idx="6"/>
                </p:cNvCxnSpPr>
                <p:nvPr/>
              </p:nvCxnSpPr>
              <p:spPr>
                <a:xfrm rot="10800000">
                  <a:off x="2781900" y="2183525"/>
                  <a:ext cx="443700" cy="0"/>
                </a:xfrm>
                <a:prstGeom prst="straightConnector1">
                  <a:avLst/>
                </a:prstGeom>
                <a:noFill/>
                <a:ln cap="flat" cmpd="sng" w="9525">
                  <a:solidFill>
                    <a:srgbClr val="1C4587"/>
                  </a:solidFill>
                  <a:prstDash val="solid"/>
                  <a:round/>
                  <a:headEnd len="med" w="med" type="none"/>
                  <a:tailEnd len="med" w="med" type="none"/>
                </a:ln>
              </p:spPr>
            </p:cxnSp>
            <p:sp>
              <p:nvSpPr>
                <p:cNvPr id="1392" name="Google Shape;1392;p63"/>
                <p:cNvSpPr txBox="1"/>
                <p:nvPr/>
              </p:nvSpPr>
              <p:spPr>
                <a:xfrm>
                  <a:off x="3272075" y="1146650"/>
                  <a:ext cx="29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rebuchet MS"/>
                      <a:ea typeface="Trebuchet MS"/>
                      <a:cs typeface="Trebuchet MS"/>
                      <a:sym typeface="Trebuchet MS"/>
                    </a:rPr>
                    <a:t>v</a:t>
                  </a:r>
                  <a:endParaRPr>
                    <a:latin typeface="Trebuchet MS"/>
                    <a:ea typeface="Trebuchet MS"/>
                    <a:cs typeface="Trebuchet MS"/>
                    <a:sym typeface="Trebuchet MS"/>
                  </a:endParaRPr>
                </a:p>
              </p:txBody>
            </p:sp>
          </p:grpSp>
          <p:cxnSp>
            <p:nvCxnSpPr>
              <p:cNvPr id="1393" name="Google Shape;1393;p63"/>
              <p:cNvCxnSpPr>
                <a:stCxn id="1380" idx="2"/>
                <a:endCxn id="1374" idx="6"/>
              </p:cNvCxnSpPr>
              <p:nvPr/>
            </p:nvCxnSpPr>
            <p:spPr>
              <a:xfrm rot="10800000">
                <a:off x="2258250" y="1522250"/>
                <a:ext cx="624000" cy="0"/>
              </a:xfrm>
              <a:prstGeom prst="straightConnector1">
                <a:avLst/>
              </a:prstGeom>
              <a:noFill/>
              <a:ln cap="flat" cmpd="sng" w="19050">
                <a:solidFill>
                  <a:srgbClr val="F1C232"/>
                </a:solidFill>
                <a:prstDash val="solid"/>
                <a:round/>
                <a:headEnd len="med" w="med" type="none"/>
                <a:tailEnd len="med" w="med" type="none"/>
              </a:ln>
            </p:spPr>
          </p:cxnSp>
        </p:grpSp>
      </p:grpSp>
      <p:sp>
        <p:nvSpPr>
          <p:cNvPr id="1394" name="Google Shape;1394;p63"/>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3"/>
                                        </p:tgtEl>
                                        <p:attrNameLst>
                                          <p:attrName>style.visibility</p:attrName>
                                        </p:attrNameLst>
                                      </p:cBhvr>
                                      <p:to>
                                        <p:strVal val="visible"/>
                                      </p:to>
                                    </p:set>
                                    <p:animEffect filter="fade" transition="in">
                                      <p:cBhvr>
                                        <p:cTn dur="1000"/>
                                        <p:tgtEl>
                                          <p:spTgt spid="1273"/>
                                        </p:tgtEl>
                                      </p:cBhvr>
                                    </p:animEffect>
                                  </p:childTnLst>
                                </p:cTn>
                              </p:par>
                              <p:par>
                                <p:cTn fill="hold" nodeType="withEffect" presetClass="entr" presetID="10" presetSubtype="0">
                                  <p:stCondLst>
                                    <p:cond delay="0"/>
                                  </p:stCondLst>
                                  <p:childTnLst>
                                    <p:set>
                                      <p:cBhvr>
                                        <p:cTn dur="1" fill="hold">
                                          <p:stCondLst>
                                            <p:cond delay="0"/>
                                          </p:stCondLst>
                                        </p:cTn>
                                        <p:tgtEl>
                                          <p:spTgt spid="1274"/>
                                        </p:tgtEl>
                                        <p:attrNameLst>
                                          <p:attrName>style.visibility</p:attrName>
                                        </p:attrNameLst>
                                      </p:cBhvr>
                                      <p:to>
                                        <p:strVal val="visible"/>
                                      </p:to>
                                    </p:set>
                                    <p:animEffect filter="fade" transition="in">
                                      <p:cBhvr>
                                        <p:cTn dur="1000"/>
                                        <p:tgtEl>
                                          <p:spTgt spid="1274"/>
                                        </p:tgtEl>
                                      </p:cBhvr>
                                    </p:animEffect>
                                  </p:childTnLst>
                                </p:cTn>
                              </p:par>
                              <p:par>
                                <p:cTn fill="hold" nodeType="withEffect" presetClass="entr" presetID="10" presetSubtype="0">
                                  <p:stCondLst>
                                    <p:cond delay="0"/>
                                  </p:stCondLst>
                                  <p:childTnLst>
                                    <p:set>
                                      <p:cBhvr>
                                        <p:cTn dur="1" fill="hold">
                                          <p:stCondLst>
                                            <p:cond delay="0"/>
                                          </p:stCondLst>
                                        </p:cTn>
                                        <p:tgtEl>
                                          <p:spTgt spid="1275"/>
                                        </p:tgtEl>
                                        <p:attrNameLst>
                                          <p:attrName>style.visibility</p:attrName>
                                        </p:attrNameLst>
                                      </p:cBhvr>
                                      <p:to>
                                        <p:strVal val="visible"/>
                                      </p:to>
                                    </p:set>
                                    <p:animEffect filter="fade" transition="in">
                                      <p:cBhvr>
                                        <p:cTn dur="1000"/>
                                        <p:tgtEl>
                                          <p:spTgt spid="1275"/>
                                        </p:tgtEl>
                                      </p:cBhvr>
                                    </p:animEffect>
                                  </p:childTnLst>
                                </p:cTn>
                              </p:par>
                              <p:par>
                                <p:cTn fill="hold" nodeType="withEffect" presetClass="entr" presetID="10" presetSubtype="0">
                                  <p:stCondLst>
                                    <p:cond delay="0"/>
                                  </p:stCondLst>
                                  <p:childTnLst>
                                    <p:set>
                                      <p:cBhvr>
                                        <p:cTn dur="1" fill="hold">
                                          <p:stCondLst>
                                            <p:cond delay="0"/>
                                          </p:stCondLst>
                                        </p:cTn>
                                        <p:tgtEl>
                                          <p:spTgt spid="1276"/>
                                        </p:tgtEl>
                                        <p:attrNameLst>
                                          <p:attrName>style.visibility</p:attrName>
                                        </p:attrNameLst>
                                      </p:cBhvr>
                                      <p:to>
                                        <p:strVal val="visible"/>
                                      </p:to>
                                    </p:set>
                                    <p:animEffect filter="fade" transition="in">
                                      <p:cBhvr>
                                        <p:cTn dur="1000"/>
                                        <p:tgtEl>
                                          <p:spTgt spid="1276"/>
                                        </p:tgtEl>
                                      </p:cBhvr>
                                    </p:animEffect>
                                  </p:childTnLst>
                                </p:cTn>
                              </p:par>
                              <p:par>
                                <p:cTn fill="hold" nodeType="withEffect" presetClass="entr" presetID="10" presetSubtype="0">
                                  <p:stCondLst>
                                    <p:cond delay="0"/>
                                  </p:stCondLst>
                                  <p:childTnLst>
                                    <p:set>
                                      <p:cBhvr>
                                        <p:cTn dur="1" fill="hold">
                                          <p:stCondLst>
                                            <p:cond delay="0"/>
                                          </p:stCondLst>
                                        </p:cTn>
                                        <p:tgtEl>
                                          <p:spTgt spid="1277"/>
                                        </p:tgtEl>
                                        <p:attrNameLst>
                                          <p:attrName>style.visibility</p:attrName>
                                        </p:attrNameLst>
                                      </p:cBhvr>
                                      <p:to>
                                        <p:strVal val="visible"/>
                                      </p:to>
                                    </p:set>
                                    <p:animEffect filter="fade" transition="in">
                                      <p:cBhvr>
                                        <p:cTn dur="1000"/>
                                        <p:tgtEl>
                                          <p:spTgt spid="1277"/>
                                        </p:tgtEl>
                                      </p:cBhvr>
                                    </p:animEffect>
                                  </p:childTnLst>
                                </p:cTn>
                              </p:par>
                              <p:par>
                                <p:cTn fill="hold" nodeType="withEffect" presetClass="entr" presetID="10" presetSubtype="0">
                                  <p:stCondLst>
                                    <p:cond delay="0"/>
                                  </p:stCondLst>
                                  <p:childTnLst>
                                    <p:set>
                                      <p:cBhvr>
                                        <p:cTn dur="1" fill="hold">
                                          <p:stCondLst>
                                            <p:cond delay="0"/>
                                          </p:stCondLst>
                                        </p:cTn>
                                        <p:tgtEl>
                                          <p:spTgt spid="1279"/>
                                        </p:tgtEl>
                                        <p:attrNameLst>
                                          <p:attrName>style.visibility</p:attrName>
                                        </p:attrNameLst>
                                      </p:cBhvr>
                                      <p:to>
                                        <p:strVal val="visible"/>
                                      </p:to>
                                    </p:set>
                                    <p:animEffect filter="fade" transition="in">
                                      <p:cBhvr>
                                        <p:cTn dur="1000"/>
                                        <p:tgtEl>
                                          <p:spTgt spid="1279"/>
                                        </p:tgtEl>
                                      </p:cBhvr>
                                    </p:animEffect>
                                  </p:childTnLst>
                                </p:cTn>
                              </p:par>
                              <p:par>
                                <p:cTn fill="hold" nodeType="withEffect" presetClass="entr" presetID="10" presetSubtype="0">
                                  <p:stCondLst>
                                    <p:cond delay="0"/>
                                  </p:stCondLst>
                                  <p:childTnLst>
                                    <p:set>
                                      <p:cBhvr>
                                        <p:cTn dur="1" fill="hold">
                                          <p:stCondLst>
                                            <p:cond delay="0"/>
                                          </p:stCondLst>
                                        </p:cTn>
                                        <p:tgtEl>
                                          <p:spTgt spid="1280"/>
                                        </p:tgtEl>
                                        <p:attrNameLst>
                                          <p:attrName>style.visibility</p:attrName>
                                        </p:attrNameLst>
                                      </p:cBhvr>
                                      <p:to>
                                        <p:strVal val="visible"/>
                                      </p:to>
                                    </p:set>
                                    <p:animEffect filter="fade" transition="in">
                                      <p:cBhvr>
                                        <p:cTn dur="1000"/>
                                        <p:tgtEl>
                                          <p:spTgt spid="1280"/>
                                        </p:tgtEl>
                                      </p:cBhvr>
                                    </p:animEffect>
                                  </p:childTnLst>
                                </p:cTn>
                              </p:par>
                              <p:par>
                                <p:cTn fill="hold" nodeType="withEffect" presetClass="entr" presetID="10" presetSubtype="0">
                                  <p:stCondLst>
                                    <p:cond delay="0"/>
                                  </p:stCondLst>
                                  <p:childTnLst>
                                    <p:set>
                                      <p:cBhvr>
                                        <p:cTn dur="1" fill="hold">
                                          <p:stCondLst>
                                            <p:cond delay="0"/>
                                          </p:stCondLst>
                                        </p:cTn>
                                        <p:tgtEl>
                                          <p:spTgt spid="1281"/>
                                        </p:tgtEl>
                                        <p:attrNameLst>
                                          <p:attrName>style.visibility</p:attrName>
                                        </p:attrNameLst>
                                      </p:cBhvr>
                                      <p:to>
                                        <p:strVal val="visible"/>
                                      </p:to>
                                    </p:set>
                                    <p:animEffect filter="fade" transition="in">
                                      <p:cBhvr>
                                        <p:cTn dur="1000"/>
                                        <p:tgtEl>
                                          <p:spTgt spid="1281"/>
                                        </p:tgtEl>
                                      </p:cBhvr>
                                    </p:animEffect>
                                  </p:childTnLst>
                                </p:cTn>
                              </p:par>
                              <p:par>
                                <p:cTn fill="hold" nodeType="withEffect" presetClass="entr" presetID="10" presetSubtype="0">
                                  <p:stCondLst>
                                    <p:cond delay="0"/>
                                  </p:stCondLst>
                                  <p:childTnLst>
                                    <p:set>
                                      <p:cBhvr>
                                        <p:cTn dur="1" fill="hold">
                                          <p:stCondLst>
                                            <p:cond delay="0"/>
                                          </p:stCondLst>
                                        </p:cTn>
                                        <p:tgtEl>
                                          <p:spTgt spid="1282"/>
                                        </p:tgtEl>
                                        <p:attrNameLst>
                                          <p:attrName>style.visibility</p:attrName>
                                        </p:attrNameLst>
                                      </p:cBhvr>
                                      <p:to>
                                        <p:strVal val="visible"/>
                                      </p:to>
                                    </p:set>
                                    <p:animEffect filter="fade" transition="in">
                                      <p:cBhvr>
                                        <p:cTn dur="1000"/>
                                        <p:tgtEl>
                                          <p:spTgt spid="1282"/>
                                        </p:tgtEl>
                                      </p:cBhvr>
                                    </p:animEffect>
                                  </p:childTnLst>
                                </p:cTn>
                              </p:par>
                              <p:par>
                                <p:cTn fill="hold" nodeType="withEffect" presetClass="entr" presetID="10" presetSubtype="0">
                                  <p:stCondLst>
                                    <p:cond delay="0"/>
                                  </p:stCondLst>
                                  <p:childTnLst>
                                    <p:set>
                                      <p:cBhvr>
                                        <p:cTn dur="1" fill="hold">
                                          <p:stCondLst>
                                            <p:cond delay="0"/>
                                          </p:stCondLst>
                                        </p:cTn>
                                        <p:tgtEl>
                                          <p:spTgt spid="1283"/>
                                        </p:tgtEl>
                                        <p:attrNameLst>
                                          <p:attrName>style.visibility</p:attrName>
                                        </p:attrNameLst>
                                      </p:cBhvr>
                                      <p:to>
                                        <p:strVal val="visible"/>
                                      </p:to>
                                    </p:set>
                                    <p:animEffect filter="fade" transition="in">
                                      <p:cBhvr>
                                        <p:cTn dur="1000"/>
                                        <p:tgtEl>
                                          <p:spTgt spid="1283"/>
                                        </p:tgtEl>
                                      </p:cBhvr>
                                    </p:animEffect>
                                  </p:childTnLst>
                                </p:cTn>
                              </p:par>
                              <p:par>
                                <p:cTn fill="hold" nodeType="withEffect" presetClass="entr" presetID="10" presetSubtype="0">
                                  <p:stCondLst>
                                    <p:cond delay="0"/>
                                  </p:stCondLst>
                                  <p:childTnLst>
                                    <p:set>
                                      <p:cBhvr>
                                        <p:cTn dur="1" fill="hold">
                                          <p:stCondLst>
                                            <p:cond delay="0"/>
                                          </p:stCondLst>
                                        </p:cTn>
                                        <p:tgtEl>
                                          <p:spTgt spid="1284"/>
                                        </p:tgtEl>
                                        <p:attrNameLst>
                                          <p:attrName>style.visibility</p:attrName>
                                        </p:attrNameLst>
                                      </p:cBhvr>
                                      <p:to>
                                        <p:strVal val="visible"/>
                                      </p:to>
                                    </p:set>
                                    <p:animEffect filter="fade" transition="in">
                                      <p:cBhvr>
                                        <p:cTn dur="1000"/>
                                        <p:tgtEl>
                                          <p:spTgt spid="1284"/>
                                        </p:tgtEl>
                                      </p:cBhvr>
                                    </p:animEffect>
                                  </p:childTnLst>
                                </p:cTn>
                              </p:par>
                              <p:par>
                                <p:cTn fill="hold" nodeType="withEffect" presetClass="entr" presetID="10" presetSubtype="0">
                                  <p:stCondLst>
                                    <p:cond delay="0"/>
                                  </p:stCondLst>
                                  <p:childTnLst>
                                    <p:set>
                                      <p:cBhvr>
                                        <p:cTn dur="1" fill="hold">
                                          <p:stCondLst>
                                            <p:cond delay="0"/>
                                          </p:stCondLst>
                                        </p:cTn>
                                        <p:tgtEl>
                                          <p:spTgt spid="1285"/>
                                        </p:tgtEl>
                                        <p:attrNameLst>
                                          <p:attrName>style.visibility</p:attrName>
                                        </p:attrNameLst>
                                      </p:cBhvr>
                                      <p:to>
                                        <p:strVal val="visible"/>
                                      </p:to>
                                    </p:set>
                                    <p:animEffect filter="fade" transition="in">
                                      <p:cBhvr>
                                        <p:cTn dur="1000"/>
                                        <p:tgtEl>
                                          <p:spTgt spid="1285"/>
                                        </p:tgtEl>
                                      </p:cBhvr>
                                    </p:animEffect>
                                  </p:childTnLst>
                                </p:cTn>
                              </p:par>
                              <p:par>
                                <p:cTn fill="hold" nodeType="withEffect" presetClass="entr" presetID="10" presetSubtype="0">
                                  <p:stCondLst>
                                    <p:cond delay="0"/>
                                  </p:stCondLst>
                                  <p:childTnLst>
                                    <p:set>
                                      <p:cBhvr>
                                        <p:cTn dur="1" fill="hold">
                                          <p:stCondLst>
                                            <p:cond delay="0"/>
                                          </p:stCondLst>
                                        </p:cTn>
                                        <p:tgtEl>
                                          <p:spTgt spid="1286"/>
                                        </p:tgtEl>
                                        <p:attrNameLst>
                                          <p:attrName>style.visibility</p:attrName>
                                        </p:attrNameLst>
                                      </p:cBhvr>
                                      <p:to>
                                        <p:strVal val="visible"/>
                                      </p:to>
                                    </p:set>
                                    <p:animEffect filter="fade" transition="in">
                                      <p:cBhvr>
                                        <p:cTn dur="1000"/>
                                        <p:tgtEl>
                                          <p:spTgt spid="1286"/>
                                        </p:tgtEl>
                                      </p:cBhvr>
                                    </p:animEffect>
                                  </p:childTnLst>
                                </p:cTn>
                              </p:par>
                              <p:par>
                                <p:cTn fill="hold" nodeType="withEffect" presetClass="entr" presetID="10" presetSubtype="0">
                                  <p:stCondLst>
                                    <p:cond delay="0"/>
                                  </p:stCondLst>
                                  <p:childTnLst>
                                    <p:set>
                                      <p:cBhvr>
                                        <p:cTn dur="1" fill="hold">
                                          <p:stCondLst>
                                            <p:cond delay="0"/>
                                          </p:stCondLst>
                                        </p:cTn>
                                        <p:tgtEl>
                                          <p:spTgt spid="1287"/>
                                        </p:tgtEl>
                                        <p:attrNameLst>
                                          <p:attrName>style.visibility</p:attrName>
                                        </p:attrNameLst>
                                      </p:cBhvr>
                                      <p:to>
                                        <p:strVal val="visible"/>
                                      </p:to>
                                    </p:set>
                                    <p:animEffect filter="fade" transition="in">
                                      <p:cBhvr>
                                        <p:cTn dur="1000"/>
                                        <p:tgtEl>
                                          <p:spTgt spid="1287"/>
                                        </p:tgtEl>
                                      </p:cBhvr>
                                    </p:animEffect>
                                  </p:childTnLst>
                                </p:cTn>
                              </p:par>
                              <p:par>
                                <p:cTn fill="hold" nodeType="withEffect" presetClass="entr" presetID="10" presetSubtype="0">
                                  <p:stCondLst>
                                    <p:cond delay="0"/>
                                  </p:stCondLst>
                                  <p:childTnLst>
                                    <p:set>
                                      <p:cBhvr>
                                        <p:cTn dur="1" fill="hold">
                                          <p:stCondLst>
                                            <p:cond delay="0"/>
                                          </p:stCondLst>
                                        </p:cTn>
                                        <p:tgtEl>
                                          <p:spTgt spid="1288"/>
                                        </p:tgtEl>
                                        <p:attrNameLst>
                                          <p:attrName>style.visibility</p:attrName>
                                        </p:attrNameLst>
                                      </p:cBhvr>
                                      <p:to>
                                        <p:strVal val="visible"/>
                                      </p:to>
                                    </p:set>
                                    <p:animEffect filter="fade" transition="in">
                                      <p:cBhvr>
                                        <p:cTn dur="1000"/>
                                        <p:tgtEl>
                                          <p:spTgt spid="1288"/>
                                        </p:tgtEl>
                                      </p:cBhvr>
                                    </p:animEffect>
                                  </p:childTnLst>
                                </p:cTn>
                              </p:par>
                              <p:par>
                                <p:cTn fill="hold" nodeType="withEffect" presetClass="entr" presetID="10" presetSubtype="0">
                                  <p:stCondLst>
                                    <p:cond delay="0"/>
                                  </p:stCondLst>
                                  <p:childTnLst>
                                    <p:set>
                                      <p:cBhvr>
                                        <p:cTn dur="1" fill="hold">
                                          <p:stCondLst>
                                            <p:cond delay="0"/>
                                          </p:stCondLst>
                                        </p:cTn>
                                        <p:tgtEl>
                                          <p:spTgt spid="1289"/>
                                        </p:tgtEl>
                                        <p:attrNameLst>
                                          <p:attrName>style.visibility</p:attrName>
                                        </p:attrNameLst>
                                      </p:cBhvr>
                                      <p:to>
                                        <p:strVal val="visible"/>
                                      </p:to>
                                    </p:set>
                                    <p:animEffect filter="fade" transition="in">
                                      <p:cBhvr>
                                        <p:cTn dur="1000"/>
                                        <p:tgtEl>
                                          <p:spTgt spid="1289"/>
                                        </p:tgtEl>
                                      </p:cBhvr>
                                    </p:animEffect>
                                  </p:childTnLst>
                                </p:cTn>
                              </p:par>
                              <p:par>
                                <p:cTn fill="hold" nodeType="withEffect" presetClass="entr" presetID="10" presetSubtype="0">
                                  <p:stCondLst>
                                    <p:cond delay="0"/>
                                  </p:stCondLst>
                                  <p:childTnLst>
                                    <p:set>
                                      <p:cBhvr>
                                        <p:cTn dur="1" fill="hold">
                                          <p:stCondLst>
                                            <p:cond delay="0"/>
                                          </p:stCondLst>
                                        </p:cTn>
                                        <p:tgtEl>
                                          <p:spTgt spid="1290"/>
                                        </p:tgtEl>
                                        <p:attrNameLst>
                                          <p:attrName>style.visibility</p:attrName>
                                        </p:attrNameLst>
                                      </p:cBhvr>
                                      <p:to>
                                        <p:strVal val="visible"/>
                                      </p:to>
                                    </p:set>
                                    <p:animEffect filter="fade" transition="in">
                                      <p:cBhvr>
                                        <p:cTn dur="1000"/>
                                        <p:tgtEl>
                                          <p:spTgt spid="1290"/>
                                        </p:tgtEl>
                                      </p:cBhvr>
                                    </p:animEffect>
                                  </p:childTnLst>
                                </p:cTn>
                              </p:par>
                              <p:par>
                                <p:cTn fill="hold" nodeType="withEffect" presetClass="entr" presetID="10" presetSubtype="0">
                                  <p:stCondLst>
                                    <p:cond delay="0"/>
                                  </p:stCondLst>
                                  <p:childTnLst>
                                    <p:set>
                                      <p:cBhvr>
                                        <p:cTn dur="1" fill="hold">
                                          <p:stCondLst>
                                            <p:cond delay="0"/>
                                          </p:stCondLst>
                                        </p:cTn>
                                        <p:tgtEl>
                                          <p:spTgt spid="1291"/>
                                        </p:tgtEl>
                                        <p:attrNameLst>
                                          <p:attrName>style.visibility</p:attrName>
                                        </p:attrNameLst>
                                      </p:cBhvr>
                                      <p:to>
                                        <p:strVal val="visible"/>
                                      </p:to>
                                    </p:set>
                                    <p:animEffect filter="fade" transition="in">
                                      <p:cBhvr>
                                        <p:cTn dur="1000"/>
                                        <p:tgtEl>
                                          <p:spTgt spid="1291"/>
                                        </p:tgtEl>
                                      </p:cBhvr>
                                    </p:animEffect>
                                  </p:childTnLst>
                                </p:cTn>
                              </p:par>
                              <p:par>
                                <p:cTn fill="hold" nodeType="withEffect" presetClass="entr" presetID="10" presetSubtype="0">
                                  <p:stCondLst>
                                    <p:cond delay="0"/>
                                  </p:stCondLst>
                                  <p:childTnLst>
                                    <p:set>
                                      <p:cBhvr>
                                        <p:cTn dur="1" fill="hold">
                                          <p:stCondLst>
                                            <p:cond delay="0"/>
                                          </p:stCondLst>
                                        </p:cTn>
                                        <p:tgtEl>
                                          <p:spTgt spid="1292"/>
                                        </p:tgtEl>
                                        <p:attrNameLst>
                                          <p:attrName>style.visibility</p:attrName>
                                        </p:attrNameLst>
                                      </p:cBhvr>
                                      <p:to>
                                        <p:strVal val="visible"/>
                                      </p:to>
                                    </p:set>
                                    <p:animEffect filter="fade" transition="in">
                                      <p:cBhvr>
                                        <p:cTn dur="1000"/>
                                        <p:tgtEl>
                                          <p:spTgt spid="1292"/>
                                        </p:tgtEl>
                                      </p:cBhvr>
                                    </p:animEffect>
                                  </p:childTnLst>
                                </p:cTn>
                              </p:par>
                              <p:par>
                                <p:cTn fill="hold" nodeType="withEffect" presetClass="entr" presetID="10" presetSubtype="0">
                                  <p:stCondLst>
                                    <p:cond delay="0"/>
                                  </p:stCondLst>
                                  <p:childTnLst>
                                    <p:set>
                                      <p:cBhvr>
                                        <p:cTn dur="1" fill="hold">
                                          <p:stCondLst>
                                            <p:cond delay="0"/>
                                          </p:stCondLst>
                                        </p:cTn>
                                        <p:tgtEl>
                                          <p:spTgt spid="1278"/>
                                        </p:tgtEl>
                                        <p:attrNameLst>
                                          <p:attrName>style.visibility</p:attrName>
                                        </p:attrNameLst>
                                      </p:cBhvr>
                                      <p:to>
                                        <p:strVal val="visible"/>
                                      </p:to>
                                    </p:set>
                                    <p:animEffect filter="fade" transition="in">
                                      <p:cBhvr>
                                        <p:cTn dur="1000"/>
                                        <p:tgtEl>
                                          <p:spTgt spid="12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9"/>
                                        </p:tgtEl>
                                        <p:attrNameLst>
                                          <p:attrName>style.visibility</p:attrName>
                                        </p:attrNameLst>
                                      </p:cBhvr>
                                      <p:to>
                                        <p:strVal val="visible"/>
                                      </p:to>
                                    </p:set>
                                    <p:animEffect filter="fade" transition="in">
                                      <p:cBhvr>
                                        <p:cTn dur="1000"/>
                                        <p:tgtEl>
                                          <p:spTgt spid="13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gtEl>
                                        <p:attrNameLst>
                                          <p:attrName>style.visibility</p:attrName>
                                        </p:attrNameLst>
                                      </p:cBhvr>
                                      <p:to>
                                        <p:strVal val="visible"/>
                                      </p:to>
                                    </p:set>
                                    <p:animEffect filter="fade" transition="in">
                                      <p:cBhvr>
                                        <p:cTn dur="1000"/>
                                        <p:tgtEl>
                                          <p:spTgt spid="1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gtEl>
                                        <p:attrNameLst>
                                          <p:attrName>style.visibility</p:attrName>
                                        </p:attrNameLst>
                                      </p:cBhvr>
                                      <p:to>
                                        <p:strVal val="visible"/>
                                      </p:to>
                                    </p:set>
                                    <p:animEffect filter="fade" transition="in">
                                      <p:cBhvr>
                                        <p:cTn dur="1000"/>
                                        <p:tgtEl>
                                          <p:spTgt spid="13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3"/>
                                        </p:tgtEl>
                                        <p:attrNameLst>
                                          <p:attrName>style.visibility</p:attrName>
                                        </p:attrNameLst>
                                      </p:cBhvr>
                                      <p:to>
                                        <p:strVal val="visible"/>
                                      </p:to>
                                    </p:set>
                                    <p:animEffect filter="fade" transition="in">
                                      <p:cBhvr>
                                        <p:cTn dur="1000"/>
                                        <p:tgtEl>
                                          <p:spTgt spid="1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8"/>
                                        </p:tgtEl>
                                        <p:attrNameLst>
                                          <p:attrName>style.visibility</p:attrName>
                                        </p:attrNameLst>
                                      </p:cBhvr>
                                      <p:to>
                                        <p:strVal val="visible"/>
                                      </p:to>
                                    </p:set>
                                    <p:animEffect filter="fade" transition="in">
                                      <p:cBhvr>
                                        <p:cTn dur="1000"/>
                                        <p:tgtEl>
                                          <p:spTgt spid="1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sp>
        <p:nvSpPr>
          <p:cNvPr id="1399" name="Google Shape;1399;p64"/>
          <p:cNvSpPr txBox="1"/>
          <p:nvPr>
            <p:ph type="title"/>
          </p:nvPr>
        </p:nvSpPr>
        <p:spPr>
          <a:xfrm>
            <a:off x="126900" y="153350"/>
            <a:ext cx="2533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Graph Traversal for search</a:t>
            </a:r>
            <a:endParaRPr/>
          </a:p>
        </p:txBody>
      </p:sp>
      <p:sp>
        <p:nvSpPr>
          <p:cNvPr id="1400" name="Google Shape;1400;p64"/>
          <p:cNvSpPr/>
          <p:nvPr/>
        </p:nvSpPr>
        <p:spPr>
          <a:xfrm>
            <a:off x="3356553" y="249275"/>
            <a:ext cx="184800" cy="171600"/>
          </a:xfrm>
          <a:prstGeom prst="ellipse">
            <a:avLst/>
          </a:prstGeom>
          <a:solidFill>
            <a:srgbClr val="B4A7D6"/>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64"/>
          <p:cNvSpPr/>
          <p:nvPr/>
        </p:nvSpPr>
        <p:spPr>
          <a:xfrm>
            <a:off x="3861423" y="249275"/>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64"/>
          <p:cNvSpPr/>
          <p:nvPr/>
        </p:nvSpPr>
        <p:spPr>
          <a:xfrm>
            <a:off x="3156999" y="579587"/>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64"/>
          <p:cNvSpPr/>
          <p:nvPr/>
        </p:nvSpPr>
        <p:spPr>
          <a:xfrm>
            <a:off x="3626615" y="579587"/>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64"/>
          <p:cNvSpPr/>
          <p:nvPr/>
        </p:nvSpPr>
        <p:spPr>
          <a:xfrm>
            <a:off x="4122949" y="579587"/>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64"/>
          <p:cNvSpPr/>
          <p:nvPr/>
        </p:nvSpPr>
        <p:spPr>
          <a:xfrm>
            <a:off x="3837937" y="846124"/>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64"/>
          <p:cNvSpPr/>
          <p:nvPr/>
        </p:nvSpPr>
        <p:spPr>
          <a:xfrm>
            <a:off x="4565846" y="579587"/>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64"/>
          <p:cNvSpPr/>
          <p:nvPr/>
        </p:nvSpPr>
        <p:spPr>
          <a:xfrm>
            <a:off x="4366307" y="249275"/>
            <a:ext cx="184800" cy="171600"/>
          </a:xfrm>
          <a:prstGeom prst="ellipse">
            <a:avLst/>
          </a:prstGeom>
          <a:solidFill>
            <a:srgbClr val="93C47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08" name="Google Shape;1408;p64"/>
          <p:cNvCxnSpPr>
            <a:stCxn id="1400" idx="3"/>
            <a:endCxn id="1402" idx="0"/>
          </p:cNvCxnSpPr>
          <p:nvPr/>
        </p:nvCxnSpPr>
        <p:spPr>
          <a:xfrm flipH="1">
            <a:off x="3249516" y="395745"/>
            <a:ext cx="134100" cy="183900"/>
          </a:xfrm>
          <a:prstGeom prst="straightConnector1">
            <a:avLst/>
          </a:prstGeom>
          <a:noFill/>
          <a:ln cap="flat" cmpd="sng" w="9525">
            <a:solidFill>
              <a:srgbClr val="1155CC"/>
            </a:solidFill>
            <a:prstDash val="solid"/>
            <a:round/>
            <a:headEnd len="med" w="med" type="none"/>
            <a:tailEnd len="med" w="med" type="none"/>
          </a:ln>
        </p:spPr>
      </p:cxnSp>
      <p:cxnSp>
        <p:nvCxnSpPr>
          <p:cNvPr id="1409" name="Google Shape;1409;p64"/>
          <p:cNvCxnSpPr>
            <a:stCxn id="1400" idx="5"/>
            <a:endCxn id="1403" idx="1"/>
          </p:cNvCxnSpPr>
          <p:nvPr/>
        </p:nvCxnSpPr>
        <p:spPr>
          <a:xfrm>
            <a:off x="3514290" y="395745"/>
            <a:ext cx="139500" cy="209100"/>
          </a:xfrm>
          <a:prstGeom prst="straightConnector1">
            <a:avLst/>
          </a:prstGeom>
          <a:noFill/>
          <a:ln cap="flat" cmpd="sng" w="9525">
            <a:solidFill>
              <a:srgbClr val="1155CC"/>
            </a:solidFill>
            <a:prstDash val="solid"/>
            <a:round/>
            <a:headEnd len="med" w="med" type="none"/>
            <a:tailEnd len="med" w="med" type="none"/>
          </a:ln>
        </p:spPr>
      </p:cxnSp>
      <p:cxnSp>
        <p:nvCxnSpPr>
          <p:cNvPr id="1410" name="Google Shape;1410;p64"/>
          <p:cNvCxnSpPr>
            <a:stCxn id="1403" idx="2"/>
            <a:endCxn id="1402" idx="6"/>
          </p:cNvCxnSpPr>
          <p:nvPr/>
        </p:nvCxnSpPr>
        <p:spPr>
          <a:xfrm rot="10800000">
            <a:off x="3341915" y="665387"/>
            <a:ext cx="284700" cy="0"/>
          </a:xfrm>
          <a:prstGeom prst="straightConnector1">
            <a:avLst/>
          </a:prstGeom>
          <a:noFill/>
          <a:ln cap="flat" cmpd="sng" w="9525">
            <a:solidFill>
              <a:srgbClr val="1155CC"/>
            </a:solidFill>
            <a:prstDash val="solid"/>
            <a:round/>
            <a:headEnd len="med" w="med" type="none"/>
            <a:tailEnd len="med" w="med" type="none"/>
          </a:ln>
        </p:spPr>
      </p:cxnSp>
      <p:cxnSp>
        <p:nvCxnSpPr>
          <p:cNvPr id="1411" name="Google Shape;1411;p64"/>
          <p:cNvCxnSpPr>
            <a:stCxn id="1401" idx="3"/>
            <a:endCxn id="1403" idx="0"/>
          </p:cNvCxnSpPr>
          <p:nvPr/>
        </p:nvCxnSpPr>
        <p:spPr>
          <a:xfrm flipH="1">
            <a:off x="3718986" y="395745"/>
            <a:ext cx="169500" cy="183900"/>
          </a:xfrm>
          <a:prstGeom prst="straightConnector1">
            <a:avLst/>
          </a:prstGeom>
          <a:noFill/>
          <a:ln cap="flat" cmpd="sng" w="9525">
            <a:solidFill>
              <a:srgbClr val="1155CC"/>
            </a:solidFill>
            <a:prstDash val="solid"/>
            <a:round/>
            <a:headEnd len="med" w="med" type="none"/>
            <a:tailEnd len="med" w="med" type="none"/>
          </a:ln>
        </p:spPr>
      </p:cxnSp>
      <p:cxnSp>
        <p:nvCxnSpPr>
          <p:cNvPr id="1412" name="Google Shape;1412;p64"/>
          <p:cNvCxnSpPr>
            <a:stCxn id="1401" idx="5"/>
            <a:endCxn id="1404" idx="1"/>
          </p:cNvCxnSpPr>
          <p:nvPr/>
        </p:nvCxnSpPr>
        <p:spPr>
          <a:xfrm>
            <a:off x="4019160" y="395745"/>
            <a:ext cx="130800" cy="209100"/>
          </a:xfrm>
          <a:prstGeom prst="straightConnector1">
            <a:avLst/>
          </a:prstGeom>
          <a:noFill/>
          <a:ln cap="flat" cmpd="sng" w="9525">
            <a:solidFill>
              <a:srgbClr val="1155CC"/>
            </a:solidFill>
            <a:prstDash val="solid"/>
            <a:round/>
            <a:headEnd len="med" w="med" type="none"/>
            <a:tailEnd len="med" w="med" type="none"/>
          </a:ln>
        </p:spPr>
      </p:cxnSp>
      <p:cxnSp>
        <p:nvCxnSpPr>
          <p:cNvPr id="1413" name="Google Shape;1413;p64"/>
          <p:cNvCxnSpPr>
            <a:stCxn id="1404" idx="2"/>
            <a:endCxn id="1403" idx="6"/>
          </p:cNvCxnSpPr>
          <p:nvPr/>
        </p:nvCxnSpPr>
        <p:spPr>
          <a:xfrm rot="10800000">
            <a:off x="3811549" y="665387"/>
            <a:ext cx="311400" cy="0"/>
          </a:xfrm>
          <a:prstGeom prst="straightConnector1">
            <a:avLst/>
          </a:prstGeom>
          <a:noFill/>
          <a:ln cap="flat" cmpd="sng" w="9525">
            <a:solidFill>
              <a:srgbClr val="1C4587"/>
            </a:solidFill>
            <a:prstDash val="solid"/>
            <a:round/>
            <a:headEnd len="med" w="med" type="none"/>
            <a:tailEnd len="med" w="med" type="none"/>
          </a:ln>
        </p:spPr>
      </p:cxnSp>
      <p:cxnSp>
        <p:nvCxnSpPr>
          <p:cNvPr id="1414" name="Google Shape;1414;p64"/>
          <p:cNvCxnSpPr>
            <a:stCxn id="1404" idx="3"/>
            <a:endCxn id="1405" idx="7"/>
          </p:cNvCxnSpPr>
          <p:nvPr/>
        </p:nvCxnSpPr>
        <p:spPr>
          <a:xfrm flipH="1">
            <a:off x="3995813" y="726057"/>
            <a:ext cx="154200" cy="145200"/>
          </a:xfrm>
          <a:prstGeom prst="straightConnector1">
            <a:avLst/>
          </a:prstGeom>
          <a:noFill/>
          <a:ln cap="flat" cmpd="sng" w="9525">
            <a:solidFill>
              <a:srgbClr val="1155CC"/>
            </a:solidFill>
            <a:prstDash val="solid"/>
            <a:round/>
            <a:headEnd len="med" w="med" type="none"/>
            <a:tailEnd len="med" w="med" type="none"/>
          </a:ln>
        </p:spPr>
      </p:cxnSp>
      <p:cxnSp>
        <p:nvCxnSpPr>
          <p:cNvPr id="1415" name="Google Shape;1415;p64"/>
          <p:cNvCxnSpPr>
            <a:stCxn id="1403" idx="4"/>
            <a:endCxn id="1405" idx="1"/>
          </p:cNvCxnSpPr>
          <p:nvPr/>
        </p:nvCxnSpPr>
        <p:spPr>
          <a:xfrm>
            <a:off x="3719015" y="751187"/>
            <a:ext cx="146100" cy="120000"/>
          </a:xfrm>
          <a:prstGeom prst="straightConnector1">
            <a:avLst/>
          </a:prstGeom>
          <a:noFill/>
          <a:ln cap="flat" cmpd="sng" w="9525">
            <a:solidFill>
              <a:srgbClr val="1155CC"/>
            </a:solidFill>
            <a:prstDash val="solid"/>
            <a:round/>
            <a:headEnd len="med" w="med" type="none"/>
            <a:tailEnd len="med" w="med" type="none"/>
          </a:ln>
        </p:spPr>
      </p:cxnSp>
      <p:cxnSp>
        <p:nvCxnSpPr>
          <p:cNvPr id="1416" name="Google Shape;1416;p64"/>
          <p:cNvCxnSpPr>
            <a:stCxn id="1407" idx="3"/>
            <a:endCxn id="1404" idx="7"/>
          </p:cNvCxnSpPr>
          <p:nvPr/>
        </p:nvCxnSpPr>
        <p:spPr>
          <a:xfrm flipH="1">
            <a:off x="4280571" y="395745"/>
            <a:ext cx="112800" cy="209100"/>
          </a:xfrm>
          <a:prstGeom prst="straightConnector1">
            <a:avLst/>
          </a:prstGeom>
          <a:noFill/>
          <a:ln cap="flat" cmpd="sng" w="9525">
            <a:solidFill>
              <a:srgbClr val="1155CC"/>
            </a:solidFill>
            <a:prstDash val="solid"/>
            <a:round/>
            <a:headEnd len="med" w="med" type="none"/>
            <a:tailEnd len="med" w="med" type="none"/>
          </a:ln>
        </p:spPr>
      </p:cxnSp>
      <p:cxnSp>
        <p:nvCxnSpPr>
          <p:cNvPr id="1417" name="Google Shape;1417;p64"/>
          <p:cNvCxnSpPr>
            <a:stCxn id="1407" idx="5"/>
            <a:endCxn id="1406" idx="0"/>
          </p:cNvCxnSpPr>
          <p:nvPr/>
        </p:nvCxnSpPr>
        <p:spPr>
          <a:xfrm>
            <a:off x="4524044" y="395745"/>
            <a:ext cx="134100" cy="183900"/>
          </a:xfrm>
          <a:prstGeom prst="straightConnector1">
            <a:avLst/>
          </a:prstGeom>
          <a:noFill/>
          <a:ln cap="flat" cmpd="sng" w="9525">
            <a:solidFill>
              <a:srgbClr val="1155CC"/>
            </a:solidFill>
            <a:prstDash val="solid"/>
            <a:round/>
            <a:headEnd len="med" w="med" type="none"/>
            <a:tailEnd len="med" w="med" type="none"/>
          </a:ln>
        </p:spPr>
      </p:cxnSp>
      <p:cxnSp>
        <p:nvCxnSpPr>
          <p:cNvPr id="1418" name="Google Shape;1418;p64"/>
          <p:cNvCxnSpPr>
            <a:stCxn id="1406" idx="2"/>
            <a:endCxn id="1404" idx="6"/>
          </p:cNvCxnSpPr>
          <p:nvPr/>
        </p:nvCxnSpPr>
        <p:spPr>
          <a:xfrm rot="10800000">
            <a:off x="4307846" y="665387"/>
            <a:ext cx="258000" cy="0"/>
          </a:xfrm>
          <a:prstGeom prst="straightConnector1">
            <a:avLst/>
          </a:prstGeom>
          <a:noFill/>
          <a:ln cap="flat" cmpd="sng" w="9525">
            <a:solidFill>
              <a:srgbClr val="1C4587"/>
            </a:solidFill>
            <a:prstDash val="solid"/>
            <a:round/>
            <a:headEnd len="med" w="med" type="none"/>
            <a:tailEnd len="med" w="med" type="none"/>
          </a:ln>
        </p:spPr>
      </p:cxnSp>
      <p:cxnSp>
        <p:nvCxnSpPr>
          <p:cNvPr id="1419" name="Google Shape;1419;p64"/>
          <p:cNvCxnSpPr>
            <a:stCxn id="1407" idx="2"/>
            <a:endCxn id="1401" idx="6"/>
          </p:cNvCxnSpPr>
          <p:nvPr/>
        </p:nvCxnSpPr>
        <p:spPr>
          <a:xfrm rot="10800000">
            <a:off x="4046207" y="335075"/>
            <a:ext cx="320100" cy="0"/>
          </a:xfrm>
          <a:prstGeom prst="straightConnector1">
            <a:avLst/>
          </a:prstGeom>
          <a:noFill/>
          <a:ln cap="flat" cmpd="sng" w="9525">
            <a:solidFill>
              <a:srgbClr val="1155CC"/>
            </a:solidFill>
            <a:prstDash val="solid"/>
            <a:round/>
            <a:headEnd len="med" w="med" type="none"/>
            <a:tailEnd len="med" w="med" type="none"/>
          </a:ln>
        </p:spPr>
      </p:cxnSp>
      <p:sp>
        <p:nvSpPr>
          <p:cNvPr id="1420" name="Google Shape;1420;p64"/>
          <p:cNvSpPr txBox="1"/>
          <p:nvPr>
            <p:ph type="title"/>
          </p:nvPr>
        </p:nvSpPr>
        <p:spPr>
          <a:xfrm>
            <a:off x="5062575" y="379100"/>
            <a:ext cx="3221100" cy="572700"/>
          </a:xfrm>
          <a:prstGeom prst="rect">
            <a:avLst/>
          </a:prstGeom>
          <a:solidFill>
            <a:schemeClr val="lt2"/>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Depth</a:t>
            </a:r>
            <a:r>
              <a:rPr lang="en"/>
              <a:t> First Search</a:t>
            </a:r>
            <a:endParaRPr/>
          </a:p>
        </p:txBody>
      </p:sp>
      <p:grpSp>
        <p:nvGrpSpPr>
          <p:cNvPr id="1421" name="Google Shape;1421;p64"/>
          <p:cNvGrpSpPr/>
          <p:nvPr/>
        </p:nvGrpSpPr>
        <p:grpSpPr>
          <a:xfrm>
            <a:off x="590325" y="1105550"/>
            <a:ext cx="3221100" cy="1907400"/>
            <a:chOff x="590325" y="1105550"/>
            <a:chExt cx="3221100" cy="1907400"/>
          </a:xfrm>
        </p:grpSpPr>
        <p:grpSp>
          <p:nvGrpSpPr>
            <p:cNvPr id="1422" name="Google Shape;1422;p64"/>
            <p:cNvGrpSpPr/>
            <p:nvPr/>
          </p:nvGrpSpPr>
          <p:grpSpPr>
            <a:xfrm>
              <a:off x="590325" y="1105550"/>
              <a:ext cx="3221100" cy="1907400"/>
              <a:chOff x="585050" y="1105638"/>
              <a:chExt cx="3221100" cy="1907400"/>
            </a:xfrm>
          </p:grpSpPr>
          <p:sp>
            <p:nvSpPr>
              <p:cNvPr id="1423" name="Google Shape;1423;p64"/>
              <p:cNvSpPr/>
              <p:nvPr/>
            </p:nvSpPr>
            <p:spPr>
              <a:xfrm>
                <a:off x="585050" y="1105638"/>
                <a:ext cx="3221100" cy="1907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4" name="Google Shape;1424;p64"/>
              <p:cNvGrpSpPr/>
              <p:nvPr/>
            </p:nvGrpSpPr>
            <p:grpSpPr>
              <a:xfrm>
                <a:off x="801375" y="1146650"/>
                <a:ext cx="2762300" cy="1742375"/>
                <a:chOff x="801375" y="1146650"/>
                <a:chExt cx="2762300" cy="1742375"/>
              </a:xfrm>
            </p:grpSpPr>
            <p:grpSp>
              <p:nvGrpSpPr>
                <p:cNvPr id="1425" name="Google Shape;1425;p64"/>
                <p:cNvGrpSpPr/>
                <p:nvPr/>
              </p:nvGrpSpPr>
              <p:grpSpPr>
                <a:xfrm>
                  <a:off x="801375" y="1146650"/>
                  <a:ext cx="2762300" cy="1742375"/>
                  <a:chOff x="801375" y="1146650"/>
                  <a:chExt cx="2762300" cy="1742375"/>
                </a:xfrm>
              </p:grpSpPr>
              <p:sp>
                <p:nvSpPr>
                  <p:cNvPr id="1426" name="Google Shape;1426;p64"/>
                  <p:cNvSpPr/>
                  <p:nvPr/>
                </p:nvSpPr>
                <p:spPr>
                  <a:xfrm>
                    <a:off x="1144725" y="1350350"/>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64"/>
                  <p:cNvSpPr/>
                  <p:nvPr/>
                </p:nvSpPr>
                <p:spPr>
                  <a:xfrm>
                    <a:off x="1939900" y="1350350"/>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2</a:t>
                    </a:r>
                    <a:endParaRPr>
                      <a:solidFill>
                        <a:srgbClr val="000000"/>
                      </a:solidFill>
                    </a:endParaRPr>
                  </a:p>
                </p:txBody>
              </p:sp>
              <p:sp>
                <p:nvSpPr>
                  <p:cNvPr id="1428" name="Google Shape;1428;p64"/>
                  <p:cNvSpPr/>
                  <p:nvPr/>
                </p:nvSpPr>
                <p:spPr>
                  <a:xfrm>
                    <a:off x="801375" y="201162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64"/>
                  <p:cNvSpPr/>
                  <p:nvPr/>
                </p:nvSpPr>
                <p:spPr>
                  <a:xfrm>
                    <a:off x="1609450" y="201162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64"/>
                  <p:cNvSpPr/>
                  <p:nvPr/>
                </p:nvSpPr>
                <p:spPr>
                  <a:xfrm>
                    <a:off x="2463500" y="2011625"/>
                    <a:ext cx="318300" cy="343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3</a:t>
                    </a:r>
                    <a:endParaRPr>
                      <a:solidFill>
                        <a:srgbClr val="000000"/>
                      </a:solidFill>
                    </a:endParaRPr>
                  </a:p>
                </p:txBody>
              </p:sp>
              <p:sp>
                <p:nvSpPr>
                  <p:cNvPr id="1431" name="Google Shape;1431;p64"/>
                  <p:cNvSpPr/>
                  <p:nvPr/>
                </p:nvSpPr>
                <p:spPr>
                  <a:xfrm>
                    <a:off x="1973075" y="254522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64"/>
                  <p:cNvSpPr/>
                  <p:nvPr/>
                </p:nvSpPr>
                <p:spPr>
                  <a:xfrm>
                    <a:off x="3225600" y="2011625"/>
                    <a:ext cx="318300" cy="343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4</a:t>
                    </a:r>
                    <a:endParaRPr>
                      <a:solidFill>
                        <a:srgbClr val="000000"/>
                      </a:solidFill>
                    </a:endParaRPr>
                  </a:p>
                </p:txBody>
              </p:sp>
              <p:sp>
                <p:nvSpPr>
                  <p:cNvPr id="1433" name="Google Shape;1433;p64"/>
                  <p:cNvSpPr/>
                  <p:nvPr/>
                </p:nvSpPr>
                <p:spPr>
                  <a:xfrm>
                    <a:off x="2882250" y="1350350"/>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1</a:t>
                    </a:r>
                    <a:endParaRPr>
                      <a:solidFill>
                        <a:srgbClr val="000000"/>
                      </a:solidFill>
                    </a:endParaRPr>
                  </a:p>
                </p:txBody>
              </p:sp>
              <p:cxnSp>
                <p:nvCxnSpPr>
                  <p:cNvPr id="1434" name="Google Shape;1434;p64"/>
                  <p:cNvCxnSpPr>
                    <a:stCxn id="1426" idx="3"/>
                    <a:endCxn id="1428" idx="0"/>
                  </p:cNvCxnSpPr>
                  <p:nvPr/>
                </p:nvCxnSpPr>
                <p:spPr>
                  <a:xfrm flipH="1">
                    <a:off x="960639" y="1643802"/>
                    <a:ext cx="230700" cy="367800"/>
                  </a:xfrm>
                  <a:prstGeom prst="straightConnector1">
                    <a:avLst/>
                  </a:prstGeom>
                  <a:noFill/>
                  <a:ln cap="flat" cmpd="sng" w="9525">
                    <a:solidFill>
                      <a:srgbClr val="1155CC"/>
                    </a:solidFill>
                    <a:prstDash val="solid"/>
                    <a:round/>
                    <a:headEnd len="med" w="med" type="none"/>
                    <a:tailEnd len="med" w="med" type="none"/>
                  </a:ln>
                </p:spPr>
              </p:cxnSp>
              <p:cxnSp>
                <p:nvCxnSpPr>
                  <p:cNvPr id="1435" name="Google Shape;1435;p64"/>
                  <p:cNvCxnSpPr>
                    <a:stCxn id="1426" idx="5"/>
                    <a:endCxn id="1429" idx="1"/>
                  </p:cNvCxnSpPr>
                  <p:nvPr/>
                </p:nvCxnSpPr>
                <p:spPr>
                  <a:xfrm>
                    <a:off x="1416411" y="1643802"/>
                    <a:ext cx="239700" cy="418200"/>
                  </a:xfrm>
                  <a:prstGeom prst="straightConnector1">
                    <a:avLst/>
                  </a:prstGeom>
                  <a:noFill/>
                  <a:ln cap="flat" cmpd="sng" w="9525">
                    <a:solidFill>
                      <a:srgbClr val="1155CC"/>
                    </a:solidFill>
                    <a:prstDash val="solid"/>
                    <a:round/>
                    <a:headEnd len="med" w="med" type="none"/>
                    <a:tailEnd len="med" w="med" type="none"/>
                  </a:ln>
                </p:spPr>
              </p:cxnSp>
              <p:cxnSp>
                <p:nvCxnSpPr>
                  <p:cNvPr id="1436" name="Google Shape;1436;p64"/>
                  <p:cNvCxnSpPr>
                    <a:stCxn id="1429" idx="2"/>
                    <a:endCxn id="1428" idx="6"/>
                  </p:cNvCxnSpPr>
                  <p:nvPr/>
                </p:nvCxnSpPr>
                <p:spPr>
                  <a:xfrm rot="10800000">
                    <a:off x="1119550" y="2183525"/>
                    <a:ext cx="489900" cy="0"/>
                  </a:xfrm>
                  <a:prstGeom prst="straightConnector1">
                    <a:avLst/>
                  </a:prstGeom>
                  <a:noFill/>
                  <a:ln cap="flat" cmpd="sng" w="9525">
                    <a:solidFill>
                      <a:srgbClr val="1155CC"/>
                    </a:solidFill>
                    <a:prstDash val="solid"/>
                    <a:round/>
                    <a:headEnd len="med" w="med" type="none"/>
                    <a:tailEnd len="med" w="med" type="none"/>
                  </a:ln>
                </p:spPr>
              </p:cxnSp>
              <p:cxnSp>
                <p:nvCxnSpPr>
                  <p:cNvPr id="1437" name="Google Shape;1437;p64"/>
                  <p:cNvCxnSpPr>
                    <a:stCxn id="1427" idx="3"/>
                    <a:endCxn id="1429" idx="0"/>
                  </p:cNvCxnSpPr>
                  <p:nvPr/>
                </p:nvCxnSpPr>
                <p:spPr>
                  <a:xfrm flipH="1">
                    <a:off x="1768714" y="1643802"/>
                    <a:ext cx="217800" cy="367800"/>
                  </a:xfrm>
                  <a:prstGeom prst="straightConnector1">
                    <a:avLst/>
                  </a:prstGeom>
                  <a:noFill/>
                  <a:ln cap="flat" cmpd="sng" w="9525">
                    <a:solidFill>
                      <a:srgbClr val="1155CC"/>
                    </a:solidFill>
                    <a:prstDash val="solid"/>
                    <a:round/>
                    <a:headEnd len="med" w="med" type="none"/>
                    <a:tailEnd len="med" w="med" type="none"/>
                  </a:ln>
                </p:spPr>
              </p:cxnSp>
              <p:cxnSp>
                <p:nvCxnSpPr>
                  <p:cNvPr id="1438" name="Google Shape;1438;p64"/>
                  <p:cNvCxnSpPr>
                    <a:stCxn id="1427" idx="5"/>
                    <a:endCxn id="1430" idx="1"/>
                  </p:cNvCxnSpPr>
                  <p:nvPr/>
                </p:nvCxnSpPr>
                <p:spPr>
                  <a:xfrm>
                    <a:off x="2211586" y="1643802"/>
                    <a:ext cx="298500" cy="418200"/>
                  </a:xfrm>
                  <a:prstGeom prst="straightConnector1">
                    <a:avLst/>
                  </a:prstGeom>
                  <a:noFill/>
                  <a:ln cap="flat" cmpd="sng" w="9525">
                    <a:solidFill>
                      <a:srgbClr val="1155CC"/>
                    </a:solidFill>
                    <a:prstDash val="solid"/>
                    <a:round/>
                    <a:headEnd len="med" w="med" type="none"/>
                    <a:tailEnd len="med" w="med" type="none"/>
                  </a:ln>
                </p:spPr>
              </p:cxnSp>
              <p:cxnSp>
                <p:nvCxnSpPr>
                  <p:cNvPr id="1439" name="Google Shape;1439;p64"/>
                  <p:cNvCxnSpPr>
                    <a:stCxn id="1430" idx="2"/>
                    <a:endCxn id="1429" idx="6"/>
                  </p:cNvCxnSpPr>
                  <p:nvPr/>
                </p:nvCxnSpPr>
                <p:spPr>
                  <a:xfrm rot="10800000">
                    <a:off x="1927700" y="2183525"/>
                    <a:ext cx="535800" cy="0"/>
                  </a:xfrm>
                  <a:prstGeom prst="straightConnector1">
                    <a:avLst/>
                  </a:prstGeom>
                  <a:noFill/>
                  <a:ln cap="flat" cmpd="sng" w="9525">
                    <a:solidFill>
                      <a:srgbClr val="1C4587"/>
                    </a:solidFill>
                    <a:prstDash val="solid"/>
                    <a:round/>
                    <a:headEnd len="med" w="med" type="none"/>
                    <a:tailEnd len="med" w="med" type="none"/>
                  </a:ln>
                </p:spPr>
              </p:cxnSp>
              <p:cxnSp>
                <p:nvCxnSpPr>
                  <p:cNvPr id="1440" name="Google Shape;1440;p64"/>
                  <p:cNvCxnSpPr>
                    <a:stCxn id="1430" idx="3"/>
                    <a:endCxn id="1431" idx="7"/>
                  </p:cNvCxnSpPr>
                  <p:nvPr/>
                </p:nvCxnSpPr>
                <p:spPr>
                  <a:xfrm flipH="1">
                    <a:off x="2244614" y="2305077"/>
                    <a:ext cx="265500" cy="290400"/>
                  </a:xfrm>
                  <a:prstGeom prst="straightConnector1">
                    <a:avLst/>
                  </a:prstGeom>
                  <a:noFill/>
                  <a:ln cap="flat" cmpd="sng" w="9525">
                    <a:solidFill>
                      <a:srgbClr val="1155CC"/>
                    </a:solidFill>
                    <a:prstDash val="solid"/>
                    <a:round/>
                    <a:headEnd len="med" w="med" type="none"/>
                    <a:tailEnd len="med" w="med" type="none"/>
                  </a:ln>
                </p:spPr>
              </p:cxnSp>
              <p:cxnSp>
                <p:nvCxnSpPr>
                  <p:cNvPr id="1441" name="Google Shape;1441;p64"/>
                  <p:cNvCxnSpPr>
                    <a:stCxn id="1429" idx="4"/>
                    <a:endCxn id="1431" idx="1"/>
                  </p:cNvCxnSpPr>
                  <p:nvPr/>
                </p:nvCxnSpPr>
                <p:spPr>
                  <a:xfrm>
                    <a:off x="1768600" y="2355425"/>
                    <a:ext cx="251100" cy="240000"/>
                  </a:xfrm>
                  <a:prstGeom prst="straightConnector1">
                    <a:avLst/>
                  </a:prstGeom>
                  <a:noFill/>
                  <a:ln cap="flat" cmpd="sng" w="9525">
                    <a:solidFill>
                      <a:srgbClr val="1155CC"/>
                    </a:solidFill>
                    <a:prstDash val="solid"/>
                    <a:round/>
                    <a:headEnd len="med" w="med" type="none"/>
                    <a:tailEnd len="med" w="med" type="none"/>
                  </a:ln>
                </p:spPr>
              </p:cxnSp>
              <p:cxnSp>
                <p:nvCxnSpPr>
                  <p:cNvPr id="1442" name="Google Shape;1442;p64"/>
                  <p:cNvCxnSpPr>
                    <a:stCxn id="1432" idx="2"/>
                    <a:endCxn id="1430" idx="6"/>
                  </p:cNvCxnSpPr>
                  <p:nvPr/>
                </p:nvCxnSpPr>
                <p:spPr>
                  <a:xfrm rot="10800000">
                    <a:off x="2781900" y="2183525"/>
                    <a:ext cx="443700" cy="0"/>
                  </a:xfrm>
                  <a:prstGeom prst="straightConnector1">
                    <a:avLst/>
                  </a:prstGeom>
                  <a:noFill/>
                  <a:ln cap="flat" cmpd="sng" w="9525">
                    <a:solidFill>
                      <a:srgbClr val="1C4587"/>
                    </a:solidFill>
                    <a:prstDash val="solid"/>
                    <a:round/>
                    <a:headEnd len="med" w="med" type="none"/>
                    <a:tailEnd len="med" w="med" type="none"/>
                  </a:ln>
                </p:spPr>
              </p:cxnSp>
              <p:sp>
                <p:nvSpPr>
                  <p:cNvPr id="1443" name="Google Shape;1443;p64"/>
                  <p:cNvSpPr txBox="1"/>
                  <p:nvPr/>
                </p:nvSpPr>
                <p:spPr>
                  <a:xfrm>
                    <a:off x="3272075" y="1146650"/>
                    <a:ext cx="29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rebuchet MS"/>
                        <a:ea typeface="Trebuchet MS"/>
                        <a:cs typeface="Trebuchet MS"/>
                        <a:sym typeface="Trebuchet MS"/>
                      </a:rPr>
                      <a:t>v</a:t>
                    </a:r>
                    <a:endParaRPr>
                      <a:latin typeface="Trebuchet MS"/>
                      <a:ea typeface="Trebuchet MS"/>
                      <a:cs typeface="Trebuchet MS"/>
                      <a:sym typeface="Trebuchet MS"/>
                    </a:endParaRPr>
                  </a:p>
                </p:txBody>
              </p:sp>
            </p:grpSp>
            <p:cxnSp>
              <p:nvCxnSpPr>
                <p:cNvPr id="1444" name="Google Shape;1444;p64"/>
                <p:cNvCxnSpPr>
                  <a:stCxn id="1433" idx="2"/>
                  <a:endCxn id="1427" idx="6"/>
                </p:cNvCxnSpPr>
                <p:nvPr/>
              </p:nvCxnSpPr>
              <p:spPr>
                <a:xfrm rot="10800000">
                  <a:off x="2258250" y="1522250"/>
                  <a:ext cx="624000" cy="0"/>
                </a:xfrm>
                <a:prstGeom prst="straightConnector1">
                  <a:avLst/>
                </a:prstGeom>
                <a:noFill/>
                <a:ln cap="flat" cmpd="sng" w="19050">
                  <a:solidFill>
                    <a:srgbClr val="F1C232"/>
                  </a:solidFill>
                  <a:prstDash val="solid"/>
                  <a:round/>
                  <a:headEnd len="med" w="med" type="none"/>
                  <a:tailEnd len="med" w="med" type="none"/>
                </a:ln>
              </p:spPr>
            </p:cxnSp>
          </p:grpSp>
        </p:grpSp>
        <p:cxnSp>
          <p:nvCxnSpPr>
            <p:cNvPr id="1445" name="Google Shape;1445;p64"/>
            <p:cNvCxnSpPr>
              <a:stCxn id="1432" idx="0"/>
              <a:endCxn id="1433" idx="4"/>
            </p:cNvCxnSpPr>
            <p:nvPr/>
          </p:nvCxnSpPr>
          <p:spPr>
            <a:xfrm rot="10800000">
              <a:off x="3046825" y="1694138"/>
              <a:ext cx="343200" cy="317400"/>
            </a:xfrm>
            <a:prstGeom prst="straightConnector1">
              <a:avLst/>
            </a:prstGeom>
            <a:noFill/>
            <a:ln cap="flat" cmpd="sng" w="9525">
              <a:solidFill>
                <a:srgbClr val="1C4587"/>
              </a:solidFill>
              <a:prstDash val="solid"/>
              <a:round/>
              <a:headEnd len="med" w="med" type="none"/>
              <a:tailEnd len="med" w="med" type="none"/>
            </a:ln>
          </p:spPr>
        </p:cxnSp>
        <p:cxnSp>
          <p:nvCxnSpPr>
            <p:cNvPr id="1446" name="Google Shape;1446;p64"/>
            <p:cNvCxnSpPr>
              <a:stCxn id="1430" idx="7"/>
              <a:endCxn id="1433" idx="4"/>
            </p:cNvCxnSpPr>
            <p:nvPr/>
          </p:nvCxnSpPr>
          <p:spPr>
            <a:xfrm flipH="1" rot="10800000">
              <a:off x="2740461" y="1694086"/>
              <a:ext cx="306300" cy="367800"/>
            </a:xfrm>
            <a:prstGeom prst="straightConnector1">
              <a:avLst/>
            </a:prstGeom>
            <a:noFill/>
            <a:ln cap="flat" cmpd="sng" w="9525">
              <a:solidFill>
                <a:srgbClr val="1C4587"/>
              </a:solidFill>
              <a:prstDash val="solid"/>
              <a:round/>
              <a:headEnd len="med" w="med" type="none"/>
              <a:tailEnd len="med" w="med" type="none"/>
            </a:ln>
          </p:spPr>
        </p:cxnSp>
      </p:grpSp>
      <p:grpSp>
        <p:nvGrpSpPr>
          <p:cNvPr id="1447" name="Google Shape;1447;p64"/>
          <p:cNvGrpSpPr/>
          <p:nvPr/>
        </p:nvGrpSpPr>
        <p:grpSpPr>
          <a:xfrm>
            <a:off x="4149950" y="1105550"/>
            <a:ext cx="3221100" cy="1907400"/>
            <a:chOff x="590325" y="1105550"/>
            <a:chExt cx="3221100" cy="1907400"/>
          </a:xfrm>
        </p:grpSpPr>
        <p:grpSp>
          <p:nvGrpSpPr>
            <p:cNvPr id="1448" name="Google Shape;1448;p64"/>
            <p:cNvGrpSpPr/>
            <p:nvPr/>
          </p:nvGrpSpPr>
          <p:grpSpPr>
            <a:xfrm>
              <a:off x="590325" y="1105550"/>
              <a:ext cx="3221100" cy="1907400"/>
              <a:chOff x="585050" y="1105638"/>
              <a:chExt cx="3221100" cy="1907400"/>
            </a:xfrm>
          </p:grpSpPr>
          <p:sp>
            <p:nvSpPr>
              <p:cNvPr id="1449" name="Google Shape;1449;p64"/>
              <p:cNvSpPr/>
              <p:nvPr/>
            </p:nvSpPr>
            <p:spPr>
              <a:xfrm>
                <a:off x="585050" y="1105638"/>
                <a:ext cx="3221100" cy="1907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50" name="Google Shape;1450;p64"/>
              <p:cNvGrpSpPr/>
              <p:nvPr/>
            </p:nvGrpSpPr>
            <p:grpSpPr>
              <a:xfrm>
                <a:off x="801375" y="1146650"/>
                <a:ext cx="2762300" cy="1742375"/>
                <a:chOff x="801375" y="1146650"/>
                <a:chExt cx="2762300" cy="1742375"/>
              </a:xfrm>
            </p:grpSpPr>
            <p:grpSp>
              <p:nvGrpSpPr>
                <p:cNvPr id="1451" name="Google Shape;1451;p64"/>
                <p:cNvGrpSpPr/>
                <p:nvPr/>
              </p:nvGrpSpPr>
              <p:grpSpPr>
                <a:xfrm>
                  <a:off x="801375" y="1146650"/>
                  <a:ext cx="2762300" cy="1742375"/>
                  <a:chOff x="801375" y="1146650"/>
                  <a:chExt cx="2762300" cy="1742375"/>
                </a:xfrm>
              </p:grpSpPr>
              <p:sp>
                <p:nvSpPr>
                  <p:cNvPr id="1452" name="Google Shape;1452;p64"/>
                  <p:cNvSpPr/>
                  <p:nvPr/>
                </p:nvSpPr>
                <p:spPr>
                  <a:xfrm>
                    <a:off x="1144725" y="1350350"/>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64"/>
                  <p:cNvSpPr/>
                  <p:nvPr/>
                </p:nvSpPr>
                <p:spPr>
                  <a:xfrm>
                    <a:off x="1939900" y="1350350"/>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2</a:t>
                    </a:r>
                    <a:endParaRPr>
                      <a:solidFill>
                        <a:srgbClr val="000000"/>
                      </a:solidFill>
                    </a:endParaRPr>
                  </a:p>
                </p:txBody>
              </p:sp>
              <p:sp>
                <p:nvSpPr>
                  <p:cNvPr id="1454" name="Google Shape;1454;p64"/>
                  <p:cNvSpPr/>
                  <p:nvPr/>
                </p:nvSpPr>
                <p:spPr>
                  <a:xfrm>
                    <a:off x="801375" y="201162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64"/>
                  <p:cNvSpPr/>
                  <p:nvPr/>
                </p:nvSpPr>
                <p:spPr>
                  <a:xfrm>
                    <a:off x="1609450" y="2011625"/>
                    <a:ext cx="318300" cy="343800"/>
                  </a:xfrm>
                  <a:prstGeom prst="ellipse">
                    <a:avLst/>
                  </a:prstGeom>
                  <a:solidFill>
                    <a:srgbClr val="93C47D"/>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1456" name="Google Shape;1456;p64"/>
                  <p:cNvSpPr/>
                  <p:nvPr/>
                </p:nvSpPr>
                <p:spPr>
                  <a:xfrm>
                    <a:off x="2463500" y="2011625"/>
                    <a:ext cx="318300" cy="343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3</a:t>
                    </a:r>
                    <a:endParaRPr>
                      <a:solidFill>
                        <a:srgbClr val="000000"/>
                      </a:solidFill>
                    </a:endParaRPr>
                  </a:p>
                </p:txBody>
              </p:sp>
              <p:sp>
                <p:nvSpPr>
                  <p:cNvPr id="1457" name="Google Shape;1457;p64"/>
                  <p:cNvSpPr/>
                  <p:nvPr/>
                </p:nvSpPr>
                <p:spPr>
                  <a:xfrm>
                    <a:off x="1973075" y="254522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64"/>
                  <p:cNvSpPr/>
                  <p:nvPr/>
                </p:nvSpPr>
                <p:spPr>
                  <a:xfrm>
                    <a:off x="3225600" y="2011625"/>
                    <a:ext cx="318300" cy="343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4</a:t>
                    </a:r>
                    <a:endParaRPr>
                      <a:solidFill>
                        <a:srgbClr val="000000"/>
                      </a:solidFill>
                    </a:endParaRPr>
                  </a:p>
                </p:txBody>
              </p:sp>
              <p:sp>
                <p:nvSpPr>
                  <p:cNvPr id="1459" name="Google Shape;1459;p64"/>
                  <p:cNvSpPr/>
                  <p:nvPr/>
                </p:nvSpPr>
                <p:spPr>
                  <a:xfrm>
                    <a:off x="2882250" y="1350350"/>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1</a:t>
                    </a:r>
                    <a:endParaRPr>
                      <a:solidFill>
                        <a:srgbClr val="000000"/>
                      </a:solidFill>
                    </a:endParaRPr>
                  </a:p>
                </p:txBody>
              </p:sp>
              <p:cxnSp>
                <p:nvCxnSpPr>
                  <p:cNvPr id="1460" name="Google Shape;1460;p64"/>
                  <p:cNvCxnSpPr>
                    <a:stCxn id="1452" idx="3"/>
                    <a:endCxn id="1454" idx="0"/>
                  </p:cNvCxnSpPr>
                  <p:nvPr/>
                </p:nvCxnSpPr>
                <p:spPr>
                  <a:xfrm flipH="1">
                    <a:off x="960639" y="1643802"/>
                    <a:ext cx="230700" cy="367800"/>
                  </a:xfrm>
                  <a:prstGeom prst="straightConnector1">
                    <a:avLst/>
                  </a:prstGeom>
                  <a:noFill/>
                  <a:ln cap="flat" cmpd="sng" w="9525">
                    <a:solidFill>
                      <a:srgbClr val="1155CC"/>
                    </a:solidFill>
                    <a:prstDash val="solid"/>
                    <a:round/>
                    <a:headEnd len="med" w="med" type="none"/>
                    <a:tailEnd len="med" w="med" type="none"/>
                  </a:ln>
                </p:spPr>
              </p:cxnSp>
              <p:cxnSp>
                <p:nvCxnSpPr>
                  <p:cNvPr id="1461" name="Google Shape;1461;p64"/>
                  <p:cNvCxnSpPr>
                    <a:stCxn id="1452" idx="5"/>
                    <a:endCxn id="1455" idx="1"/>
                  </p:cNvCxnSpPr>
                  <p:nvPr/>
                </p:nvCxnSpPr>
                <p:spPr>
                  <a:xfrm>
                    <a:off x="1416411" y="1643802"/>
                    <a:ext cx="239700" cy="418200"/>
                  </a:xfrm>
                  <a:prstGeom prst="straightConnector1">
                    <a:avLst/>
                  </a:prstGeom>
                  <a:noFill/>
                  <a:ln cap="flat" cmpd="sng" w="9525">
                    <a:solidFill>
                      <a:srgbClr val="1155CC"/>
                    </a:solidFill>
                    <a:prstDash val="solid"/>
                    <a:round/>
                    <a:headEnd len="med" w="med" type="none"/>
                    <a:tailEnd len="med" w="med" type="none"/>
                  </a:ln>
                </p:spPr>
              </p:cxnSp>
              <p:cxnSp>
                <p:nvCxnSpPr>
                  <p:cNvPr id="1462" name="Google Shape;1462;p64"/>
                  <p:cNvCxnSpPr>
                    <a:stCxn id="1455" idx="2"/>
                    <a:endCxn id="1454" idx="6"/>
                  </p:cNvCxnSpPr>
                  <p:nvPr/>
                </p:nvCxnSpPr>
                <p:spPr>
                  <a:xfrm rot="10800000">
                    <a:off x="1119550" y="2183525"/>
                    <a:ext cx="489900" cy="0"/>
                  </a:xfrm>
                  <a:prstGeom prst="straightConnector1">
                    <a:avLst/>
                  </a:prstGeom>
                  <a:noFill/>
                  <a:ln cap="flat" cmpd="sng" w="9525">
                    <a:solidFill>
                      <a:srgbClr val="1155CC"/>
                    </a:solidFill>
                    <a:prstDash val="solid"/>
                    <a:round/>
                    <a:headEnd len="med" w="med" type="none"/>
                    <a:tailEnd len="med" w="med" type="none"/>
                  </a:ln>
                </p:spPr>
              </p:cxnSp>
              <p:cxnSp>
                <p:nvCxnSpPr>
                  <p:cNvPr id="1463" name="Google Shape;1463;p64"/>
                  <p:cNvCxnSpPr>
                    <a:stCxn id="1453" idx="3"/>
                    <a:endCxn id="1455" idx="0"/>
                  </p:cNvCxnSpPr>
                  <p:nvPr/>
                </p:nvCxnSpPr>
                <p:spPr>
                  <a:xfrm flipH="1">
                    <a:off x="1768714" y="1643802"/>
                    <a:ext cx="217800" cy="367800"/>
                  </a:xfrm>
                  <a:prstGeom prst="straightConnector1">
                    <a:avLst/>
                  </a:prstGeom>
                  <a:noFill/>
                  <a:ln cap="flat" cmpd="sng" w="9525">
                    <a:solidFill>
                      <a:srgbClr val="F1C232"/>
                    </a:solidFill>
                    <a:prstDash val="solid"/>
                    <a:round/>
                    <a:headEnd len="med" w="med" type="none"/>
                    <a:tailEnd len="med" w="med" type="none"/>
                  </a:ln>
                </p:spPr>
              </p:cxnSp>
              <p:cxnSp>
                <p:nvCxnSpPr>
                  <p:cNvPr id="1464" name="Google Shape;1464;p64"/>
                  <p:cNvCxnSpPr>
                    <a:stCxn id="1453" idx="5"/>
                    <a:endCxn id="1456" idx="1"/>
                  </p:cNvCxnSpPr>
                  <p:nvPr/>
                </p:nvCxnSpPr>
                <p:spPr>
                  <a:xfrm>
                    <a:off x="2211586" y="1643802"/>
                    <a:ext cx="298500" cy="418200"/>
                  </a:xfrm>
                  <a:prstGeom prst="straightConnector1">
                    <a:avLst/>
                  </a:prstGeom>
                  <a:noFill/>
                  <a:ln cap="flat" cmpd="sng" w="9525">
                    <a:solidFill>
                      <a:srgbClr val="1155CC"/>
                    </a:solidFill>
                    <a:prstDash val="solid"/>
                    <a:round/>
                    <a:headEnd len="med" w="med" type="none"/>
                    <a:tailEnd len="med" w="med" type="none"/>
                  </a:ln>
                </p:spPr>
              </p:cxnSp>
              <p:cxnSp>
                <p:nvCxnSpPr>
                  <p:cNvPr id="1465" name="Google Shape;1465;p64"/>
                  <p:cNvCxnSpPr>
                    <a:stCxn id="1456" idx="2"/>
                    <a:endCxn id="1455" idx="6"/>
                  </p:cNvCxnSpPr>
                  <p:nvPr/>
                </p:nvCxnSpPr>
                <p:spPr>
                  <a:xfrm rot="10800000">
                    <a:off x="1927700" y="2183525"/>
                    <a:ext cx="535800" cy="0"/>
                  </a:xfrm>
                  <a:prstGeom prst="straightConnector1">
                    <a:avLst/>
                  </a:prstGeom>
                  <a:noFill/>
                  <a:ln cap="flat" cmpd="sng" w="9525">
                    <a:solidFill>
                      <a:srgbClr val="1C4587"/>
                    </a:solidFill>
                    <a:prstDash val="solid"/>
                    <a:round/>
                    <a:headEnd len="med" w="med" type="none"/>
                    <a:tailEnd len="med" w="med" type="none"/>
                  </a:ln>
                </p:spPr>
              </p:cxnSp>
              <p:cxnSp>
                <p:nvCxnSpPr>
                  <p:cNvPr id="1466" name="Google Shape;1466;p64"/>
                  <p:cNvCxnSpPr>
                    <a:stCxn id="1456" idx="3"/>
                    <a:endCxn id="1457" idx="7"/>
                  </p:cNvCxnSpPr>
                  <p:nvPr/>
                </p:nvCxnSpPr>
                <p:spPr>
                  <a:xfrm flipH="1">
                    <a:off x="2244614" y="2305077"/>
                    <a:ext cx="265500" cy="290400"/>
                  </a:xfrm>
                  <a:prstGeom prst="straightConnector1">
                    <a:avLst/>
                  </a:prstGeom>
                  <a:noFill/>
                  <a:ln cap="flat" cmpd="sng" w="9525">
                    <a:solidFill>
                      <a:srgbClr val="1155CC"/>
                    </a:solidFill>
                    <a:prstDash val="solid"/>
                    <a:round/>
                    <a:headEnd len="med" w="med" type="none"/>
                    <a:tailEnd len="med" w="med" type="none"/>
                  </a:ln>
                </p:spPr>
              </p:cxnSp>
              <p:cxnSp>
                <p:nvCxnSpPr>
                  <p:cNvPr id="1467" name="Google Shape;1467;p64"/>
                  <p:cNvCxnSpPr>
                    <a:stCxn id="1455" idx="4"/>
                    <a:endCxn id="1457" idx="1"/>
                  </p:cNvCxnSpPr>
                  <p:nvPr/>
                </p:nvCxnSpPr>
                <p:spPr>
                  <a:xfrm>
                    <a:off x="1768600" y="2355425"/>
                    <a:ext cx="251100" cy="240000"/>
                  </a:xfrm>
                  <a:prstGeom prst="straightConnector1">
                    <a:avLst/>
                  </a:prstGeom>
                  <a:noFill/>
                  <a:ln cap="flat" cmpd="sng" w="9525">
                    <a:solidFill>
                      <a:srgbClr val="1155CC"/>
                    </a:solidFill>
                    <a:prstDash val="solid"/>
                    <a:round/>
                    <a:headEnd len="med" w="med" type="none"/>
                    <a:tailEnd len="med" w="med" type="none"/>
                  </a:ln>
                </p:spPr>
              </p:cxnSp>
              <p:cxnSp>
                <p:nvCxnSpPr>
                  <p:cNvPr id="1468" name="Google Shape;1468;p64"/>
                  <p:cNvCxnSpPr>
                    <a:stCxn id="1458" idx="2"/>
                    <a:endCxn id="1456" idx="6"/>
                  </p:cNvCxnSpPr>
                  <p:nvPr/>
                </p:nvCxnSpPr>
                <p:spPr>
                  <a:xfrm rot="10800000">
                    <a:off x="2781900" y="2183525"/>
                    <a:ext cx="443700" cy="0"/>
                  </a:xfrm>
                  <a:prstGeom prst="straightConnector1">
                    <a:avLst/>
                  </a:prstGeom>
                  <a:noFill/>
                  <a:ln cap="flat" cmpd="sng" w="9525">
                    <a:solidFill>
                      <a:srgbClr val="1C4587"/>
                    </a:solidFill>
                    <a:prstDash val="solid"/>
                    <a:round/>
                    <a:headEnd len="med" w="med" type="none"/>
                    <a:tailEnd len="med" w="med" type="none"/>
                  </a:ln>
                </p:spPr>
              </p:cxnSp>
              <p:sp>
                <p:nvSpPr>
                  <p:cNvPr id="1469" name="Google Shape;1469;p64"/>
                  <p:cNvSpPr txBox="1"/>
                  <p:nvPr/>
                </p:nvSpPr>
                <p:spPr>
                  <a:xfrm>
                    <a:off x="3272075" y="1146650"/>
                    <a:ext cx="29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rebuchet MS"/>
                        <a:ea typeface="Trebuchet MS"/>
                        <a:cs typeface="Trebuchet MS"/>
                        <a:sym typeface="Trebuchet MS"/>
                      </a:rPr>
                      <a:t>v</a:t>
                    </a:r>
                    <a:endParaRPr>
                      <a:latin typeface="Trebuchet MS"/>
                      <a:ea typeface="Trebuchet MS"/>
                      <a:cs typeface="Trebuchet MS"/>
                      <a:sym typeface="Trebuchet MS"/>
                    </a:endParaRPr>
                  </a:p>
                </p:txBody>
              </p:sp>
            </p:grpSp>
            <p:cxnSp>
              <p:nvCxnSpPr>
                <p:cNvPr id="1470" name="Google Shape;1470;p64"/>
                <p:cNvCxnSpPr>
                  <a:stCxn id="1459" idx="2"/>
                  <a:endCxn id="1453" idx="6"/>
                </p:cNvCxnSpPr>
                <p:nvPr/>
              </p:nvCxnSpPr>
              <p:spPr>
                <a:xfrm rot="10800000">
                  <a:off x="2258250" y="1522250"/>
                  <a:ext cx="624000" cy="0"/>
                </a:xfrm>
                <a:prstGeom prst="straightConnector1">
                  <a:avLst/>
                </a:prstGeom>
                <a:noFill/>
                <a:ln cap="flat" cmpd="sng" w="19050">
                  <a:solidFill>
                    <a:srgbClr val="F1C232"/>
                  </a:solidFill>
                  <a:prstDash val="solid"/>
                  <a:round/>
                  <a:headEnd len="med" w="med" type="none"/>
                  <a:tailEnd len="med" w="med" type="none"/>
                </a:ln>
              </p:spPr>
            </p:cxnSp>
          </p:grpSp>
        </p:grpSp>
        <p:cxnSp>
          <p:nvCxnSpPr>
            <p:cNvPr id="1471" name="Google Shape;1471;p64"/>
            <p:cNvCxnSpPr>
              <a:stCxn id="1458" idx="0"/>
              <a:endCxn id="1459" idx="4"/>
            </p:cNvCxnSpPr>
            <p:nvPr/>
          </p:nvCxnSpPr>
          <p:spPr>
            <a:xfrm rot="10800000">
              <a:off x="3046825" y="1694138"/>
              <a:ext cx="343200" cy="317400"/>
            </a:xfrm>
            <a:prstGeom prst="straightConnector1">
              <a:avLst/>
            </a:prstGeom>
            <a:noFill/>
            <a:ln cap="flat" cmpd="sng" w="9525">
              <a:solidFill>
                <a:srgbClr val="1C4587"/>
              </a:solidFill>
              <a:prstDash val="solid"/>
              <a:round/>
              <a:headEnd len="med" w="med" type="none"/>
              <a:tailEnd len="med" w="med" type="none"/>
            </a:ln>
          </p:spPr>
        </p:cxnSp>
        <p:cxnSp>
          <p:nvCxnSpPr>
            <p:cNvPr id="1472" name="Google Shape;1472;p64"/>
            <p:cNvCxnSpPr>
              <a:stCxn id="1456" idx="7"/>
              <a:endCxn id="1459" idx="4"/>
            </p:cNvCxnSpPr>
            <p:nvPr/>
          </p:nvCxnSpPr>
          <p:spPr>
            <a:xfrm flipH="1" rot="10800000">
              <a:off x="2740461" y="1694086"/>
              <a:ext cx="306300" cy="367800"/>
            </a:xfrm>
            <a:prstGeom prst="straightConnector1">
              <a:avLst/>
            </a:prstGeom>
            <a:noFill/>
            <a:ln cap="flat" cmpd="sng" w="9525">
              <a:solidFill>
                <a:srgbClr val="1C4587"/>
              </a:solidFill>
              <a:prstDash val="solid"/>
              <a:round/>
              <a:headEnd len="med" w="med" type="none"/>
              <a:tailEnd len="med" w="med" type="none"/>
            </a:ln>
          </p:spPr>
        </p:cxnSp>
      </p:grpSp>
      <p:grpSp>
        <p:nvGrpSpPr>
          <p:cNvPr id="1473" name="Google Shape;1473;p64"/>
          <p:cNvGrpSpPr/>
          <p:nvPr/>
        </p:nvGrpSpPr>
        <p:grpSpPr>
          <a:xfrm>
            <a:off x="590325" y="3187950"/>
            <a:ext cx="3221100" cy="1907400"/>
            <a:chOff x="590325" y="1105550"/>
            <a:chExt cx="3221100" cy="1907400"/>
          </a:xfrm>
        </p:grpSpPr>
        <p:grpSp>
          <p:nvGrpSpPr>
            <p:cNvPr id="1474" name="Google Shape;1474;p64"/>
            <p:cNvGrpSpPr/>
            <p:nvPr/>
          </p:nvGrpSpPr>
          <p:grpSpPr>
            <a:xfrm>
              <a:off x="590325" y="1105550"/>
              <a:ext cx="3221100" cy="1907400"/>
              <a:chOff x="585050" y="1105638"/>
              <a:chExt cx="3221100" cy="1907400"/>
            </a:xfrm>
          </p:grpSpPr>
          <p:sp>
            <p:nvSpPr>
              <p:cNvPr id="1475" name="Google Shape;1475;p64"/>
              <p:cNvSpPr/>
              <p:nvPr/>
            </p:nvSpPr>
            <p:spPr>
              <a:xfrm>
                <a:off x="585050" y="1105638"/>
                <a:ext cx="3221100" cy="1907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76" name="Google Shape;1476;p64"/>
              <p:cNvGrpSpPr/>
              <p:nvPr/>
            </p:nvGrpSpPr>
            <p:grpSpPr>
              <a:xfrm>
                <a:off x="801375" y="1146650"/>
                <a:ext cx="2762300" cy="1742375"/>
                <a:chOff x="801375" y="1146650"/>
                <a:chExt cx="2762300" cy="1742375"/>
              </a:xfrm>
            </p:grpSpPr>
            <p:grpSp>
              <p:nvGrpSpPr>
                <p:cNvPr id="1477" name="Google Shape;1477;p64"/>
                <p:cNvGrpSpPr/>
                <p:nvPr/>
              </p:nvGrpSpPr>
              <p:grpSpPr>
                <a:xfrm>
                  <a:off x="801375" y="1146650"/>
                  <a:ext cx="2762300" cy="1742375"/>
                  <a:chOff x="801375" y="1146650"/>
                  <a:chExt cx="2762300" cy="1742375"/>
                </a:xfrm>
              </p:grpSpPr>
              <p:sp>
                <p:nvSpPr>
                  <p:cNvPr id="1478" name="Google Shape;1478;p64"/>
                  <p:cNvSpPr/>
                  <p:nvPr/>
                </p:nvSpPr>
                <p:spPr>
                  <a:xfrm>
                    <a:off x="1144725" y="1350350"/>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64"/>
                  <p:cNvSpPr/>
                  <p:nvPr/>
                </p:nvSpPr>
                <p:spPr>
                  <a:xfrm>
                    <a:off x="1939900" y="1350350"/>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2</a:t>
                    </a:r>
                    <a:endParaRPr>
                      <a:solidFill>
                        <a:srgbClr val="000000"/>
                      </a:solidFill>
                    </a:endParaRPr>
                  </a:p>
                </p:txBody>
              </p:sp>
              <p:sp>
                <p:nvSpPr>
                  <p:cNvPr id="1480" name="Google Shape;1480;p64"/>
                  <p:cNvSpPr/>
                  <p:nvPr/>
                </p:nvSpPr>
                <p:spPr>
                  <a:xfrm>
                    <a:off x="801375" y="201162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64"/>
                  <p:cNvSpPr/>
                  <p:nvPr/>
                </p:nvSpPr>
                <p:spPr>
                  <a:xfrm>
                    <a:off x="1609450" y="2011625"/>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1482" name="Google Shape;1482;p64"/>
                  <p:cNvSpPr/>
                  <p:nvPr/>
                </p:nvSpPr>
                <p:spPr>
                  <a:xfrm>
                    <a:off x="2463500" y="2011625"/>
                    <a:ext cx="318300" cy="343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3</a:t>
                    </a:r>
                    <a:endParaRPr>
                      <a:solidFill>
                        <a:srgbClr val="000000"/>
                      </a:solidFill>
                    </a:endParaRPr>
                  </a:p>
                </p:txBody>
              </p:sp>
              <p:sp>
                <p:nvSpPr>
                  <p:cNvPr id="1483" name="Google Shape;1483;p64"/>
                  <p:cNvSpPr/>
                  <p:nvPr/>
                </p:nvSpPr>
                <p:spPr>
                  <a:xfrm>
                    <a:off x="1973075" y="254522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64"/>
                  <p:cNvSpPr/>
                  <p:nvPr/>
                </p:nvSpPr>
                <p:spPr>
                  <a:xfrm>
                    <a:off x="3225600" y="2011625"/>
                    <a:ext cx="318300" cy="343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4</a:t>
                    </a:r>
                    <a:endParaRPr>
                      <a:solidFill>
                        <a:srgbClr val="000000"/>
                      </a:solidFill>
                    </a:endParaRPr>
                  </a:p>
                </p:txBody>
              </p:sp>
              <p:sp>
                <p:nvSpPr>
                  <p:cNvPr id="1485" name="Google Shape;1485;p64"/>
                  <p:cNvSpPr/>
                  <p:nvPr/>
                </p:nvSpPr>
                <p:spPr>
                  <a:xfrm>
                    <a:off x="2882250" y="1350350"/>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1</a:t>
                    </a:r>
                    <a:endParaRPr>
                      <a:solidFill>
                        <a:srgbClr val="000000"/>
                      </a:solidFill>
                    </a:endParaRPr>
                  </a:p>
                </p:txBody>
              </p:sp>
              <p:cxnSp>
                <p:nvCxnSpPr>
                  <p:cNvPr id="1486" name="Google Shape;1486;p64"/>
                  <p:cNvCxnSpPr>
                    <a:stCxn id="1478" idx="3"/>
                    <a:endCxn id="1480" idx="0"/>
                  </p:cNvCxnSpPr>
                  <p:nvPr/>
                </p:nvCxnSpPr>
                <p:spPr>
                  <a:xfrm flipH="1">
                    <a:off x="960639" y="1643802"/>
                    <a:ext cx="230700" cy="367800"/>
                  </a:xfrm>
                  <a:prstGeom prst="straightConnector1">
                    <a:avLst/>
                  </a:prstGeom>
                  <a:noFill/>
                  <a:ln cap="flat" cmpd="sng" w="9525">
                    <a:solidFill>
                      <a:srgbClr val="1155CC"/>
                    </a:solidFill>
                    <a:prstDash val="solid"/>
                    <a:round/>
                    <a:headEnd len="med" w="med" type="none"/>
                    <a:tailEnd len="med" w="med" type="none"/>
                  </a:ln>
                </p:spPr>
              </p:cxnSp>
              <p:cxnSp>
                <p:nvCxnSpPr>
                  <p:cNvPr id="1487" name="Google Shape;1487;p64"/>
                  <p:cNvCxnSpPr>
                    <a:stCxn id="1478" idx="5"/>
                    <a:endCxn id="1481" idx="1"/>
                  </p:cNvCxnSpPr>
                  <p:nvPr/>
                </p:nvCxnSpPr>
                <p:spPr>
                  <a:xfrm>
                    <a:off x="1416411" y="1643802"/>
                    <a:ext cx="239700" cy="418200"/>
                  </a:xfrm>
                  <a:prstGeom prst="straightConnector1">
                    <a:avLst/>
                  </a:prstGeom>
                  <a:noFill/>
                  <a:ln cap="flat" cmpd="sng" w="9525">
                    <a:solidFill>
                      <a:srgbClr val="1155CC"/>
                    </a:solidFill>
                    <a:prstDash val="solid"/>
                    <a:round/>
                    <a:headEnd len="med" w="med" type="none"/>
                    <a:tailEnd len="med" w="med" type="none"/>
                  </a:ln>
                </p:spPr>
              </p:cxnSp>
              <p:cxnSp>
                <p:nvCxnSpPr>
                  <p:cNvPr id="1488" name="Google Shape;1488;p64"/>
                  <p:cNvCxnSpPr>
                    <a:stCxn id="1481" idx="2"/>
                    <a:endCxn id="1480" idx="6"/>
                  </p:cNvCxnSpPr>
                  <p:nvPr/>
                </p:nvCxnSpPr>
                <p:spPr>
                  <a:xfrm rot="10800000">
                    <a:off x="1119550" y="2183525"/>
                    <a:ext cx="489900" cy="0"/>
                  </a:xfrm>
                  <a:prstGeom prst="straightConnector1">
                    <a:avLst/>
                  </a:prstGeom>
                  <a:noFill/>
                  <a:ln cap="flat" cmpd="sng" w="9525">
                    <a:solidFill>
                      <a:srgbClr val="1155CC"/>
                    </a:solidFill>
                    <a:prstDash val="solid"/>
                    <a:round/>
                    <a:headEnd len="med" w="med" type="none"/>
                    <a:tailEnd len="med" w="med" type="none"/>
                  </a:ln>
                </p:spPr>
              </p:cxnSp>
              <p:cxnSp>
                <p:nvCxnSpPr>
                  <p:cNvPr id="1489" name="Google Shape;1489;p64"/>
                  <p:cNvCxnSpPr>
                    <a:stCxn id="1479" idx="3"/>
                    <a:endCxn id="1481" idx="0"/>
                  </p:cNvCxnSpPr>
                  <p:nvPr/>
                </p:nvCxnSpPr>
                <p:spPr>
                  <a:xfrm flipH="1">
                    <a:off x="1768714" y="1643802"/>
                    <a:ext cx="217800" cy="367800"/>
                  </a:xfrm>
                  <a:prstGeom prst="straightConnector1">
                    <a:avLst/>
                  </a:prstGeom>
                  <a:noFill/>
                  <a:ln cap="flat" cmpd="sng" w="9525">
                    <a:solidFill>
                      <a:srgbClr val="F1C232"/>
                    </a:solidFill>
                    <a:prstDash val="solid"/>
                    <a:round/>
                    <a:headEnd len="med" w="med" type="none"/>
                    <a:tailEnd len="med" w="med" type="none"/>
                  </a:ln>
                </p:spPr>
              </p:cxnSp>
              <p:cxnSp>
                <p:nvCxnSpPr>
                  <p:cNvPr id="1490" name="Google Shape;1490;p64"/>
                  <p:cNvCxnSpPr>
                    <a:stCxn id="1479" idx="5"/>
                    <a:endCxn id="1482" idx="1"/>
                  </p:cNvCxnSpPr>
                  <p:nvPr/>
                </p:nvCxnSpPr>
                <p:spPr>
                  <a:xfrm>
                    <a:off x="2211586" y="1643802"/>
                    <a:ext cx="298500" cy="418200"/>
                  </a:xfrm>
                  <a:prstGeom prst="straightConnector1">
                    <a:avLst/>
                  </a:prstGeom>
                  <a:noFill/>
                  <a:ln cap="flat" cmpd="sng" w="9525">
                    <a:solidFill>
                      <a:srgbClr val="1155CC"/>
                    </a:solidFill>
                    <a:prstDash val="solid"/>
                    <a:round/>
                    <a:headEnd len="med" w="med" type="none"/>
                    <a:tailEnd len="med" w="med" type="none"/>
                  </a:ln>
                </p:spPr>
              </p:cxnSp>
              <p:cxnSp>
                <p:nvCxnSpPr>
                  <p:cNvPr id="1491" name="Google Shape;1491;p64"/>
                  <p:cNvCxnSpPr>
                    <a:stCxn id="1482" idx="2"/>
                    <a:endCxn id="1481" idx="6"/>
                  </p:cNvCxnSpPr>
                  <p:nvPr/>
                </p:nvCxnSpPr>
                <p:spPr>
                  <a:xfrm rot="10800000">
                    <a:off x="1927700" y="2183525"/>
                    <a:ext cx="535800" cy="0"/>
                  </a:xfrm>
                  <a:prstGeom prst="straightConnector1">
                    <a:avLst/>
                  </a:prstGeom>
                  <a:noFill/>
                  <a:ln cap="flat" cmpd="sng" w="9525">
                    <a:solidFill>
                      <a:srgbClr val="1C4587"/>
                    </a:solidFill>
                    <a:prstDash val="solid"/>
                    <a:round/>
                    <a:headEnd len="med" w="med" type="none"/>
                    <a:tailEnd len="med" w="med" type="none"/>
                  </a:ln>
                </p:spPr>
              </p:cxnSp>
              <p:cxnSp>
                <p:nvCxnSpPr>
                  <p:cNvPr id="1492" name="Google Shape;1492;p64"/>
                  <p:cNvCxnSpPr>
                    <a:stCxn id="1482" idx="3"/>
                    <a:endCxn id="1483" idx="7"/>
                  </p:cNvCxnSpPr>
                  <p:nvPr/>
                </p:nvCxnSpPr>
                <p:spPr>
                  <a:xfrm flipH="1">
                    <a:off x="2244614" y="2305077"/>
                    <a:ext cx="265500" cy="290400"/>
                  </a:xfrm>
                  <a:prstGeom prst="straightConnector1">
                    <a:avLst/>
                  </a:prstGeom>
                  <a:noFill/>
                  <a:ln cap="flat" cmpd="sng" w="9525">
                    <a:solidFill>
                      <a:srgbClr val="1155CC"/>
                    </a:solidFill>
                    <a:prstDash val="solid"/>
                    <a:round/>
                    <a:headEnd len="med" w="med" type="none"/>
                    <a:tailEnd len="med" w="med" type="none"/>
                  </a:ln>
                </p:spPr>
              </p:cxnSp>
              <p:cxnSp>
                <p:nvCxnSpPr>
                  <p:cNvPr id="1493" name="Google Shape;1493;p64"/>
                  <p:cNvCxnSpPr>
                    <a:stCxn id="1481" idx="4"/>
                    <a:endCxn id="1483" idx="1"/>
                  </p:cNvCxnSpPr>
                  <p:nvPr/>
                </p:nvCxnSpPr>
                <p:spPr>
                  <a:xfrm>
                    <a:off x="1768600" y="2355425"/>
                    <a:ext cx="251100" cy="240000"/>
                  </a:xfrm>
                  <a:prstGeom prst="straightConnector1">
                    <a:avLst/>
                  </a:prstGeom>
                  <a:noFill/>
                  <a:ln cap="flat" cmpd="sng" w="9525">
                    <a:solidFill>
                      <a:srgbClr val="1155CC"/>
                    </a:solidFill>
                    <a:prstDash val="solid"/>
                    <a:round/>
                    <a:headEnd len="med" w="med" type="none"/>
                    <a:tailEnd len="med" w="med" type="none"/>
                  </a:ln>
                </p:spPr>
              </p:cxnSp>
              <p:cxnSp>
                <p:nvCxnSpPr>
                  <p:cNvPr id="1494" name="Google Shape;1494;p64"/>
                  <p:cNvCxnSpPr>
                    <a:stCxn id="1484" idx="2"/>
                    <a:endCxn id="1482" idx="6"/>
                  </p:cNvCxnSpPr>
                  <p:nvPr/>
                </p:nvCxnSpPr>
                <p:spPr>
                  <a:xfrm rot="10800000">
                    <a:off x="2781900" y="2183525"/>
                    <a:ext cx="443700" cy="0"/>
                  </a:xfrm>
                  <a:prstGeom prst="straightConnector1">
                    <a:avLst/>
                  </a:prstGeom>
                  <a:noFill/>
                  <a:ln cap="flat" cmpd="sng" w="9525">
                    <a:solidFill>
                      <a:srgbClr val="1C4587"/>
                    </a:solidFill>
                    <a:prstDash val="solid"/>
                    <a:round/>
                    <a:headEnd len="med" w="med" type="none"/>
                    <a:tailEnd len="med" w="med" type="none"/>
                  </a:ln>
                </p:spPr>
              </p:cxnSp>
              <p:sp>
                <p:nvSpPr>
                  <p:cNvPr id="1495" name="Google Shape;1495;p64"/>
                  <p:cNvSpPr txBox="1"/>
                  <p:nvPr/>
                </p:nvSpPr>
                <p:spPr>
                  <a:xfrm>
                    <a:off x="3272075" y="1146650"/>
                    <a:ext cx="29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rebuchet MS"/>
                        <a:ea typeface="Trebuchet MS"/>
                        <a:cs typeface="Trebuchet MS"/>
                        <a:sym typeface="Trebuchet MS"/>
                      </a:rPr>
                      <a:t>v</a:t>
                    </a:r>
                    <a:endParaRPr>
                      <a:latin typeface="Trebuchet MS"/>
                      <a:ea typeface="Trebuchet MS"/>
                      <a:cs typeface="Trebuchet MS"/>
                      <a:sym typeface="Trebuchet MS"/>
                    </a:endParaRPr>
                  </a:p>
                </p:txBody>
              </p:sp>
            </p:grpSp>
            <p:cxnSp>
              <p:nvCxnSpPr>
                <p:cNvPr id="1496" name="Google Shape;1496;p64"/>
                <p:cNvCxnSpPr>
                  <a:stCxn id="1485" idx="2"/>
                  <a:endCxn id="1479" idx="6"/>
                </p:cNvCxnSpPr>
                <p:nvPr/>
              </p:nvCxnSpPr>
              <p:spPr>
                <a:xfrm rot="10800000">
                  <a:off x="2258250" y="1522250"/>
                  <a:ext cx="624000" cy="0"/>
                </a:xfrm>
                <a:prstGeom prst="straightConnector1">
                  <a:avLst/>
                </a:prstGeom>
                <a:noFill/>
                <a:ln cap="flat" cmpd="sng" w="19050">
                  <a:solidFill>
                    <a:srgbClr val="F1C232"/>
                  </a:solidFill>
                  <a:prstDash val="solid"/>
                  <a:round/>
                  <a:headEnd len="med" w="med" type="none"/>
                  <a:tailEnd len="med" w="med" type="none"/>
                </a:ln>
              </p:spPr>
            </p:cxnSp>
          </p:grpSp>
        </p:grpSp>
        <p:cxnSp>
          <p:nvCxnSpPr>
            <p:cNvPr id="1497" name="Google Shape;1497;p64"/>
            <p:cNvCxnSpPr>
              <a:stCxn id="1484" idx="0"/>
              <a:endCxn id="1485" idx="4"/>
            </p:cNvCxnSpPr>
            <p:nvPr/>
          </p:nvCxnSpPr>
          <p:spPr>
            <a:xfrm rot="10800000">
              <a:off x="3046825" y="1694138"/>
              <a:ext cx="343200" cy="317400"/>
            </a:xfrm>
            <a:prstGeom prst="straightConnector1">
              <a:avLst/>
            </a:prstGeom>
            <a:noFill/>
            <a:ln cap="flat" cmpd="sng" w="9525">
              <a:solidFill>
                <a:srgbClr val="1C4587"/>
              </a:solidFill>
              <a:prstDash val="solid"/>
              <a:round/>
              <a:headEnd len="med" w="med" type="none"/>
              <a:tailEnd len="med" w="med" type="none"/>
            </a:ln>
          </p:spPr>
        </p:cxnSp>
        <p:cxnSp>
          <p:nvCxnSpPr>
            <p:cNvPr id="1498" name="Google Shape;1498;p64"/>
            <p:cNvCxnSpPr>
              <a:stCxn id="1482" idx="7"/>
              <a:endCxn id="1485" idx="4"/>
            </p:cNvCxnSpPr>
            <p:nvPr/>
          </p:nvCxnSpPr>
          <p:spPr>
            <a:xfrm flipH="1" rot="10800000">
              <a:off x="2740461" y="1694086"/>
              <a:ext cx="306300" cy="367800"/>
            </a:xfrm>
            <a:prstGeom prst="straightConnector1">
              <a:avLst/>
            </a:prstGeom>
            <a:noFill/>
            <a:ln cap="flat" cmpd="sng" w="9525">
              <a:solidFill>
                <a:srgbClr val="1C4587"/>
              </a:solidFill>
              <a:prstDash val="solid"/>
              <a:round/>
              <a:headEnd len="med" w="med" type="none"/>
              <a:tailEnd len="med" w="med" type="none"/>
            </a:ln>
          </p:spPr>
        </p:cxnSp>
      </p:grpSp>
      <p:grpSp>
        <p:nvGrpSpPr>
          <p:cNvPr id="1499" name="Google Shape;1499;p64"/>
          <p:cNvGrpSpPr/>
          <p:nvPr/>
        </p:nvGrpSpPr>
        <p:grpSpPr>
          <a:xfrm>
            <a:off x="4149950" y="3247250"/>
            <a:ext cx="3221100" cy="1907400"/>
            <a:chOff x="590325" y="1105550"/>
            <a:chExt cx="3221100" cy="1907400"/>
          </a:xfrm>
        </p:grpSpPr>
        <p:grpSp>
          <p:nvGrpSpPr>
            <p:cNvPr id="1500" name="Google Shape;1500;p64"/>
            <p:cNvGrpSpPr/>
            <p:nvPr/>
          </p:nvGrpSpPr>
          <p:grpSpPr>
            <a:xfrm>
              <a:off x="590325" y="1105550"/>
              <a:ext cx="3221100" cy="1907400"/>
              <a:chOff x="585050" y="1105638"/>
              <a:chExt cx="3221100" cy="1907400"/>
            </a:xfrm>
          </p:grpSpPr>
          <p:sp>
            <p:nvSpPr>
              <p:cNvPr id="1501" name="Google Shape;1501;p64"/>
              <p:cNvSpPr/>
              <p:nvPr/>
            </p:nvSpPr>
            <p:spPr>
              <a:xfrm>
                <a:off x="585050" y="1105638"/>
                <a:ext cx="3221100" cy="1907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2" name="Google Shape;1502;p64"/>
              <p:cNvGrpSpPr/>
              <p:nvPr/>
            </p:nvGrpSpPr>
            <p:grpSpPr>
              <a:xfrm>
                <a:off x="801375" y="1146650"/>
                <a:ext cx="2762300" cy="1742375"/>
                <a:chOff x="801375" y="1146650"/>
                <a:chExt cx="2762300" cy="1742375"/>
              </a:xfrm>
            </p:grpSpPr>
            <p:grpSp>
              <p:nvGrpSpPr>
                <p:cNvPr id="1503" name="Google Shape;1503;p64"/>
                <p:cNvGrpSpPr/>
                <p:nvPr/>
              </p:nvGrpSpPr>
              <p:grpSpPr>
                <a:xfrm>
                  <a:off x="801375" y="1146650"/>
                  <a:ext cx="2762300" cy="1742375"/>
                  <a:chOff x="801375" y="1146650"/>
                  <a:chExt cx="2762300" cy="1742375"/>
                </a:xfrm>
              </p:grpSpPr>
              <p:sp>
                <p:nvSpPr>
                  <p:cNvPr id="1504" name="Google Shape;1504;p64"/>
                  <p:cNvSpPr/>
                  <p:nvPr/>
                </p:nvSpPr>
                <p:spPr>
                  <a:xfrm>
                    <a:off x="1144725" y="1350350"/>
                    <a:ext cx="318300" cy="343800"/>
                  </a:xfrm>
                  <a:prstGeom prst="ellipse">
                    <a:avLst/>
                  </a:prstGeom>
                  <a:solidFill>
                    <a:srgbClr val="B4A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4</a:t>
                    </a:r>
                    <a:endParaRPr/>
                  </a:p>
                </p:txBody>
              </p:sp>
              <p:sp>
                <p:nvSpPr>
                  <p:cNvPr id="1505" name="Google Shape;1505;p64"/>
                  <p:cNvSpPr/>
                  <p:nvPr/>
                </p:nvSpPr>
                <p:spPr>
                  <a:xfrm>
                    <a:off x="1939900" y="1350350"/>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2</a:t>
                    </a:r>
                    <a:endParaRPr>
                      <a:solidFill>
                        <a:srgbClr val="000000"/>
                      </a:solidFill>
                    </a:endParaRPr>
                  </a:p>
                </p:txBody>
              </p:sp>
              <p:sp>
                <p:nvSpPr>
                  <p:cNvPr id="1506" name="Google Shape;1506;p64"/>
                  <p:cNvSpPr/>
                  <p:nvPr/>
                </p:nvSpPr>
                <p:spPr>
                  <a:xfrm>
                    <a:off x="801375" y="201162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64"/>
                  <p:cNvSpPr/>
                  <p:nvPr/>
                </p:nvSpPr>
                <p:spPr>
                  <a:xfrm>
                    <a:off x="1609450" y="2011625"/>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1508" name="Google Shape;1508;p64"/>
                  <p:cNvSpPr/>
                  <p:nvPr/>
                </p:nvSpPr>
                <p:spPr>
                  <a:xfrm>
                    <a:off x="2463500" y="2011625"/>
                    <a:ext cx="318300" cy="343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3</a:t>
                    </a:r>
                    <a:endParaRPr>
                      <a:solidFill>
                        <a:srgbClr val="000000"/>
                      </a:solidFill>
                    </a:endParaRPr>
                  </a:p>
                </p:txBody>
              </p:sp>
              <p:sp>
                <p:nvSpPr>
                  <p:cNvPr id="1509" name="Google Shape;1509;p64"/>
                  <p:cNvSpPr/>
                  <p:nvPr/>
                </p:nvSpPr>
                <p:spPr>
                  <a:xfrm>
                    <a:off x="1973075" y="254522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64"/>
                  <p:cNvSpPr/>
                  <p:nvPr/>
                </p:nvSpPr>
                <p:spPr>
                  <a:xfrm>
                    <a:off x="3225600" y="2011625"/>
                    <a:ext cx="318300" cy="343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4</a:t>
                    </a:r>
                    <a:endParaRPr>
                      <a:solidFill>
                        <a:srgbClr val="000000"/>
                      </a:solidFill>
                    </a:endParaRPr>
                  </a:p>
                </p:txBody>
              </p:sp>
              <p:sp>
                <p:nvSpPr>
                  <p:cNvPr id="1511" name="Google Shape;1511;p64"/>
                  <p:cNvSpPr/>
                  <p:nvPr/>
                </p:nvSpPr>
                <p:spPr>
                  <a:xfrm>
                    <a:off x="2882250" y="1350350"/>
                    <a:ext cx="318300" cy="3438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1</a:t>
                    </a:r>
                    <a:endParaRPr>
                      <a:solidFill>
                        <a:srgbClr val="000000"/>
                      </a:solidFill>
                    </a:endParaRPr>
                  </a:p>
                </p:txBody>
              </p:sp>
              <p:cxnSp>
                <p:nvCxnSpPr>
                  <p:cNvPr id="1512" name="Google Shape;1512;p64"/>
                  <p:cNvCxnSpPr>
                    <a:stCxn id="1504" idx="3"/>
                    <a:endCxn id="1506" idx="0"/>
                  </p:cNvCxnSpPr>
                  <p:nvPr/>
                </p:nvCxnSpPr>
                <p:spPr>
                  <a:xfrm flipH="1">
                    <a:off x="960639" y="1643802"/>
                    <a:ext cx="230700" cy="367800"/>
                  </a:xfrm>
                  <a:prstGeom prst="straightConnector1">
                    <a:avLst/>
                  </a:prstGeom>
                  <a:noFill/>
                  <a:ln cap="flat" cmpd="sng" w="9525">
                    <a:solidFill>
                      <a:srgbClr val="1155CC"/>
                    </a:solidFill>
                    <a:prstDash val="solid"/>
                    <a:round/>
                    <a:headEnd len="med" w="med" type="none"/>
                    <a:tailEnd len="med" w="med" type="none"/>
                  </a:ln>
                </p:spPr>
              </p:cxnSp>
              <p:cxnSp>
                <p:nvCxnSpPr>
                  <p:cNvPr id="1513" name="Google Shape;1513;p64"/>
                  <p:cNvCxnSpPr>
                    <a:stCxn id="1504" idx="5"/>
                    <a:endCxn id="1507" idx="1"/>
                  </p:cNvCxnSpPr>
                  <p:nvPr/>
                </p:nvCxnSpPr>
                <p:spPr>
                  <a:xfrm>
                    <a:off x="1416411" y="1643802"/>
                    <a:ext cx="239700" cy="418200"/>
                  </a:xfrm>
                  <a:prstGeom prst="straightConnector1">
                    <a:avLst/>
                  </a:prstGeom>
                  <a:noFill/>
                  <a:ln cap="flat" cmpd="sng" w="9525">
                    <a:solidFill>
                      <a:srgbClr val="F1C232"/>
                    </a:solidFill>
                    <a:prstDash val="solid"/>
                    <a:round/>
                    <a:headEnd len="med" w="med" type="none"/>
                    <a:tailEnd len="med" w="med" type="none"/>
                  </a:ln>
                </p:spPr>
              </p:cxnSp>
              <p:cxnSp>
                <p:nvCxnSpPr>
                  <p:cNvPr id="1514" name="Google Shape;1514;p64"/>
                  <p:cNvCxnSpPr>
                    <a:stCxn id="1507" idx="2"/>
                    <a:endCxn id="1506" idx="6"/>
                  </p:cNvCxnSpPr>
                  <p:nvPr/>
                </p:nvCxnSpPr>
                <p:spPr>
                  <a:xfrm rot="10800000">
                    <a:off x="1119550" y="2183525"/>
                    <a:ext cx="489900" cy="0"/>
                  </a:xfrm>
                  <a:prstGeom prst="straightConnector1">
                    <a:avLst/>
                  </a:prstGeom>
                  <a:noFill/>
                  <a:ln cap="flat" cmpd="sng" w="9525">
                    <a:solidFill>
                      <a:srgbClr val="1155CC"/>
                    </a:solidFill>
                    <a:prstDash val="solid"/>
                    <a:round/>
                    <a:headEnd len="med" w="med" type="none"/>
                    <a:tailEnd len="med" w="med" type="none"/>
                  </a:ln>
                </p:spPr>
              </p:cxnSp>
              <p:cxnSp>
                <p:nvCxnSpPr>
                  <p:cNvPr id="1515" name="Google Shape;1515;p64"/>
                  <p:cNvCxnSpPr>
                    <a:stCxn id="1505" idx="3"/>
                    <a:endCxn id="1507" idx="0"/>
                  </p:cNvCxnSpPr>
                  <p:nvPr/>
                </p:nvCxnSpPr>
                <p:spPr>
                  <a:xfrm flipH="1">
                    <a:off x="1768714" y="1643802"/>
                    <a:ext cx="217800" cy="367800"/>
                  </a:xfrm>
                  <a:prstGeom prst="straightConnector1">
                    <a:avLst/>
                  </a:prstGeom>
                  <a:noFill/>
                  <a:ln cap="flat" cmpd="sng" w="9525">
                    <a:solidFill>
                      <a:srgbClr val="F1C232"/>
                    </a:solidFill>
                    <a:prstDash val="solid"/>
                    <a:round/>
                    <a:headEnd len="med" w="med" type="none"/>
                    <a:tailEnd len="med" w="med" type="none"/>
                  </a:ln>
                </p:spPr>
              </p:cxnSp>
              <p:cxnSp>
                <p:nvCxnSpPr>
                  <p:cNvPr id="1516" name="Google Shape;1516;p64"/>
                  <p:cNvCxnSpPr>
                    <a:stCxn id="1505" idx="5"/>
                    <a:endCxn id="1508" idx="1"/>
                  </p:cNvCxnSpPr>
                  <p:nvPr/>
                </p:nvCxnSpPr>
                <p:spPr>
                  <a:xfrm>
                    <a:off x="2211586" y="1643802"/>
                    <a:ext cx="298500" cy="418200"/>
                  </a:xfrm>
                  <a:prstGeom prst="straightConnector1">
                    <a:avLst/>
                  </a:prstGeom>
                  <a:noFill/>
                  <a:ln cap="flat" cmpd="sng" w="9525">
                    <a:solidFill>
                      <a:srgbClr val="1155CC"/>
                    </a:solidFill>
                    <a:prstDash val="solid"/>
                    <a:round/>
                    <a:headEnd len="med" w="med" type="none"/>
                    <a:tailEnd len="med" w="med" type="none"/>
                  </a:ln>
                </p:spPr>
              </p:cxnSp>
              <p:cxnSp>
                <p:nvCxnSpPr>
                  <p:cNvPr id="1517" name="Google Shape;1517;p64"/>
                  <p:cNvCxnSpPr>
                    <a:stCxn id="1508" idx="2"/>
                    <a:endCxn id="1507" idx="6"/>
                  </p:cNvCxnSpPr>
                  <p:nvPr/>
                </p:nvCxnSpPr>
                <p:spPr>
                  <a:xfrm rot="10800000">
                    <a:off x="1927700" y="2183525"/>
                    <a:ext cx="535800" cy="0"/>
                  </a:xfrm>
                  <a:prstGeom prst="straightConnector1">
                    <a:avLst/>
                  </a:prstGeom>
                  <a:noFill/>
                  <a:ln cap="flat" cmpd="sng" w="9525">
                    <a:solidFill>
                      <a:srgbClr val="1C4587"/>
                    </a:solidFill>
                    <a:prstDash val="solid"/>
                    <a:round/>
                    <a:headEnd len="med" w="med" type="none"/>
                    <a:tailEnd len="med" w="med" type="none"/>
                  </a:ln>
                </p:spPr>
              </p:cxnSp>
              <p:cxnSp>
                <p:nvCxnSpPr>
                  <p:cNvPr id="1518" name="Google Shape;1518;p64"/>
                  <p:cNvCxnSpPr>
                    <a:stCxn id="1508" idx="3"/>
                    <a:endCxn id="1509" idx="7"/>
                  </p:cNvCxnSpPr>
                  <p:nvPr/>
                </p:nvCxnSpPr>
                <p:spPr>
                  <a:xfrm flipH="1">
                    <a:off x="2244614" y="2305077"/>
                    <a:ext cx="265500" cy="290400"/>
                  </a:xfrm>
                  <a:prstGeom prst="straightConnector1">
                    <a:avLst/>
                  </a:prstGeom>
                  <a:noFill/>
                  <a:ln cap="flat" cmpd="sng" w="9525">
                    <a:solidFill>
                      <a:srgbClr val="1155CC"/>
                    </a:solidFill>
                    <a:prstDash val="solid"/>
                    <a:round/>
                    <a:headEnd len="med" w="med" type="none"/>
                    <a:tailEnd len="med" w="med" type="none"/>
                  </a:ln>
                </p:spPr>
              </p:cxnSp>
              <p:cxnSp>
                <p:nvCxnSpPr>
                  <p:cNvPr id="1519" name="Google Shape;1519;p64"/>
                  <p:cNvCxnSpPr>
                    <a:stCxn id="1507" idx="4"/>
                    <a:endCxn id="1509" idx="1"/>
                  </p:cNvCxnSpPr>
                  <p:nvPr/>
                </p:nvCxnSpPr>
                <p:spPr>
                  <a:xfrm>
                    <a:off x="1768600" y="2355425"/>
                    <a:ext cx="251100" cy="240000"/>
                  </a:xfrm>
                  <a:prstGeom prst="straightConnector1">
                    <a:avLst/>
                  </a:prstGeom>
                  <a:noFill/>
                  <a:ln cap="flat" cmpd="sng" w="9525">
                    <a:solidFill>
                      <a:srgbClr val="1155CC"/>
                    </a:solidFill>
                    <a:prstDash val="solid"/>
                    <a:round/>
                    <a:headEnd len="med" w="med" type="none"/>
                    <a:tailEnd len="med" w="med" type="none"/>
                  </a:ln>
                </p:spPr>
              </p:cxnSp>
              <p:cxnSp>
                <p:nvCxnSpPr>
                  <p:cNvPr id="1520" name="Google Shape;1520;p64"/>
                  <p:cNvCxnSpPr>
                    <a:stCxn id="1510" idx="2"/>
                    <a:endCxn id="1508" idx="6"/>
                  </p:cNvCxnSpPr>
                  <p:nvPr/>
                </p:nvCxnSpPr>
                <p:spPr>
                  <a:xfrm rot="10800000">
                    <a:off x="2781900" y="2183525"/>
                    <a:ext cx="443700" cy="0"/>
                  </a:xfrm>
                  <a:prstGeom prst="straightConnector1">
                    <a:avLst/>
                  </a:prstGeom>
                  <a:noFill/>
                  <a:ln cap="flat" cmpd="sng" w="9525">
                    <a:solidFill>
                      <a:srgbClr val="1C4587"/>
                    </a:solidFill>
                    <a:prstDash val="solid"/>
                    <a:round/>
                    <a:headEnd len="med" w="med" type="none"/>
                    <a:tailEnd len="med" w="med" type="none"/>
                  </a:ln>
                </p:spPr>
              </p:cxnSp>
              <p:sp>
                <p:nvSpPr>
                  <p:cNvPr id="1521" name="Google Shape;1521;p64"/>
                  <p:cNvSpPr txBox="1"/>
                  <p:nvPr/>
                </p:nvSpPr>
                <p:spPr>
                  <a:xfrm>
                    <a:off x="3272075" y="1146650"/>
                    <a:ext cx="29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rebuchet MS"/>
                        <a:ea typeface="Trebuchet MS"/>
                        <a:cs typeface="Trebuchet MS"/>
                        <a:sym typeface="Trebuchet MS"/>
                      </a:rPr>
                      <a:t>v</a:t>
                    </a:r>
                    <a:endParaRPr>
                      <a:latin typeface="Trebuchet MS"/>
                      <a:ea typeface="Trebuchet MS"/>
                      <a:cs typeface="Trebuchet MS"/>
                      <a:sym typeface="Trebuchet MS"/>
                    </a:endParaRPr>
                  </a:p>
                </p:txBody>
              </p:sp>
            </p:grpSp>
            <p:cxnSp>
              <p:nvCxnSpPr>
                <p:cNvPr id="1522" name="Google Shape;1522;p64"/>
                <p:cNvCxnSpPr>
                  <a:stCxn id="1511" idx="2"/>
                  <a:endCxn id="1505" idx="6"/>
                </p:cNvCxnSpPr>
                <p:nvPr/>
              </p:nvCxnSpPr>
              <p:spPr>
                <a:xfrm rot="10800000">
                  <a:off x="2258250" y="1522250"/>
                  <a:ext cx="624000" cy="0"/>
                </a:xfrm>
                <a:prstGeom prst="straightConnector1">
                  <a:avLst/>
                </a:prstGeom>
                <a:noFill/>
                <a:ln cap="flat" cmpd="sng" w="19050">
                  <a:solidFill>
                    <a:srgbClr val="F1C232"/>
                  </a:solidFill>
                  <a:prstDash val="solid"/>
                  <a:round/>
                  <a:headEnd len="med" w="med" type="none"/>
                  <a:tailEnd len="med" w="med" type="none"/>
                </a:ln>
              </p:spPr>
            </p:cxnSp>
          </p:grpSp>
        </p:grpSp>
        <p:cxnSp>
          <p:nvCxnSpPr>
            <p:cNvPr id="1523" name="Google Shape;1523;p64"/>
            <p:cNvCxnSpPr>
              <a:stCxn id="1510" idx="0"/>
              <a:endCxn id="1511" idx="4"/>
            </p:cNvCxnSpPr>
            <p:nvPr/>
          </p:nvCxnSpPr>
          <p:spPr>
            <a:xfrm rot="10800000">
              <a:off x="3046825" y="1694138"/>
              <a:ext cx="343200" cy="317400"/>
            </a:xfrm>
            <a:prstGeom prst="straightConnector1">
              <a:avLst/>
            </a:prstGeom>
            <a:noFill/>
            <a:ln cap="flat" cmpd="sng" w="9525">
              <a:solidFill>
                <a:srgbClr val="1C4587"/>
              </a:solidFill>
              <a:prstDash val="solid"/>
              <a:round/>
              <a:headEnd len="med" w="med" type="none"/>
              <a:tailEnd len="med" w="med" type="none"/>
            </a:ln>
          </p:spPr>
        </p:cxnSp>
        <p:cxnSp>
          <p:nvCxnSpPr>
            <p:cNvPr id="1524" name="Google Shape;1524;p64"/>
            <p:cNvCxnSpPr>
              <a:stCxn id="1508" idx="7"/>
              <a:endCxn id="1511" idx="4"/>
            </p:cNvCxnSpPr>
            <p:nvPr/>
          </p:nvCxnSpPr>
          <p:spPr>
            <a:xfrm flipH="1" rot="10800000">
              <a:off x="2740461" y="1694086"/>
              <a:ext cx="306300" cy="367800"/>
            </a:xfrm>
            <a:prstGeom prst="straightConnector1">
              <a:avLst/>
            </a:prstGeom>
            <a:noFill/>
            <a:ln cap="flat" cmpd="sng" w="9525">
              <a:solidFill>
                <a:srgbClr val="1C4587"/>
              </a:solidFill>
              <a:prstDash val="solid"/>
              <a:round/>
              <a:headEnd len="med" w="med" type="none"/>
              <a:tailEnd len="med" w="med" type="none"/>
            </a:ln>
          </p:spPr>
        </p:cxnSp>
      </p:grpSp>
      <p:sp>
        <p:nvSpPr>
          <p:cNvPr id="1525" name="Google Shape;1525;p64"/>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0"/>
                                        </p:tgtEl>
                                        <p:attrNameLst>
                                          <p:attrName>style.visibility</p:attrName>
                                        </p:attrNameLst>
                                      </p:cBhvr>
                                      <p:to>
                                        <p:strVal val="visible"/>
                                      </p:to>
                                    </p:set>
                                    <p:animEffect filter="fade" transition="in">
                                      <p:cBhvr>
                                        <p:cTn dur="1000"/>
                                        <p:tgtEl>
                                          <p:spTgt spid="1400"/>
                                        </p:tgtEl>
                                      </p:cBhvr>
                                    </p:animEffect>
                                  </p:childTnLst>
                                </p:cTn>
                              </p:par>
                              <p:par>
                                <p:cTn fill="hold" nodeType="withEffect" presetClass="entr" presetID="10" presetSubtype="0">
                                  <p:stCondLst>
                                    <p:cond delay="0"/>
                                  </p:stCondLst>
                                  <p:childTnLst>
                                    <p:set>
                                      <p:cBhvr>
                                        <p:cTn dur="1" fill="hold">
                                          <p:stCondLst>
                                            <p:cond delay="0"/>
                                          </p:stCondLst>
                                        </p:cTn>
                                        <p:tgtEl>
                                          <p:spTgt spid="1401"/>
                                        </p:tgtEl>
                                        <p:attrNameLst>
                                          <p:attrName>style.visibility</p:attrName>
                                        </p:attrNameLst>
                                      </p:cBhvr>
                                      <p:to>
                                        <p:strVal val="visible"/>
                                      </p:to>
                                    </p:set>
                                    <p:animEffect filter="fade" transition="in">
                                      <p:cBhvr>
                                        <p:cTn dur="1000"/>
                                        <p:tgtEl>
                                          <p:spTgt spid="1401"/>
                                        </p:tgtEl>
                                      </p:cBhvr>
                                    </p:animEffect>
                                  </p:childTnLst>
                                </p:cTn>
                              </p:par>
                              <p:par>
                                <p:cTn fill="hold" nodeType="withEffect" presetClass="entr" presetID="10" presetSubtype="0">
                                  <p:stCondLst>
                                    <p:cond delay="0"/>
                                  </p:stCondLst>
                                  <p:childTnLst>
                                    <p:set>
                                      <p:cBhvr>
                                        <p:cTn dur="1" fill="hold">
                                          <p:stCondLst>
                                            <p:cond delay="0"/>
                                          </p:stCondLst>
                                        </p:cTn>
                                        <p:tgtEl>
                                          <p:spTgt spid="1402"/>
                                        </p:tgtEl>
                                        <p:attrNameLst>
                                          <p:attrName>style.visibility</p:attrName>
                                        </p:attrNameLst>
                                      </p:cBhvr>
                                      <p:to>
                                        <p:strVal val="visible"/>
                                      </p:to>
                                    </p:set>
                                    <p:animEffect filter="fade" transition="in">
                                      <p:cBhvr>
                                        <p:cTn dur="1000"/>
                                        <p:tgtEl>
                                          <p:spTgt spid="1402"/>
                                        </p:tgtEl>
                                      </p:cBhvr>
                                    </p:animEffect>
                                  </p:childTnLst>
                                </p:cTn>
                              </p:par>
                              <p:par>
                                <p:cTn fill="hold" nodeType="withEffect" presetClass="entr" presetID="10" presetSubtype="0">
                                  <p:stCondLst>
                                    <p:cond delay="0"/>
                                  </p:stCondLst>
                                  <p:childTnLst>
                                    <p:set>
                                      <p:cBhvr>
                                        <p:cTn dur="1" fill="hold">
                                          <p:stCondLst>
                                            <p:cond delay="0"/>
                                          </p:stCondLst>
                                        </p:cTn>
                                        <p:tgtEl>
                                          <p:spTgt spid="1403"/>
                                        </p:tgtEl>
                                        <p:attrNameLst>
                                          <p:attrName>style.visibility</p:attrName>
                                        </p:attrNameLst>
                                      </p:cBhvr>
                                      <p:to>
                                        <p:strVal val="visible"/>
                                      </p:to>
                                    </p:set>
                                    <p:animEffect filter="fade" transition="in">
                                      <p:cBhvr>
                                        <p:cTn dur="1000"/>
                                        <p:tgtEl>
                                          <p:spTgt spid="1403"/>
                                        </p:tgtEl>
                                      </p:cBhvr>
                                    </p:animEffect>
                                  </p:childTnLst>
                                </p:cTn>
                              </p:par>
                              <p:par>
                                <p:cTn fill="hold" nodeType="withEffect" presetClass="entr" presetID="10" presetSubtype="0">
                                  <p:stCondLst>
                                    <p:cond delay="0"/>
                                  </p:stCondLst>
                                  <p:childTnLst>
                                    <p:set>
                                      <p:cBhvr>
                                        <p:cTn dur="1" fill="hold">
                                          <p:stCondLst>
                                            <p:cond delay="0"/>
                                          </p:stCondLst>
                                        </p:cTn>
                                        <p:tgtEl>
                                          <p:spTgt spid="1404"/>
                                        </p:tgtEl>
                                        <p:attrNameLst>
                                          <p:attrName>style.visibility</p:attrName>
                                        </p:attrNameLst>
                                      </p:cBhvr>
                                      <p:to>
                                        <p:strVal val="visible"/>
                                      </p:to>
                                    </p:set>
                                    <p:animEffect filter="fade" transition="in">
                                      <p:cBhvr>
                                        <p:cTn dur="1000"/>
                                        <p:tgtEl>
                                          <p:spTgt spid="1404"/>
                                        </p:tgtEl>
                                      </p:cBhvr>
                                    </p:animEffect>
                                  </p:childTnLst>
                                </p:cTn>
                              </p:par>
                              <p:par>
                                <p:cTn fill="hold" nodeType="withEffect" presetClass="entr" presetID="10" presetSubtype="0">
                                  <p:stCondLst>
                                    <p:cond delay="0"/>
                                  </p:stCondLst>
                                  <p:childTnLst>
                                    <p:set>
                                      <p:cBhvr>
                                        <p:cTn dur="1" fill="hold">
                                          <p:stCondLst>
                                            <p:cond delay="0"/>
                                          </p:stCondLst>
                                        </p:cTn>
                                        <p:tgtEl>
                                          <p:spTgt spid="1406"/>
                                        </p:tgtEl>
                                        <p:attrNameLst>
                                          <p:attrName>style.visibility</p:attrName>
                                        </p:attrNameLst>
                                      </p:cBhvr>
                                      <p:to>
                                        <p:strVal val="visible"/>
                                      </p:to>
                                    </p:set>
                                    <p:animEffect filter="fade" transition="in">
                                      <p:cBhvr>
                                        <p:cTn dur="1000"/>
                                        <p:tgtEl>
                                          <p:spTgt spid="1406"/>
                                        </p:tgtEl>
                                      </p:cBhvr>
                                    </p:animEffect>
                                  </p:childTnLst>
                                </p:cTn>
                              </p:par>
                              <p:par>
                                <p:cTn fill="hold" nodeType="withEffect" presetClass="entr" presetID="10" presetSubtype="0">
                                  <p:stCondLst>
                                    <p:cond delay="0"/>
                                  </p:stCondLst>
                                  <p:childTnLst>
                                    <p:set>
                                      <p:cBhvr>
                                        <p:cTn dur="1" fill="hold">
                                          <p:stCondLst>
                                            <p:cond delay="0"/>
                                          </p:stCondLst>
                                        </p:cTn>
                                        <p:tgtEl>
                                          <p:spTgt spid="1407"/>
                                        </p:tgtEl>
                                        <p:attrNameLst>
                                          <p:attrName>style.visibility</p:attrName>
                                        </p:attrNameLst>
                                      </p:cBhvr>
                                      <p:to>
                                        <p:strVal val="visible"/>
                                      </p:to>
                                    </p:set>
                                    <p:animEffect filter="fade" transition="in">
                                      <p:cBhvr>
                                        <p:cTn dur="1000"/>
                                        <p:tgtEl>
                                          <p:spTgt spid="1407"/>
                                        </p:tgtEl>
                                      </p:cBhvr>
                                    </p:animEffect>
                                  </p:childTnLst>
                                </p:cTn>
                              </p:par>
                              <p:par>
                                <p:cTn fill="hold" nodeType="withEffect" presetClass="entr" presetID="10" presetSubtype="0">
                                  <p:stCondLst>
                                    <p:cond delay="0"/>
                                  </p:stCondLst>
                                  <p:childTnLst>
                                    <p:set>
                                      <p:cBhvr>
                                        <p:cTn dur="1" fill="hold">
                                          <p:stCondLst>
                                            <p:cond delay="0"/>
                                          </p:stCondLst>
                                        </p:cTn>
                                        <p:tgtEl>
                                          <p:spTgt spid="1408"/>
                                        </p:tgtEl>
                                        <p:attrNameLst>
                                          <p:attrName>style.visibility</p:attrName>
                                        </p:attrNameLst>
                                      </p:cBhvr>
                                      <p:to>
                                        <p:strVal val="visible"/>
                                      </p:to>
                                    </p:set>
                                    <p:animEffect filter="fade" transition="in">
                                      <p:cBhvr>
                                        <p:cTn dur="1000"/>
                                        <p:tgtEl>
                                          <p:spTgt spid="1408"/>
                                        </p:tgtEl>
                                      </p:cBhvr>
                                    </p:animEffect>
                                  </p:childTnLst>
                                </p:cTn>
                              </p:par>
                              <p:par>
                                <p:cTn fill="hold" nodeType="withEffect" presetClass="entr" presetID="10" presetSubtype="0">
                                  <p:stCondLst>
                                    <p:cond delay="0"/>
                                  </p:stCondLst>
                                  <p:childTnLst>
                                    <p:set>
                                      <p:cBhvr>
                                        <p:cTn dur="1" fill="hold">
                                          <p:stCondLst>
                                            <p:cond delay="0"/>
                                          </p:stCondLst>
                                        </p:cTn>
                                        <p:tgtEl>
                                          <p:spTgt spid="1409"/>
                                        </p:tgtEl>
                                        <p:attrNameLst>
                                          <p:attrName>style.visibility</p:attrName>
                                        </p:attrNameLst>
                                      </p:cBhvr>
                                      <p:to>
                                        <p:strVal val="visible"/>
                                      </p:to>
                                    </p:set>
                                    <p:animEffect filter="fade" transition="in">
                                      <p:cBhvr>
                                        <p:cTn dur="1000"/>
                                        <p:tgtEl>
                                          <p:spTgt spid="1409"/>
                                        </p:tgtEl>
                                      </p:cBhvr>
                                    </p:animEffect>
                                  </p:childTnLst>
                                </p:cTn>
                              </p:par>
                              <p:par>
                                <p:cTn fill="hold" nodeType="withEffect" presetClass="entr" presetID="10" presetSubtype="0">
                                  <p:stCondLst>
                                    <p:cond delay="0"/>
                                  </p:stCondLst>
                                  <p:childTnLst>
                                    <p:set>
                                      <p:cBhvr>
                                        <p:cTn dur="1" fill="hold">
                                          <p:stCondLst>
                                            <p:cond delay="0"/>
                                          </p:stCondLst>
                                        </p:cTn>
                                        <p:tgtEl>
                                          <p:spTgt spid="1410"/>
                                        </p:tgtEl>
                                        <p:attrNameLst>
                                          <p:attrName>style.visibility</p:attrName>
                                        </p:attrNameLst>
                                      </p:cBhvr>
                                      <p:to>
                                        <p:strVal val="visible"/>
                                      </p:to>
                                    </p:set>
                                    <p:animEffect filter="fade" transition="in">
                                      <p:cBhvr>
                                        <p:cTn dur="1000"/>
                                        <p:tgtEl>
                                          <p:spTgt spid="1410"/>
                                        </p:tgtEl>
                                      </p:cBhvr>
                                    </p:animEffect>
                                  </p:childTnLst>
                                </p:cTn>
                              </p:par>
                              <p:par>
                                <p:cTn fill="hold" nodeType="withEffect" presetClass="entr" presetID="10" presetSubtype="0">
                                  <p:stCondLst>
                                    <p:cond delay="0"/>
                                  </p:stCondLst>
                                  <p:childTnLst>
                                    <p:set>
                                      <p:cBhvr>
                                        <p:cTn dur="1" fill="hold">
                                          <p:stCondLst>
                                            <p:cond delay="0"/>
                                          </p:stCondLst>
                                        </p:cTn>
                                        <p:tgtEl>
                                          <p:spTgt spid="1411"/>
                                        </p:tgtEl>
                                        <p:attrNameLst>
                                          <p:attrName>style.visibility</p:attrName>
                                        </p:attrNameLst>
                                      </p:cBhvr>
                                      <p:to>
                                        <p:strVal val="visible"/>
                                      </p:to>
                                    </p:set>
                                    <p:animEffect filter="fade" transition="in">
                                      <p:cBhvr>
                                        <p:cTn dur="1000"/>
                                        <p:tgtEl>
                                          <p:spTgt spid="1411"/>
                                        </p:tgtEl>
                                      </p:cBhvr>
                                    </p:animEffect>
                                  </p:childTnLst>
                                </p:cTn>
                              </p:par>
                              <p:par>
                                <p:cTn fill="hold" nodeType="withEffect" presetClass="entr" presetID="10" presetSubtype="0">
                                  <p:stCondLst>
                                    <p:cond delay="0"/>
                                  </p:stCondLst>
                                  <p:childTnLst>
                                    <p:set>
                                      <p:cBhvr>
                                        <p:cTn dur="1" fill="hold">
                                          <p:stCondLst>
                                            <p:cond delay="0"/>
                                          </p:stCondLst>
                                        </p:cTn>
                                        <p:tgtEl>
                                          <p:spTgt spid="1412"/>
                                        </p:tgtEl>
                                        <p:attrNameLst>
                                          <p:attrName>style.visibility</p:attrName>
                                        </p:attrNameLst>
                                      </p:cBhvr>
                                      <p:to>
                                        <p:strVal val="visible"/>
                                      </p:to>
                                    </p:set>
                                    <p:animEffect filter="fade" transition="in">
                                      <p:cBhvr>
                                        <p:cTn dur="1000"/>
                                        <p:tgtEl>
                                          <p:spTgt spid="1412"/>
                                        </p:tgtEl>
                                      </p:cBhvr>
                                    </p:animEffect>
                                  </p:childTnLst>
                                </p:cTn>
                              </p:par>
                              <p:par>
                                <p:cTn fill="hold" nodeType="withEffect" presetClass="entr" presetID="10" presetSubtype="0">
                                  <p:stCondLst>
                                    <p:cond delay="0"/>
                                  </p:stCondLst>
                                  <p:childTnLst>
                                    <p:set>
                                      <p:cBhvr>
                                        <p:cTn dur="1" fill="hold">
                                          <p:stCondLst>
                                            <p:cond delay="0"/>
                                          </p:stCondLst>
                                        </p:cTn>
                                        <p:tgtEl>
                                          <p:spTgt spid="1413"/>
                                        </p:tgtEl>
                                        <p:attrNameLst>
                                          <p:attrName>style.visibility</p:attrName>
                                        </p:attrNameLst>
                                      </p:cBhvr>
                                      <p:to>
                                        <p:strVal val="visible"/>
                                      </p:to>
                                    </p:set>
                                    <p:animEffect filter="fade" transition="in">
                                      <p:cBhvr>
                                        <p:cTn dur="1000"/>
                                        <p:tgtEl>
                                          <p:spTgt spid="1413"/>
                                        </p:tgtEl>
                                      </p:cBhvr>
                                    </p:animEffect>
                                  </p:childTnLst>
                                </p:cTn>
                              </p:par>
                              <p:par>
                                <p:cTn fill="hold" nodeType="withEffect" presetClass="entr" presetID="10" presetSubtype="0">
                                  <p:stCondLst>
                                    <p:cond delay="0"/>
                                  </p:stCondLst>
                                  <p:childTnLst>
                                    <p:set>
                                      <p:cBhvr>
                                        <p:cTn dur="1" fill="hold">
                                          <p:stCondLst>
                                            <p:cond delay="0"/>
                                          </p:stCondLst>
                                        </p:cTn>
                                        <p:tgtEl>
                                          <p:spTgt spid="1414"/>
                                        </p:tgtEl>
                                        <p:attrNameLst>
                                          <p:attrName>style.visibility</p:attrName>
                                        </p:attrNameLst>
                                      </p:cBhvr>
                                      <p:to>
                                        <p:strVal val="visible"/>
                                      </p:to>
                                    </p:set>
                                    <p:animEffect filter="fade" transition="in">
                                      <p:cBhvr>
                                        <p:cTn dur="1000"/>
                                        <p:tgtEl>
                                          <p:spTgt spid="1414"/>
                                        </p:tgtEl>
                                      </p:cBhvr>
                                    </p:animEffect>
                                  </p:childTnLst>
                                </p:cTn>
                              </p:par>
                              <p:par>
                                <p:cTn fill="hold" nodeType="withEffect" presetClass="entr" presetID="10" presetSubtype="0">
                                  <p:stCondLst>
                                    <p:cond delay="0"/>
                                  </p:stCondLst>
                                  <p:childTnLst>
                                    <p:set>
                                      <p:cBhvr>
                                        <p:cTn dur="1" fill="hold">
                                          <p:stCondLst>
                                            <p:cond delay="0"/>
                                          </p:stCondLst>
                                        </p:cTn>
                                        <p:tgtEl>
                                          <p:spTgt spid="1415"/>
                                        </p:tgtEl>
                                        <p:attrNameLst>
                                          <p:attrName>style.visibility</p:attrName>
                                        </p:attrNameLst>
                                      </p:cBhvr>
                                      <p:to>
                                        <p:strVal val="visible"/>
                                      </p:to>
                                    </p:set>
                                    <p:animEffect filter="fade" transition="in">
                                      <p:cBhvr>
                                        <p:cTn dur="1000"/>
                                        <p:tgtEl>
                                          <p:spTgt spid="1415"/>
                                        </p:tgtEl>
                                      </p:cBhvr>
                                    </p:animEffect>
                                  </p:childTnLst>
                                </p:cTn>
                              </p:par>
                              <p:par>
                                <p:cTn fill="hold" nodeType="withEffect" presetClass="entr" presetID="10" presetSubtype="0">
                                  <p:stCondLst>
                                    <p:cond delay="0"/>
                                  </p:stCondLst>
                                  <p:childTnLst>
                                    <p:set>
                                      <p:cBhvr>
                                        <p:cTn dur="1" fill="hold">
                                          <p:stCondLst>
                                            <p:cond delay="0"/>
                                          </p:stCondLst>
                                        </p:cTn>
                                        <p:tgtEl>
                                          <p:spTgt spid="1416"/>
                                        </p:tgtEl>
                                        <p:attrNameLst>
                                          <p:attrName>style.visibility</p:attrName>
                                        </p:attrNameLst>
                                      </p:cBhvr>
                                      <p:to>
                                        <p:strVal val="visible"/>
                                      </p:to>
                                    </p:set>
                                    <p:animEffect filter="fade" transition="in">
                                      <p:cBhvr>
                                        <p:cTn dur="1000"/>
                                        <p:tgtEl>
                                          <p:spTgt spid="1416"/>
                                        </p:tgtEl>
                                      </p:cBhvr>
                                    </p:animEffect>
                                  </p:childTnLst>
                                </p:cTn>
                              </p:par>
                              <p:par>
                                <p:cTn fill="hold" nodeType="withEffect" presetClass="entr" presetID="10" presetSubtype="0">
                                  <p:stCondLst>
                                    <p:cond delay="0"/>
                                  </p:stCondLst>
                                  <p:childTnLst>
                                    <p:set>
                                      <p:cBhvr>
                                        <p:cTn dur="1" fill="hold">
                                          <p:stCondLst>
                                            <p:cond delay="0"/>
                                          </p:stCondLst>
                                        </p:cTn>
                                        <p:tgtEl>
                                          <p:spTgt spid="1417"/>
                                        </p:tgtEl>
                                        <p:attrNameLst>
                                          <p:attrName>style.visibility</p:attrName>
                                        </p:attrNameLst>
                                      </p:cBhvr>
                                      <p:to>
                                        <p:strVal val="visible"/>
                                      </p:to>
                                    </p:set>
                                    <p:animEffect filter="fade" transition="in">
                                      <p:cBhvr>
                                        <p:cTn dur="1000"/>
                                        <p:tgtEl>
                                          <p:spTgt spid="1417"/>
                                        </p:tgtEl>
                                      </p:cBhvr>
                                    </p:animEffect>
                                  </p:childTnLst>
                                </p:cTn>
                              </p:par>
                              <p:par>
                                <p:cTn fill="hold" nodeType="withEffect" presetClass="entr" presetID="10" presetSubtype="0">
                                  <p:stCondLst>
                                    <p:cond delay="0"/>
                                  </p:stCondLst>
                                  <p:childTnLst>
                                    <p:set>
                                      <p:cBhvr>
                                        <p:cTn dur="1" fill="hold">
                                          <p:stCondLst>
                                            <p:cond delay="0"/>
                                          </p:stCondLst>
                                        </p:cTn>
                                        <p:tgtEl>
                                          <p:spTgt spid="1418"/>
                                        </p:tgtEl>
                                        <p:attrNameLst>
                                          <p:attrName>style.visibility</p:attrName>
                                        </p:attrNameLst>
                                      </p:cBhvr>
                                      <p:to>
                                        <p:strVal val="visible"/>
                                      </p:to>
                                    </p:set>
                                    <p:animEffect filter="fade" transition="in">
                                      <p:cBhvr>
                                        <p:cTn dur="1000"/>
                                        <p:tgtEl>
                                          <p:spTgt spid="1418"/>
                                        </p:tgtEl>
                                      </p:cBhvr>
                                    </p:animEffect>
                                  </p:childTnLst>
                                </p:cTn>
                              </p:par>
                              <p:par>
                                <p:cTn fill="hold" nodeType="withEffect" presetClass="entr" presetID="10" presetSubtype="0">
                                  <p:stCondLst>
                                    <p:cond delay="0"/>
                                  </p:stCondLst>
                                  <p:childTnLst>
                                    <p:set>
                                      <p:cBhvr>
                                        <p:cTn dur="1" fill="hold">
                                          <p:stCondLst>
                                            <p:cond delay="0"/>
                                          </p:stCondLst>
                                        </p:cTn>
                                        <p:tgtEl>
                                          <p:spTgt spid="1419"/>
                                        </p:tgtEl>
                                        <p:attrNameLst>
                                          <p:attrName>style.visibility</p:attrName>
                                        </p:attrNameLst>
                                      </p:cBhvr>
                                      <p:to>
                                        <p:strVal val="visible"/>
                                      </p:to>
                                    </p:set>
                                    <p:animEffect filter="fade" transition="in">
                                      <p:cBhvr>
                                        <p:cTn dur="1000"/>
                                        <p:tgtEl>
                                          <p:spTgt spid="1419"/>
                                        </p:tgtEl>
                                      </p:cBhvr>
                                    </p:animEffect>
                                  </p:childTnLst>
                                </p:cTn>
                              </p:par>
                              <p:par>
                                <p:cTn fill="hold" nodeType="withEffect" presetClass="entr" presetID="10" presetSubtype="0">
                                  <p:stCondLst>
                                    <p:cond delay="0"/>
                                  </p:stCondLst>
                                  <p:childTnLst>
                                    <p:set>
                                      <p:cBhvr>
                                        <p:cTn dur="1" fill="hold">
                                          <p:stCondLst>
                                            <p:cond delay="0"/>
                                          </p:stCondLst>
                                        </p:cTn>
                                        <p:tgtEl>
                                          <p:spTgt spid="1405"/>
                                        </p:tgtEl>
                                        <p:attrNameLst>
                                          <p:attrName>style.visibility</p:attrName>
                                        </p:attrNameLst>
                                      </p:cBhvr>
                                      <p:to>
                                        <p:strVal val="visible"/>
                                      </p:to>
                                    </p:set>
                                    <p:animEffect filter="fade" transition="in">
                                      <p:cBhvr>
                                        <p:cTn dur="1000"/>
                                        <p:tgtEl>
                                          <p:spTgt spid="14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1"/>
                                        </p:tgtEl>
                                        <p:attrNameLst>
                                          <p:attrName>style.visibility</p:attrName>
                                        </p:attrNameLst>
                                      </p:cBhvr>
                                      <p:to>
                                        <p:strVal val="visible"/>
                                      </p:to>
                                    </p:set>
                                    <p:animEffect filter="fade" transition="in">
                                      <p:cBhvr>
                                        <p:cTn dur="1000"/>
                                        <p:tgtEl>
                                          <p:spTgt spid="14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7"/>
                                        </p:tgtEl>
                                        <p:attrNameLst>
                                          <p:attrName>style.visibility</p:attrName>
                                        </p:attrNameLst>
                                      </p:cBhvr>
                                      <p:to>
                                        <p:strVal val="visible"/>
                                      </p:to>
                                    </p:set>
                                    <p:animEffect filter="fade" transition="in">
                                      <p:cBhvr>
                                        <p:cTn dur="1000"/>
                                        <p:tgtEl>
                                          <p:spTgt spid="1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3"/>
                                        </p:tgtEl>
                                        <p:attrNameLst>
                                          <p:attrName>style.visibility</p:attrName>
                                        </p:attrNameLst>
                                      </p:cBhvr>
                                      <p:to>
                                        <p:strVal val="visible"/>
                                      </p:to>
                                    </p:set>
                                    <p:animEffect filter="fade" transition="in">
                                      <p:cBhvr>
                                        <p:cTn dur="1000"/>
                                        <p:tgtEl>
                                          <p:spTgt spid="14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9"/>
                                        </p:tgtEl>
                                        <p:attrNameLst>
                                          <p:attrName>style.visibility</p:attrName>
                                        </p:attrNameLst>
                                      </p:cBhvr>
                                      <p:to>
                                        <p:strVal val="visible"/>
                                      </p:to>
                                    </p:set>
                                    <p:animEffect filter="fade" transition="in">
                                      <p:cBhvr>
                                        <p:cTn dur="1000"/>
                                        <p:tgtEl>
                                          <p:spTgt spid="14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65"/>
          <p:cNvSpPr txBox="1"/>
          <p:nvPr>
            <p:ph type="title"/>
          </p:nvPr>
        </p:nvSpPr>
        <p:spPr>
          <a:xfrm>
            <a:off x="311700" y="445025"/>
            <a:ext cx="3972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DFS - finding path</a:t>
            </a:r>
            <a:endParaRPr/>
          </a:p>
        </p:txBody>
      </p:sp>
      <p:sp>
        <p:nvSpPr>
          <p:cNvPr id="1531" name="Google Shape;1531;p65"/>
          <p:cNvSpPr txBox="1"/>
          <p:nvPr>
            <p:ph idx="1" type="body"/>
          </p:nvPr>
        </p:nvSpPr>
        <p:spPr>
          <a:xfrm>
            <a:off x="311700" y="1389150"/>
            <a:ext cx="4642500" cy="23652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SzPts val="605"/>
              <a:buNone/>
            </a:pPr>
            <a:r>
              <a:rPr lang="en" sz="889">
                <a:solidFill>
                  <a:srgbClr val="38761D"/>
                </a:solidFill>
                <a:latin typeface="Roboto Mono"/>
                <a:ea typeface="Roboto Mono"/>
                <a:cs typeface="Roboto Mono"/>
                <a:sym typeface="Roboto Mono"/>
              </a:rPr>
              <a:t>// Inputs: current node (its index in the graph)</a:t>
            </a:r>
            <a:endParaRPr sz="889">
              <a:solidFill>
                <a:srgbClr val="38761D"/>
              </a:solidFill>
              <a:latin typeface="Roboto Mono"/>
              <a:ea typeface="Roboto Mono"/>
              <a:cs typeface="Roboto Mono"/>
              <a:sym typeface="Roboto Mono"/>
            </a:endParaRPr>
          </a:p>
          <a:p>
            <a:pPr indent="0" lvl="0" marL="0" rtl="0" algn="l">
              <a:spcBef>
                <a:spcPts val="0"/>
              </a:spcBef>
              <a:spcAft>
                <a:spcPts val="0"/>
              </a:spcAft>
              <a:buSzPts val="605"/>
              <a:buNone/>
            </a:pPr>
            <a:r>
              <a:rPr lang="en" sz="889">
                <a:solidFill>
                  <a:srgbClr val="38761D"/>
                </a:solidFill>
                <a:latin typeface="Roboto Mono"/>
                <a:ea typeface="Roboto Mono"/>
                <a:cs typeface="Roboto Mono"/>
                <a:sym typeface="Roboto Mono"/>
              </a:rPr>
              <a:t>// destination node (its index in the graph)</a:t>
            </a:r>
            <a:endParaRPr sz="889">
              <a:solidFill>
                <a:srgbClr val="38761D"/>
              </a:solidFill>
              <a:latin typeface="Roboto Mono"/>
              <a:ea typeface="Roboto Mono"/>
              <a:cs typeface="Roboto Mono"/>
              <a:sym typeface="Roboto Mono"/>
            </a:endParaRPr>
          </a:p>
          <a:p>
            <a:pPr indent="0" lvl="0" marL="0" rtl="0" algn="l">
              <a:spcBef>
                <a:spcPts val="0"/>
              </a:spcBef>
              <a:spcAft>
                <a:spcPts val="0"/>
              </a:spcAft>
              <a:buSzPts val="605"/>
              <a:buNone/>
            </a:pPr>
            <a:r>
              <a:rPr lang="en" sz="889">
                <a:solidFill>
                  <a:srgbClr val="38761D"/>
                </a:solidFill>
                <a:latin typeface="Roboto Mono"/>
                <a:ea typeface="Roboto Mono"/>
                <a:cs typeface="Roboto Mono"/>
                <a:sym typeface="Roboto Mono"/>
              </a:rPr>
              <a:t>// Adjacency matrix (to figure out a node’s neighbours)</a:t>
            </a:r>
            <a:endParaRPr sz="889">
              <a:solidFill>
                <a:srgbClr val="38761D"/>
              </a:solidFill>
              <a:latin typeface="Roboto Mono"/>
              <a:ea typeface="Roboto Mono"/>
              <a:cs typeface="Roboto Mono"/>
              <a:sym typeface="Roboto Mono"/>
            </a:endParaRPr>
          </a:p>
          <a:p>
            <a:pPr indent="0" lvl="0" marL="0" rtl="0" algn="l">
              <a:spcBef>
                <a:spcPts val="0"/>
              </a:spcBef>
              <a:spcAft>
                <a:spcPts val="0"/>
              </a:spcAft>
              <a:buSzPts val="605"/>
              <a:buNone/>
            </a:pPr>
            <a:r>
              <a:t/>
            </a:r>
            <a:endParaRPr sz="889">
              <a:latin typeface="Roboto Mono"/>
              <a:ea typeface="Roboto Mono"/>
              <a:cs typeface="Roboto Mono"/>
              <a:sym typeface="Roboto Mono"/>
            </a:endParaRPr>
          </a:p>
          <a:p>
            <a:pPr indent="0" lvl="0" marL="0" rtl="0" algn="l">
              <a:spcBef>
                <a:spcPts val="0"/>
              </a:spcBef>
              <a:spcAft>
                <a:spcPts val="0"/>
              </a:spcAft>
              <a:buClr>
                <a:schemeClr val="dk1"/>
              </a:buClr>
              <a:buSzPts val="605"/>
              <a:buFont typeface="Arial"/>
              <a:buNone/>
            </a:pPr>
            <a:r>
              <a:rPr lang="en" sz="889">
                <a:latin typeface="Roboto Mono"/>
                <a:ea typeface="Roboto Mono"/>
                <a:cs typeface="Roboto Mono"/>
                <a:sym typeface="Roboto Mono"/>
              </a:rPr>
              <a:t>DFS(current, destination, A)</a:t>
            </a:r>
            <a:endParaRPr sz="889">
              <a:latin typeface="Roboto Mono"/>
              <a:ea typeface="Roboto Mono"/>
              <a:cs typeface="Roboto Mono"/>
              <a:sym typeface="Roboto Mono"/>
            </a:endParaRPr>
          </a:p>
          <a:p>
            <a:pPr indent="0" lvl="0" marL="0" rtl="0" algn="l">
              <a:spcBef>
                <a:spcPts val="0"/>
              </a:spcBef>
              <a:spcAft>
                <a:spcPts val="0"/>
              </a:spcAft>
              <a:buClr>
                <a:schemeClr val="dk1"/>
              </a:buClr>
              <a:buSzPts val="605"/>
              <a:buFont typeface="Arial"/>
              <a:buNone/>
            </a:pPr>
            <a:r>
              <a:rPr lang="en" sz="889">
                <a:latin typeface="Roboto Mono"/>
                <a:ea typeface="Roboto Mono"/>
                <a:cs typeface="Roboto Mono"/>
                <a:sym typeface="Roboto Mono"/>
              </a:rPr>
              <a:t>    </a:t>
            </a:r>
            <a:r>
              <a:rPr lang="en" sz="889">
                <a:latin typeface="Roboto Mono"/>
                <a:ea typeface="Roboto Mono"/>
                <a:cs typeface="Roboto Mono"/>
                <a:sym typeface="Roboto Mono"/>
              </a:rPr>
              <a:t>if current==destination</a:t>
            </a:r>
            <a:endParaRPr sz="889">
              <a:latin typeface="Roboto Mono"/>
              <a:ea typeface="Roboto Mono"/>
              <a:cs typeface="Roboto Mono"/>
              <a:sym typeface="Roboto Mono"/>
            </a:endParaRPr>
          </a:p>
          <a:p>
            <a:pPr indent="457200" lvl="0" marL="0" rtl="0" algn="l">
              <a:spcBef>
                <a:spcPts val="0"/>
              </a:spcBef>
              <a:spcAft>
                <a:spcPts val="0"/>
              </a:spcAft>
              <a:buClr>
                <a:schemeClr val="dk1"/>
              </a:buClr>
              <a:buSzPts val="605"/>
              <a:buFont typeface="Arial"/>
              <a:buNone/>
            </a:pPr>
            <a:r>
              <a:rPr lang="en" sz="889">
                <a:latin typeface="Roboto Mono"/>
                <a:ea typeface="Roboto Mono"/>
                <a:cs typeface="Roboto Mono"/>
                <a:sym typeface="Roboto Mono"/>
              </a:rPr>
              <a:t>return destination </a:t>
            </a:r>
            <a:r>
              <a:rPr lang="en" sz="889">
                <a:solidFill>
                  <a:srgbClr val="38761D"/>
                </a:solidFill>
                <a:latin typeface="Roboto Mono"/>
                <a:ea typeface="Roboto Mono"/>
                <a:cs typeface="Roboto Mono"/>
                <a:sym typeface="Roboto Mono"/>
              </a:rPr>
              <a:t>// We got to base case!</a:t>
            </a:r>
            <a:endParaRPr sz="889">
              <a:solidFill>
                <a:srgbClr val="38761D"/>
              </a:solidFill>
              <a:latin typeface="Roboto Mono"/>
              <a:ea typeface="Roboto Mono"/>
              <a:cs typeface="Roboto Mono"/>
              <a:sym typeface="Roboto Mono"/>
            </a:endParaRPr>
          </a:p>
          <a:p>
            <a:pPr indent="0" lvl="0" marL="0" rtl="0" algn="l">
              <a:spcBef>
                <a:spcPts val="0"/>
              </a:spcBef>
              <a:spcAft>
                <a:spcPts val="0"/>
              </a:spcAft>
              <a:buClr>
                <a:schemeClr val="dk1"/>
              </a:buClr>
              <a:buSzPts val="605"/>
              <a:buFont typeface="Arial"/>
              <a:buNone/>
            </a:pPr>
            <a:r>
              <a:rPr lang="en" sz="889">
                <a:latin typeface="Roboto Mono"/>
                <a:ea typeface="Roboto Mono"/>
                <a:cs typeface="Roboto Mono"/>
                <a:sym typeface="Roboto Mono"/>
              </a:rPr>
              <a:t>    else</a:t>
            </a:r>
            <a:endParaRPr sz="889">
              <a:latin typeface="Roboto Mono"/>
              <a:ea typeface="Roboto Mono"/>
              <a:cs typeface="Roboto Mono"/>
              <a:sym typeface="Roboto Mono"/>
            </a:endParaRPr>
          </a:p>
          <a:p>
            <a:pPr indent="0" lvl="0" marL="0" rtl="0" algn="l">
              <a:spcBef>
                <a:spcPts val="0"/>
              </a:spcBef>
              <a:spcAft>
                <a:spcPts val="0"/>
              </a:spcAft>
              <a:buClr>
                <a:schemeClr val="dk1"/>
              </a:buClr>
              <a:buSzPts val="605"/>
              <a:buFont typeface="Arial"/>
              <a:buNone/>
            </a:pPr>
            <a:r>
              <a:rPr lang="en" sz="889">
                <a:latin typeface="Roboto Mono"/>
                <a:ea typeface="Roboto Mono"/>
                <a:cs typeface="Roboto Mono"/>
                <a:sym typeface="Roboto Mono"/>
              </a:rPr>
              <a:t>       for each neighbour of current</a:t>
            </a:r>
            <a:endParaRPr sz="889">
              <a:latin typeface="Roboto Mono"/>
              <a:ea typeface="Roboto Mono"/>
              <a:cs typeface="Roboto Mono"/>
              <a:sym typeface="Roboto Mono"/>
            </a:endParaRPr>
          </a:p>
          <a:p>
            <a:pPr indent="0" lvl="0" marL="0" rtl="0" algn="l">
              <a:spcBef>
                <a:spcPts val="0"/>
              </a:spcBef>
              <a:spcAft>
                <a:spcPts val="0"/>
              </a:spcAft>
              <a:buClr>
                <a:schemeClr val="dk1"/>
              </a:buClr>
              <a:buSzPts val="605"/>
              <a:buFont typeface="Arial"/>
              <a:buNone/>
            </a:pPr>
            <a:r>
              <a:rPr lang="en" sz="889">
                <a:latin typeface="Roboto Mono"/>
                <a:ea typeface="Roboto Mono"/>
                <a:cs typeface="Roboto Mono"/>
                <a:sym typeface="Roboto Mono"/>
              </a:rPr>
              <a:t>         subpath = DFS(neighbour, destination, A)</a:t>
            </a:r>
            <a:endParaRPr sz="889">
              <a:latin typeface="Roboto Mono"/>
              <a:ea typeface="Roboto Mono"/>
              <a:cs typeface="Roboto Mono"/>
              <a:sym typeface="Roboto Mono"/>
            </a:endParaRPr>
          </a:p>
          <a:p>
            <a:pPr indent="0" lvl="0" marL="0" rtl="0" algn="l">
              <a:spcBef>
                <a:spcPts val="0"/>
              </a:spcBef>
              <a:spcAft>
                <a:spcPts val="0"/>
              </a:spcAft>
              <a:buClr>
                <a:schemeClr val="dk1"/>
              </a:buClr>
              <a:buSzPts val="605"/>
              <a:buFont typeface="Arial"/>
              <a:buNone/>
            </a:pPr>
            <a:r>
              <a:rPr lang="en" sz="889">
                <a:latin typeface="Roboto Mono"/>
                <a:ea typeface="Roboto Mono"/>
                <a:cs typeface="Roboto Mono"/>
                <a:sym typeface="Roboto Mono"/>
              </a:rPr>
              <a:t>         if subpath found</a:t>
            </a:r>
            <a:endParaRPr sz="889">
              <a:latin typeface="Roboto Mono"/>
              <a:ea typeface="Roboto Mono"/>
              <a:cs typeface="Roboto Mono"/>
              <a:sym typeface="Roboto Mono"/>
            </a:endParaRPr>
          </a:p>
          <a:p>
            <a:pPr indent="0" lvl="0" marL="457200" rtl="0" algn="l">
              <a:spcBef>
                <a:spcPts val="0"/>
              </a:spcBef>
              <a:spcAft>
                <a:spcPts val="0"/>
              </a:spcAft>
              <a:buClr>
                <a:schemeClr val="dk1"/>
              </a:buClr>
              <a:buSzPts val="605"/>
              <a:buFont typeface="Arial"/>
              <a:buNone/>
            </a:pPr>
            <a:r>
              <a:rPr lang="en" sz="889">
                <a:latin typeface="Roboto Mono"/>
                <a:ea typeface="Roboto Mono"/>
                <a:cs typeface="Roboto Mono"/>
                <a:sym typeface="Roboto Mono"/>
              </a:rPr>
              <a:t>     </a:t>
            </a:r>
            <a:r>
              <a:rPr lang="en" sz="889">
                <a:solidFill>
                  <a:srgbClr val="38761D"/>
                </a:solidFill>
                <a:latin typeface="Roboto Mono"/>
                <a:ea typeface="Roboto Mono"/>
                <a:cs typeface="Roboto Mono"/>
                <a:sym typeface="Roboto Mono"/>
              </a:rPr>
              <a:t>// prepend current to subpath to build full path</a:t>
            </a:r>
            <a:endParaRPr sz="889">
              <a:solidFill>
                <a:srgbClr val="38761D"/>
              </a:solidFill>
              <a:latin typeface="Roboto Mono"/>
              <a:ea typeface="Roboto Mono"/>
              <a:cs typeface="Roboto Mono"/>
              <a:sym typeface="Roboto Mono"/>
            </a:endParaRPr>
          </a:p>
          <a:p>
            <a:pPr indent="0" lvl="0" marL="457200" rtl="0" algn="l">
              <a:spcBef>
                <a:spcPts val="0"/>
              </a:spcBef>
              <a:spcAft>
                <a:spcPts val="0"/>
              </a:spcAft>
              <a:buClr>
                <a:schemeClr val="dk1"/>
              </a:buClr>
              <a:buSzPts val="605"/>
              <a:buFont typeface="Arial"/>
              <a:buNone/>
            </a:pPr>
            <a:r>
              <a:rPr lang="en" sz="889">
                <a:latin typeface="Roboto Mono"/>
                <a:ea typeface="Roboto Mono"/>
                <a:cs typeface="Roboto Mono"/>
                <a:sym typeface="Roboto Mono"/>
              </a:rPr>
              <a:t>     return {current -&gt; subpath}</a:t>
            </a:r>
            <a:endParaRPr sz="889">
              <a:latin typeface="Roboto Mono"/>
              <a:ea typeface="Roboto Mono"/>
              <a:cs typeface="Roboto Mono"/>
              <a:sym typeface="Roboto Mono"/>
            </a:endParaRPr>
          </a:p>
          <a:p>
            <a:pPr indent="0" lvl="0" marL="0" rtl="0" algn="l">
              <a:spcBef>
                <a:spcPts val="0"/>
              </a:spcBef>
              <a:spcAft>
                <a:spcPts val="0"/>
              </a:spcAft>
              <a:buSzPts val="605"/>
              <a:buNone/>
            </a:pPr>
            <a:r>
              <a:rPr lang="en" sz="889">
                <a:latin typeface="Roboto Mono"/>
                <a:ea typeface="Roboto Mono"/>
                <a:cs typeface="Roboto Mono"/>
                <a:sym typeface="Roboto Mono"/>
              </a:rPr>
              <a:t>       return (nil) </a:t>
            </a:r>
            <a:r>
              <a:rPr lang="en" sz="889">
                <a:solidFill>
                  <a:srgbClr val="38761D"/>
                </a:solidFill>
                <a:latin typeface="Roboto Mono"/>
                <a:ea typeface="Roboto Mono"/>
                <a:cs typeface="Roboto Mono"/>
                <a:sym typeface="Roboto Mono"/>
              </a:rPr>
              <a:t>// Second base case, no subpath from current</a:t>
            </a:r>
            <a:endParaRPr sz="889">
              <a:solidFill>
                <a:srgbClr val="38761D"/>
              </a:solidFill>
              <a:latin typeface="Roboto Mono"/>
              <a:ea typeface="Roboto Mono"/>
              <a:cs typeface="Roboto Mono"/>
              <a:sym typeface="Roboto Mono"/>
            </a:endParaRPr>
          </a:p>
        </p:txBody>
      </p:sp>
      <p:sp>
        <p:nvSpPr>
          <p:cNvPr id="1532" name="Google Shape;1532;p65"/>
          <p:cNvSpPr/>
          <p:nvPr/>
        </p:nvSpPr>
        <p:spPr>
          <a:xfrm>
            <a:off x="6741253" y="75450"/>
            <a:ext cx="184800" cy="171600"/>
          </a:xfrm>
          <a:prstGeom prst="ellipse">
            <a:avLst/>
          </a:prstGeom>
          <a:solidFill>
            <a:srgbClr val="B4A7D6"/>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65"/>
          <p:cNvSpPr/>
          <p:nvPr/>
        </p:nvSpPr>
        <p:spPr>
          <a:xfrm>
            <a:off x="7246123" y="75450"/>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65"/>
          <p:cNvSpPr/>
          <p:nvPr/>
        </p:nvSpPr>
        <p:spPr>
          <a:xfrm>
            <a:off x="6541699" y="405762"/>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65"/>
          <p:cNvSpPr/>
          <p:nvPr/>
        </p:nvSpPr>
        <p:spPr>
          <a:xfrm>
            <a:off x="7011315" y="405762"/>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65"/>
          <p:cNvSpPr/>
          <p:nvPr/>
        </p:nvSpPr>
        <p:spPr>
          <a:xfrm>
            <a:off x="7507649" y="405762"/>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65"/>
          <p:cNvSpPr/>
          <p:nvPr/>
        </p:nvSpPr>
        <p:spPr>
          <a:xfrm>
            <a:off x="7222637" y="672299"/>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65"/>
          <p:cNvSpPr/>
          <p:nvPr/>
        </p:nvSpPr>
        <p:spPr>
          <a:xfrm>
            <a:off x="7950546" y="405762"/>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65"/>
          <p:cNvSpPr/>
          <p:nvPr/>
        </p:nvSpPr>
        <p:spPr>
          <a:xfrm>
            <a:off x="7751007" y="75450"/>
            <a:ext cx="184800" cy="171600"/>
          </a:xfrm>
          <a:prstGeom prst="ellipse">
            <a:avLst/>
          </a:prstGeom>
          <a:solidFill>
            <a:srgbClr val="B6D7A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40" name="Google Shape;1540;p65"/>
          <p:cNvCxnSpPr>
            <a:stCxn id="1532" idx="3"/>
            <a:endCxn id="1534" idx="0"/>
          </p:cNvCxnSpPr>
          <p:nvPr/>
        </p:nvCxnSpPr>
        <p:spPr>
          <a:xfrm flipH="1">
            <a:off x="6634216" y="221920"/>
            <a:ext cx="134100" cy="183900"/>
          </a:xfrm>
          <a:prstGeom prst="straightConnector1">
            <a:avLst/>
          </a:prstGeom>
          <a:noFill/>
          <a:ln cap="flat" cmpd="sng" w="9525">
            <a:solidFill>
              <a:srgbClr val="1155CC"/>
            </a:solidFill>
            <a:prstDash val="solid"/>
            <a:round/>
            <a:headEnd len="med" w="med" type="none"/>
            <a:tailEnd len="med" w="med" type="none"/>
          </a:ln>
        </p:spPr>
      </p:cxnSp>
      <p:cxnSp>
        <p:nvCxnSpPr>
          <p:cNvPr id="1541" name="Google Shape;1541;p65"/>
          <p:cNvCxnSpPr>
            <a:stCxn id="1532" idx="5"/>
            <a:endCxn id="1535" idx="1"/>
          </p:cNvCxnSpPr>
          <p:nvPr/>
        </p:nvCxnSpPr>
        <p:spPr>
          <a:xfrm>
            <a:off x="6898990" y="221920"/>
            <a:ext cx="139500" cy="209100"/>
          </a:xfrm>
          <a:prstGeom prst="straightConnector1">
            <a:avLst/>
          </a:prstGeom>
          <a:noFill/>
          <a:ln cap="flat" cmpd="sng" w="9525">
            <a:solidFill>
              <a:srgbClr val="1155CC"/>
            </a:solidFill>
            <a:prstDash val="solid"/>
            <a:round/>
            <a:headEnd len="med" w="med" type="none"/>
            <a:tailEnd len="med" w="med" type="none"/>
          </a:ln>
        </p:spPr>
      </p:cxnSp>
      <p:cxnSp>
        <p:nvCxnSpPr>
          <p:cNvPr id="1542" name="Google Shape;1542;p65"/>
          <p:cNvCxnSpPr>
            <a:stCxn id="1535" idx="2"/>
            <a:endCxn id="1534" idx="6"/>
          </p:cNvCxnSpPr>
          <p:nvPr/>
        </p:nvCxnSpPr>
        <p:spPr>
          <a:xfrm rot="10800000">
            <a:off x="6726615" y="491562"/>
            <a:ext cx="284700" cy="0"/>
          </a:xfrm>
          <a:prstGeom prst="straightConnector1">
            <a:avLst/>
          </a:prstGeom>
          <a:noFill/>
          <a:ln cap="flat" cmpd="sng" w="9525">
            <a:solidFill>
              <a:srgbClr val="1155CC"/>
            </a:solidFill>
            <a:prstDash val="solid"/>
            <a:round/>
            <a:headEnd len="med" w="med" type="none"/>
            <a:tailEnd len="med" w="med" type="none"/>
          </a:ln>
        </p:spPr>
      </p:cxnSp>
      <p:cxnSp>
        <p:nvCxnSpPr>
          <p:cNvPr id="1543" name="Google Shape;1543;p65"/>
          <p:cNvCxnSpPr>
            <a:stCxn id="1533" idx="3"/>
            <a:endCxn id="1535" idx="0"/>
          </p:cNvCxnSpPr>
          <p:nvPr/>
        </p:nvCxnSpPr>
        <p:spPr>
          <a:xfrm flipH="1">
            <a:off x="7103686" y="221920"/>
            <a:ext cx="169500" cy="183900"/>
          </a:xfrm>
          <a:prstGeom prst="straightConnector1">
            <a:avLst/>
          </a:prstGeom>
          <a:noFill/>
          <a:ln cap="flat" cmpd="sng" w="9525">
            <a:solidFill>
              <a:srgbClr val="1155CC"/>
            </a:solidFill>
            <a:prstDash val="solid"/>
            <a:round/>
            <a:headEnd len="med" w="med" type="none"/>
            <a:tailEnd len="med" w="med" type="none"/>
          </a:ln>
        </p:spPr>
      </p:cxnSp>
      <p:cxnSp>
        <p:nvCxnSpPr>
          <p:cNvPr id="1544" name="Google Shape;1544;p65"/>
          <p:cNvCxnSpPr>
            <a:stCxn id="1533" idx="5"/>
            <a:endCxn id="1536" idx="1"/>
          </p:cNvCxnSpPr>
          <p:nvPr/>
        </p:nvCxnSpPr>
        <p:spPr>
          <a:xfrm>
            <a:off x="7403860" y="221920"/>
            <a:ext cx="130800" cy="209100"/>
          </a:xfrm>
          <a:prstGeom prst="straightConnector1">
            <a:avLst/>
          </a:prstGeom>
          <a:noFill/>
          <a:ln cap="flat" cmpd="sng" w="9525">
            <a:solidFill>
              <a:srgbClr val="1155CC"/>
            </a:solidFill>
            <a:prstDash val="solid"/>
            <a:round/>
            <a:headEnd len="med" w="med" type="none"/>
            <a:tailEnd len="med" w="med" type="none"/>
          </a:ln>
        </p:spPr>
      </p:cxnSp>
      <p:cxnSp>
        <p:nvCxnSpPr>
          <p:cNvPr id="1545" name="Google Shape;1545;p65"/>
          <p:cNvCxnSpPr>
            <a:stCxn id="1536" idx="2"/>
            <a:endCxn id="1535" idx="6"/>
          </p:cNvCxnSpPr>
          <p:nvPr/>
        </p:nvCxnSpPr>
        <p:spPr>
          <a:xfrm rot="10800000">
            <a:off x="7196249" y="491562"/>
            <a:ext cx="311400" cy="0"/>
          </a:xfrm>
          <a:prstGeom prst="straightConnector1">
            <a:avLst/>
          </a:prstGeom>
          <a:noFill/>
          <a:ln cap="flat" cmpd="sng" w="9525">
            <a:solidFill>
              <a:srgbClr val="1C4587"/>
            </a:solidFill>
            <a:prstDash val="solid"/>
            <a:round/>
            <a:headEnd len="med" w="med" type="none"/>
            <a:tailEnd len="med" w="med" type="none"/>
          </a:ln>
        </p:spPr>
      </p:cxnSp>
      <p:cxnSp>
        <p:nvCxnSpPr>
          <p:cNvPr id="1546" name="Google Shape;1546;p65"/>
          <p:cNvCxnSpPr>
            <a:stCxn id="1536" idx="3"/>
            <a:endCxn id="1537" idx="7"/>
          </p:cNvCxnSpPr>
          <p:nvPr/>
        </p:nvCxnSpPr>
        <p:spPr>
          <a:xfrm flipH="1">
            <a:off x="7380513" y="552232"/>
            <a:ext cx="154200" cy="145200"/>
          </a:xfrm>
          <a:prstGeom prst="straightConnector1">
            <a:avLst/>
          </a:prstGeom>
          <a:noFill/>
          <a:ln cap="flat" cmpd="sng" w="9525">
            <a:solidFill>
              <a:srgbClr val="1155CC"/>
            </a:solidFill>
            <a:prstDash val="solid"/>
            <a:round/>
            <a:headEnd len="med" w="med" type="none"/>
            <a:tailEnd len="med" w="med" type="none"/>
          </a:ln>
        </p:spPr>
      </p:cxnSp>
      <p:cxnSp>
        <p:nvCxnSpPr>
          <p:cNvPr id="1547" name="Google Shape;1547;p65"/>
          <p:cNvCxnSpPr>
            <a:stCxn id="1535" idx="4"/>
            <a:endCxn id="1537" idx="1"/>
          </p:cNvCxnSpPr>
          <p:nvPr/>
        </p:nvCxnSpPr>
        <p:spPr>
          <a:xfrm>
            <a:off x="7103715" y="577362"/>
            <a:ext cx="146100" cy="120000"/>
          </a:xfrm>
          <a:prstGeom prst="straightConnector1">
            <a:avLst/>
          </a:prstGeom>
          <a:noFill/>
          <a:ln cap="flat" cmpd="sng" w="9525">
            <a:solidFill>
              <a:srgbClr val="1155CC"/>
            </a:solidFill>
            <a:prstDash val="solid"/>
            <a:round/>
            <a:headEnd len="med" w="med" type="none"/>
            <a:tailEnd len="med" w="med" type="none"/>
          </a:ln>
        </p:spPr>
      </p:cxnSp>
      <p:cxnSp>
        <p:nvCxnSpPr>
          <p:cNvPr id="1548" name="Google Shape;1548;p65"/>
          <p:cNvCxnSpPr>
            <a:stCxn id="1539" idx="3"/>
            <a:endCxn id="1536" idx="7"/>
          </p:cNvCxnSpPr>
          <p:nvPr/>
        </p:nvCxnSpPr>
        <p:spPr>
          <a:xfrm flipH="1">
            <a:off x="7665271" y="221920"/>
            <a:ext cx="112800" cy="209100"/>
          </a:xfrm>
          <a:prstGeom prst="straightConnector1">
            <a:avLst/>
          </a:prstGeom>
          <a:noFill/>
          <a:ln cap="flat" cmpd="sng" w="9525">
            <a:solidFill>
              <a:srgbClr val="1155CC"/>
            </a:solidFill>
            <a:prstDash val="solid"/>
            <a:round/>
            <a:headEnd len="med" w="med" type="none"/>
            <a:tailEnd len="med" w="med" type="none"/>
          </a:ln>
        </p:spPr>
      </p:cxnSp>
      <p:cxnSp>
        <p:nvCxnSpPr>
          <p:cNvPr id="1549" name="Google Shape;1549;p65"/>
          <p:cNvCxnSpPr>
            <a:stCxn id="1539" idx="5"/>
            <a:endCxn id="1538" idx="0"/>
          </p:cNvCxnSpPr>
          <p:nvPr/>
        </p:nvCxnSpPr>
        <p:spPr>
          <a:xfrm>
            <a:off x="7908744" y="221920"/>
            <a:ext cx="134100" cy="183900"/>
          </a:xfrm>
          <a:prstGeom prst="straightConnector1">
            <a:avLst/>
          </a:prstGeom>
          <a:noFill/>
          <a:ln cap="flat" cmpd="sng" w="9525">
            <a:solidFill>
              <a:srgbClr val="1155CC"/>
            </a:solidFill>
            <a:prstDash val="solid"/>
            <a:round/>
            <a:headEnd len="med" w="med" type="none"/>
            <a:tailEnd len="med" w="med" type="none"/>
          </a:ln>
        </p:spPr>
      </p:cxnSp>
      <p:cxnSp>
        <p:nvCxnSpPr>
          <p:cNvPr id="1550" name="Google Shape;1550;p65"/>
          <p:cNvCxnSpPr>
            <a:stCxn id="1538" idx="2"/>
            <a:endCxn id="1536" idx="6"/>
          </p:cNvCxnSpPr>
          <p:nvPr/>
        </p:nvCxnSpPr>
        <p:spPr>
          <a:xfrm rot="10800000">
            <a:off x="7692546" y="491562"/>
            <a:ext cx="258000" cy="0"/>
          </a:xfrm>
          <a:prstGeom prst="straightConnector1">
            <a:avLst/>
          </a:prstGeom>
          <a:noFill/>
          <a:ln cap="flat" cmpd="sng" w="9525">
            <a:solidFill>
              <a:srgbClr val="1C4587"/>
            </a:solidFill>
            <a:prstDash val="solid"/>
            <a:round/>
            <a:headEnd len="med" w="med" type="none"/>
            <a:tailEnd len="med" w="med" type="none"/>
          </a:ln>
        </p:spPr>
      </p:cxnSp>
      <p:cxnSp>
        <p:nvCxnSpPr>
          <p:cNvPr id="1551" name="Google Shape;1551;p65"/>
          <p:cNvCxnSpPr>
            <a:stCxn id="1539" idx="2"/>
            <a:endCxn id="1533" idx="6"/>
          </p:cNvCxnSpPr>
          <p:nvPr/>
        </p:nvCxnSpPr>
        <p:spPr>
          <a:xfrm rot="10800000">
            <a:off x="7430907" y="161250"/>
            <a:ext cx="320100" cy="0"/>
          </a:xfrm>
          <a:prstGeom prst="straightConnector1">
            <a:avLst/>
          </a:prstGeom>
          <a:noFill/>
          <a:ln cap="flat" cmpd="sng" w="9525">
            <a:solidFill>
              <a:srgbClr val="1155CC"/>
            </a:solidFill>
            <a:prstDash val="solid"/>
            <a:round/>
            <a:headEnd len="med" w="med" type="none"/>
            <a:tailEnd len="med" w="med" type="none"/>
          </a:ln>
        </p:spPr>
      </p:cxnSp>
      <p:grpSp>
        <p:nvGrpSpPr>
          <p:cNvPr id="1552" name="Google Shape;1552;p65"/>
          <p:cNvGrpSpPr/>
          <p:nvPr/>
        </p:nvGrpSpPr>
        <p:grpSpPr>
          <a:xfrm>
            <a:off x="5303075" y="1215700"/>
            <a:ext cx="3466625" cy="1901850"/>
            <a:chOff x="394775" y="955700"/>
            <a:chExt cx="3466625" cy="1901850"/>
          </a:xfrm>
        </p:grpSpPr>
        <p:grpSp>
          <p:nvGrpSpPr>
            <p:cNvPr id="1553" name="Google Shape;1553;p65"/>
            <p:cNvGrpSpPr/>
            <p:nvPr/>
          </p:nvGrpSpPr>
          <p:grpSpPr>
            <a:xfrm>
              <a:off x="833200" y="968425"/>
              <a:ext cx="3028200" cy="1889125"/>
              <a:chOff x="833200" y="968425"/>
              <a:chExt cx="3028200" cy="1889125"/>
            </a:xfrm>
          </p:grpSpPr>
          <p:grpSp>
            <p:nvGrpSpPr>
              <p:cNvPr id="1554" name="Google Shape;1554;p65"/>
              <p:cNvGrpSpPr/>
              <p:nvPr/>
            </p:nvGrpSpPr>
            <p:grpSpPr>
              <a:xfrm>
                <a:off x="877800" y="968425"/>
                <a:ext cx="2762300" cy="1742375"/>
                <a:chOff x="2889350" y="3069100"/>
                <a:chExt cx="2762300" cy="1742375"/>
              </a:xfrm>
            </p:grpSpPr>
            <p:sp>
              <p:nvSpPr>
                <p:cNvPr id="1555" name="Google Shape;1555;p65"/>
                <p:cNvSpPr/>
                <p:nvPr/>
              </p:nvSpPr>
              <p:spPr>
                <a:xfrm>
                  <a:off x="3232700" y="3272800"/>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65"/>
                <p:cNvSpPr/>
                <p:nvPr/>
              </p:nvSpPr>
              <p:spPr>
                <a:xfrm>
                  <a:off x="4027875" y="3272800"/>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65"/>
                <p:cNvSpPr/>
                <p:nvPr/>
              </p:nvSpPr>
              <p:spPr>
                <a:xfrm>
                  <a:off x="2889350" y="393407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65"/>
                <p:cNvSpPr/>
                <p:nvPr/>
              </p:nvSpPr>
              <p:spPr>
                <a:xfrm>
                  <a:off x="3697425" y="393407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65"/>
                <p:cNvSpPr/>
                <p:nvPr/>
              </p:nvSpPr>
              <p:spPr>
                <a:xfrm>
                  <a:off x="4551475" y="393407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65"/>
                <p:cNvSpPr/>
                <p:nvPr/>
              </p:nvSpPr>
              <p:spPr>
                <a:xfrm>
                  <a:off x="4061050" y="446767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65"/>
                <p:cNvSpPr/>
                <p:nvPr/>
              </p:nvSpPr>
              <p:spPr>
                <a:xfrm>
                  <a:off x="5313575" y="393407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65"/>
                <p:cNvSpPr/>
                <p:nvPr/>
              </p:nvSpPr>
              <p:spPr>
                <a:xfrm>
                  <a:off x="4970225" y="3272800"/>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1</a:t>
                  </a:r>
                  <a:endParaRPr>
                    <a:solidFill>
                      <a:srgbClr val="000000"/>
                    </a:solidFill>
                  </a:endParaRPr>
                </a:p>
              </p:txBody>
            </p:sp>
            <p:cxnSp>
              <p:nvCxnSpPr>
                <p:cNvPr id="1563" name="Google Shape;1563;p65"/>
                <p:cNvCxnSpPr>
                  <a:stCxn id="1555" idx="3"/>
                  <a:endCxn id="1557" idx="0"/>
                </p:cNvCxnSpPr>
                <p:nvPr/>
              </p:nvCxnSpPr>
              <p:spPr>
                <a:xfrm flipH="1">
                  <a:off x="3048614" y="3566252"/>
                  <a:ext cx="230700" cy="367800"/>
                </a:xfrm>
                <a:prstGeom prst="straightConnector1">
                  <a:avLst/>
                </a:prstGeom>
                <a:noFill/>
                <a:ln cap="flat" cmpd="sng" w="9525">
                  <a:solidFill>
                    <a:srgbClr val="1155CC"/>
                  </a:solidFill>
                  <a:prstDash val="solid"/>
                  <a:round/>
                  <a:headEnd len="med" w="med" type="none"/>
                  <a:tailEnd len="med" w="med" type="none"/>
                </a:ln>
              </p:spPr>
            </p:cxnSp>
            <p:cxnSp>
              <p:nvCxnSpPr>
                <p:cNvPr id="1564" name="Google Shape;1564;p65"/>
                <p:cNvCxnSpPr>
                  <a:stCxn id="1555" idx="5"/>
                  <a:endCxn id="1558" idx="1"/>
                </p:cNvCxnSpPr>
                <p:nvPr/>
              </p:nvCxnSpPr>
              <p:spPr>
                <a:xfrm>
                  <a:off x="3504386" y="3566252"/>
                  <a:ext cx="239700" cy="418200"/>
                </a:xfrm>
                <a:prstGeom prst="straightConnector1">
                  <a:avLst/>
                </a:prstGeom>
                <a:noFill/>
                <a:ln cap="flat" cmpd="sng" w="9525">
                  <a:solidFill>
                    <a:srgbClr val="1155CC"/>
                  </a:solidFill>
                  <a:prstDash val="solid"/>
                  <a:round/>
                  <a:headEnd len="med" w="med" type="none"/>
                  <a:tailEnd len="med" w="med" type="none"/>
                </a:ln>
              </p:spPr>
            </p:cxnSp>
            <p:cxnSp>
              <p:nvCxnSpPr>
                <p:cNvPr id="1565" name="Google Shape;1565;p65"/>
                <p:cNvCxnSpPr>
                  <a:stCxn id="1558" idx="2"/>
                  <a:endCxn id="1557" idx="6"/>
                </p:cNvCxnSpPr>
                <p:nvPr/>
              </p:nvCxnSpPr>
              <p:spPr>
                <a:xfrm rot="10800000">
                  <a:off x="3207525" y="4105975"/>
                  <a:ext cx="489900" cy="0"/>
                </a:xfrm>
                <a:prstGeom prst="straightConnector1">
                  <a:avLst/>
                </a:prstGeom>
                <a:noFill/>
                <a:ln cap="flat" cmpd="sng" w="9525">
                  <a:solidFill>
                    <a:srgbClr val="1155CC"/>
                  </a:solidFill>
                  <a:prstDash val="solid"/>
                  <a:round/>
                  <a:headEnd len="med" w="med" type="none"/>
                  <a:tailEnd len="med" w="med" type="none"/>
                </a:ln>
              </p:spPr>
            </p:cxnSp>
            <p:cxnSp>
              <p:nvCxnSpPr>
                <p:cNvPr id="1566" name="Google Shape;1566;p65"/>
                <p:cNvCxnSpPr>
                  <a:stCxn id="1556" idx="3"/>
                  <a:endCxn id="1558" idx="0"/>
                </p:cNvCxnSpPr>
                <p:nvPr/>
              </p:nvCxnSpPr>
              <p:spPr>
                <a:xfrm flipH="1">
                  <a:off x="3856689" y="3566252"/>
                  <a:ext cx="217800" cy="367800"/>
                </a:xfrm>
                <a:prstGeom prst="straightConnector1">
                  <a:avLst/>
                </a:prstGeom>
                <a:noFill/>
                <a:ln cap="flat" cmpd="sng" w="9525">
                  <a:solidFill>
                    <a:srgbClr val="1155CC"/>
                  </a:solidFill>
                  <a:prstDash val="solid"/>
                  <a:round/>
                  <a:headEnd len="med" w="med" type="none"/>
                  <a:tailEnd len="med" w="med" type="none"/>
                </a:ln>
              </p:spPr>
            </p:cxnSp>
            <p:cxnSp>
              <p:nvCxnSpPr>
                <p:cNvPr id="1567" name="Google Shape;1567;p65"/>
                <p:cNvCxnSpPr>
                  <a:stCxn id="1556" idx="5"/>
                  <a:endCxn id="1559" idx="1"/>
                </p:cNvCxnSpPr>
                <p:nvPr/>
              </p:nvCxnSpPr>
              <p:spPr>
                <a:xfrm>
                  <a:off x="4299561" y="3566252"/>
                  <a:ext cx="298500" cy="418200"/>
                </a:xfrm>
                <a:prstGeom prst="straightConnector1">
                  <a:avLst/>
                </a:prstGeom>
                <a:noFill/>
                <a:ln cap="flat" cmpd="sng" w="9525">
                  <a:solidFill>
                    <a:srgbClr val="1155CC"/>
                  </a:solidFill>
                  <a:prstDash val="solid"/>
                  <a:round/>
                  <a:headEnd len="med" w="med" type="none"/>
                  <a:tailEnd len="med" w="med" type="none"/>
                </a:ln>
              </p:spPr>
            </p:cxnSp>
            <p:cxnSp>
              <p:nvCxnSpPr>
                <p:cNvPr id="1568" name="Google Shape;1568;p65"/>
                <p:cNvCxnSpPr>
                  <a:stCxn id="1559" idx="2"/>
                  <a:endCxn id="1558" idx="6"/>
                </p:cNvCxnSpPr>
                <p:nvPr/>
              </p:nvCxnSpPr>
              <p:spPr>
                <a:xfrm rot="10800000">
                  <a:off x="4015675" y="4105975"/>
                  <a:ext cx="535800" cy="0"/>
                </a:xfrm>
                <a:prstGeom prst="straightConnector1">
                  <a:avLst/>
                </a:prstGeom>
                <a:noFill/>
                <a:ln cap="flat" cmpd="sng" w="9525">
                  <a:solidFill>
                    <a:srgbClr val="1C4587"/>
                  </a:solidFill>
                  <a:prstDash val="solid"/>
                  <a:round/>
                  <a:headEnd len="med" w="med" type="none"/>
                  <a:tailEnd len="med" w="med" type="none"/>
                </a:ln>
              </p:spPr>
            </p:cxnSp>
            <p:cxnSp>
              <p:nvCxnSpPr>
                <p:cNvPr id="1569" name="Google Shape;1569;p65"/>
                <p:cNvCxnSpPr>
                  <a:stCxn id="1559" idx="3"/>
                  <a:endCxn id="1560" idx="7"/>
                </p:cNvCxnSpPr>
                <p:nvPr/>
              </p:nvCxnSpPr>
              <p:spPr>
                <a:xfrm flipH="1">
                  <a:off x="4332589" y="4227527"/>
                  <a:ext cx="265500" cy="290400"/>
                </a:xfrm>
                <a:prstGeom prst="straightConnector1">
                  <a:avLst/>
                </a:prstGeom>
                <a:noFill/>
                <a:ln cap="flat" cmpd="sng" w="9525">
                  <a:solidFill>
                    <a:srgbClr val="1155CC"/>
                  </a:solidFill>
                  <a:prstDash val="solid"/>
                  <a:round/>
                  <a:headEnd len="med" w="med" type="none"/>
                  <a:tailEnd len="med" w="med" type="none"/>
                </a:ln>
              </p:spPr>
            </p:cxnSp>
            <p:cxnSp>
              <p:nvCxnSpPr>
                <p:cNvPr id="1570" name="Google Shape;1570;p65"/>
                <p:cNvCxnSpPr>
                  <a:stCxn id="1558" idx="4"/>
                  <a:endCxn id="1560" idx="1"/>
                </p:cNvCxnSpPr>
                <p:nvPr/>
              </p:nvCxnSpPr>
              <p:spPr>
                <a:xfrm>
                  <a:off x="3856575" y="4277875"/>
                  <a:ext cx="251100" cy="240000"/>
                </a:xfrm>
                <a:prstGeom prst="straightConnector1">
                  <a:avLst/>
                </a:prstGeom>
                <a:noFill/>
                <a:ln cap="flat" cmpd="sng" w="9525">
                  <a:solidFill>
                    <a:srgbClr val="1155CC"/>
                  </a:solidFill>
                  <a:prstDash val="solid"/>
                  <a:round/>
                  <a:headEnd len="med" w="med" type="none"/>
                  <a:tailEnd len="med" w="med" type="none"/>
                </a:ln>
              </p:spPr>
            </p:cxnSp>
            <p:cxnSp>
              <p:nvCxnSpPr>
                <p:cNvPr id="1571" name="Google Shape;1571;p65"/>
                <p:cNvCxnSpPr>
                  <a:stCxn id="1562" idx="3"/>
                  <a:endCxn id="1559" idx="7"/>
                </p:cNvCxnSpPr>
                <p:nvPr/>
              </p:nvCxnSpPr>
              <p:spPr>
                <a:xfrm flipH="1">
                  <a:off x="4823039" y="3566252"/>
                  <a:ext cx="193800" cy="418200"/>
                </a:xfrm>
                <a:prstGeom prst="straightConnector1">
                  <a:avLst/>
                </a:prstGeom>
                <a:noFill/>
                <a:ln cap="flat" cmpd="sng" w="9525">
                  <a:solidFill>
                    <a:srgbClr val="1155CC"/>
                  </a:solidFill>
                  <a:prstDash val="solid"/>
                  <a:round/>
                  <a:headEnd len="med" w="med" type="none"/>
                  <a:tailEnd len="med" w="med" type="none"/>
                </a:ln>
              </p:spPr>
            </p:cxnSp>
            <p:cxnSp>
              <p:nvCxnSpPr>
                <p:cNvPr id="1572" name="Google Shape;1572;p65"/>
                <p:cNvCxnSpPr>
                  <a:stCxn id="1562" idx="5"/>
                  <a:endCxn id="1561" idx="0"/>
                </p:cNvCxnSpPr>
                <p:nvPr/>
              </p:nvCxnSpPr>
              <p:spPr>
                <a:xfrm>
                  <a:off x="5241911" y="3566252"/>
                  <a:ext cx="230700" cy="367800"/>
                </a:xfrm>
                <a:prstGeom prst="straightConnector1">
                  <a:avLst/>
                </a:prstGeom>
                <a:noFill/>
                <a:ln cap="flat" cmpd="sng" w="9525">
                  <a:solidFill>
                    <a:srgbClr val="1155CC"/>
                  </a:solidFill>
                  <a:prstDash val="solid"/>
                  <a:round/>
                  <a:headEnd len="med" w="med" type="none"/>
                  <a:tailEnd len="med" w="med" type="none"/>
                </a:ln>
              </p:spPr>
            </p:cxnSp>
            <p:cxnSp>
              <p:nvCxnSpPr>
                <p:cNvPr id="1573" name="Google Shape;1573;p65"/>
                <p:cNvCxnSpPr>
                  <a:stCxn id="1561" idx="2"/>
                  <a:endCxn id="1559" idx="6"/>
                </p:cNvCxnSpPr>
                <p:nvPr/>
              </p:nvCxnSpPr>
              <p:spPr>
                <a:xfrm rot="10800000">
                  <a:off x="4869875" y="4105975"/>
                  <a:ext cx="443700" cy="0"/>
                </a:xfrm>
                <a:prstGeom prst="straightConnector1">
                  <a:avLst/>
                </a:prstGeom>
                <a:noFill/>
                <a:ln cap="flat" cmpd="sng" w="9525">
                  <a:solidFill>
                    <a:srgbClr val="1C4587"/>
                  </a:solidFill>
                  <a:prstDash val="solid"/>
                  <a:round/>
                  <a:headEnd len="med" w="med" type="none"/>
                  <a:tailEnd len="med" w="med" type="none"/>
                </a:ln>
              </p:spPr>
            </p:cxnSp>
            <p:sp>
              <p:nvSpPr>
                <p:cNvPr id="1574" name="Google Shape;1574;p65"/>
                <p:cNvSpPr txBox="1"/>
                <p:nvPr/>
              </p:nvSpPr>
              <p:spPr>
                <a:xfrm>
                  <a:off x="5360050" y="3069100"/>
                  <a:ext cx="29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rebuchet MS"/>
                      <a:ea typeface="Trebuchet MS"/>
                      <a:cs typeface="Trebuchet MS"/>
                      <a:sym typeface="Trebuchet MS"/>
                    </a:rPr>
                    <a:t>v</a:t>
                  </a:r>
                  <a:endParaRPr>
                    <a:latin typeface="Trebuchet MS"/>
                    <a:ea typeface="Trebuchet MS"/>
                    <a:cs typeface="Trebuchet MS"/>
                    <a:sym typeface="Trebuchet MS"/>
                  </a:endParaRPr>
                </a:p>
              </p:txBody>
            </p:sp>
            <p:cxnSp>
              <p:nvCxnSpPr>
                <p:cNvPr id="1575" name="Google Shape;1575;p65"/>
                <p:cNvCxnSpPr>
                  <a:stCxn id="1562" idx="2"/>
                  <a:endCxn id="1556" idx="6"/>
                </p:cNvCxnSpPr>
                <p:nvPr/>
              </p:nvCxnSpPr>
              <p:spPr>
                <a:xfrm rot="10800000">
                  <a:off x="4346225" y="3444700"/>
                  <a:ext cx="624000" cy="0"/>
                </a:xfrm>
                <a:prstGeom prst="straightConnector1">
                  <a:avLst/>
                </a:prstGeom>
                <a:noFill/>
                <a:ln cap="flat" cmpd="sng" w="19050">
                  <a:solidFill>
                    <a:srgbClr val="BF9000"/>
                  </a:solidFill>
                  <a:prstDash val="solid"/>
                  <a:round/>
                  <a:headEnd len="med" w="med" type="none"/>
                  <a:tailEnd len="med" w="med" type="triangle"/>
                </a:ln>
              </p:spPr>
            </p:cxnSp>
          </p:grpSp>
          <p:sp>
            <p:nvSpPr>
              <p:cNvPr id="1576" name="Google Shape;1576;p65"/>
              <p:cNvSpPr/>
              <p:nvPr/>
            </p:nvSpPr>
            <p:spPr>
              <a:xfrm>
                <a:off x="833200" y="1000850"/>
                <a:ext cx="3028200" cy="18567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7" name="Google Shape;1577;p65"/>
            <p:cNvSpPr txBox="1"/>
            <p:nvPr/>
          </p:nvSpPr>
          <p:spPr>
            <a:xfrm>
              <a:off x="394775" y="955700"/>
              <a:ext cx="381900" cy="400200"/>
            </a:xfrm>
            <a:prstGeom prst="rect">
              <a:avLst/>
            </a:prstGeom>
            <a:solidFill>
              <a:srgbClr val="E4DED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rebuchet MS"/>
                  <a:ea typeface="Trebuchet MS"/>
                  <a:cs typeface="Trebuchet MS"/>
                  <a:sym typeface="Trebuchet MS"/>
                </a:rPr>
                <a:t>1</a:t>
              </a:r>
              <a:endParaRPr>
                <a:latin typeface="Trebuchet MS"/>
                <a:ea typeface="Trebuchet MS"/>
                <a:cs typeface="Trebuchet MS"/>
                <a:sym typeface="Trebuchet MS"/>
              </a:endParaRPr>
            </a:p>
          </p:txBody>
        </p:sp>
      </p:grpSp>
      <p:grpSp>
        <p:nvGrpSpPr>
          <p:cNvPr id="1578" name="Google Shape;1578;p65"/>
          <p:cNvGrpSpPr/>
          <p:nvPr/>
        </p:nvGrpSpPr>
        <p:grpSpPr>
          <a:xfrm>
            <a:off x="5296313" y="3286800"/>
            <a:ext cx="3480125" cy="1856700"/>
            <a:chOff x="4659425" y="999925"/>
            <a:chExt cx="3480125" cy="1856700"/>
          </a:xfrm>
        </p:grpSpPr>
        <p:grpSp>
          <p:nvGrpSpPr>
            <p:cNvPr id="1579" name="Google Shape;1579;p65"/>
            <p:cNvGrpSpPr/>
            <p:nvPr/>
          </p:nvGrpSpPr>
          <p:grpSpPr>
            <a:xfrm>
              <a:off x="5111350" y="999925"/>
              <a:ext cx="3028200" cy="1856700"/>
              <a:chOff x="5111350" y="1025463"/>
              <a:chExt cx="3028200" cy="1856700"/>
            </a:xfrm>
          </p:grpSpPr>
          <p:grpSp>
            <p:nvGrpSpPr>
              <p:cNvPr id="1580" name="Google Shape;1580;p65"/>
              <p:cNvGrpSpPr/>
              <p:nvPr/>
            </p:nvGrpSpPr>
            <p:grpSpPr>
              <a:xfrm>
                <a:off x="5244300" y="1082625"/>
                <a:ext cx="2762300" cy="1742375"/>
                <a:chOff x="2889350" y="3069100"/>
                <a:chExt cx="2762300" cy="1742375"/>
              </a:xfrm>
            </p:grpSpPr>
            <p:sp>
              <p:nvSpPr>
                <p:cNvPr id="1581" name="Google Shape;1581;p65"/>
                <p:cNvSpPr/>
                <p:nvPr/>
              </p:nvSpPr>
              <p:spPr>
                <a:xfrm>
                  <a:off x="3232700" y="3272800"/>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65"/>
                <p:cNvSpPr/>
                <p:nvPr/>
              </p:nvSpPr>
              <p:spPr>
                <a:xfrm>
                  <a:off x="4027875" y="3272800"/>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65"/>
                <p:cNvSpPr/>
                <p:nvPr/>
              </p:nvSpPr>
              <p:spPr>
                <a:xfrm>
                  <a:off x="2889350" y="393407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65"/>
                <p:cNvSpPr/>
                <p:nvPr/>
              </p:nvSpPr>
              <p:spPr>
                <a:xfrm>
                  <a:off x="3697425" y="3934075"/>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65"/>
                <p:cNvSpPr/>
                <p:nvPr/>
              </p:nvSpPr>
              <p:spPr>
                <a:xfrm>
                  <a:off x="4551475" y="393407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65"/>
                <p:cNvSpPr/>
                <p:nvPr/>
              </p:nvSpPr>
              <p:spPr>
                <a:xfrm>
                  <a:off x="4061050" y="446767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65"/>
                <p:cNvSpPr/>
                <p:nvPr/>
              </p:nvSpPr>
              <p:spPr>
                <a:xfrm>
                  <a:off x="5313575" y="393407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65"/>
                <p:cNvSpPr/>
                <p:nvPr/>
              </p:nvSpPr>
              <p:spPr>
                <a:xfrm>
                  <a:off x="4970225" y="3272800"/>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1</a:t>
                  </a:r>
                  <a:endParaRPr>
                    <a:solidFill>
                      <a:srgbClr val="000000"/>
                    </a:solidFill>
                  </a:endParaRPr>
                </a:p>
              </p:txBody>
            </p:sp>
            <p:cxnSp>
              <p:nvCxnSpPr>
                <p:cNvPr id="1589" name="Google Shape;1589;p65"/>
                <p:cNvCxnSpPr>
                  <a:stCxn id="1581" idx="3"/>
                  <a:endCxn id="1583" idx="0"/>
                </p:cNvCxnSpPr>
                <p:nvPr/>
              </p:nvCxnSpPr>
              <p:spPr>
                <a:xfrm flipH="1">
                  <a:off x="3048614" y="3566252"/>
                  <a:ext cx="230700" cy="367800"/>
                </a:xfrm>
                <a:prstGeom prst="straightConnector1">
                  <a:avLst/>
                </a:prstGeom>
                <a:noFill/>
                <a:ln cap="flat" cmpd="sng" w="9525">
                  <a:solidFill>
                    <a:srgbClr val="1155CC"/>
                  </a:solidFill>
                  <a:prstDash val="solid"/>
                  <a:round/>
                  <a:headEnd len="med" w="med" type="none"/>
                  <a:tailEnd len="med" w="med" type="none"/>
                </a:ln>
              </p:spPr>
            </p:cxnSp>
            <p:cxnSp>
              <p:nvCxnSpPr>
                <p:cNvPr id="1590" name="Google Shape;1590;p65"/>
                <p:cNvCxnSpPr>
                  <a:stCxn id="1581" idx="5"/>
                  <a:endCxn id="1584" idx="1"/>
                </p:cNvCxnSpPr>
                <p:nvPr/>
              </p:nvCxnSpPr>
              <p:spPr>
                <a:xfrm>
                  <a:off x="3504386" y="3566252"/>
                  <a:ext cx="239700" cy="418200"/>
                </a:xfrm>
                <a:prstGeom prst="straightConnector1">
                  <a:avLst/>
                </a:prstGeom>
                <a:noFill/>
                <a:ln cap="flat" cmpd="sng" w="9525">
                  <a:solidFill>
                    <a:srgbClr val="1155CC"/>
                  </a:solidFill>
                  <a:prstDash val="solid"/>
                  <a:round/>
                  <a:headEnd len="med" w="med" type="none"/>
                  <a:tailEnd len="med" w="med" type="none"/>
                </a:ln>
              </p:spPr>
            </p:cxnSp>
            <p:cxnSp>
              <p:nvCxnSpPr>
                <p:cNvPr id="1591" name="Google Shape;1591;p65"/>
                <p:cNvCxnSpPr>
                  <a:stCxn id="1584" idx="2"/>
                  <a:endCxn id="1583" idx="6"/>
                </p:cNvCxnSpPr>
                <p:nvPr/>
              </p:nvCxnSpPr>
              <p:spPr>
                <a:xfrm rot="10800000">
                  <a:off x="3207525" y="4105975"/>
                  <a:ext cx="489900" cy="0"/>
                </a:xfrm>
                <a:prstGeom prst="straightConnector1">
                  <a:avLst/>
                </a:prstGeom>
                <a:noFill/>
                <a:ln cap="flat" cmpd="sng" w="9525">
                  <a:solidFill>
                    <a:srgbClr val="1155CC"/>
                  </a:solidFill>
                  <a:prstDash val="solid"/>
                  <a:round/>
                  <a:headEnd len="med" w="med" type="none"/>
                  <a:tailEnd len="med" w="med" type="none"/>
                </a:ln>
              </p:spPr>
            </p:cxnSp>
            <p:cxnSp>
              <p:nvCxnSpPr>
                <p:cNvPr id="1592" name="Google Shape;1592;p65"/>
                <p:cNvCxnSpPr>
                  <a:stCxn id="1582" idx="3"/>
                  <a:endCxn id="1584" idx="0"/>
                </p:cNvCxnSpPr>
                <p:nvPr/>
              </p:nvCxnSpPr>
              <p:spPr>
                <a:xfrm flipH="1">
                  <a:off x="3856689" y="3566252"/>
                  <a:ext cx="217800" cy="367800"/>
                </a:xfrm>
                <a:prstGeom prst="straightConnector1">
                  <a:avLst/>
                </a:prstGeom>
                <a:noFill/>
                <a:ln cap="flat" cmpd="sng" w="19050">
                  <a:solidFill>
                    <a:srgbClr val="BF9000"/>
                  </a:solidFill>
                  <a:prstDash val="solid"/>
                  <a:round/>
                  <a:headEnd len="med" w="med" type="none"/>
                  <a:tailEnd len="med" w="med" type="triangle"/>
                </a:ln>
              </p:spPr>
            </p:cxnSp>
            <p:cxnSp>
              <p:nvCxnSpPr>
                <p:cNvPr id="1593" name="Google Shape;1593;p65"/>
                <p:cNvCxnSpPr>
                  <a:stCxn id="1582" idx="5"/>
                  <a:endCxn id="1585" idx="1"/>
                </p:cNvCxnSpPr>
                <p:nvPr/>
              </p:nvCxnSpPr>
              <p:spPr>
                <a:xfrm>
                  <a:off x="4299561" y="3566252"/>
                  <a:ext cx="298500" cy="418200"/>
                </a:xfrm>
                <a:prstGeom prst="straightConnector1">
                  <a:avLst/>
                </a:prstGeom>
                <a:noFill/>
                <a:ln cap="flat" cmpd="sng" w="9525">
                  <a:solidFill>
                    <a:srgbClr val="1155CC"/>
                  </a:solidFill>
                  <a:prstDash val="solid"/>
                  <a:round/>
                  <a:headEnd len="med" w="med" type="none"/>
                  <a:tailEnd len="med" w="med" type="none"/>
                </a:ln>
              </p:spPr>
            </p:cxnSp>
            <p:cxnSp>
              <p:nvCxnSpPr>
                <p:cNvPr id="1594" name="Google Shape;1594;p65"/>
                <p:cNvCxnSpPr>
                  <a:stCxn id="1585" idx="2"/>
                  <a:endCxn id="1584" idx="6"/>
                </p:cNvCxnSpPr>
                <p:nvPr/>
              </p:nvCxnSpPr>
              <p:spPr>
                <a:xfrm rot="10800000">
                  <a:off x="4015675" y="4105975"/>
                  <a:ext cx="535800" cy="0"/>
                </a:xfrm>
                <a:prstGeom prst="straightConnector1">
                  <a:avLst/>
                </a:prstGeom>
                <a:noFill/>
                <a:ln cap="flat" cmpd="sng" w="9525">
                  <a:solidFill>
                    <a:srgbClr val="1C4587"/>
                  </a:solidFill>
                  <a:prstDash val="solid"/>
                  <a:round/>
                  <a:headEnd len="med" w="med" type="none"/>
                  <a:tailEnd len="med" w="med" type="none"/>
                </a:ln>
              </p:spPr>
            </p:cxnSp>
            <p:cxnSp>
              <p:nvCxnSpPr>
                <p:cNvPr id="1595" name="Google Shape;1595;p65"/>
                <p:cNvCxnSpPr>
                  <a:stCxn id="1585" idx="3"/>
                  <a:endCxn id="1586" idx="7"/>
                </p:cNvCxnSpPr>
                <p:nvPr/>
              </p:nvCxnSpPr>
              <p:spPr>
                <a:xfrm flipH="1">
                  <a:off x="4332589" y="4227527"/>
                  <a:ext cx="265500" cy="290400"/>
                </a:xfrm>
                <a:prstGeom prst="straightConnector1">
                  <a:avLst/>
                </a:prstGeom>
                <a:noFill/>
                <a:ln cap="flat" cmpd="sng" w="9525">
                  <a:solidFill>
                    <a:srgbClr val="1155CC"/>
                  </a:solidFill>
                  <a:prstDash val="solid"/>
                  <a:round/>
                  <a:headEnd len="med" w="med" type="none"/>
                  <a:tailEnd len="med" w="med" type="none"/>
                </a:ln>
              </p:spPr>
            </p:cxnSp>
            <p:cxnSp>
              <p:nvCxnSpPr>
                <p:cNvPr id="1596" name="Google Shape;1596;p65"/>
                <p:cNvCxnSpPr>
                  <a:stCxn id="1584" idx="4"/>
                  <a:endCxn id="1586" idx="1"/>
                </p:cNvCxnSpPr>
                <p:nvPr/>
              </p:nvCxnSpPr>
              <p:spPr>
                <a:xfrm>
                  <a:off x="3856575" y="4277875"/>
                  <a:ext cx="251100" cy="240000"/>
                </a:xfrm>
                <a:prstGeom prst="straightConnector1">
                  <a:avLst/>
                </a:prstGeom>
                <a:noFill/>
                <a:ln cap="flat" cmpd="sng" w="9525">
                  <a:solidFill>
                    <a:srgbClr val="1155CC"/>
                  </a:solidFill>
                  <a:prstDash val="solid"/>
                  <a:round/>
                  <a:headEnd len="med" w="med" type="none"/>
                  <a:tailEnd len="med" w="med" type="none"/>
                </a:ln>
              </p:spPr>
            </p:cxnSp>
            <p:cxnSp>
              <p:nvCxnSpPr>
                <p:cNvPr id="1597" name="Google Shape;1597;p65"/>
                <p:cNvCxnSpPr>
                  <a:stCxn id="1588" idx="3"/>
                  <a:endCxn id="1585" idx="7"/>
                </p:cNvCxnSpPr>
                <p:nvPr/>
              </p:nvCxnSpPr>
              <p:spPr>
                <a:xfrm flipH="1">
                  <a:off x="4823039" y="3566252"/>
                  <a:ext cx="193800" cy="418200"/>
                </a:xfrm>
                <a:prstGeom prst="straightConnector1">
                  <a:avLst/>
                </a:prstGeom>
                <a:noFill/>
                <a:ln cap="flat" cmpd="sng" w="9525">
                  <a:solidFill>
                    <a:srgbClr val="1155CC"/>
                  </a:solidFill>
                  <a:prstDash val="solid"/>
                  <a:round/>
                  <a:headEnd len="med" w="med" type="none"/>
                  <a:tailEnd len="med" w="med" type="none"/>
                </a:ln>
              </p:spPr>
            </p:cxnSp>
            <p:cxnSp>
              <p:nvCxnSpPr>
                <p:cNvPr id="1598" name="Google Shape;1598;p65"/>
                <p:cNvCxnSpPr>
                  <a:stCxn id="1588" idx="5"/>
                  <a:endCxn id="1587" idx="0"/>
                </p:cNvCxnSpPr>
                <p:nvPr/>
              </p:nvCxnSpPr>
              <p:spPr>
                <a:xfrm>
                  <a:off x="5241911" y="3566252"/>
                  <a:ext cx="230700" cy="367800"/>
                </a:xfrm>
                <a:prstGeom prst="straightConnector1">
                  <a:avLst/>
                </a:prstGeom>
                <a:noFill/>
                <a:ln cap="flat" cmpd="sng" w="9525">
                  <a:solidFill>
                    <a:srgbClr val="1155CC"/>
                  </a:solidFill>
                  <a:prstDash val="solid"/>
                  <a:round/>
                  <a:headEnd len="med" w="med" type="none"/>
                  <a:tailEnd len="med" w="med" type="none"/>
                </a:ln>
              </p:spPr>
            </p:cxnSp>
            <p:cxnSp>
              <p:nvCxnSpPr>
                <p:cNvPr id="1599" name="Google Shape;1599;p65"/>
                <p:cNvCxnSpPr>
                  <a:stCxn id="1587" idx="2"/>
                  <a:endCxn id="1585" idx="6"/>
                </p:cNvCxnSpPr>
                <p:nvPr/>
              </p:nvCxnSpPr>
              <p:spPr>
                <a:xfrm rot="10800000">
                  <a:off x="4869875" y="4105975"/>
                  <a:ext cx="443700" cy="0"/>
                </a:xfrm>
                <a:prstGeom prst="straightConnector1">
                  <a:avLst/>
                </a:prstGeom>
                <a:noFill/>
                <a:ln cap="flat" cmpd="sng" w="9525">
                  <a:solidFill>
                    <a:srgbClr val="1C4587"/>
                  </a:solidFill>
                  <a:prstDash val="solid"/>
                  <a:round/>
                  <a:headEnd len="med" w="med" type="none"/>
                  <a:tailEnd len="med" w="med" type="none"/>
                </a:ln>
              </p:spPr>
            </p:cxnSp>
            <p:sp>
              <p:nvSpPr>
                <p:cNvPr id="1600" name="Google Shape;1600;p65"/>
                <p:cNvSpPr txBox="1"/>
                <p:nvPr/>
              </p:nvSpPr>
              <p:spPr>
                <a:xfrm>
                  <a:off x="5360050" y="3069100"/>
                  <a:ext cx="29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rebuchet MS"/>
                      <a:ea typeface="Trebuchet MS"/>
                      <a:cs typeface="Trebuchet MS"/>
                      <a:sym typeface="Trebuchet MS"/>
                    </a:rPr>
                    <a:t>v</a:t>
                  </a:r>
                  <a:endParaRPr>
                    <a:latin typeface="Trebuchet MS"/>
                    <a:ea typeface="Trebuchet MS"/>
                    <a:cs typeface="Trebuchet MS"/>
                    <a:sym typeface="Trebuchet MS"/>
                  </a:endParaRPr>
                </a:p>
              </p:txBody>
            </p:sp>
            <p:cxnSp>
              <p:nvCxnSpPr>
                <p:cNvPr id="1601" name="Google Shape;1601;p65"/>
                <p:cNvCxnSpPr>
                  <a:stCxn id="1588" idx="2"/>
                  <a:endCxn id="1582" idx="6"/>
                </p:cNvCxnSpPr>
                <p:nvPr/>
              </p:nvCxnSpPr>
              <p:spPr>
                <a:xfrm rot="10800000">
                  <a:off x="4346225" y="3444700"/>
                  <a:ext cx="624000" cy="0"/>
                </a:xfrm>
                <a:prstGeom prst="straightConnector1">
                  <a:avLst/>
                </a:prstGeom>
                <a:noFill/>
                <a:ln cap="flat" cmpd="sng" w="19050">
                  <a:solidFill>
                    <a:srgbClr val="BF9000"/>
                  </a:solidFill>
                  <a:prstDash val="solid"/>
                  <a:round/>
                  <a:headEnd len="med" w="med" type="none"/>
                  <a:tailEnd len="med" w="med" type="triangle"/>
                </a:ln>
              </p:spPr>
            </p:cxnSp>
          </p:grpSp>
          <p:sp>
            <p:nvSpPr>
              <p:cNvPr id="1602" name="Google Shape;1602;p65"/>
              <p:cNvSpPr/>
              <p:nvPr/>
            </p:nvSpPr>
            <p:spPr>
              <a:xfrm>
                <a:off x="5111350" y="1025463"/>
                <a:ext cx="3028200" cy="18567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3" name="Google Shape;1603;p65"/>
            <p:cNvSpPr txBox="1"/>
            <p:nvPr/>
          </p:nvSpPr>
          <p:spPr>
            <a:xfrm>
              <a:off x="4659425" y="999925"/>
              <a:ext cx="381900" cy="400200"/>
            </a:xfrm>
            <a:prstGeom prst="rect">
              <a:avLst/>
            </a:prstGeom>
            <a:solidFill>
              <a:srgbClr val="E4DED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rebuchet MS"/>
                  <a:ea typeface="Trebuchet MS"/>
                  <a:cs typeface="Trebuchet MS"/>
                  <a:sym typeface="Trebuchet MS"/>
                </a:rPr>
                <a:t>2</a:t>
              </a:r>
              <a:endParaRPr>
                <a:latin typeface="Trebuchet MS"/>
                <a:ea typeface="Trebuchet MS"/>
                <a:cs typeface="Trebuchet MS"/>
                <a:sym typeface="Trebuchet MS"/>
              </a:endParaRPr>
            </a:p>
          </p:txBody>
        </p:sp>
      </p:grpSp>
      <p:sp>
        <p:nvSpPr>
          <p:cNvPr id="1604" name="Google Shape;1604;p65"/>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2"/>
                                        </p:tgtEl>
                                        <p:attrNameLst>
                                          <p:attrName>style.visibility</p:attrName>
                                        </p:attrNameLst>
                                      </p:cBhvr>
                                      <p:to>
                                        <p:strVal val="visible"/>
                                      </p:to>
                                    </p:set>
                                    <p:animEffect filter="fade" transition="in">
                                      <p:cBhvr>
                                        <p:cTn dur="1000"/>
                                        <p:tgtEl>
                                          <p:spTgt spid="1532"/>
                                        </p:tgtEl>
                                      </p:cBhvr>
                                    </p:animEffect>
                                  </p:childTnLst>
                                </p:cTn>
                              </p:par>
                              <p:par>
                                <p:cTn fill="hold" nodeType="withEffect" presetClass="entr" presetID="10" presetSubtype="0">
                                  <p:stCondLst>
                                    <p:cond delay="0"/>
                                  </p:stCondLst>
                                  <p:childTnLst>
                                    <p:set>
                                      <p:cBhvr>
                                        <p:cTn dur="1" fill="hold">
                                          <p:stCondLst>
                                            <p:cond delay="0"/>
                                          </p:stCondLst>
                                        </p:cTn>
                                        <p:tgtEl>
                                          <p:spTgt spid="1533"/>
                                        </p:tgtEl>
                                        <p:attrNameLst>
                                          <p:attrName>style.visibility</p:attrName>
                                        </p:attrNameLst>
                                      </p:cBhvr>
                                      <p:to>
                                        <p:strVal val="visible"/>
                                      </p:to>
                                    </p:set>
                                    <p:animEffect filter="fade" transition="in">
                                      <p:cBhvr>
                                        <p:cTn dur="1000"/>
                                        <p:tgtEl>
                                          <p:spTgt spid="1533"/>
                                        </p:tgtEl>
                                      </p:cBhvr>
                                    </p:animEffect>
                                  </p:childTnLst>
                                </p:cTn>
                              </p:par>
                              <p:par>
                                <p:cTn fill="hold" nodeType="withEffect" presetClass="entr" presetID="10" presetSubtype="0">
                                  <p:stCondLst>
                                    <p:cond delay="0"/>
                                  </p:stCondLst>
                                  <p:childTnLst>
                                    <p:set>
                                      <p:cBhvr>
                                        <p:cTn dur="1" fill="hold">
                                          <p:stCondLst>
                                            <p:cond delay="0"/>
                                          </p:stCondLst>
                                        </p:cTn>
                                        <p:tgtEl>
                                          <p:spTgt spid="1534"/>
                                        </p:tgtEl>
                                        <p:attrNameLst>
                                          <p:attrName>style.visibility</p:attrName>
                                        </p:attrNameLst>
                                      </p:cBhvr>
                                      <p:to>
                                        <p:strVal val="visible"/>
                                      </p:to>
                                    </p:set>
                                    <p:animEffect filter="fade" transition="in">
                                      <p:cBhvr>
                                        <p:cTn dur="1000"/>
                                        <p:tgtEl>
                                          <p:spTgt spid="1534"/>
                                        </p:tgtEl>
                                      </p:cBhvr>
                                    </p:animEffect>
                                  </p:childTnLst>
                                </p:cTn>
                              </p:par>
                              <p:par>
                                <p:cTn fill="hold" nodeType="withEffect" presetClass="entr" presetID="10" presetSubtype="0">
                                  <p:stCondLst>
                                    <p:cond delay="0"/>
                                  </p:stCondLst>
                                  <p:childTnLst>
                                    <p:set>
                                      <p:cBhvr>
                                        <p:cTn dur="1" fill="hold">
                                          <p:stCondLst>
                                            <p:cond delay="0"/>
                                          </p:stCondLst>
                                        </p:cTn>
                                        <p:tgtEl>
                                          <p:spTgt spid="1535"/>
                                        </p:tgtEl>
                                        <p:attrNameLst>
                                          <p:attrName>style.visibility</p:attrName>
                                        </p:attrNameLst>
                                      </p:cBhvr>
                                      <p:to>
                                        <p:strVal val="visible"/>
                                      </p:to>
                                    </p:set>
                                    <p:animEffect filter="fade" transition="in">
                                      <p:cBhvr>
                                        <p:cTn dur="1000"/>
                                        <p:tgtEl>
                                          <p:spTgt spid="1535"/>
                                        </p:tgtEl>
                                      </p:cBhvr>
                                    </p:animEffect>
                                  </p:childTnLst>
                                </p:cTn>
                              </p:par>
                              <p:par>
                                <p:cTn fill="hold" nodeType="withEffect" presetClass="entr" presetID="10" presetSubtype="0">
                                  <p:stCondLst>
                                    <p:cond delay="0"/>
                                  </p:stCondLst>
                                  <p:childTnLst>
                                    <p:set>
                                      <p:cBhvr>
                                        <p:cTn dur="1" fill="hold">
                                          <p:stCondLst>
                                            <p:cond delay="0"/>
                                          </p:stCondLst>
                                        </p:cTn>
                                        <p:tgtEl>
                                          <p:spTgt spid="1536"/>
                                        </p:tgtEl>
                                        <p:attrNameLst>
                                          <p:attrName>style.visibility</p:attrName>
                                        </p:attrNameLst>
                                      </p:cBhvr>
                                      <p:to>
                                        <p:strVal val="visible"/>
                                      </p:to>
                                    </p:set>
                                    <p:animEffect filter="fade" transition="in">
                                      <p:cBhvr>
                                        <p:cTn dur="1000"/>
                                        <p:tgtEl>
                                          <p:spTgt spid="1536"/>
                                        </p:tgtEl>
                                      </p:cBhvr>
                                    </p:animEffect>
                                  </p:childTnLst>
                                </p:cTn>
                              </p:par>
                              <p:par>
                                <p:cTn fill="hold" nodeType="withEffect" presetClass="entr" presetID="10" presetSubtype="0">
                                  <p:stCondLst>
                                    <p:cond delay="0"/>
                                  </p:stCondLst>
                                  <p:childTnLst>
                                    <p:set>
                                      <p:cBhvr>
                                        <p:cTn dur="1" fill="hold">
                                          <p:stCondLst>
                                            <p:cond delay="0"/>
                                          </p:stCondLst>
                                        </p:cTn>
                                        <p:tgtEl>
                                          <p:spTgt spid="1537"/>
                                        </p:tgtEl>
                                        <p:attrNameLst>
                                          <p:attrName>style.visibility</p:attrName>
                                        </p:attrNameLst>
                                      </p:cBhvr>
                                      <p:to>
                                        <p:strVal val="visible"/>
                                      </p:to>
                                    </p:set>
                                    <p:animEffect filter="fade" transition="in">
                                      <p:cBhvr>
                                        <p:cTn dur="1000"/>
                                        <p:tgtEl>
                                          <p:spTgt spid="1537"/>
                                        </p:tgtEl>
                                      </p:cBhvr>
                                    </p:animEffect>
                                  </p:childTnLst>
                                </p:cTn>
                              </p:par>
                              <p:par>
                                <p:cTn fill="hold" nodeType="withEffect" presetClass="entr" presetID="10" presetSubtype="0">
                                  <p:stCondLst>
                                    <p:cond delay="0"/>
                                  </p:stCondLst>
                                  <p:childTnLst>
                                    <p:set>
                                      <p:cBhvr>
                                        <p:cTn dur="1" fill="hold">
                                          <p:stCondLst>
                                            <p:cond delay="0"/>
                                          </p:stCondLst>
                                        </p:cTn>
                                        <p:tgtEl>
                                          <p:spTgt spid="1538"/>
                                        </p:tgtEl>
                                        <p:attrNameLst>
                                          <p:attrName>style.visibility</p:attrName>
                                        </p:attrNameLst>
                                      </p:cBhvr>
                                      <p:to>
                                        <p:strVal val="visible"/>
                                      </p:to>
                                    </p:set>
                                    <p:animEffect filter="fade" transition="in">
                                      <p:cBhvr>
                                        <p:cTn dur="1000"/>
                                        <p:tgtEl>
                                          <p:spTgt spid="1538"/>
                                        </p:tgtEl>
                                      </p:cBhvr>
                                    </p:animEffect>
                                  </p:childTnLst>
                                </p:cTn>
                              </p:par>
                              <p:par>
                                <p:cTn fill="hold" nodeType="withEffect" presetClass="entr" presetID="10" presetSubtype="0">
                                  <p:stCondLst>
                                    <p:cond delay="0"/>
                                  </p:stCondLst>
                                  <p:childTnLst>
                                    <p:set>
                                      <p:cBhvr>
                                        <p:cTn dur="1" fill="hold">
                                          <p:stCondLst>
                                            <p:cond delay="0"/>
                                          </p:stCondLst>
                                        </p:cTn>
                                        <p:tgtEl>
                                          <p:spTgt spid="1539"/>
                                        </p:tgtEl>
                                        <p:attrNameLst>
                                          <p:attrName>style.visibility</p:attrName>
                                        </p:attrNameLst>
                                      </p:cBhvr>
                                      <p:to>
                                        <p:strVal val="visible"/>
                                      </p:to>
                                    </p:set>
                                    <p:animEffect filter="fade" transition="in">
                                      <p:cBhvr>
                                        <p:cTn dur="1000"/>
                                        <p:tgtEl>
                                          <p:spTgt spid="1539"/>
                                        </p:tgtEl>
                                      </p:cBhvr>
                                    </p:animEffect>
                                  </p:childTnLst>
                                </p:cTn>
                              </p:par>
                              <p:par>
                                <p:cTn fill="hold" nodeType="withEffect" presetClass="entr" presetID="10" presetSubtype="0">
                                  <p:stCondLst>
                                    <p:cond delay="0"/>
                                  </p:stCondLst>
                                  <p:childTnLst>
                                    <p:set>
                                      <p:cBhvr>
                                        <p:cTn dur="1" fill="hold">
                                          <p:stCondLst>
                                            <p:cond delay="0"/>
                                          </p:stCondLst>
                                        </p:cTn>
                                        <p:tgtEl>
                                          <p:spTgt spid="1540"/>
                                        </p:tgtEl>
                                        <p:attrNameLst>
                                          <p:attrName>style.visibility</p:attrName>
                                        </p:attrNameLst>
                                      </p:cBhvr>
                                      <p:to>
                                        <p:strVal val="visible"/>
                                      </p:to>
                                    </p:set>
                                    <p:animEffect filter="fade" transition="in">
                                      <p:cBhvr>
                                        <p:cTn dur="1000"/>
                                        <p:tgtEl>
                                          <p:spTgt spid="1540"/>
                                        </p:tgtEl>
                                      </p:cBhvr>
                                    </p:animEffect>
                                  </p:childTnLst>
                                </p:cTn>
                              </p:par>
                              <p:par>
                                <p:cTn fill="hold" nodeType="withEffect" presetClass="entr" presetID="10" presetSubtype="0">
                                  <p:stCondLst>
                                    <p:cond delay="0"/>
                                  </p:stCondLst>
                                  <p:childTnLst>
                                    <p:set>
                                      <p:cBhvr>
                                        <p:cTn dur="1" fill="hold">
                                          <p:stCondLst>
                                            <p:cond delay="0"/>
                                          </p:stCondLst>
                                        </p:cTn>
                                        <p:tgtEl>
                                          <p:spTgt spid="1541"/>
                                        </p:tgtEl>
                                        <p:attrNameLst>
                                          <p:attrName>style.visibility</p:attrName>
                                        </p:attrNameLst>
                                      </p:cBhvr>
                                      <p:to>
                                        <p:strVal val="visible"/>
                                      </p:to>
                                    </p:set>
                                    <p:animEffect filter="fade" transition="in">
                                      <p:cBhvr>
                                        <p:cTn dur="1000"/>
                                        <p:tgtEl>
                                          <p:spTgt spid="1541"/>
                                        </p:tgtEl>
                                      </p:cBhvr>
                                    </p:animEffect>
                                  </p:childTnLst>
                                </p:cTn>
                              </p:par>
                              <p:par>
                                <p:cTn fill="hold" nodeType="withEffect" presetClass="entr" presetID="10" presetSubtype="0">
                                  <p:stCondLst>
                                    <p:cond delay="0"/>
                                  </p:stCondLst>
                                  <p:childTnLst>
                                    <p:set>
                                      <p:cBhvr>
                                        <p:cTn dur="1" fill="hold">
                                          <p:stCondLst>
                                            <p:cond delay="0"/>
                                          </p:stCondLst>
                                        </p:cTn>
                                        <p:tgtEl>
                                          <p:spTgt spid="1542"/>
                                        </p:tgtEl>
                                        <p:attrNameLst>
                                          <p:attrName>style.visibility</p:attrName>
                                        </p:attrNameLst>
                                      </p:cBhvr>
                                      <p:to>
                                        <p:strVal val="visible"/>
                                      </p:to>
                                    </p:set>
                                    <p:animEffect filter="fade" transition="in">
                                      <p:cBhvr>
                                        <p:cTn dur="1000"/>
                                        <p:tgtEl>
                                          <p:spTgt spid="1542"/>
                                        </p:tgtEl>
                                      </p:cBhvr>
                                    </p:animEffect>
                                  </p:childTnLst>
                                </p:cTn>
                              </p:par>
                              <p:par>
                                <p:cTn fill="hold" nodeType="withEffect" presetClass="entr" presetID="10" presetSubtype="0">
                                  <p:stCondLst>
                                    <p:cond delay="0"/>
                                  </p:stCondLst>
                                  <p:childTnLst>
                                    <p:set>
                                      <p:cBhvr>
                                        <p:cTn dur="1" fill="hold">
                                          <p:stCondLst>
                                            <p:cond delay="0"/>
                                          </p:stCondLst>
                                        </p:cTn>
                                        <p:tgtEl>
                                          <p:spTgt spid="1543"/>
                                        </p:tgtEl>
                                        <p:attrNameLst>
                                          <p:attrName>style.visibility</p:attrName>
                                        </p:attrNameLst>
                                      </p:cBhvr>
                                      <p:to>
                                        <p:strVal val="visible"/>
                                      </p:to>
                                    </p:set>
                                    <p:animEffect filter="fade" transition="in">
                                      <p:cBhvr>
                                        <p:cTn dur="1000"/>
                                        <p:tgtEl>
                                          <p:spTgt spid="1543"/>
                                        </p:tgtEl>
                                      </p:cBhvr>
                                    </p:animEffect>
                                  </p:childTnLst>
                                </p:cTn>
                              </p:par>
                              <p:par>
                                <p:cTn fill="hold" nodeType="withEffect" presetClass="entr" presetID="10" presetSubtype="0">
                                  <p:stCondLst>
                                    <p:cond delay="0"/>
                                  </p:stCondLst>
                                  <p:childTnLst>
                                    <p:set>
                                      <p:cBhvr>
                                        <p:cTn dur="1" fill="hold">
                                          <p:stCondLst>
                                            <p:cond delay="0"/>
                                          </p:stCondLst>
                                        </p:cTn>
                                        <p:tgtEl>
                                          <p:spTgt spid="1544"/>
                                        </p:tgtEl>
                                        <p:attrNameLst>
                                          <p:attrName>style.visibility</p:attrName>
                                        </p:attrNameLst>
                                      </p:cBhvr>
                                      <p:to>
                                        <p:strVal val="visible"/>
                                      </p:to>
                                    </p:set>
                                    <p:animEffect filter="fade" transition="in">
                                      <p:cBhvr>
                                        <p:cTn dur="1000"/>
                                        <p:tgtEl>
                                          <p:spTgt spid="1544"/>
                                        </p:tgtEl>
                                      </p:cBhvr>
                                    </p:animEffect>
                                  </p:childTnLst>
                                </p:cTn>
                              </p:par>
                              <p:par>
                                <p:cTn fill="hold" nodeType="withEffect" presetClass="entr" presetID="10" presetSubtype="0">
                                  <p:stCondLst>
                                    <p:cond delay="0"/>
                                  </p:stCondLst>
                                  <p:childTnLst>
                                    <p:set>
                                      <p:cBhvr>
                                        <p:cTn dur="1" fill="hold">
                                          <p:stCondLst>
                                            <p:cond delay="0"/>
                                          </p:stCondLst>
                                        </p:cTn>
                                        <p:tgtEl>
                                          <p:spTgt spid="1545"/>
                                        </p:tgtEl>
                                        <p:attrNameLst>
                                          <p:attrName>style.visibility</p:attrName>
                                        </p:attrNameLst>
                                      </p:cBhvr>
                                      <p:to>
                                        <p:strVal val="visible"/>
                                      </p:to>
                                    </p:set>
                                    <p:animEffect filter="fade" transition="in">
                                      <p:cBhvr>
                                        <p:cTn dur="1000"/>
                                        <p:tgtEl>
                                          <p:spTgt spid="1545"/>
                                        </p:tgtEl>
                                      </p:cBhvr>
                                    </p:animEffect>
                                  </p:childTnLst>
                                </p:cTn>
                              </p:par>
                              <p:par>
                                <p:cTn fill="hold" nodeType="withEffect" presetClass="entr" presetID="10" presetSubtype="0">
                                  <p:stCondLst>
                                    <p:cond delay="0"/>
                                  </p:stCondLst>
                                  <p:childTnLst>
                                    <p:set>
                                      <p:cBhvr>
                                        <p:cTn dur="1" fill="hold">
                                          <p:stCondLst>
                                            <p:cond delay="0"/>
                                          </p:stCondLst>
                                        </p:cTn>
                                        <p:tgtEl>
                                          <p:spTgt spid="1546"/>
                                        </p:tgtEl>
                                        <p:attrNameLst>
                                          <p:attrName>style.visibility</p:attrName>
                                        </p:attrNameLst>
                                      </p:cBhvr>
                                      <p:to>
                                        <p:strVal val="visible"/>
                                      </p:to>
                                    </p:set>
                                    <p:animEffect filter="fade" transition="in">
                                      <p:cBhvr>
                                        <p:cTn dur="1000"/>
                                        <p:tgtEl>
                                          <p:spTgt spid="1546"/>
                                        </p:tgtEl>
                                      </p:cBhvr>
                                    </p:animEffect>
                                  </p:childTnLst>
                                </p:cTn>
                              </p:par>
                              <p:par>
                                <p:cTn fill="hold" nodeType="withEffect" presetClass="entr" presetID="10" presetSubtype="0">
                                  <p:stCondLst>
                                    <p:cond delay="0"/>
                                  </p:stCondLst>
                                  <p:childTnLst>
                                    <p:set>
                                      <p:cBhvr>
                                        <p:cTn dur="1" fill="hold">
                                          <p:stCondLst>
                                            <p:cond delay="0"/>
                                          </p:stCondLst>
                                        </p:cTn>
                                        <p:tgtEl>
                                          <p:spTgt spid="1547"/>
                                        </p:tgtEl>
                                        <p:attrNameLst>
                                          <p:attrName>style.visibility</p:attrName>
                                        </p:attrNameLst>
                                      </p:cBhvr>
                                      <p:to>
                                        <p:strVal val="visible"/>
                                      </p:to>
                                    </p:set>
                                    <p:animEffect filter="fade" transition="in">
                                      <p:cBhvr>
                                        <p:cTn dur="1000"/>
                                        <p:tgtEl>
                                          <p:spTgt spid="1547"/>
                                        </p:tgtEl>
                                      </p:cBhvr>
                                    </p:animEffect>
                                  </p:childTnLst>
                                </p:cTn>
                              </p:par>
                              <p:par>
                                <p:cTn fill="hold" nodeType="withEffect" presetClass="entr" presetID="10" presetSubtype="0">
                                  <p:stCondLst>
                                    <p:cond delay="0"/>
                                  </p:stCondLst>
                                  <p:childTnLst>
                                    <p:set>
                                      <p:cBhvr>
                                        <p:cTn dur="1" fill="hold">
                                          <p:stCondLst>
                                            <p:cond delay="0"/>
                                          </p:stCondLst>
                                        </p:cTn>
                                        <p:tgtEl>
                                          <p:spTgt spid="1548"/>
                                        </p:tgtEl>
                                        <p:attrNameLst>
                                          <p:attrName>style.visibility</p:attrName>
                                        </p:attrNameLst>
                                      </p:cBhvr>
                                      <p:to>
                                        <p:strVal val="visible"/>
                                      </p:to>
                                    </p:set>
                                    <p:animEffect filter="fade" transition="in">
                                      <p:cBhvr>
                                        <p:cTn dur="1000"/>
                                        <p:tgtEl>
                                          <p:spTgt spid="1548"/>
                                        </p:tgtEl>
                                      </p:cBhvr>
                                    </p:animEffect>
                                  </p:childTnLst>
                                </p:cTn>
                              </p:par>
                              <p:par>
                                <p:cTn fill="hold" nodeType="withEffect" presetClass="entr" presetID="10" presetSubtype="0">
                                  <p:stCondLst>
                                    <p:cond delay="0"/>
                                  </p:stCondLst>
                                  <p:childTnLst>
                                    <p:set>
                                      <p:cBhvr>
                                        <p:cTn dur="1" fill="hold">
                                          <p:stCondLst>
                                            <p:cond delay="0"/>
                                          </p:stCondLst>
                                        </p:cTn>
                                        <p:tgtEl>
                                          <p:spTgt spid="1549"/>
                                        </p:tgtEl>
                                        <p:attrNameLst>
                                          <p:attrName>style.visibility</p:attrName>
                                        </p:attrNameLst>
                                      </p:cBhvr>
                                      <p:to>
                                        <p:strVal val="visible"/>
                                      </p:to>
                                    </p:set>
                                    <p:animEffect filter="fade" transition="in">
                                      <p:cBhvr>
                                        <p:cTn dur="1000"/>
                                        <p:tgtEl>
                                          <p:spTgt spid="1549"/>
                                        </p:tgtEl>
                                      </p:cBhvr>
                                    </p:animEffect>
                                  </p:childTnLst>
                                </p:cTn>
                              </p:par>
                              <p:par>
                                <p:cTn fill="hold" nodeType="withEffect" presetClass="entr" presetID="10" presetSubtype="0">
                                  <p:stCondLst>
                                    <p:cond delay="0"/>
                                  </p:stCondLst>
                                  <p:childTnLst>
                                    <p:set>
                                      <p:cBhvr>
                                        <p:cTn dur="1" fill="hold">
                                          <p:stCondLst>
                                            <p:cond delay="0"/>
                                          </p:stCondLst>
                                        </p:cTn>
                                        <p:tgtEl>
                                          <p:spTgt spid="1550"/>
                                        </p:tgtEl>
                                        <p:attrNameLst>
                                          <p:attrName>style.visibility</p:attrName>
                                        </p:attrNameLst>
                                      </p:cBhvr>
                                      <p:to>
                                        <p:strVal val="visible"/>
                                      </p:to>
                                    </p:set>
                                    <p:animEffect filter="fade" transition="in">
                                      <p:cBhvr>
                                        <p:cTn dur="1000"/>
                                        <p:tgtEl>
                                          <p:spTgt spid="1550"/>
                                        </p:tgtEl>
                                      </p:cBhvr>
                                    </p:animEffect>
                                  </p:childTnLst>
                                </p:cTn>
                              </p:par>
                              <p:par>
                                <p:cTn fill="hold" nodeType="withEffect" presetClass="entr" presetID="10" presetSubtype="0">
                                  <p:stCondLst>
                                    <p:cond delay="0"/>
                                  </p:stCondLst>
                                  <p:childTnLst>
                                    <p:set>
                                      <p:cBhvr>
                                        <p:cTn dur="1" fill="hold">
                                          <p:stCondLst>
                                            <p:cond delay="0"/>
                                          </p:stCondLst>
                                        </p:cTn>
                                        <p:tgtEl>
                                          <p:spTgt spid="1551"/>
                                        </p:tgtEl>
                                        <p:attrNameLst>
                                          <p:attrName>style.visibility</p:attrName>
                                        </p:attrNameLst>
                                      </p:cBhvr>
                                      <p:to>
                                        <p:strVal val="visible"/>
                                      </p:to>
                                    </p:set>
                                    <p:animEffect filter="fade" transition="in">
                                      <p:cBhvr>
                                        <p:cTn dur="1000"/>
                                        <p:tgtEl>
                                          <p:spTgt spid="15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1"/>
                                        </p:tgtEl>
                                        <p:attrNameLst>
                                          <p:attrName>style.visibility</p:attrName>
                                        </p:attrNameLst>
                                      </p:cBhvr>
                                      <p:to>
                                        <p:strVal val="visible"/>
                                      </p:to>
                                    </p:set>
                                    <p:animEffect filter="fade" transition="in">
                                      <p:cBhvr>
                                        <p:cTn dur="1000"/>
                                        <p:tgtEl>
                                          <p:spTgt spid="15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2"/>
                                        </p:tgtEl>
                                        <p:attrNameLst>
                                          <p:attrName>style.visibility</p:attrName>
                                        </p:attrNameLst>
                                      </p:cBhvr>
                                      <p:to>
                                        <p:strVal val="visible"/>
                                      </p:to>
                                    </p:set>
                                    <p:animEffect filter="fade" transition="in">
                                      <p:cBhvr>
                                        <p:cTn dur="1000"/>
                                        <p:tgtEl>
                                          <p:spTgt spid="15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8"/>
                                        </p:tgtEl>
                                        <p:attrNameLst>
                                          <p:attrName>style.visibility</p:attrName>
                                        </p:attrNameLst>
                                      </p:cBhvr>
                                      <p:to>
                                        <p:strVal val="visible"/>
                                      </p:to>
                                    </p:set>
                                    <p:animEffect filter="fade" transition="in">
                                      <p:cBhvr>
                                        <p:cTn dur="1000"/>
                                        <p:tgtEl>
                                          <p:spTgt spid="15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8" name="Shape 1608"/>
        <p:cNvGrpSpPr/>
        <p:nvPr/>
      </p:nvGrpSpPr>
      <p:grpSpPr>
        <a:xfrm>
          <a:off x="0" y="0"/>
          <a:ext cx="0" cy="0"/>
          <a:chOff x="0" y="0"/>
          <a:chExt cx="0" cy="0"/>
        </a:xfrm>
      </p:grpSpPr>
      <p:sp>
        <p:nvSpPr>
          <p:cNvPr id="1609" name="Google Shape;1609;p66"/>
          <p:cNvSpPr txBox="1"/>
          <p:nvPr>
            <p:ph type="title"/>
          </p:nvPr>
        </p:nvSpPr>
        <p:spPr>
          <a:xfrm>
            <a:off x="311700" y="445025"/>
            <a:ext cx="3972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DFS - finding path</a:t>
            </a:r>
            <a:endParaRPr/>
          </a:p>
        </p:txBody>
      </p:sp>
      <p:sp>
        <p:nvSpPr>
          <p:cNvPr id="1610" name="Google Shape;1610;p66"/>
          <p:cNvSpPr txBox="1"/>
          <p:nvPr>
            <p:ph idx="1" type="body"/>
          </p:nvPr>
        </p:nvSpPr>
        <p:spPr>
          <a:xfrm>
            <a:off x="311700" y="1389150"/>
            <a:ext cx="4794600" cy="23652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SzPts val="605"/>
              <a:buNone/>
            </a:pPr>
            <a:r>
              <a:rPr lang="en" sz="889">
                <a:solidFill>
                  <a:srgbClr val="38761D"/>
                </a:solidFill>
                <a:latin typeface="Roboto Mono"/>
                <a:ea typeface="Roboto Mono"/>
                <a:cs typeface="Roboto Mono"/>
                <a:sym typeface="Roboto Mono"/>
              </a:rPr>
              <a:t>// Inputs: current node (its index in the graph)</a:t>
            </a:r>
            <a:endParaRPr sz="889">
              <a:solidFill>
                <a:srgbClr val="38761D"/>
              </a:solidFill>
              <a:latin typeface="Roboto Mono"/>
              <a:ea typeface="Roboto Mono"/>
              <a:cs typeface="Roboto Mono"/>
              <a:sym typeface="Roboto Mono"/>
            </a:endParaRPr>
          </a:p>
          <a:p>
            <a:pPr indent="0" lvl="0" marL="0" rtl="0" algn="l">
              <a:spcBef>
                <a:spcPts val="0"/>
              </a:spcBef>
              <a:spcAft>
                <a:spcPts val="0"/>
              </a:spcAft>
              <a:buSzPts val="605"/>
              <a:buNone/>
            </a:pPr>
            <a:r>
              <a:rPr lang="en" sz="889">
                <a:solidFill>
                  <a:srgbClr val="38761D"/>
                </a:solidFill>
                <a:latin typeface="Roboto Mono"/>
                <a:ea typeface="Roboto Mono"/>
                <a:cs typeface="Roboto Mono"/>
                <a:sym typeface="Roboto Mono"/>
              </a:rPr>
              <a:t>// destination node (its index in the graph)</a:t>
            </a:r>
            <a:endParaRPr sz="889">
              <a:solidFill>
                <a:srgbClr val="38761D"/>
              </a:solidFill>
              <a:latin typeface="Roboto Mono"/>
              <a:ea typeface="Roboto Mono"/>
              <a:cs typeface="Roboto Mono"/>
              <a:sym typeface="Roboto Mono"/>
            </a:endParaRPr>
          </a:p>
          <a:p>
            <a:pPr indent="0" lvl="0" marL="0" rtl="0" algn="l">
              <a:spcBef>
                <a:spcPts val="0"/>
              </a:spcBef>
              <a:spcAft>
                <a:spcPts val="0"/>
              </a:spcAft>
              <a:buSzPts val="605"/>
              <a:buNone/>
            </a:pPr>
            <a:r>
              <a:rPr lang="en" sz="889">
                <a:solidFill>
                  <a:srgbClr val="38761D"/>
                </a:solidFill>
                <a:latin typeface="Roboto Mono"/>
                <a:ea typeface="Roboto Mono"/>
                <a:cs typeface="Roboto Mono"/>
                <a:sym typeface="Roboto Mono"/>
              </a:rPr>
              <a:t>// Adjacency matrix (to figure out a node’s neighbours)</a:t>
            </a:r>
            <a:endParaRPr sz="889">
              <a:solidFill>
                <a:srgbClr val="38761D"/>
              </a:solidFill>
              <a:latin typeface="Roboto Mono"/>
              <a:ea typeface="Roboto Mono"/>
              <a:cs typeface="Roboto Mono"/>
              <a:sym typeface="Roboto Mono"/>
            </a:endParaRPr>
          </a:p>
          <a:p>
            <a:pPr indent="0" lvl="0" marL="0" rtl="0" algn="l">
              <a:spcBef>
                <a:spcPts val="0"/>
              </a:spcBef>
              <a:spcAft>
                <a:spcPts val="0"/>
              </a:spcAft>
              <a:buSzPts val="605"/>
              <a:buNone/>
            </a:pPr>
            <a:r>
              <a:t/>
            </a:r>
            <a:endParaRPr sz="889">
              <a:latin typeface="Roboto Mono"/>
              <a:ea typeface="Roboto Mono"/>
              <a:cs typeface="Roboto Mono"/>
              <a:sym typeface="Roboto Mono"/>
            </a:endParaRPr>
          </a:p>
          <a:p>
            <a:pPr indent="0" lvl="0" marL="0" rtl="0" algn="l">
              <a:spcBef>
                <a:spcPts val="0"/>
              </a:spcBef>
              <a:spcAft>
                <a:spcPts val="0"/>
              </a:spcAft>
              <a:buSzPts val="605"/>
              <a:buNone/>
            </a:pPr>
            <a:r>
              <a:rPr lang="en" sz="889">
                <a:latin typeface="Roboto Mono"/>
                <a:ea typeface="Roboto Mono"/>
                <a:cs typeface="Roboto Mono"/>
                <a:sym typeface="Roboto Mono"/>
              </a:rPr>
              <a:t>DFS(current, destination, A)</a:t>
            </a:r>
            <a:endParaRPr sz="889">
              <a:latin typeface="Roboto Mono"/>
              <a:ea typeface="Roboto Mono"/>
              <a:cs typeface="Roboto Mono"/>
              <a:sym typeface="Roboto Mono"/>
            </a:endParaRPr>
          </a:p>
          <a:p>
            <a:pPr indent="0" lvl="0" marL="0" rtl="0" algn="l">
              <a:spcBef>
                <a:spcPts val="0"/>
              </a:spcBef>
              <a:spcAft>
                <a:spcPts val="0"/>
              </a:spcAft>
              <a:buSzPts val="605"/>
              <a:buNone/>
            </a:pPr>
            <a:r>
              <a:rPr lang="en" sz="889">
                <a:latin typeface="Roboto Mono"/>
                <a:ea typeface="Roboto Mono"/>
                <a:cs typeface="Roboto Mono"/>
                <a:sym typeface="Roboto Mono"/>
              </a:rPr>
              <a:t>    if current==destination</a:t>
            </a:r>
            <a:endParaRPr sz="889">
              <a:latin typeface="Roboto Mono"/>
              <a:ea typeface="Roboto Mono"/>
              <a:cs typeface="Roboto Mono"/>
              <a:sym typeface="Roboto Mono"/>
            </a:endParaRPr>
          </a:p>
          <a:p>
            <a:pPr indent="457200" lvl="0" marL="0" rtl="0" algn="l">
              <a:spcBef>
                <a:spcPts val="0"/>
              </a:spcBef>
              <a:spcAft>
                <a:spcPts val="0"/>
              </a:spcAft>
              <a:buSzPts val="605"/>
              <a:buNone/>
            </a:pPr>
            <a:r>
              <a:rPr lang="en" sz="889">
                <a:latin typeface="Roboto Mono"/>
                <a:ea typeface="Roboto Mono"/>
                <a:cs typeface="Roboto Mono"/>
                <a:sym typeface="Roboto Mono"/>
              </a:rPr>
              <a:t>return destination</a:t>
            </a:r>
            <a:r>
              <a:rPr lang="en" sz="889">
                <a:solidFill>
                  <a:srgbClr val="38761D"/>
                </a:solidFill>
                <a:latin typeface="Roboto Mono"/>
                <a:ea typeface="Roboto Mono"/>
                <a:cs typeface="Roboto Mono"/>
                <a:sym typeface="Roboto Mono"/>
              </a:rPr>
              <a:t> // We got to base case!</a:t>
            </a:r>
            <a:endParaRPr sz="889">
              <a:solidFill>
                <a:srgbClr val="38761D"/>
              </a:solidFill>
              <a:latin typeface="Roboto Mono"/>
              <a:ea typeface="Roboto Mono"/>
              <a:cs typeface="Roboto Mono"/>
              <a:sym typeface="Roboto Mono"/>
            </a:endParaRPr>
          </a:p>
          <a:p>
            <a:pPr indent="0" lvl="0" marL="0" rtl="0" algn="l">
              <a:spcBef>
                <a:spcPts val="0"/>
              </a:spcBef>
              <a:spcAft>
                <a:spcPts val="0"/>
              </a:spcAft>
              <a:buSzPts val="605"/>
              <a:buNone/>
            </a:pPr>
            <a:r>
              <a:rPr lang="en" sz="889">
                <a:latin typeface="Roboto Mono"/>
                <a:ea typeface="Roboto Mono"/>
                <a:cs typeface="Roboto Mono"/>
                <a:sym typeface="Roboto Mono"/>
              </a:rPr>
              <a:t>    else</a:t>
            </a:r>
            <a:endParaRPr sz="889">
              <a:latin typeface="Roboto Mono"/>
              <a:ea typeface="Roboto Mono"/>
              <a:cs typeface="Roboto Mono"/>
              <a:sym typeface="Roboto Mono"/>
            </a:endParaRPr>
          </a:p>
          <a:p>
            <a:pPr indent="0" lvl="0" marL="0" rtl="0" algn="l">
              <a:spcBef>
                <a:spcPts val="0"/>
              </a:spcBef>
              <a:spcAft>
                <a:spcPts val="0"/>
              </a:spcAft>
              <a:buSzPts val="605"/>
              <a:buNone/>
            </a:pPr>
            <a:r>
              <a:rPr lang="en" sz="889">
                <a:latin typeface="Roboto Mono"/>
                <a:ea typeface="Roboto Mono"/>
                <a:cs typeface="Roboto Mono"/>
                <a:sym typeface="Roboto Mono"/>
              </a:rPr>
              <a:t>       for each neighbour of current</a:t>
            </a:r>
            <a:endParaRPr sz="889">
              <a:latin typeface="Roboto Mono"/>
              <a:ea typeface="Roboto Mono"/>
              <a:cs typeface="Roboto Mono"/>
              <a:sym typeface="Roboto Mono"/>
            </a:endParaRPr>
          </a:p>
          <a:p>
            <a:pPr indent="0" lvl="0" marL="0" rtl="0" algn="l">
              <a:spcBef>
                <a:spcPts val="0"/>
              </a:spcBef>
              <a:spcAft>
                <a:spcPts val="0"/>
              </a:spcAft>
              <a:buSzPts val="605"/>
              <a:buNone/>
            </a:pPr>
            <a:r>
              <a:rPr lang="en" sz="889">
                <a:latin typeface="Roboto Mono"/>
                <a:ea typeface="Roboto Mono"/>
                <a:cs typeface="Roboto Mono"/>
                <a:sym typeface="Roboto Mono"/>
              </a:rPr>
              <a:t>         subpath = DFS(neighbour, destination, A)</a:t>
            </a:r>
            <a:endParaRPr sz="889">
              <a:latin typeface="Roboto Mono"/>
              <a:ea typeface="Roboto Mono"/>
              <a:cs typeface="Roboto Mono"/>
              <a:sym typeface="Roboto Mono"/>
            </a:endParaRPr>
          </a:p>
          <a:p>
            <a:pPr indent="0" lvl="0" marL="0" rtl="0" algn="l">
              <a:spcBef>
                <a:spcPts val="0"/>
              </a:spcBef>
              <a:spcAft>
                <a:spcPts val="0"/>
              </a:spcAft>
              <a:buSzPts val="605"/>
              <a:buNone/>
            </a:pPr>
            <a:r>
              <a:rPr lang="en" sz="889">
                <a:latin typeface="Roboto Mono"/>
                <a:ea typeface="Roboto Mono"/>
                <a:cs typeface="Roboto Mono"/>
                <a:sym typeface="Roboto Mono"/>
              </a:rPr>
              <a:t>         if subpath found</a:t>
            </a:r>
            <a:endParaRPr sz="889">
              <a:latin typeface="Roboto Mono"/>
              <a:ea typeface="Roboto Mono"/>
              <a:cs typeface="Roboto Mono"/>
              <a:sym typeface="Roboto Mono"/>
            </a:endParaRPr>
          </a:p>
          <a:p>
            <a:pPr indent="0" lvl="0" marL="457200" rtl="0" algn="l">
              <a:spcBef>
                <a:spcPts val="0"/>
              </a:spcBef>
              <a:spcAft>
                <a:spcPts val="0"/>
              </a:spcAft>
              <a:buSzPts val="605"/>
              <a:buNone/>
            </a:pPr>
            <a:r>
              <a:rPr lang="en" sz="889">
                <a:latin typeface="Roboto Mono"/>
                <a:ea typeface="Roboto Mono"/>
                <a:cs typeface="Roboto Mono"/>
                <a:sym typeface="Roboto Mono"/>
              </a:rPr>
              <a:t>     </a:t>
            </a:r>
            <a:r>
              <a:rPr lang="en" sz="889">
                <a:solidFill>
                  <a:srgbClr val="38761D"/>
                </a:solidFill>
                <a:latin typeface="Roboto Mono"/>
                <a:ea typeface="Roboto Mono"/>
                <a:cs typeface="Roboto Mono"/>
                <a:sym typeface="Roboto Mono"/>
              </a:rPr>
              <a:t>// prepend current to subpath to build full path</a:t>
            </a:r>
            <a:endParaRPr sz="889">
              <a:solidFill>
                <a:srgbClr val="38761D"/>
              </a:solidFill>
              <a:latin typeface="Roboto Mono"/>
              <a:ea typeface="Roboto Mono"/>
              <a:cs typeface="Roboto Mono"/>
              <a:sym typeface="Roboto Mono"/>
            </a:endParaRPr>
          </a:p>
          <a:p>
            <a:pPr indent="0" lvl="0" marL="457200" rtl="0" algn="l">
              <a:spcBef>
                <a:spcPts val="0"/>
              </a:spcBef>
              <a:spcAft>
                <a:spcPts val="0"/>
              </a:spcAft>
              <a:buSzPts val="605"/>
              <a:buNone/>
            </a:pPr>
            <a:r>
              <a:rPr lang="en" sz="889">
                <a:latin typeface="Roboto Mono"/>
                <a:ea typeface="Roboto Mono"/>
                <a:cs typeface="Roboto Mono"/>
                <a:sym typeface="Roboto Mono"/>
              </a:rPr>
              <a:t>     return {current -&gt; subpath}</a:t>
            </a:r>
            <a:endParaRPr sz="889">
              <a:latin typeface="Roboto Mono"/>
              <a:ea typeface="Roboto Mono"/>
              <a:cs typeface="Roboto Mono"/>
              <a:sym typeface="Roboto Mono"/>
            </a:endParaRPr>
          </a:p>
          <a:p>
            <a:pPr indent="0" lvl="0" marL="0" rtl="0" algn="l">
              <a:spcBef>
                <a:spcPts val="0"/>
              </a:spcBef>
              <a:spcAft>
                <a:spcPts val="0"/>
              </a:spcAft>
              <a:buSzPts val="605"/>
              <a:buNone/>
            </a:pPr>
            <a:r>
              <a:rPr lang="en" sz="889">
                <a:latin typeface="Roboto Mono"/>
                <a:ea typeface="Roboto Mono"/>
                <a:cs typeface="Roboto Mono"/>
                <a:sym typeface="Roboto Mono"/>
              </a:rPr>
              <a:t>       return (nil)</a:t>
            </a:r>
            <a:r>
              <a:rPr lang="en" sz="889">
                <a:solidFill>
                  <a:srgbClr val="38761D"/>
                </a:solidFill>
                <a:latin typeface="Roboto Mono"/>
                <a:ea typeface="Roboto Mono"/>
                <a:cs typeface="Roboto Mono"/>
                <a:sym typeface="Roboto Mono"/>
              </a:rPr>
              <a:t> // Second base case, no subpath from current</a:t>
            </a:r>
            <a:endParaRPr sz="889">
              <a:solidFill>
                <a:srgbClr val="38761D"/>
              </a:solidFill>
              <a:latin typeface="Roboto Mono"/>
              <a:ea typeface="Roboto Mono"/>
              <a:cs typeface="Roboto Mono"/>
              <a:sym typeface="Roboto Mono"/>
            </a:endParaRPr>
          </a:p>
        </p:txBody>
      </p:sp>
      <p:sp>
        <p:nvSpPr>
          <p:cNvPr id="1611" name="Google Shape;1611;p66"/>
          <p:cNvSpPr/>
          <p:nvPr/>
        </p:nvSpPr>
        <p:spPr>
          <a:xfrm>
            <a:off x="6741253" y="75450"/>
            <a:ext cx="184800" cy="171600"/>
          </a:xfrm>
          <a:prstGeom prst="ellipse">
            <a:avLst/>
          </a:prstGeom>
          <a:solidFill>
            <a:srgbClr val="B4A7D6"/>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66"/>
          <p:cNvSpPr/>
          <p:nvPr/>
        </p:nvSpPr>
        <p:spPr>
          <a:xfrm>
            <a:off x="7246123" y="75450"/>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66"/>
          <p:cNvSpPr/>
          <p:nvPr/>
        </p:nvSpPr>
        <p:spPr>
          <a:xfrm>
            <a:off x="6541699" y="405762"/>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66"/>
          <p:cNvSpPr/>
          <p:nvPr/>
        </p:nvSpPr>
        <p:spPr>
          <a:xfrm>
            <a:off x="7011315" y="405762"/>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66"/>
          <p:cNvSpPr/>
          <p:nvPr/>
        </p:nvSpPr>
        <p:spPr>
          <a:xfrm>
            <a:off x="7507649" y="405762"/>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66"/>
          <p:cNvSpPr/>
          <p:nvPr/>
        </p:nvSpPr>
        <p:spPr>
          <a:xfrm>
            <a:off x="7222637" y="672299"/>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66"/>
          <p:cNvSpPr/>
          <p:nvPr/>
        </p:nvSpPr>
        <p:spPr>
          <a:xfrm>
            <a:off x="7950546" y="405762"/>
            <a:ext cx="184800" cy="1716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66"/>
          <p:cNvSpPr/>
          <p:nvPr/>
        </p:nvSpPr>
        <p:spPr>
          <a:xfrm>
            <a:off x="7751007" y="75450"/>
            <a:ext cx="184800" cy="171600"/>
          </a:xfrm>
          <a:prstGeom prst="ellipse">
            <a:avLst/>
          </a:prstGeom>
          <a:solidFill>
            <a:srgbClr val="93C47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19" name="Google Shape;1619;p66"/>
          <p:cNvCxnSpPr>
            <a:stCxn id="1611" idx="3"/>
            <a:endCxn id="1613" idx="0"/>
          </p:cNvCxnSpPr>
          <p:nvPr/>
        </p:nvCxnSpPr>
        <p:spPr>
          <a:xfrm flipH="1">
            <a:off x="6634216" y="221920"/>
            <a:ext cx="134100" cy="183900"/>
          </a:xfrm>
          <a:prstGeom prst="straightConnector1">
            <a:avLst/>
          </a:prstGeom>
          <a:noFill/>
          <a:ln cap="flat" cmpd="sng" w="9525">
            <a:solidFill>
              <a:srgbClr val="1155CC"/>
            </a:solidFill>
            <a:prstDash val="solid"/>
            <a:round/>
            <a:headEnd len="med" w="med" type="none"/>
            <a:tailEnd len="med" w="med" type="none"/>
          </a:ln>
        </p:spPr>
      </p:cxnSp>
      <p:cxnSp>
        <p:nvCxnSpPr>
          <p:cNvPr id="1620" name="Google Shape;1620;p66"/>
          <p:cNvCxnSpPr>
            <a:stCxn id="1611" idx="5"/>
            <a:endCxn id="1614" idx="1"/>
          </p:cNvCxnSpPr>
          <p:nvPr/>
        </p:nvCxnSpPr>
        <p:spPr>
          <a:xfrm>
            <a:off x="6898990" y="221920"/>
            <a:ext cx="139500" cy="209100"/>
          </a:xfrm>
          <a:prstGeom prst="straightConnector1">
            <a:avLst/>
          </a:prstGeom>
          <a:noFill/>
          <a:ln cap="flat" cmpd="sng" w="9525">
            <a:solidFill>
              <a:srgbClr val="1155CC"/>
            </a:solidFill>
            <a:prstDash val="solid"/>
            <a:round/>
            <a:headEnd len="med" w="med" type="none"/>
            <a:tailEnd len="med" w="med" type="none"/>
          </a:ln>
        </p:spPr>
      </p:cxnSp>
      <p:cxnSp>
        <p:nvCxnSpPr>
          <p:cNvPr id="1621" name="Google Shape;1621;p66"/>
          <p:cNvCxnSpPr>
            <a:stCxn id="1614" idx="2"/>
            <a:endCxn id="1613" idx="6"/>
          </p:cNvCxnSpPr>
          <p:nvPr/>
        </p:nvCxnSpPr>
        <p:spPr>
          <a:xfrm rot="10800000">
            <a:off x="6726615" y="491562"/>
            <a:ext cx="284700" cy="0"/>
          </a:xfrm>
          <a:prstGeom prst="straightConnector1">
            <a:avLst/>
          </a:prstGeom>
          <a:noFill/>
          <a:ln cap="flat" cmpd="sng" w="9525">
            <a:solidFill>
              <a:srgbClr val="1155CC"/>
            </a:solidFill>
            <a:prstDash val="solid"/>
            <a:round/>
            <a:headEnd len="med" w="med" type="none"/>
            <a:tailEnd len="med" w="med" type="none"/>
          </a:ln>
        </p:spPr>
      </p:cxnSp>
      <p:cxnSp>
        <p:nvCxnSpPr>
          <p:cNvPr id="1622" name="Google Shape;1622;p66"/>
          <p:cNvCxnSpPr>
            <a:stCxn id="1612" idx="3"/>
            <a:endCxn id="1614" idx="0"/>
          </p:cNvCxnSpPr>
          <p:nvPr/>
        </p:nvCxnSpPr>
        <p:spPr>
          <a:xfrm flipH="1">
            <a:off x="7103686" y="221920"/>
            <a:ext cx="169500" cy="183900"/>
          </a:xfrm>
          <a:prstGeom prst="straightConnector1">
            <a:avLst/>
          </a:prstGeom>
          <a:noFill/>
          <a:ln cap="flat" cmpd="sng" w="9525">
            <a:solidFill>
              <a:srgbClr val="1155CC"/>
            </a:solidFill>
            <a:prstDash val="solid"/>
            <a:round/>
            <a:headEnd len="med" w="med" type="none"/>
            <a:tailEnd len="med" w="med" type="none"/>
          </a:ln>
        </p:spPr>
      </p:cxnSp>
      <p:cxnSp>
        <p:nvCxnSpPr>
          <p:cNvPr id="1623" name="Google Shape;1623;p66"/>
          <p:cNvCxnSpPr>
            <a:stCxn id="1612" idx="5"/>
            <a:endCxn id="1615" idx="1"/>
          </p:cNvCxnSpPr>
          <p:nvPr/>
        </p:nvCxnSpPr>
        <p:spPr>
          <a:xfrm>
            <a:off x="7403860" y="221920"/>
            <a:ext cx="130800" cy="209100"/>
          </a:xfrm>
          <a:prstGeom prst="straightConnector1">
            <a:avLst/>
          </a:prstGeom>
          <a:noFill/>
          <a:ln cap="flat" cmpd="sng" w="9525">
            <a:solidFill>
              <a:srgbClr val="1155CC"/>
            </a:solidFill>
            <a:prstDash val="solid"/>
            <a:round/>
            <a:headEnd len="med" w="med" type="none"/>
            <a:tailEnd len="med" w="med" type="none"/>
          </a:ln>
        </p:spPr>
      </p:cxnSp>
      <p:cxnSp>
        <p:nvCxnSpPr>
          <p:cNvPr id="1624" name="Google Shape;1624;p66"/>
          <p:cNvCxnSpPr>
            <a:stCxn id="1615" idx="2"/>
            <a:endCxn id="1614" idx="6"/>
          </p:cNvCxnSpPr>
          <p:nvPr/>
        </p:nvCxnSpPr>
        <p:spPr>
          <a:xfrm rot="10800000">
            <a:off x="7196249" y="491562"/>
            <a:ext cx="311400" cy="0"/>
          </a:xfrm>
          <a:prstGeom prst="straightConnector1">
            <a:avLst/>
          </a:prstGeom>
          <a:noFill/>
          <a:ln cap="flat" cmpd="sng" w="9525">
            <a:solidFill>
              <a:srgbClr val="1C4587"/>
            </a:solidFill>
            <a:prstDash val="solid"/>
            <a:round/>
            <a:headEnd len="med" w="med" type="none"/>
            <a:tailEnd len="med" w="med" type="none"/>
          </a:ln>
        </p:spPr>
      </p:cxnSp>
      <p:cxnSp>
        <p:nvCxnSpPr>
          <p:cNvPr id="1625" name="Google Shape;1625;p66"/>
          <p:cNvCxnSpPr>
            <a:stCxn id="1615" idx="3"/>
            <a:endCxn id="1616" idx="7"/>
          </p:cNvCxnSpPr>
          <p:nvPr/>
        </p:nvCxnSpPr>
        <p:spPr>
          <a:xfrm flipH="1">
            <a:off x="7380513" y="552232"/>
            <a:ext cx="154200" cy="145200"/>
          </a:xfrm>
          <a:prstGeom prst="straightConnector1">
            <a:avLst/>
          </a:prstGeom>
          <a:noFill/>
          <a:ln cap="flat" cmpd="sng" w="9525">
            <a:solidFill>
              <a:srgbClr val="1155CC"/>
            </a:solidFill>
            <a:prstDash val="solid"/>
            <a:round/>
            <a:headEnd len="med" w="med" type="none"/>
            <a:tailEnd len="med" w="med" type="none"/>
          </a:ln>
        </p:spPr>
      </p:cxnSp>
      <p:cxnSp>
        <p:nvCxnSpPr>
          <p:cNvPr id="1626" name="Google Shape;1626;p66"/>
          <p:cNvCxnSpPr>
            <a:stCxn id="1614" idx="4"/>
            <a:endCxn id="1616" idx="1"/>
          </p:cNvCxnSpPr>
          <p:nvPr/>
        </p:nvCxnSpPr>
        <p:spPr>
          <a:xfrm>
            <a:off x="7103715" y="577362"/>
            <a:ext cx="146100" cy="120000"/>
          </a:xfrm>
          <a:prstGeom prst="straightConnector1">
            <a:avLst/>
          </a:prstGeom>
          <a:noFill/>
          <a:ln cap="flat" cmpd="sng" w="9525">
            <a:solidFill>
              <a:srgbClr val="1155CC"/>
            </a:solidFill>
            <a:prstDash val="solid"/>
            <a:round/>
            <a:headEnd len="med" w="med" type="none"/>
            <a:tailEnd len="med" w="med" type="none"/>
          </a:ln>
        </p:spPr>
      </p:cxnSp>
      <p:cxnSp>
        <p:nvCxnSpPr>
          <p:cNvPr id="1627" name="Google Shape;1627;p66"/>
          <p:cNvCxnSpPr>
            <a:stCxn id="1618" idx="3"/>
            <a:endCxn id="1615" idx="7"/>
          </p:cNvCxnSpPr>
          <p:nvPr/>
        </p:nvCxnSpPr>
        <p:spPr>
          <a:xfrm flipH="1">
            <a:off x="7665271" y="221920"/>
            <a:ext cx="112800" cy="209100"/>
          </a:xfrm>
          <a:prstGeom prst="straightConnector1">
            <a:avLst/>
          </a:prstGeom>
          <a:noFill/>
          <a:ln cap="flat" cmpd="sng" w="9525">
            <a:solidFill>
              <a:srgbClr val="1155CC"/>
            </a:solidFill>
            <a:prstDash val="solid"/>
            <a:round/>
            <a:headEnd len="med" w="med" type="none"/>
            <a:tailEnd len="med" w="med" type="none"/>
          </a:ln>
        </p:spPr>
      </p:cxnSp>
      <p:cxnSp>
        <p:nvCxnSpPr>
          <p:cNvPr id="1628" name="Google Shape;1628;p66"/>
          <p:cNvCxnSpPr>
            <a:stCxn id="1618" idx="5"/>
            <a:endCxn id="1617" idx="0"/>
          </p:cNvCxnSpPr>
          <p:nvPr/>
        </p:nvCxnSpPr>
        <p:spPr>
          <a:xfrm>
            <a:off x="7908744" y="221920"/>
            <a:ext cx="134100" cy="183900"/>
          </a:xfrm>
          <a:prstGeom prst="straightConnector1">
            <a:avLst/>
          </a:prstGeom>
          <a:noFill/>
          <a:ln cap="flat" cmpd="sng" w="9525">
            <a:solidFill>
              <a:srgbClr val="1155CC"/>
            </a:solidFill>
            <a:prstDash val="solid"/>
            <a:round/>
            <a:headEnd len="med" w="med" type="none"/>
            <a:tailEnd len="med" w="med" type="none"/>
          </a:ln>
        </p:spPr>
      </p:cxnSp>
      <p:cxnSp>
        <p:nvCxnSpPr>
          <p:cNvPr id="1629" name="Google Shape;1629;p66"/>
          <p:cNvCxnSpPr>
            <a:stCxn id="1617" idx="2"/>
            <a:endCxn id="1615" idx="6"/>
          </p:cNvCxnSpPr>
          <p:nvPr/>
        </p:nvCxnSpPr>
        <p:spPr>
          <a:xfrm rot="10800000">
            <a:off x="7692546" y="491562"/>
            <a:ext cx="258000" cy="0"/>
          </a:xfrm>
          <a:prstGeom prst="straightConnector1">
            <a:avLst/>
          </a:prstGeom>
          <a:noFill/>
          <a:ln cap="flat" cmpd="sng" w="9525">
            <a:solidFill>
              <a:srgbClr val="1C4587"/>
            </a:solidFill>
            <a:prstDash val="solid"/>
            <a:round/>
            <a:headEnd len="med" w="med" type="none"/>
            <a:tailEnd len="med" w="med" type="none"/>
          </a:ln>
        </p:spPr>
      </p:cxnSp>
      <p:cxnSp>
        <p:nvCxnSpPr>
          <p:cNvPr id="1630" name="Google Shape;1630;p66"/>
          <p:cNvCxnSpPr>
            <a:stCxn id="1618" idx="2"/>
            <a:endCxn id="1612" idx="6"/>
          </p:cNvCxnSpPr>
          <p:nvPr/>
        </p:nvCxnSpPr>
        <p:spPr>
          <a:xfrm rot="10800000">
            <a:off x="7430907" y="161250"/>
            <a:ext cx="320100" cy="0"/>
          </a:xfrm>
          <a:prstGeom prst="straightConnector1">
            <a:avLst/>
          </a:prstGeom>
          <a:noFill/>
          <a:ln cap="flat" cmpd="sng" w="9525">
            <a:solidFill>
              <a:srgbClr val="1155CC"/>
            </a:solidFill>
            <a:prstDash val="solid"/>
            <a:round/>
            <a:headEnd len="med" w="med" type="none"/>
            <a:tailEnd len="med" w="med" type="none"/>
          </a:ln>
        </p:spPr>
      </p:cxnSp>
      <p:grpSp>
        <p:nvGrpSpPr>
          <p:cNvPr id="1631" name="Google Shape;1631;p66"/>
          <p:cNvGrpSpPr/>
          <p:nvPr/>
        </p:nvGrpSpPr>
        <p:grpSpPr>
          <a:xfrm>
            <a:off x="5272075" y="1897638"/>
            <a:ext cx="3479700" cy="1856700"/>
            <a:chOff x="394775" y="3233850"/>
            <a:chExt cx="3479700" cy="1856700"/>
          </a:xfrm>
        </p:grpSpPr>
        <p:grpSp>
          <p:nvGrpSpPr>
            <p:cNvPr id="1632" name="Google Shape;1632;p66"/>
            <p:cNvGrpSpPr/>
            <p:nvPr/>
          </p:nvGrpSpPr>
          <p:grpSpPr>
            <a:xfrm>
              <a:off x="846275" y="3233850"/>
              <a:ext cx="3028200" cy="1856700"/>
              <a:chOff x="846275" y="3233850"/>
              <a:chExt cx="3028200" cy="1856700"/>
            </a:xfrm>
          </p:grpSpPr>
          <p:grpSp>
            <p:nvGrpSpPr>
              <p:cNvPr id="1633" name="Google Shape;1633;p66"/>
              <p:cNvGrpSpPr/>
              <p:nvPr/>
            </p:nvGrpSpPr>
            <p:grpSpPr>
              <a:xfrm>
                <a:off x="966150" y="3233850"/>
                <a:ext cx="2762300" cy="1742375"/>
                <a:chOff x="2889350" y="3069100"/>
                <a:chExt cx="2762300" cy="1742375"/>
              </a:xfrm>
            </p:grpSpPr>
            <p:sp>
              <p:nvSpPr>
                <p:cNvPr id="1634" name="Google Shape;1634;p66"/>
                <p:cNvSpPr/>
                <p:nvPr/>
              </p:nvSpPr>
              <p:spPr>
                <a:xfrm>
                  <a:off x="3232700" y="3272800"/>
                  <a:ext cx="318300" cy="343800"/>
                </a:xfrm>
                <a:prstGeom prst="ellipse">
                  <a:avLst/>
                </a:prstGeom>
                <a:solidFill>
                  <a:srgbClr val="B4A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66"/>
                <p:cNvSpPr/>
                <p:nvPr/>
              </p:nvSpPr>
              <p:spPr>
                <a:xfrm>
                  <a:off x="4027875" y="3272800"/>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66"/>
                <p:cNvSpPr/>
                <p:nvPr/>
              </p:nvSpPr>
              <p:spPr>
                <a:xfrm>
                  <a:off x="2889350" y="393407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66"/>
                <p:cNvSpPr/>
                <p:nvPr/>
              </p:nvSpPr>
              <p:spPr>
                <a:xfrm>
                  <a:off x="3697425" y="3934075"/>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66"/>
                <p:cNvSpPr/>
                <p:nvPr/>
              </p:nvSpPr>
              <p:spPr>
                <a:xfrm>
                  <a:off x="4551475" y="393407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66"/>
                <p:cNvSpPr/>
                <p:nvPr/>
              </p:nvSpPr>
              <p:spPr>
                <a:xfrm>
                  <a:off x="4061050" y="446767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66"/>
                <p:cNvSpPr/>
                <p:nvPr/>
              </p:nvSpPr>
              <p:spPr>
                <a:xfrm>
                  <a:off x="5313575" y="3934075"/>
                  <a:ext cx="318300" cy="343800"/>
                </a:xfrm>
                <a:prstGeom prst="ellipse">
                  <a:avLst/>
                </a:pr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66"/>
                <p:cNvSpPr/>
                <p:nvPr/>
              </p:nvSpPr>
              <p:spPr>
                <a:xfrm>
                  <a:off x="4970225" y="3272800"/>
                  <a:ext cx="318300" cy="3438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1</a:t>
                  </a:r>
                  <a:endParaRPr>
                    <a:solidFill>
                      <a:srgbClr val="000000"/>
                    </a:solidFill>
                  </a:endParaRPr>
                </a:p>
              </p:txBody>
            </p:sp>
            <p:cxnSp>
              <p:nvCxnSpPr>
                <p:cNvPr id="1642" name="Google Shape;1642;p66"/>
                <p:cNvCxnSpPr>
                  <a:stCxn id="1634" idx="3"/>
                  <a:endCxn id="1636" idx="0"/>
                </p:cNvCxnSpPr>
                <p:nvPr/>
              </p:nvCxnSpPr>
              <p:spPr>
                <a:xfrm flipH="1">
                  <a:off x="3048614" y="3566252"/>
                  <a:ext cx="230700" cy="367800"/>
                </a:xfrm>
                <a:prstGeom prst="straightConnector1">
                  <a:avLst/>
                </a:prstGeom>
                <a:noFill/>
                <a:ln cap="flat" cmpd="sng" w="9525">
                  <a:solidFill>
                    <a:srgbClr val="1155CC"/>
                  </a:solidFill>
                  <a:prstDash val="solid"/>
                  <a:round/>
                  <a:headEnd len="med" w="med" type="none"/>
                  <a:tailEnd len="med" w="med" type="none"/>
                </a:ln>
              </p:spPr>
            </p:cxnSp>
            <p:cxnSp>
              <p:nvCxnSpPr>
                <p:cNvPr id="1643" name="Google Shape;1643;p66"/>
                <p:cNvCxnSpPr>
                  <a:stCxn id="1634" idx="5"/>
                  <a:endCxn id="1637" idx="1"/>
                </p:cNvCxnSpPr>
                <p:nvPr/>
              </p:nvCxnSpPr>
              <p:spPr>
                <a:xfrm>
                  <a:off x="3504386" y="3566252"/>
                  <a:ext cx="239700" cy="418200"/>
                </a:xfrm>
                <a:prstGeom prst="straightConnector1">
                  <a:avLst/>
                </a:prstGeom>
                <a:noFill/>
                <a:ln cap="flat" cmpd="sng" w="19050">
                  <a:solidFill>
                    <a:srgbClr val="BF9000"/>
                  </a:solidFill>
                  <a:prstDash val="solid"/>
                  <a:round/>
                  <a:headEnd len="med" w="med" type="triangle"/>
                  <a:tailEnd len="med" w="med" type="none"/>
                </a:ln>
              </p:spPr>
            </p:cxnSp>
            <p:cxnSp>
              <p:nvCxnSpPr>
                <p:cNvPr id="1644" name="Google Shape;1644;p66"/>
                <p:cNvCxnSpPr>
                  <a:stCxn id="1637" idx="2"/>
                  <a:endCxn id="1636" idx="6"/>
                </p:cNvCxnSpPr>
                <p:nvPr/>
              </p:nvCxnSpPr>
              <p:spPr>
                <a:xfrm rot="10800000">
                  <a:off x="3207525" y="4105975"/>
                  <a:ext cx="489900" cy="0"/>
                </a:xfrm>
                <a:prstGeom prst="straightConnector1">
                  <a:avLst/>
                </a:prstGeom>
                <a:noFill/>
                <a:ln cap="flat" cmpd="sng" w="9525">
                  <a:solidFill>
                    <a:srgbClr val="1155CC"/>
                  </a:solidFill>
                  <a:prstDash val="solid"/>
                  <a:round/>
                  <a:headEnd len="med" w="med" type="none"/>
                  <a:tailEnd len="med" w="med" type="none"/>
                </a:ln>
              </p:spPr>
            </p:cxnSp>
            <p:cxnSp>
              <p:nvCxnSpPr>
                <p:cNvPr id="1645" name="Google Shape;1645;p66"/>
                <p:cNvCxnSpPr>
                  <a:stCxn id="1635" idx="3"/>
                  <a:endCxn id="1637" idx="0"/>
                </p:cNvCxnSpPr>
                <p:nvPr/>
              </p:nvCxnSpPr>
              <p:spPr>
                <a:xfrm flipH="1">
                  <a:off x="3856689" y="3566252"/>
                  <a:ext cx="217800" cy="367800"/>
                </a:xfrm>
                <a:prstGeom prst="straightConnector1">
                  <a:avLst/>
                </a:prstGeom>
                <a:noFill/>
                <a:ln cap="flat" cmpd="sng" w="19050">
                  <a:solidFill>
                    <a:srgbClr val="BF9000"/>
                  </a:solidFill>
                  <a:prstDash val="solid"/>
                  <a:round/>
                  <a:headEnd len="med" w="med" type="none"/>
                  <a:tailEnd len="med" w="med" type="triangle"/>
                </a:ln>
              </p:spPr>
            </p:cxnSp>
            <p:cxnSp>
              <p:nvCxnSpPr>
                <p:cNvPr id="1646" name="Google Shape;1646;p66"/>
                <p:cNvCxnSpPr>
                  <a:stCxn id="1635" idx="5"/>
                  <a:endCxn id="1638" idx="1"/>
                </p:cNvCxnSpPr>
                <p:nvPr/>
              </p:nvCxnSpPr>
              <p:spPr>
                <a:xfrm>
                  <a:off x="4299561" y="3566252"/>
                  <a:ext cx="298500" cy="418200"/>
                </a:xfrm>
                <a:prstGeom prst="straightConnector1">
                  <a:avLst/>
                </a:prstGeom>
                <a:noFill/>
                <a:ln cap="flat" cmpd="sng" w="9525">
                  <a:solidFill>
                    <a:srgbClr val="1155CC"/>
                  </a:solidFill>
                  <a:prstDash val="solid"/>
                  <a:round/>
                  <a:headEnd len="med" w="med" type="none"/>
                  <a:tailEnd len="med" w="med" type="none"/>
                </a:ln>
              </p:spPr>
            </p:cxnSp>
            <p:cxnSp>
              <p:nvCxnSpPr>
                <p:cNvPr id="1647" name="Google Shape;1647;p66"/>
                <p:cNvCxnSpPr>
                  <a:stCxn id="1638" idx="2"/>
                  <a:endCxn id="1637" idx="6"/>
                </p:cNvCxnSpPr>
                <p:nvPr/>
              </p:nvCxnSpPr>
              <p:spPr>
                <a:xfrm rot="10800000">
                  <a:off x="4015675" y="4105975"/>
                  <a:ext cx="535800" cy="0"/>
                </a:xfrm>
                <a:prstGeom prst="straightConnector1">
                  <a:avLst/>
                </a:prstGeom>
                <a:noFill/>
                <a:ln cap="flat" cmpd="sng" w="9525">
                  <a:solidFill>
                    <a:srgbClr val="1C4587"/>
                  </a:solidFill>
                  <a:prstDash val="solid"/>
                  <a:round/>
                  <a:headEnd len="med" w="med" type="none"/>
                  <a:tailEnd len="med" w="med" type="none"/>
                </a:ln>
              </p:spPr>
            </p:cxnSp>
            <p:cxnSp>
              <p:nvCxnSpPr>
                <p:cNvPr id="1648" name="Google Shape;1648;p66"/>
                <p:cNvCxnSpPr>
                  <a:stCxn id="1638" idx="3"/>
                  <a:endCxn id="1639" idx="7"/>
                </p:cNvCxnSpPr>
                <p:nvPr/>
              </p:nvCxnSpPr>
              <p:spPr>
                <a:xfrm flipH="1">
                  <a:off x="4332589" y="4227527"/>
                  <a:ext cx="265500" cy="290400"/>
                </a:xfrm>
                <a:prstGeom prst="straightConnector1">
                  <a:avLst/>
                </a:prstGeom>
                <a:noFill/>
                <a:ln cap="flat" cmpd="sng" w="9525">
                  <a:solidFill>
                    <a:srgbClr val="1155CC"/>
                  </a:solidFill>
                  <a:prstDash val="solid"/>
                  <a:round/>
                  <a:headEnd len="med" w="med" type="none"/>
                  <a:tailEnd len="med" w="med" type="none"/>
                </a:ln>
              </p:spPr>
            </p:cxnSp>
            <p:cxnSp>
              <p:nvCxnSpPr>
                <p:cNvPr id="1649" name="Google Shape;1649;p66"/>
                <p:cNvCxnSpPr>
                  <a:stCxn id="1637" idx="4"/>
                  <a:endCxn id="1639" idx="1"/>
                </p:cNvCxnSpPr>
                <p:nvPr/>
              </p:nvCxnSpPr>
              <p:spPr>
                <a:xfrm>
                  <a:off x="3856575" y="4277875"/>
                  <a:ext cx="251100" cy="240000"/>
                </a:xfrm>
                <a:prstGeom prst="straightConnector1">
                  <a:avLst/>
                </a:prstGeom>
                <a:noFill/>
                <a:ln cap="flat" cmpd="sng" w="9525">
                  <a:solidFill>
                    <a:srgbClr val="1155CC"/>
                  </a:solidFill>
                  <a:prstDash val="solid"/>
                  <a:round/>
                  <a:headEnd len="med" w="med" type="none"/>
                  <a:tailEnd len="med" w="med" type="none"/>
                </a:ln>
              </p:spPr>
            </p:cxnSp>
            <p:cxnSp>
              <p:nvCxnSpPr>
                <p:cNvPr id="1650" name="Google Shape;1650;p66"/>
                <p:cNvCxnSpPr>
                  <a:stCxn id="1641" idx="3"/>
                  <a:endCxn id="1638" idx="7"/>
                </p:cNvCxnSpPr>
                <p:nvPr/>
              </p:nvCxnSpPr>
              <p:spPr>
                <a:xfrm flipH="1">
                  <a:off x="4823039" y="3566252"/>
                  <a:ext cx="193800" cy="418200"/>
                </a:xfrm>
                <a:prstGeom prst="straightConnector1">
                  <a:avLst/>
                </a:prstGeom>
                <a:noFill/>
                <a:ln cap="flat" cmpd="sng" w="9525">
                  <a:solidFill>
                    <a:srgbClr val="1155CC"/>
                  </a:solidFill>
                  <a:prstDash val="solid"/>
                  <a:round/>
                  <a:headEnd len="med" w="med" type="none"/>
                  <a:tailEnd len="med" w="med" type="none"/>
                </a:ln>
              </p:spPr>
            </p:cxnSp>
            <p:cxnSp>
              <p:nvCxnSpPr>
                <p:cNvPr id="1651" name="Google Shape;1651;p66"/>
                <p:cNvCxnSpPr>
                  <a:stCxn id="1641" idx="5"/>
                  <a:endCxn id="1640" idx="0"/>
                </p:cNvCxnSpPr>
                <p:nvPr/>
              </p:nvCxnSpPr>
              <p:spPr>
                <a:xfrm>
                  <a:off x="5241911" y="3566252"/>
                  <a:ext cx="230700" cy="367800"/>
                </a:xfrm>
                <a:prstGeom prst="straightConnector1">
                  <a:avLst/>
                </a:prstGeom>
                <a:noFill/>
                <a:ln cap="flat" cmpd="sng" w="9525">
                  <a:solidFill>
                    <a:srgbClr val="1155CC"/>
                  </a:solidFill>
                  <a:prstDash val="solid"/>
                  <a:round/>
                  <a:headEnd len="med" w="med" type="none"/>
                  <a:tailEnd len="med" w="med" type="none"/>
                </a:ln>
              </p:spPr>
            </p:cxnSp>
            <p:cxnSp>
              <p:nvCxnSpPr>
                <p:cNvPr id="1652" name="Google Shape;1652;p66"/>
                <p:cNvCxnSpPr>
                  <a:stCxn id="1640" idx="2"/>
                  <a:endCxn id="1638" idx="6"/>
                </p:cNvCxnSpPr>
                <p:nvPr/>
              </p:nvCxnSpPr>
              <p:spPr>
                <a:xfrm rot="10800000">
                  <a:off x="4869875" y="4105975"/>
                  <a:ext cx="443700" cy="0"/>
                </a:xfrm>
                <a:prstGeom prst="straightConnector1">
                  <a:avLst/>
                </a:prstGeom>
                <a:noFill/>
                <a:ln cap="flat" cmpd="sng" w="9525">
                  <a:solidFill>
                    <a:srgbClr val="1C4587"/>
                  </a:solidFill>
                  <a:prstDash val="solid"/>
                  <a:round/>
                  <a:headEnd len="med" w="med" type="none"/>
                  <a:tailEnd len="med" w="med" type="none"/>
                </a:ln>
              </p:spPr>
            </p:cxnSp>
            <p:sp>
              <p:nvSpPr>
                <p:cNvPr id="1653" name="Google Shape;1653;p66"/>
                <p:cNvSpPr txBox="1"/>
                <p:nvPr/>
              </p:nvSpPr>
              <p:spPr>
                <a:xfrm>
                  <a:off x="5360050" y="3069100"/>
                  <a:ext cx="29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rebuchet MS"/>
                      <a:ea typeface="Trebuchet MS"/>
                      <a:cs typeface="Trebuchet MS"/>
                      <a:sym typeface="Trebuchet MS"/>
                    </a:rPr>
                    <a:t>v</a:t>
                  </a:r>
                  <a:endParaRPr>
                    <a:latin typeface="Trebuchet MS"/>
                    <a:ea typeface="Trebuchet MS"/>
                    <a:cs typeface="Trebuchet MS"/>
                    <a:sym typeface="Trebuchet MS"/>
                  </a:endParaRPr>
                </a:p>
              </p:txBody>
            </p:sp>
            <p:cxnSp>
              <p:nvCxnSpPr>
                <p:cNvPr id="1654" name="Google Shape;1654;p66"/>
                <p:cNvCxnSpPr>
                  <a:stCxn id="1641" idx="2"/>
                  <a:endCxn id="1635" idx="6"/>
                </p:cNvCxnSpPr>
                <p:nvPr/>
              </p:nvCxnSpPr>
              <p:spPr>
                <a:xfrm rot="10800000">
                  <a:off x="4346225" y="3444700"/>
                  <a:ext cx="624000" cy="0"/>
                </a:xfrm>
                <a:prstGeom prst="straightConnector1">
                  <a:avLst/>
                </a:prstGeom>
                <a:noFill/>
                <a:ln cap="flat" cmpd="sng" w="19050">
                  <a:solidFill>
                    <a:srgbClr val="BF9000"/>
                  </a:solidFill>
                  <a:prstDash val="solid"/>
                  <a:round/>
                  <a:headEnd len="med" w="med" type="none"/>
                  <a:tailEnd len="med" w="med" type="triangle"/>
                </a:ln>
              </p:spPr>
            </p:cxnSp>
          </p:grpSp>
          <p:sp>
            <p:nvSpPr>
              <p:cNvPr id="1655" name="Google Shape;1655;p66"/>
              <p:cNvSpPr/>
              <p:nvPr/>
            </p:nvSpPr>
            <p:spPr>
              <a:xfrm>
                <a:off x="846275" y="3233850"/>
                <a:ext cx="3028200" cy="18567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56" name="Google Shape;1656;p66"/>
            <p:cNvSpPr txBox="1"/>
            <p:nvPr/>
          </p:nvSpPr>
          <p:spPr>
            <a:xfrm>
              <a:off x="394775" y="3233850"/>
              <a:ext cx="381900" cy="400200"/>
            </a:xfrm>
            <a:prstGeom prst="rect">
              <a:avLst/>
            </a:prstGeom>
            <a:solidFill>
              <a:srgbClr val="E4DED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rebuchet MS"/>
                  <a:ea typeface="Trebuchet MS"/>
                  <a:cs typeface="Trebuchet MS"/>
                  <a:sym typeface="Trebuchet MS"/>
                </a:rPr>
                <a:t>3</a:t>
              </a:r>
              <a:endParaRPr>
                <a:latin typeface="Trebuchet MS"/>
                <a:ea typeface="Trebuchet MS"/>
                <a:cs typeface="Trebuchet MS"/>
                <a:sym typeface="Trebuchet MS"/>
              </a:endParaRPr>
            </a:p>
          </p:txBody>
        </p:sp>
      </p:grpSp>
      <p:sp>
        <p:nvSpPr>
          <p:cNvPr id="1657" name="Google Shape;1657;p66"/>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1"/>
                                        </p:tgtEl>
                                        <p:attrNameLst>
                                          <p:attrName>style.visibility</p:attrName>
                                        </p:attrNameLst>
                                      </p:cBhvr>
                                      <p:to>
                                        <p:strVal val="visible"/>
                                      </p:to>
                                    </p:set>
                                    <p:animEffect filter="fade" transition="in">
                                      <p:cBhvr>
                                        <p:cTn dur="1000"/>
                                        <p:tgtEl>
                                          <p:spTgt spid="1611"/>
                                        </p:tgtEl>
                                      </p:cBhvr>
                                    </p:animEffect>
                                  </p:childTnLst>
                                </p:cTn>
                              </p:par>
                              <p:par>
                                <p:cTn fill="hold" nodeType="withEffect" presetClass="entr" presetID="10" presetSubtype="0">
                                  <p:stCondLst>
                                    <p:cond delay="0"/>
                                  </p:stCondLst>
                                  <p:childTnLst>
                                    <p:set>
                                      <p:cBhvr>
                                        <p:cTn dur="1" fill="hold">
                                          <p:stCondLst>
                                            <p:cond delay="0"/>
                                          </p:stCondLst>
                                        </p:cTn>
                                        <p:tgtEl>
                                          <p:spTgt spid="1612"/>
                                        </p:tgtEl>
                                        <p:attrNameLst>
                                          <p:attrName>style.visibility</p:attrName>
                                        </p:attrNameLst>
                                      </p:cBhvr>
                                      <p:to>
                                        <p:strVal val="visible"/>
                                      </p:to>
                                    </p:set>
                                    <p:animEffect filter="fade" transition="in">
                                      <p:cBhvr>
                                        <p:cTn dur="1000"/>
                                        <p:tgtEl>
                                          <p:spTgt spid="1612"/>
                                        </p:tgtEl>
                                      </p:cBhvr>
                                    </p:animEffect>
                                  </p:childTnLst>
                                </p:cTn>
                              </p:par>
                              <p:par>
                                <p:cTn fill="hold" nodeType="withEffect" presetClass="entr" presetID="10" presetSubtype="0">
                                  <p:stCondLst>
                                    <p:cond delay="0"/>
                                  </p:stCondLst>
                                  <p:childTnLst>
                                    <p:set>
                                      <p:cBhvr>
                                        <p:cTn dur="1" fill="hold">
                                          <p:stCondLst>
                                            <p:cond delay="0"/>
                                          </p:stCondLst>
                                        </p:cTn>
                                        <p:tgtEl>
                                          <p:spTgt spid="1613"/>
                                        </p:tgtEl>
                                        <p:attrNameLst>
                                          <p:attrName>style.visibility</p:attrName>
                                        </p:attrNameLst>
                                      </p:cBhvr>
                                      <p:to>
                                        <p:strVal val="visible"/>
                                      </p:to>
                                    </p:set>
                                    <p:animEffect filter="fade" transition="in">
                                      <p:cBhvr>
                                        <p:cTn dur="1000"/>
                                        <p:tgtEl>
                                          <p:spTgt spid="1613"/>
                                        </p:tgtEl>
                                      </p:cBhvr>
                                    </p:animEffect>
                                  </p:childTnLst>
                                </p:cTn>
                              </p:par>
                              <p:par>
                                <p:cTn fill="hold" nodeType="withEffect" presetClass="entr" presetID="10" presetSubtype="0">
                                  <p:stCondLst>
                                    <p:cond delay="0"/>
                                  </p:stCondLst>
                                  <p:childTnLst>
                                    <p:set>
                                      <p:cBhvr>
                                        <p:cTn dur="1" fill="hold">
                                          <p:stCondLst>
                                            <p:cond delay="0"/>
                                          </p:stCondLst>
                                        </p:cTn>
                                        <p:tgtEl>
                                          <p:spTgt spid="1614"/>
                                        </p:tgtEl>
                                        <p:attrNameLst>
                                          <p:attrName>style.visibility</p:attrName>
                                        </p:attrNameLst>
                                      </p:cBhvr>
                                      <p:to>
                                        <p:strVal val="visible"/>
                                      </p:to>
                                    </p:set>
                                    <p:animEffect filter="fade" transition="in">
                                      <p:cBhvr>
                                        <p:cTn dur="1000"/>
                                        <p:tgtEl>
                                          <p:spTgt spid="1614"/>
                                        </p:tgtEl>
                                      </p:cBhvr>
                                    </p:animEffect>
                                  </p:childTnLst>
                                </p:cTn>
                              </p:par>
                              <p:par>
                                <p:cTn fill="hold" nodeType="withEffect" presetClass="entr" presetID="10" presetSubtype="0">
                                  <p:stCondLst>
                                    <p:cond delay="0"/>
                                  </p:stCondLst>
                                  <p:childTnLst>
                                    <p:set>
                                      <p:cBhvr>
                                        <p:cTn dur="1" fill="hold">
                                          <p:stCondLst>
                                            <p:cond delay="0"/>
                                          </p:stCondLst>
                                        </p:cTn>
                                        <p:tgtEl>
                                          <p:spTgt spid="1615"/>
                                        </p:tgtEl>
                                        <p:attrNameLst>
                                          <p:attrName>style.visibility</p:attrName>
                                        </p:attrNameLst>
                                      </p:cBhvr>
                                      <p:to>
                                        <p:strVal val="visible"/>
                                      </p:to>
                                    </p:set>
                                    <p:animEffect filter="fade" transition="in">
                                      <p:cBhvr>
                                        <p:cTn dur="1000"/>
                                        <p:tgtEl>
                                          <p:spTgt spid="1615"/>
                                        </p:tgtEl>
                                      </p:cBhvr>
                                    </p:animEffect>
                                  </p:childTnLst>
                                </p:cTn>
                              </p:par>
                              <p:par>
                                <p:cTn fill="hold" nodeType="withEffect" presetClass="entr" presetID="10" presetSubtype="0">
                                  <p:stCondLst>
                                    <p:cond delay="0"/>
                                  </p:stCondLst>
                                  <p:childTnLst>
                                    <p:set>
                                      <p:cBhvr>
                                        <p:cTn dur="1" fill="hold">
                                          <p:stCondLst>
                                            <p:cond delay="0"/>
                                          </p:stCondLst>
                                        </p:cTn>
                                        <p:tgtEl>
                                          <p:spTgt spid="1616"/>
                                        </p:tgtEl>
                                        <p:attrNameLst>
                                          <p:attrName>style.visibility</p:attrName>
                                        </p:attrNameLst>
                                      </p:cBhvr>
                                      <p:to>
                                        <p:strVal val="visible"/>
                                      </p:to>
                                    </p:set>
                                    <p:animEffect filter="fade" transition="in">
                                      <p:cBhvr>
                                        <p:cTn dur="1000"/>
                                        <p:tgtEl>
                                          <p:spTgt spid="1616"/>
                                        </p:tgtEl>
                                      </p:cBhvr>
                                    </p:animEffect>
                                  </p:childTnLst>
                                </p:cTn>
                              </p:par>
                              <p:par>
                                <p:cTn fill="hold" nodeType="withEffect" presetClass="entr" presetID="10" presetSubtype="0">
                                  <p:stCondLst>
                                    <p:cond delay="0"/>
                                  </p:stCondLst>
                                  <p:childTnLst>
                                    <p:set>
                                      <p:cBhvr>
                                        <p:cTn dur="1" fill="hold">
                                          <p:stCondLst>
                                            <p:cond delay="0"/>
                                          </p:stCondLst>
                                        </p:cTn>
                                        <p:tgtEl>
                                          <p:spTgt spid="1617"/>
                                        </p:tgtEl>
                                        <p:attrNameLst>
                                          <p:attrName>style.visibility</p:attrName>
                                        </p:attrNameLst>
                                      </p:cBhvr>
                                      <p:to>
                                        <p:strVal val="visible"/>
                                      </p:to>
                                    </p:set>
                                    <p:animEffect filter="fade" transition="in">
                                      <p:cBhvr>
                                        <p:cTn dur="1000"/>
                                        <p:tgtEl>
                                          <p:spTgt spid="1617"/>
                                        </p:tgtEl>
                                      </p:cBhvr>
                                    </p:animEffect>
                                  </p:childTnLst>
                                </p:cTn>
                              </p:par>
                              <p:par>
                                <p:cTn fill="hold" nodeType="withEffect" presetClass="entr" presetID="10" presetSubtype="0">
                                  <p:stCondLst>
                                    <p:cond delay="0"/>
                                  </p:stCondLst>
                                  <p:childTnLst>
                                    <p:set>
                                      <p:cBhvr>
                                        <p:cTn dur="1" fill="hold">
                                          <p:stCondLst>
                                            <p:cond delay="0"/>
                                          </p:stCondLst>
                                        </p:cTn>
                                        <p:tgtEl>
                                          <p:spTgt spid="1618"/>
                                        </p:tgtEl>
                                        <p:attrNameLst>
                                          <p:attrName>style.visibility</p:attrName>
                                        </p:attrNameLst>
                                      </p:cBhvr>
                                      <p:to>
                                        <p:strVal val="visible"/>
                                      </p:to>
                                    </p:set>
                                    <p:animEffect filter="fade" transition="in">
                                      <p:cBhvr>
                                        <p:cTn dur="1000"/>
                                        <p:tgtEl>
                                          <p:spTgt spid="1618"/>
                                        </p:tgtEl>
                                      </p:cBhvr>
                                    </p:animEffect>
                                  </p:childTnLst>
                                </p:cTn>
                              </p:par>
                              <p:par>
                                <p:cTn fill="hold" nodeType="withEffect" presetClass="entr" presetID="10" presetSubtype="0">
                                  <p:stCondLst>
                                    <p:cond delay="0"/>
                                  </p:stCondLst>
                                  <p:childTnLst>
                                    <p:set>
                                      <p:cBhvr>
                                        <p:cTn dur="1" fill="hold">
                                          <p:stCondLst>
                                            <p:cond delay="0"/>
                                          </p:stCondLst>
                                        </p:cTn>
                                        <p:tgtEl>
                                          <p:spTgt spid="1619"/>
                                        </p:tgtEl>
                                        <p:attrNameLst>
                                          <p:attrName>style.visibility</p:attrName>
                                        </p:attrNameLst>
                                      </p:cBhvr>
                                      <p:to>
                                        <p:strVal val="visible"/>
                                      </p:to>
                                    </p:set>
                                    <p:animEffect filter="fade" transition="in">
                                      <p:cBhvr>
                                        <p:cTn dur="1000"/>
                                        <p:tgtEl>
                                          <p:spTgt spid="1619"/>
                                        </p:tgtEl>
                                      </p:cBhvr>
                                    </p:animEffect>
                                  </p:childTnLst>
                                </p:cTn>
                              </p:par>
                              <p:par>
                                <p:cTn fill="hold" nodeType="withEffect" presetClass="entr" presetID="10" presetSubtype="0">
                                  <p:stCondLst>
                                    <p:cond delay="0"/>
                                  </p:stCondLst>
                                  <p:childTnLst>
                                    <p:set>
                                      <p:cBhvr>
                                        <p:cTn dur="1" fill="hold">
                                          <p:stCondLst>
                                            <p:cond delay="0"/>
                                          </p:stCondLst>
                                        </p:cTn>
                                        <p:tgtEl>
                                          <p:spTgt spid="1620"/>
                                        </p:tgtEl>
                                        <p:attrNameLst>
                                          <p:attrName>style.visibility</p:attrName>
                                        </p:attrNameLst>
                                      </p:cBhvr>
                                      <p:to>
                                        <p:strVal val="visible"/>
                                      </p:to>
                                    </p:set>
                                    <p:animEffect filter="fade" transition="in">
                                      <p:cBhvr>
                                        <p:cTn dur="1000"/>
                                        <p:tgtEl>
                                          <p:spTgt spid="1620"/>
                                        </p:tgtEl>
                                      </p:cBhvr>
                                    </p:animEffect>
                                  </p:childTnLst>
                                </p:cTn>
                              </p:par>
                              <p:par>
                                <p:cTn fill="hold" nodeType="withEffect" presetClass="entr" presetID="10" presetSubtype="0">
                                  <p:stCondLst>
                                    <p:cond delay="0"/>
                                  </p:stCondLst>
                                  <p:childTnLst>
                                    <p:set>
                                      <p:cBhvr>
                                        <p:cTn dur="1" fill="hold">
                                          <p:stCondLst>
                                            <p:cond delay="0"/>
                                          </p:stCondLst>
                                        </p:cTn>
                                        <p:tgtEl>
                                          <p:spTgt spid="1621"/>
                                        </p:tgtEl>
                                        <p:attrNameLst>
                                          <p:attrName>style.visibility</p:attrName>
                                        </p:attrNameLst>
                                      </p:cBhvr>
                                      <p:to>
                                        <p:strVal val="visible"/>
                                      </p:to>
                                    </p:set>
                                    <p:animEffect filter="fade" transition="in">
                                      <p:cBhvr>
                                        <p:cTn dur="1000"/>
                                        <p:tgtEl>
                                          <p:spTgt spid="1621"/>
                                        </p:tgtEl>
                                      </p:cBhvr>
                                    </p:animEffect>
                                  </p:childTnLst>
                                </p:cTn>
                              </p:par>
                              <p:par>
                                <p:cTn fill="hold" nodeType="withEffect" presetClass="entr" presetID="10" presetSubtype="0">
                                  <p:stCondLst>
                                    <p:cond delay="0"/>
                                  </p:stCondLst>
                                  <p:childTnLst>
                                    <p:set>
                                      <p:cBhvr>
                                        <p:cTn dur="1" fill="hold">
                                          <p:stCondLst>
                                            <p:cond delay="0"/>
                                          </p:stCondLst>
                                        </p:cTn>
                                        <p:tgtEl>
                                          <p:spTgt spid="1622"/>
                                        </p:tgtEl>
                                        <p:attrNameLst>
                                          <p:attrName>style.visibility</p:attrName>
                                        </p:attrNameLst>
                                      </p:cBhvr>
                                      <p:to>
                                        <p:strVal val="visible"/>
                                      </p:to>
                                    </p:set>
                                    <p:animEffect filter="fade" transition="in">
                                      <p:cBhvr>
                                        <p:cTn dur="1000"/>
                                        <p:tgtEl>
                                          <p:spTgt spid="1622"/>
                                        </p:tgtEl>
                                      </p:cBhvr>
                                    </p:animEffect>
                                  </p:childTnLst>
                                </p:cTn>
                              </p:par>
                              <p:par>
                                <p:cTn fill="hold" nodeType="withEffect" presetClass="entr" presetID="10" presetSubtype="0">
                                  <p:stCondLst>
                                    <p:cond delay="0"/>
                                  </p:stCondLst>
                                  <p:childTnLst>
                                    <p:set>
                                      <p:cBhvr>
                                        <p:cTn dur="1" fill="hold">
                                          <p:stCondLst>
                                            <p:cond delay="0"/>
                                          </p:stCondLst>
                                        </p:cTn>
                                        <p:tgtEl>
                                          <p:spTgt spid="1623"/>
                                        </p:tgtEl>
                                        <p:attrNameLst>
                                          <p:attrName>style.visibility</p:attrName>
                                        </p:attrNameLst>
                                      </p:cBhvr>
                                      <p:to>
                                        <p:strVal val="visible"/>
                                      </p:to>
                                    </p:set>
                                    <p:animEffect filter="fade" transition="in">
                                      <p:cBhvr>
                                        <p:cTn dur="1000"/>
                                        <p:tgtEl>
                                          <p:spTgt spid="1623"/>
                                        </p:tgtEl>
                                      </p:cBhvr>
                                    </p:animEffect>
                                  </p:childTnLst>
                                </p:cTn>
                              </p:par>
                              <p:par>
                                <p:cTn fill="hold" nodeType="withEffect" presetClass="entr" presetID="10" presetSubtype="0">
                                  <p:stCondLst>
                                    <p:cond delay="0"/>
                                  </p:stCondLst>
                                  <p:childTnLst>
                                    <p:set>
                                      <p:cBhvr>
                                        <p:cTn dur="1" fill="hold">
                                          <p:stCondLst>
                                            <p:cond delay="0"/>
                                          </p:stCondLst>
                                        </p:cTn>
                                        <p:tgtEl>
                                          <p:spTgt spid="1624"/>
                                        </p:tgtEl>
                                        <p:attrNameLst>
                                          <p:attrName>style.visibility</p:attrName>
                                        </p:attrNameLst>
                                      </p:cBhvr>
                                      <p:to>
                                        <p:strVal val="visible"/>
                                      </p:to>
                                    </p:set>
                                    <p:animEffect filter="fade" transition="in">
                                      <p:cBhvr>
                                        <p:cTn dur="1000"/>
                                        <p:tgtEl>
                                          <p:spTgt spid="1624"/>
                                        </p:tgtEl>
                                      </p:cBhvr>
                                    </p:animEffect>
                                  </p:childTnLst>
                                </p:cTn>
                              </p:par>
                              <p:par>
                                <p:cTn fill="hold" nodeType="withEffect" presetClass="entr" presetID="10" presetSubtype="0">
                                  <p:stCondLst>
                                    <p:cond delay="0"/>
                                  </p:stCondLst>
                                  <p:childTnLst>
                                    <p:set>
                                      <p:cBhvr>
                                        <p:cTn dur="1" fill="hold">
                                          <p:stCondLst>
                                            <p:cond delay="0"/>
                                          </p:stCondLst>
                                        </p:cTn>
                                        <p:tgtEl>
                                          <p:spTgt spid="1625"/>
                                        </p:tgtEl>
                                        <p:attrNameLst>
                                          <p:attrName>style.visibility</p:attrName>
                                        </p:attrNameLst>
                                      </p:cBhvr>
                                      <p:to>
                                        <p:strVal val="visible"/>
                                      </p:to>
                                    </p:set>
                                    <p:animEffect filter="fade" transition="in">
                                      <p:cBhvr>
                                        <p:cTn dur="1000"/>
                                        <p:tgtEl>
                                          <p:spTgt spid="1625"/>
                                        </p:tgtEl>
                                      </p:cBhvr>
                                    </p:animEffect>
                                  </p:childTnLst>
                                </p:cTn>
                              </p:par>
                              <p:par>
                                <p:cTn fill="hold" nodeType="withEffect" presetClass="entr" presetID="10" presetSubtype="0">
                                  <p:stCondLst>
                                    <p:cond delay="0"/>
                                  </p:stCondLst>
                                  <p:childTnLst>
                                    <p:set>
                                      <p:cBhvr>
                                        <p:cTn dur="1" fill="hold">
                                          <p:stCondLst>
                                            <p:cond delay="0"/>
                                          </p:stCondLst>
                                        </p:cTn>
                                        <p:tgtEl>
                                          <p:spTgt spid="1626"/>
                                        </p:tgtEl>
                                        <p:attrNameLst>
                                          <p:attrName>style.visibility</p:attrName>
                                        </p:attrNameLst>
                                      </p:cBhvr>
                                      <p:to>
                                        <p:strVal val="visible"/>
                                      </p:to>
                                    </p:set>
                                    <p:animEffect filter="fade" transition="in">
                                      <p:cBhvr>
                                        <p:cTn dur="1000"/>
                                        <p:tgtEl>
                                          <p:spTgt spid="1626"/>
                                        </p:tgtEl>
                                      </p:cBhvr>
                                    </p:animEffect>
                                  </p:childTnLst>
                                </p:cTn>
                              </p:par>
                              <p:par>
                                <p:cTn fill="hold" nodeType="withEffect" presetClass="entr" presetID="10" presetSubtype="0">
                                  <p:stCondLst>
                                    <p:cond delay="0"/>
                                  </p:stCondLst>
                                  <p:childTnLst>
                                    <p:set>
                                      <p:cBhvr>
                                        <p:cTn dur="1" fill="hold">
                                          <p:stCondLst>
                                            <p:cond delay="0"/>
                                          </p:stCondLst>
                                        </p:cTn>
                                        <p:tgtEl>
                                          <p:spTgt spid="1627"/>
                                        </p:tgtEl>
                                        <p:attrNameLst>
                                          <p:attrName>style.visibility</p:attrName>
                                        </p:attrNameLst>
                                      </p:cBhvr>
                                      <p:to>
                                        <p:strVal val="visible"/>
                                      </p:to>
                                    </p:set>
                                    <p:animEffect filter="fade" transition="in">
                                      <p:cBhvr>
                                        <p:cTn dur="1000"/>
                                        <p:tgtEl>
                                          <p:spTgt spid="1627"/>
                                        </p:tgtEl>
                                      </p:cBhvr>
                                    </p:animEffect>
                                  </p:childTnLst>
                                </p:cTn>
                              </p:par>
                              <p:par>
                                <p:cTn fill="hold" nodeType="withEffect" presetClass="entr" presetID="10" presetSubtype="0">
                                  <p:stCondLst>
                                    <p:cond delay="0"/>
                                  </p:stCondLst>
                                  <p:childTnLst>
                                    <p:set>
                                      <p:cBhvr>
                                        <p:cTn dur="1" fill="hold">
                                          <p:stCondLst>
                                            <p:cond delay="0"/>
                                          </p:stCondLst>
                                        </p:cTn>
                                        <p:tgtEl>
                                          <p:spTgt spid="1628"/>
                                        </p:tgtEl>
                                        <p:attrNameLst>
                                          <p:attrName>style.visibility</p:attrName>
                                        </p:attrNameLst>
                                      </p:cBhvr>
                                      <p:to>
                                        <p:strVal val="visible"/>
                                      </p:to>
                                    </p:set>
                                    <p:animEffect filter="fade" transition="in">
                                      <p:cBhvr>
                                        <p:cTn dur="1000"/>
                                        <p:tgtEl>
                                          <p:spTgt spid="1628"/>
                                        </p:tgtEl>
                                      </p:cBhvr>
                                    </p:animEffect>
                                  </p:childTnLst>
                                </p:cTn>
                              </p:par>
                              <p:par>
                                <p:cTn fill="hold" nodeType="withEffect" presetClass="entr" presetID="10" presetSubtype="0">
                                  <p:stCondLst>
                                    <p:cond delay="0"/>
                                  </p:stCondLst>
                                  <p:childTnLst>
                                    <p:set>
                                      <p:cBhvr>
                                        <p:cTn dur="1" fill="hold">
                                          <p:stCondLst>
                                            <p:cond delay="0"/>
                                          </p:stCondLst>
                                        </p:cTn>
                                        <p:tgtEl>
                                          <p:spTgt spid="1629"/>
                                        </p:tgtEl>
                                        <p:attrNameLst>
                                          <p:attrName>style.visibility</p:attrName>
                                        </p:attrNameLst>
                                      </p:cBhvr>
                                      <p:to>
                                        <p:strVal val="visible"/>
                                      </p:to>
                                    </p:set>
                                    <p:animEffect filter="fade" transition="in">
                                      <p:cBhvr>
                                        <p:cTn dur="1000"/>
                                        <p:tgtEl>
                                          <p:spTgt spid="1629"/>
                                        </p:tgtEl>
                                      </p:cBhvr>
                                    </p:animEffect>
                                  </p:childTnLst>
                                </p:cTn>
                              </p:par>
                              <p:par>
                                <p:cTn fill="hold" nodeType="withEffect" presetClass="entr" presetID="10" presetSubtype="0">
                                  <p:stCondLst>
                                    <p:cond delay="0"/>
                                  </p:stCondLst>
                                  <p:childTnLst>
                                    <p:set>
                                      <p:cBhvr>
                                        <p:cTn dur="1" fill="hold">
                                          <p:stCondLst>
                                            <p:cond delay="0"/>
                                          </p:stCondLst>
                                        </p:cTn>
                                        <p:tgtEl>
                                          <p:spTgt spid="1630"/>
                                        </p:tgtEl>
                                        <p:attrNameLst>
                                          <p:attrName>style.visibility</p:attrName>
                                        </p:attrNameLst>
                                      </p:cBhvr>
                                      <p:to>
                                        <p:strVal val="visible"/>
                                      </p:to>
                                    </p:set>
                                    <p:animEffect filter="fade" transition="in">
                                      <p:cBhvr>
                                        <p:cTn dur="1000"/>
                                        <p:tgtEl>
                                          <p:spTgt spid="16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1"/>
                                        </p:tgtEl>
                                        <p:attrNameLst>
                                          <p:attrName>style.visibility</p:attrName>
                                        </p:attrNameLst>
                                      </p:cBhvr>
                                      <p:to>
                                        <p:strVal val="visible"/>
                                      </p:to>
                                    </p:set>
                                    <p:animEffect filter="fade" transition="in">
                                      <p:cBhvr>
                                        <p:cTn dur="1000"/>
                                        <p:tgtEl>
                                          <p:spTgt spid="16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1" name="Shape 1661"/>
        <p:cNvGrpSpPr/>
        <p:nvPr/>
      </p:nvGrpSpPr>
      <p:grpSpPr>
        <a:xfrm>
          <a:off x="0" y="0"/>
          <a:ext cx="0" cy="0"/>
          <a:chOff x="0" y="0"/>
          <a:chExt cx="0" cy="0"/>
        </a:xfrm>
      </p:grpSpPr>
      <p:sp>
        <p:nvSpPr>
          <p:cNvPr id="1662" name="Google Shape;1662;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Tracing recursive calls</a:t>
            </a:r>
            <a:endParaRPr/>
          </a:p>
        </p:txBody>
      </p:sp>
      <p:sp>
        <p:nvSpPr>
          <p:cNvPr id="1663" name="Google Shape;1663;p67"/>
          <p:cNvSpPr txBox="1"/>
          <p:nvPr>
            <p:ph idx="1" type="body"/>
          </p:nvPr>
        </p:nvSpPr>
        <p:spPr>
          <a:xfrm>
            <a:off x="311700" y="1152475"/>
            <a:ext cx="8453400" cy="3416400"/>
          </a:xfrm>
          <a:prstGeom prst="rect">
            <a:avLst/>
          </a:prstGeom>
        </p:spPr>
        <p:txBody>
          <a:bodyPr anchorCtr="0" anchor="t" bIns="91425" lIns="91425" spcFirstLastPara="1" rIns="91425" wrap="square" tIns="91425">
            <a:normAutofit/>
          </a:bodyPr>
          <a:lstStyle/>
          <a:p>
            <a:pPr indent="-298450" lvl="0" marL="457200" rtl="0" algn="l">
              <a:lnSpc>
                <a:spcPct val="150000"/>
              </a:lnSpc>
              <a:spcBef>
                <a:spcPts val="0"/>
              </a:spcBef>
              <a:spcAft>
                <a:spcPts val="0"/>
              </a:spcAft>
              <a:buSzPts val="1100"/>
              <a:buFont typeface="Roboto"/>
              <a:buChar char="●"/>
            </a:pPr>
            <a:r>
              <a:rPr lang="en" sz="1100">
                <a:latin typeface="Roboto"/>
                <a:ea typeface="Roboto"/>
                <a:cs typeface="Roboto"/>
                <a:sym typeface="Roboto"/>
              </a:rPr>
              <a:t>Which recursive call is not doing the right thing?</a:t>
            </a:r>
            <a:endParaRPr sz="1100">
              <a:latin typeface="Roboto"/>
              <a:ea typeface="Roboto"/>
              <a:cs typeface="Roboto"/>
              <a:sym typeface="Roboto"/>
            </a:endParaRPr>
          </a:p>
          <a:p>
            <a:pPr indent="-298450" lvl="0" marL="457200" rtl="0" algn="l">
              <a:lnSpc>
                <a:spcPct val="150000"/>
              </a:lnSpc>
              <a:spcBef>
                <a:spcPts val="0"/>
              </a:spcBef>
              <a:spcAft>
                <a:spcPts val="0"/>
              </a:spcAft>
              <a:buSzPts val="1100"/>
              <a:buFont typeface="Roboto"/>
              <a:buChar char="●"/>
            </a:pPr>
            <a:r>
              <a:rPr lang="en" sz="1100">
                <a:latin typeface="Roboto"/>
                <a:ea typeface="Roboto"/>
                <a:cs typeface="Roboto"/>
                <a:sym typeface="Roboto"/>
              </a:rPr>
              <a:t>Add another variable (depth or level) for tracing the recursive calls at each level</a:t>
            </a:r>
            <a:endParaRPr sz="1100">
              <a:latin typeface="Roboto"/>
              <a:ea typeface="Roboto"/>
              <a:cs typeface="Roboto"/>
              <a:sym typeface="Roboto"/>
            </a:endParaRPr>
          </a:p>
          <a:p>
            <a:pPr indent="-298450" lvl="0" marL="457200" rtl="0" algn="l">
              <a:lnSpc>
                <a:spcPct val="150000"/>
              </a:lnSpc>
              <a:spcBef>
                <a:spcPts val="0"/>
              </a:spcBef>
              <a:spcAft>
                <a:spcPts val="0"/>
              </a:spcAft>
              <a:buSzPts val="1100"/>
              <a:buFont typeface="Roboto"/>
              <a:buChar char="●"/>
            </a:pPr>
            <a:r>
              <a:rPr lang="en" sz="1100">
                <a:latin typeface="Roboto"/>
                <a:ea typeface="Roboto"/>
                <a:cs typeface="Roboto"/>
                <a:sym typeface="Roboto"/>
              </a:rPr>
              <a:t>Function definition: </a:t>
            </a:r>
            <a:endParaRPr sz="1100">
              <a:latin typeface="Roboto"/>
              <a:ea typeface="Roboto"/>
              <a:cs typeface="Roboto"/>
              <a:sym typeface="Roboto"/>
            </a:endParaRPr>
          </a:p>
          <a:p>
            <a:pPr indent="-298450" lvl="1" marL="914400" rtl="0" algn="l">
              <a:lnSpc>
                <a:spcPct val="150000"/>
              </a:lnSpc>
              <a:spcBef>
                <a:spcPts val="0"/>
              </a:spcBef>
              <a:spcAft>
                <a:spcPts val="0"/>
              </a:spcAft>
              <a:buSzPts val="1100"/>
              <a:buFont typeface="Roboto"/>
              <a:buChar char="○"/>
            </a:pPr>
            <a:r>
              <a:rPr lang="en" sz="1100">
                <a:latin typeface="Roboto"/>
                <a:ea typeface="Roboto"/>
                <a:cs typeface="Roboto"/>
                <a:sym typeface="Roboto"/>
              </a:rPr>
              <a:t>DFS(current, destination, Adj, depth)</a:t>
            </a:r>
            <a:endParaRPr sz="1100">
              <a:latin typeface="Roboto"/>
              <a:ea typeface="Roboto"/>
              <a:cs typeface="Roboto"/>
              <a:sym typeface="Roboto"/>
            </a:endParaRPr>
          </a:p>
          <a:p>
            <a:pPr indent="-298450" lvl="0" marL="457200" rtl="0" algn="l">
              <a:lnSpc>
                <a:spcPct val="150000"/>
              </a:lnSpc>
              <a:spcBef>
                <a:spcPts val="0"/>
              </a:spcBef>
              <a:spcAft>
                <a:spcPts val="0"/>
              </a:spcAft>
              <a:buSzPts val="1100"/>
              <a:buFont typeface="Roboto"/>
              <a:buChar char="●"/>
            </a:pPr>
            <a:r>
              <a:rPr lang="en" sz="1100">
                <a:latin typeface="Roboto"/>
                <a:ea typeface="Roboto"/>
                <a:cs typeface="Roboto"/>
                <a:sym typeface="Roboto"/>
              </a:rPr>
              <a:t>The first call to DFS will look like this:</a:t>
            </a:r>
            <a:endParaRPr sz="1100">
              <a:latin typeface="Roboto"/>
              <a:ea typeface="Roboto"/>
              <a:cs typeface="Roboto"/>
              <a:sym typeface="Roboto"/>
            </a:endParaRPr>
          </a:p>
          <a:p>
            <a:pPr indent="-298450" lvl="1" marL="914400" rtl="0" algn="l">
              <a:lnSpc>
                <a:spcPct val="150000"/>
              </a:lnSpc>
              <a:spcBef>
                <a:spcPts val="0"/>
              </a:spcBef>
              <a:spcAft>
                <a:spcPts val="0"/>
              </a:spcAft>
              <a:buSzPts val="1100"/>
              <a:buFont typeface="Roboto"/>
              <a:buChar char="○"/>
            </a:pPr>
            <a:r>
              <a:rPr lang="en" sz="1100">
                <a:latin typeface="Roboto"/>
                <a:ea typeface="Roboto"/>
                <a:cs typeface="Roboto"/>
                <a:sym typeface="Roboto"/>
              </a:rPr>
              <a:t>DFS(15, 1, Adj, 0);</a:t>
            </a:r>
            <a:endParaRPr sz="1100">
              <a:latin typeface="Roboto"/>
              <a:ea typeface="Roboto"/>
              <a:cs typeface="Roboto"/>
              <a:sym typeface="Roboto"/>
            </a:endParaRPr>
          </a:p>
          <a:p>
            <a:pPr indent="-298450" lvl="1" marL="914400" rtl="0" algn="l">
              <a:lnSpc>
                <a:spcPct val="150000"/>
              </a:lnSpc>
              <a:spcBef>
                <a:spcPts val="0"/>
              </a:spcBef>
              <a:spcAft>
                <a:spcPts val="0"/>
              </a:spcAft>
              <a:buSzPts val="1100"/>
              <a:buFont typeface="Roboto"/>
              <a:buChar char="○"/>
            </a:pPr>
            <a:r>
              <a:rPr lang="en" sz="1100">
                <a:latin typeface="Roboto"/>
                <a:ea typeface="Roboto"/>
                <a:cs typeface="Roboto"/>
                <a:sym typeface="Roboto"/>
              </a:rPr>
              <a:t>(Find a path from node 15 to node 1, with adjacency matrix Adj, initial recursion depth is 0).</a:t>
            </a:r>
            <a:endParaRPr sz="1100">
              <a:latin typeface="Roboto"/>
              <a:ea typeface="Roboto"/>
              <a:cs typeface="Roboto"/>
              <a:sym typeface="Roboto"/>
            </a:endParaRPr>
          </a:p>
          <a:p>
            <a:pPr indent="-298450" lvl="0" marL="457200" rtl="0" algn="l">
              <a:lnSpc>
                <a:spcPct val="150000"/>
              </a:lnSpc>
              <a:spcBef>
                <a:spcPts val="0"/>
              </a:spcBef>
              <a:spcAft>
                <a:spcPts val="0"/>
              </a:spcAft>
              <a:buSzPts val="1100"/>
              <a:buFont typeface="Roboto"/>
              <a:buChar char="●"/>
            </a:pPr>
            <a:r>
              <a:rPr lang="en" sz="1100">
                <a:latin typeface="Roboto"/>
                <a:ea typeface="Roboto"/>
                <a:cs typeface="Roboto"/>
                <a:sym typeface="Roboto"/>
              </a:rPr>
              <a:t>Within the DFS code, the recursive calls will look like this:</a:t>
            </a:r>
            <a:endParaRPr sz="1100">
              <a:latin typeface="Roboto"/>
              <a:ea typeface="Roboto"/>
              <a:cs typeface="Roboto"/>
              <a:sym typeface="Roboto"/>
            </a:endParaRPr>
          </a:p>
          <a:p>
            <a:pPr indent="-298450" lvl="1" marL="914400" rtl="0" algn="l">
              <a:lnSpc>
                <a:spcPct val="150000"/>
              </a:lnSpc>
              <a:spcBef>
                <a:spcPts val="0"/>
              </a:spcBef>
              <a:spcAft>
                <a:spcPts val="0"/>
              </a:spcAft>
              <a:buSzPts val="1100"/>
              <a:buFont typeface="Roboto"/>
              <a:buChar char="○"/>
            </a:pPr>
            <a:r>
              <a:rPr lang="en" sz="1100">
                <a:latin typeface="Roboto"/>
                <a:ea typeface="Roboto"/>
                <a:cs typeface="Roboto"/>
                <a:sym typeface="Roboto"/>
              </a:rPr>
              <a:t>subpath=DFS(neighbour, destination, Adj, depth+1);</a:t>
            </a:r>
            <a:endParaRPr sz="1100">
              <a:latin typeface="Roboto"/>
              <a:ea typeface="Roboto"/>
              <a:cs typeface="Roboto"/>
              <a:sym typeface="Roboto"/>
            </a:endParaRPr>
          </a:p>
          <a:p>
            <a:pPr indent="-298450" lvl="0" marL="457200" rtl="0" algn="l">
              <a:lnSpc>
                <a:spcPct val="150000"/>
              </a:lnSpc>
              <a:spcBef>
                <a:spcPts val="0"/>
              </a:spcBef>
              <a:spcAft>
                <a:spcPts val="0"/>
              </a:spcAft>
              <a:buSzPts val="1100"/>
              <a:buFont typeface="Roboto"/>
              <a:buChar char="●"/>
            </a:pPr>
            <a:r>
              <a:rPr lang="en" sz="1100">
                <a:latin typeface="Roboto"/>
                <a:ea typeface="Roboto"/>
                <a:cs typeface="Roboto"/>
                <a:sym typeface="Roboto"/>
              </a:rPr>
              <a:t>Use either gdb or printf() to trace which recursion level these variables belong to</a:t>
            </a:r>
            <a:endParaRPr sz="1100">
              <a:latin typeface="Roboto"/>
              <a:ea typeface="Roboto"/>
              <a:cs typeface="Roboto"/>
              <a:sym typeface="Roboto"/>
            </a:endParaRPr>
          </a:p>
          <a:p>
            <a:pPr indent="0" lvl="0" marL="0" rtl="0" algn="l">
              <a:spcBef>
                <a:spcPts val="1200"/>
              </a:spcBef>
              <a:spcAft>
                <a:spcPts val="1200"/>
              </a:spcAft>
              <a:buNone/>
            </a:pPr>
            <a:r>
              <a:t/>
            </a:r>
            <a:endParaRPr/>
          </a:p>
        </p:txBody>
      </p:sp>
      <p:sp>
        <p:nvSpPr>
          <p:cNvPr id="1664" name="Google Shape;1664;p67"/>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
        <p:nvSpPr>
          <p:cNvPr id="1665" name="Google Shape;1665;p67"/>
          <p:cNvSpPr txBox="1"/>
          <p:nvPr/>
        </p:nvSpPr>
        <p:spPr>
          <a:xfrm>
            <a:off x="236300" y="49266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3">
                                            <p:txEl>
                                              <p:pRg end="0" st="0"/>
                                            </p:txEl>
                                          </p:spTgt>
                                        </p:tgtEl>
                                        <p:attrNameLst>
                                          <p:attrName>style.visibility</p:attrName>
                                        </p:attrNameLst>
                                      </p:cBhvr>
                                      <p:to>
                                        <p:strVal val="visible"/>
                                      </p:to>
                                    </p:set>
                                    <p:animEffect filter="fade" transition="in">
                                      <p:cBhvr>
                                        <p:cTn dur="1000"/>
                                        <p:tgtEl>
                                          <p:spTgt spid="16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3">
                                            <p:txEl>
                                              <p:pRg end="1" st="1"/>
                                            </p:txEl>
                                          </p:spTgt>
                                        </p:tgtEl>
                                        <p:attrNameLst>
                                          <p:attrName>style.visibility</p:attrName>
                                        </p:attrNameLst>
                                      </p:cBhvr>
                                      <p:to>
                                        <p:strVal val="visible"/>
                                      </p:to>
                                    </p:set>
                                    <p:animEffect filter="fade" transition="in">
                                      <p:cBhvr>
                                        <p:cTn dur="1000"/>
                                        <p:tgtEl>
                                          <p:spTgt spid="16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3">
                                            <p:txEl>
                                              <p:pRg end="2" st="2"/>
                                            </p:txEl>
                                          </p:spTgt>
                                        </p:tgtEl>
                                        <p:attrNameLst>
                                          <p:attrName>style.visibility</p:attrName>
                                        </p:attrNameLst>
                                      </p:cBhvr>
                                      <p:to>
                                        <p:strVal val="visible"/>
                                      </p:to>
                                    </p:set>
                                    <p:animEffect filter="fade" transition="in">
                                      <p:cBhvr>
                                        <p:cTn dur="1000"/>
                                        <p:tgtEl>
                                          <p:spTgt spid="16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3">
                                            <p:txEl>
                                              <p:pRg end="3" st="3"/>
                                            </p:txEl>
                                          </p:spTgt>
                                        </p:tgtEl>
                                        <p:attrNameLst>
                                          <p:attrName>style.visibility</p:attrName>
                                        </p:attrNameLst>
                                      </p:cBhvr>
                                      <p:to>
                                        <p:strVal val="visible"/>
                                      </p:to>
                                    </p:set>
                                    <p:animEffect filter="fade" transition="in">
                                      <p:cBhvr>
                                        <p:cTn dur="1000"/>
                                        <p:tgtEl>
                                          <p:spTgt spid="16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3">
                                            <p:txEl>
                                              <p:pRg end="4" st="4"/>
                                            </p:txEl>
                                          </p:spTgt>
                                        </p:tgtEl>
                                        <p:attrNameLst>
                                          <p:attrName>style.visibility</p:attrName>
                                        </p:attrNameLst>
                                      </p:cBhvr>
                                      <p:to>
                                        <p:strVal val="visible"/>
                                      </p:to>
                                    </p:set>
                                    <p:animEffect filter="fade" transition="in">
                                      <p:cBhvr>
                                        <p:cTn dur="1000"/>
                                        <p:tgtEl>
                                          <p:spTgt spid="166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3">
                                            <p:txEl>
                                              <p:pRg end="5" st="5"/>
                                            </p:txEl>
                                          </p:spTgt>
                                        </p:tgtEl>
                                        <p:attrNameLst>
                                          <p:attrName>style.visibility</p:attrName>
                                        </p:attrNameLst>
                                      </p:cBhvr>
                                      <p:to>
                                        <p:strVal val="visible"/>
                                      </p:to>
                                    </p:set>
                                    <p:animEffect filter="fade" transition="in">
                                      <p:cBhvr>
                                        <p:cTn dur="1000"/>
                                        <p:tgtEl>
                                          <p:spTgt spid="166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3">
                                            <p:txEl>
                                              <p:pRg end="6" st="6"/>
                                            </p:txEl>
                                          </p:spTgt>
                                        </p:tgtEl>
                                        <p:attrNameLst>
                                          <p:attrName>style.visibility</p:attrName>
                                        </p:attrNameLst>
                                      </p:cBhvr>
                                      <p:to>
                                        <p:strVal val="visible"/>
                                      </p:to>
                                    </p:set>
                                    <p:animEffect filter="fade" transition="in">
                                      <p:cBhvr>
                                        <p:cTn dur="1000"/>
                                        <p:tgtEl>
                                          <p:spTgt spid="166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3">
                                            <p:txEl>
                                              <p:pRg end="7" st="7"/>
                                            </p:txEl>
                                          </p:spTgt>
                                        </p:tgtEl>
                                        <p:attrNameLst>
                                          <p:attrName>style.visibility</p:attrName>
                                        </p:attrNameLst>
                                      </p:cBhvr>
                                      <p:to>
                                        <p:strVal val="visible"/>
                                      </p:to>
                                    </p:set>
                                    <p:animEffect filter="fade" transition="in">
                                      <p:cBhvr>
                                        <p:cTn dur="1000"/>
                                        <p:tgtEl>
                                          <p:spTgt spid="166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3">
                                            <p:txEl>
                                              <p:pRg end="8" st="8"/>
                                            </p:txEl>
                                          </p:spTgt>
                                        </p:tgtEl>
                                        <p:attrNameLst>
                                          <p:attrName>style.visibility</p:attrName>
                                        </p:attrNameLst>
                                      </p:cBhvr>
                                      <p:to>
                                        <p:strVal val="visible"/>
                                      </p:to>
                                    </p:set>
                                    <p:animEffect filter="fade" transition="in">
                                      <p:cBhvr>
                                        <p:cTn dur="1000"/>
                                        <p:tgtEl>
                                          <p:spTgt spid="166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3">
                                            <p:txEl>
                                              <p:pRg end="9" st="9"/>
                                            </p:txEl>
                                          </p:spTgt>
                                        </p:tgtEl>
                                        <p:attrNameLst>
                                          <p:attrName>style.visibility</p:attrName>
                                        </p:attrNameLst>
                                      </p:cBhvr>
                                      <p:to>
                                        <p:strVal val="visible"/>
                                      </p:to>
                                    </p:set>
                                    <p:animEffect filter="fade" transition="in">
                                      <p:cBhvr>
                                        <p:cTn dur="1000"/>
                                        <p:tgtEl>
                                          <p:spTgt spid="166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3">
                                            <p:txEl>
                                              <p:pRg end="10" st="10"/>
                                            </p:txEl>
                                          </p:spTgt>
                                        </p:tgtEl>
                                        <p:attrNameLst>
                                          <p:attrName>style.visibility</p:attrName>
                                        </p:attrNameLst>
                                      </p:cBhvr>
                                      <p:to>
                                        <p:strVal val="visible"/>
                                      </p:to>
                                    </p:set>
                                    <p:animEffect filter="fade" transition="in">
                                      <p:cBhvr>
                                        <p:cTn dur="1000"/>
                                        <p:tgtEl>
                                          <p:spTgt spid="1663">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9" name="Shape 1669"/>
        <p:cNvGrpSpPr/>
        <p:nvPr/>
      </p:nvGrpSpPr>
      <p:grpSpPr>
        <a:xfrm>
          <a:off x="0" y="0"/>
          <a:ext cx="0" cy="0"/>
          <a:chOff x="0" y="0"/>
          <a:chExt cx="0" cy="0"/>
        </a:xfrm>
      </p:grpSpPr>
      <p:sp>
        <p:nvSpPr>
          <p:cNvPr id="1670" name="Google Shape;1670;p68"/>
          <p:cNvSpPr txBox="1"/>
          <p:nvPr>
            <p:ph type="title"/>
          </p:nvPr>
        </p:nvSpPr>
        <p:spPr>
          <a:xfrm>
            <a:off x="208850" y="218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does this help?</a:t>
            </a:r>
            <a:endParaRPr/>
          </a:p>
        </p:txBody>
      </p:sp>
      <p:pic>
        <p:nvPicPr>
          <p:cNvPr id="1671" name="Google Shape;1671;p68"/>
          <p:cNvPicPr preferRelativeResize="0"/>
          <p:nvPr/>
        </p:nvPicPr>
        <p:blipFill>
          <a:blip r:embed="rId3">
            <a:alphaModFix/>
          </a:blip>
          <a:stretch>
            <a:fillRect/>
          </a:stretch>
        </p:blipFill>
        <p:spPr>
          <a:xfrm>
            <a:off x="1598776" y="944250"/>
            <a:ext cx="6267423" cy="4137475"/>
          </a:xfrm>
          <a:prstGeom prst="rect">
            <a:avLst/>
          </a:prstGeom>
          <a:noFill/>
          <a:ln>
            <a:noFill/>
          </a:ln>
        </p:spPr>
      </p:pic>
      <p:sp>
        <p:nvSpPr>
          <p:cNvPr id="1672" name="Google Shape;1672;p68"/>
          <p:cNvSpPr txBox="1"/>
          <p:nvPr/>
        </p:nvSpPr>
        <p:spPr>
          <a:xfrm>
            <a:off x="41150" y="4650625"/>
            <a:ext cx="2880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Roboto"/>
                <a:ea typeface="Roboto"/>
                <a:cs typeface="Roboto"/>
                <a:sym typeface="Roboto"/>
              </a:rPr>
              <a:t>Image t</a:t>
            </a:r>
            <a:r>
              <a:rPr lang="en" sz="800">
                <a:solidFill>
                  <a:schemeClr val="dk2"/>
                </a:solidFill>
                <a:latin typeface="Roboto"/>
                <a:ea typeface="Roboto"/>
                <a:cs typeface="Roboto"/>
                <a:sym typeface="Roboto"/>
              </a:rPr>
              <a:t>aken from Unit 5 notes</a:t>
            </a:r>
            <a:endParaRPr sz="800">
              <a:solidFill>
                <a:schemeClr val="dk2"/>
              </a:solidFill>
              <a:latin typeface="Roboto"/>
              <a:ea typeface="Roboto"/>
              <a:cs typeface="Roboto"/>
              <a:sym typeface="Roboto"/>
            </a:endParaRPr>
          </a:p>
          <a:p>
            <a:pPr indent="0" lvl="0" marL="0" rtl="0" algn="l">
              <a:spcBef>
                <a:spcPts val="0"/>
              </a:spcBef>
              <a:spcAft>
                <a:spcPts val="0"/>
              </a:spcAft>
              <a:buNone/>
            </a:pPr>
            <a:r>
              <a:rPr lang="en" sz="800">
                <a:solidFill>
                  <a:schemeClr val="dk2"/>
                </a:solidFill>
                <a:latin typeface="Roboto"/>
                <a:ea typeface="Roboto"/>
                <a:cs typeface="Roboto"/>
                <a:sym typeface="Roboto"/>
              </a:rPr>
              <a:t>© </a:t>
            </a:r>
            <a:r>
              <a:rPr lang="en" sz="800">
                <a:solidFill>
                  <a:schemeClr val="dk2"/>
                </a:solidFill>
                <a:latin typeface="Roboto"/>
                <a:ea typeface="Roboto"/>
                <a:cs typeface="Roboto"/>
                <a:sym typeface="Roboto"/>
              </a:rPr>
              <a:t>F.Estrada, M.Ahmadzadeh, B.Harrington 2020 </a:t>
            </a:r>
            <a:endParaRPr/>
          </a:p>
        </p:txBody>
      </p:sp>
      <p:sp>
        <p:nvSpPr>
          <p:cNvPr id="1673" name="Google Shape;1673;p68"/>
          <p:cNvSpPr txBox="1"/>
          <p:nvPr/>
        </p:nvSpPr>
        <p:spPr>
          <a:xfrm>
            <a:off x="2387100" y="4774200"/>
            <a:ext cx="5479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7" name="Shape 1677"/>
        <p:cNvGrpSpPr/>
        <p:nvPr/>
      </p:nvGrpSpPr>
      <p:grpSpPr>
        <a:xfrm>
          <a:off x="0" y="0"/>
          <a:ext cx="0" cy="0"/>
          <a:chOff x="0" y="0"/>
          <a:chExt cx="0" cy="0"/>
        </a:xfrm>
      </p:grpSpPr>
      <p:sp>
        <p:nvSpPr>
          <p:cNvPr id="1678" name="Google Shape;1678;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Recursion Practice Problem</a:t>
            </a:r>
            <a:endParaRPr/>
          </a:p>
        </p:txBody>
      </p:sp>
      <p:sp>
        <p:nvSpPr>
          <p:cNvPr id="1679" name="Google Shape;1679;p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latin typeface="Roboto"/>
                <a:ea typeface="Roboto"/>
                <a:cs typeface="Roboto"/>
                <a:sym typeface="Roboto"/>
              </a:rPr>
              <a:t>Consider following recursive function:</a:t>
            </a:r>
            <a:endParaRPr sz="1200">
              <a:latin typeface="Roboto"/>
              <a:ea typeface="Roboto"/>
              <a:cs typeface="Roboto"/>
              <a:sym typeface="Roboto"/>
            </a:endParaRPr>
          </a:p>
          <a:p>
            <a:pPr indent="0" lvl="0" marL="0" rtl="0" algn="l">
              <a:spcBef>
                <a:spcPts val="1200"/>
              </a:spcBef>
              <a:spcAft>
                <a:spcPts val="0"/>
              </a:spcAft>
              <a:buNone/>
            </a:pPr>
            <a:r>
              <a:rPr lang="en" sz="1050">
                <a:latin typeface="Roboto Mono"/>
                <a:ea typeface="Roboto Mono"/>
                <a:cs typeface="Roboto Mono"/>
                <a:sym typeface="Roboto Mono"/>
              </a:rPr>
              <a:t>void recur(int n)</a:t>
            </a:r>
            <a:endParaRPr sz="1050">
              <a:latin typeface="Roboto Mono"/>
              <a:ea typeface="Roboto Mono"/>
              <a:cs typeface="Roboto Mono"/>
              <a:sym typeface="Roboto Mono"/>
            </a:endParaRPr>
          </a:p>
          <a:p>
            <a:pPr indent="0" lvl="0" marL="0" rtl="0" algn="l">
              <a:spcBef>
                <a:spcPts val="0"/>
              </a:spcBef>
              <a:spcAft>
                <a:spcPts val="0"/>
              </a:spcAft>
              <a:buNone/>
            </a:pPr>
            <a:r>
              <a:rPr lang="en" sz="1050">
                <a:latin typeface="Roboto Mono"/>
                <a:ea typeface="Roboto Mono"/>
                <a:cs typeface="Roboto Mono"/>
                <a:sym typeface="Roboto Mono"/>
              </a:rPr>
              <a:t>{</a:t>
            </a:r>
            <a:endParaRPr sz="1050">
              <a:latin typeface="Roboto Mono"/>
              <a:ea typeface="Roboto Mono"/>
              <a:cs typeface="Roboto Mono"/>
              <a:sym typeface="Roboto Mono"/>
            </a:endParaRPr>
          </a:p>
          <a:p>
            <a:pPr indent="0" lvl="0" marL="0" rtl="0" algn="l">
              <a:spcBef>
                <a:spcPts val="0"/>
              </a:spcBef>
              <a:spcAft>
                <a:spcPts val="0"/>
              </a:spcAft>
              <a:buNone/>
            </a:pPr>
            <a:r>
              <a:rPr lang="en" sz="1050">
                <a:latin typeface="Roboto Mono"/>
                <a:ea typeface="Roboto Mono"/>
                <a:cs typeface="Roboto Mono"/>
                <a:sym typeface="Roboto Mono"/>
              </a:rPr>
              <a:t>  if(n&lt;1)</a:t>
            </a:r>
            <a:endParaRPr sz="1050">
              <a:latin typeface="Roboto Mono"/>
              <a:ea typeface="Roboto Mono"/>
              <a:cs typeface="Roboto Mono"/>
              <a:sym typeface="Roboto Mono"/>
            </a:endParaRPr>
          </a:p>
          <a:p>
            <a:pPr indent="0" lvl="0" marL="0" rtl="0" algn="l">
              <a:spcBef>
                <a:spcPts val="0"/>
              </a:spcBef>
              <a:spcAft>
                <a:spcPts val="0"/>
              </a:spcAft>
              <a:buNone/>
            </a:pPr>
            <a:r>
              <a:rPr lang="en" sz="1050">
                <a:latin typeface="Roboto Mono"/>
                <a:ea typeface="Roboto Mono"/>
                <a:cs typeface="Roboto Mono"/>
                <a:sym typeface="Roboto Mono"/>
              </a:rPr>
              <a:t>  	</a:t>
            </a:r>
            <a:r>
              <a:rPr lang="en" sz="1050">
                <a:latin typeface="Roboto Mono"/>
                <a:ea typeface="Roboto Mono"/>
                <a:cs typeface="Roboto Mono"/>
                <a:sym typeface="Roboto Mono"/>
              </a:rPr>
              <a:t>r</a:t>
            </a:r>
            <a:r>
              <a:rPr lang="en" sz="1050">
                <a:latin typeface="Roboto Mono"/>
                <a:ea typeface="Roboto Mono"/>
                <a:cs typeface="Roboto Mono"/>
                <a:sym typeface="Roboto Mono"/>
              </a:rPr>
              <a:t>eturn;</a:t>
            </a:r>
            <a:endParaRPr sz="1050">
              <a:latin typeface="Roboto Mono"/>
              <a:ea typeface="Roboto Mono"/>
              <a:cs typeface="Roboto Mono"/>
              <a:sym typeface="Roboto Mono"/>
            </a:endParaRPr>
          </a:p>
          <a:p>
            <a:pPr indent="0" lvl="0" marL="0" rtl="0" algn="l">
              <a:spcBef>
                <a:spcPts val="0"/>
              </a:spcBef>
              <a:spcAft>
                <a:spcPts val="0"/>
              </a:spcAft>
              <a:buNone/>
            </a:pPr>
            <a:r>
              <a:rPr lang="en" sz="1050">
                <a:latin typeface="Roboto Mono"/>
                <a:ea typeface="Roboto Mono"/>
                <a:cs typeface="Roboto Mono"/>
                <a:sym typeface="Roboto Mono"/>
              </a:rPr>
              <a:t>  recur(n-1);</a:t>
            </a:r>
            <a:endParaRPr sz="1050">
              <a:latin typeface="Roboto Mono"/>
              <a:ea typeface="Roboto Mono"/>
              <a:cs typeface="Roboto Mono"/>
              <a:sym typeface="Roboto Mono"/>
            </a:endParaRPr>
          </a:p>
          <a:p>
            <a:pPr indent="0" lvl="0" marL="0" rtl="0" algn="l">
              <a:spcBef>
                <a:spcPts val="0"/>
              </a:spcBef>
              <a:spcAft>
                <a:spcPts val="0"/>
              </a:spcAft>
              <a:buNone/>
            </a:pPr>
            <a:r>
              <a:rPr lang="en" sz="1050">
                <a:latin typeface="Roboto Mono"/>
                <a:ea typeface="Roboto Mono"/>
                <a:cs typeface="Roboto Mono"/>
                <a:sym typeface="Roboto Mono"/>
              </a:rPr>
              <a:t>  recur(n-3);</a:t>
            </a:r>
            <a:endParaRPr sz="1050">
              <a:latin typeface="Roboto Mono"/>
              <a:ea typeface="Roboto Mono"/>
              <a:cs typeface="Roboto Mono"/>
              <a:sym typeface="Roboto Mono"/>
            </a:endParaRPr>
          </a:p>
          <a:p>
            <a:pPr indent="0" lvl="0" marL="0" rtl="0" algn="l">
              <a:spcBef>
                <a:spcPts val="0"/>
              </a:spcBef>
              <a:spcAft>
                <a:spcPts val="0"/>
              </a:spcAft>
              <a:buNone/>
            </a:pPr>
            <a:r>
              <a:rPr lang="en" sz="1050">
                <a:latin typeface="Roboto Mono"/>
                <a:ea typeface="Roboto Mono"/>
                <a:cs typeface="Roboto Mono"/>
                <a:sym typeface="Roboto Mono"/>
              </a:rPr>
              <a:t>}</a:t>
            </a:r>
            <a:endParaRPr sz="1050">
              <a:latin typeface="Roboto Mono"/>
              <a:ea typeface="Roboto Mono"/>
              <a:cs typeface="Roboto Mono"/>
              <a:sym typeface="Roboto Mono"/>
            </a:endParaRPr>
          </a:p>
          <a:p>
            <a:pPr indent="0" lvl="0" marL="0" rtl="0" algn="l">
              <a:spcBef>
                <a:spcPts val="0"/>
              </a:spcBef>
              <a:spcAft>
                <a:spcPts val="0"/>
              </a:spcAft>
              <a:buNone/>
            </a:pPr>
            <a:r>
              <a:t/>
            </a:r>
            <a:endParaRPr sz="1050">
              <a:latin typeface="Roboto Mono"/>
              <a:ea typeface="Roboto Mono"/>
              <a:cs typeface="Roboto Mono"/>
              <a:sym typeface="Roboto Mono"/>
            </a:endParaRPr>
          </a:p>
          <a:p>
            <a:pPr indent="0" lvl="0" marL="0" rtl="0" algn="l">
              <a:spcBef>
                <a:spcPts val="0"/>
              </a:spcBef>
              <a:spcAft>
                <a:spcPts val="0"/>
              </a:spcAft>
              <a:buNone/>
            </a:pPr>
            <a:r>
              <a:t/>
            </a:r>
            <a:endParaRPr sz="1050">
              <a:latin typeface="Roboto"/>
              <a:ea typeface="Roboto"/>
              <a:cs typeface="Roboto"/>
              <a:sym typeface="Roboto"/>
            </a:endParaRPr>
          </a:p>
          <a:p>
            <a:pPr indent="0" lvl="0" marL="0" rtl="0" algn="l">
              <a:spcBef>
                <a:spcPts val="0"/>
              </a:spcBef>
              <a:spcAft>
                <a:spcPts val="0"/>
              </a:spcAft>
              <a:buNone/>
            </a:pPr>
            <a:r>
              <a:rPr lang="en" sz="1050">
                <a:latin typeface="Roboto"/>
                <a:ea typeface="Roboto"/>
                <a:cs typeface="Roboto"/>
                <a:sym typeface="Roboto"/>
              </a:rPr>
              <a:t>If recur(6) is called from main() function, how many calls to recur() function will be invoked before returning to main()?</a:t>
            </a:r>
            <a:endParaRPr sz="1050">
              <a:latin typeface="Roboto"/>
              <a:ea typeface="Roboto"/>
              <a:cs typeface="Roboto"/>
              <a:sym typeface="Roboto"/>
            </a:endParaRPr>
          </a:p>
          <a:p>
            <a:pPr indent="0" lvl="0" marL="0" rtl="0" algn="l">
              <a:spcBef>
                <a:spcPts val="0"/>
              </a:spcBef>
              <a:spcAft>
                <a:spcPts val="0"/>
              </a:spcAft>
              <a:buNone/>
            </a:pPr>
            <a:r>
              <a:t/>
            </a:r>
            <a:endParaRPr sz="1050">
              <a:latin typeface="Roboto Mono"/>
              <a:ea typeface="Roboto Mono"/>
              <a:cs typeface="Roboto Mono"/>
              <a:sym typeface="Roboto Mono"/>
            </a:endParaRPr>
          </a:p>
        </p:txBody>
      </p:sp>
      <p:sp>
        <p:nvSpPr>
          <p:cNvPr id="1680" name="Google Shape;1680;p69"/>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9">
                                            <p:txEl>
                                              <p:pRg end="0" st="0"/>
                                            </p:txEl>
                                          </p:spTgt>
                                        </p:tgtEl>
                                        <p:attrNameLst>
                                          <p:attrName>style.visibility</p:attrName>
                                        </p:attrNameLst>
                                      </p:cBhvr>
                                      <p:to>
                                        <p:strVal val="visible"/>
                                      </p:to>
                                    </p:set>
                                    <p:animEffect filter="fade" transition="in">
                                      <p:cBhvr>
                                        <p:cTn dur="1000"/>
                                        <p:tgtEl>
                                          <p:spTgt spid="16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9">
                                            <p:txEl>
                                              <p:pRg end="1" st="1"/>
                                            </p:txEl>
                                          </p:spTgt>
                                        </p:tgtEl>
                                        <p:attrNameLst>
                                          <p:attrName>style.visibility</p:attrName>
                                        </p:attrNameLst>
                                      </p:cBhvr>
                                      <p:to>
                                        <p:strVal val="visible"/>
                                      </p:to>
                                    </p:set>
                                    <p:animEffect filter="fade" transition="in">
                                      <p:cBhvr>
                                        <p:cTn dur="1000"/>
                                        <p:tgtEl>
                                          <p:spTgt spid="16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9">
                                            <p:txEl>
                                              <p:pRg end="2" st="2"/>
                                            </p:txEl>
                                          </p:spTgt>
                                        </p:tgtEl>
                                        <p:attrNameLst>
                                          <p:attrName>style.visibility</p:attrName>
                                        </p:attrNameLst>
                                      </p:cBhvr>
                                      <p:to>
                                        <p:strVal val="visible"/>
                                      </p:to>
                                    </p:set>
                                    <p:animEffect filter="fade" transition="in">
                                      <p:cBhvr>
                                        <p:cTn dur="1000"/>
                                        <p:tgtEl>
                                          <p:spTgt spid="16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9">
                                            <p:txEl>
                                              <p:pRg end="3" st="3"/>
                                            </p:txEl>
                                          </p:spTgt>
                                        </p:tgtEl>
                                        <p:attrNameLst>
                                          <p:attrName>style.visibility</p:attrName>
                                        </p:attrNameLst>
                                      </p:cBhvr>
                                      <p:to>
                                        <p:strVal val="visible"/>
                                      </p:to>
                                    </p:set>
                                    <p:animEffect filter="fade" transition="in">
                                      <p:cBhvr>
                                        <p:cTn dur="1000"/>
                                        <p:tgtEl>
                                          <p:spTgt spid="167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9">
                                            <p:txEl>
                                              <p:pRg end="4" st="4"/>
                                            </p:txEl>
                                          </p:spTgt>
                                        </p:tgtEl>
                                        <p:attrNameLst>
                                          <p:attrName>style.visibility</p:attrName>
                                        </p:attrNameLst>
                                      </p:cBhvr>
                                      <p:to>
                                        <p:strVal val="visible"/>
                                      </p:to>
                                    </p:set>
                                    <p:animEffect filter="fade" transition="in">
                                      <p:cBhvr>
                                        <p:cTn dur="1000"/>
                                        <p:tgtEl>
                                          <p:spTgt spid="167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9">
                                            <p:txEl>
                                              <p:pRg end="5" st="5"/>
                                            </p:txEl>
                                          </p:spTgt>
                                        </p:tgtEl>
                                        <p:attrNameLst>
                                          <p:attrName>style.visibility</p:attrName>
                                        </p:attrNameLst>
                                      </p:cBhvr>
                                      <p:to>
                                        <p:strVal val="visible"/>
                                      </p:to>
                                    </p:set>
                                    <p:animEffect filter="fade" transition="in">
                                      <p:cBhvr>
                                        <p:cTn dur="1000"/>
                                        <p:tgtEl>
                                          <p:spTgt spid="167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9">
                                            <p:txEl>
                                              <p:pRg end="6" st="6"/>
                                            </p:txEl>
                                          </p:spTgt>
                                        </p:tgtEl>
                                        <p:attrNameLst>
                                          <p:attrName>style.visibility</p:attrName>
                                        </p:attrNameLst>
                                      </p:cBhvr>
                                      <p:to>
                                        <p:strVal val="visible"/>
                                      </p:to>
                                    </p:set>
                                    <p:animEffect filter="fade" transition="in">
                                      <p:cBhvr>
                                        <p:cTn dur="1000"/>
                                        <p:tgtEl>
                                          <p:spTgt spid="167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9">
                                            <p:txEl>
                                              <p:pRg end="7" st="7"/>
                                            </p:txEl>
                                          </p:spTgt>
                                        </p:tgtEl>
                                        <p:attrNameLst>
                                          <p:attrName>style.visibility</p:attrName>
                                        </p:attrNameLst>
                                      </p:cBhvr>
                                      <p:to>
                                        <p:strVal val="visible"/>
                                      </p:to>
                                    </p:set>
                                    <p:animEffect filter="fade" transition="in">
                                      <p:cBhvr>
                                        <p:cTn dur="1000"/>
                                        <p:tgtEl>
                                          <p:spTgt spid="167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9">
                                            <p:txEl>
                                              <p:pRg end="8" st="8"/>
                                            </p:txEl>
                                          </p:spTgt>
                                        </p:tgtEl>
                                        <p:attrNameLst>
                                          <p:attrName>style.visibility</p:attrName>
                                        </p:attrNameLst>
                                      </p:cBhvr>
                                      <p:to>
                                        <p:strVal val="visible"/>
                                      </p:to>
                                    </p:set>
                                    <p:animEffect filter="fade" transition="in">
                                      <p:cBhvr>
                                        <p:cTn dur="1000"/>
                                        <p:tgtEl>
                                          <p:spTgt spid="167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9">
                                            <p:txEl>
                                              <p:pRg end="9" st="9"/>
                                            </p:txEl>
                                          </p:spTgt>
                                        </p:tgtEl>
                                        <p:attrNameLst>
                                          <p:attrName>style.visibility</p:attrName>
                                        </p:attrNameLst>
                                      </p:cBhvr>
                                      <p:to>
                                        <p:strVal val="visible"/>
                                      </p:to>
                                    </p:set>
                                    <p:animEffect filter="fade" transition="in">
                                      <p:cBhvr>
                                        <p:cTn dur="1000"/>
                                        <p:tgtEl>
                                          <p:spTgt spid="167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9">
                                            <p:txEl>
                                              <p:pRg end="10" st="10"/>
                                            </p:txEl>
                                          </p:spTgt>
                                        </p:tgtEl>
                                        <p:attrNameLst>
                                          <p:attrName>style.visibility</p:attrName>
                                        </p:attrNameLst>
                                      </p:cBhvr>
                                      <p:to>
                                        <p:strVal val="visible"/>
                                      </p:to>
                                    </p:set>
                                    <p:animEffect filter="fade" transition="in">
                                      <p:cBhvr>
                                        <p:cTn dur="1000"/>
                                        <p:tgtEl>
                                          <p:spTgt spid="167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9">
                                            <p:txEl>
                                              <p:pRg end="11" st="11"/>
                                            </p:txEl>
                                          </p:spTgt>
                                        </p:tgtEl>
                                        <p:attrNameLst>
                                          <p:attrName>style.visibility</p:attrName>
                                        </p:attrNameLst>
                                      </p:cBhvr>
                                      <p:to>
                                        <p:strVal val="visible"/>
                                      </p:to>
                                    </p:set>
                                    <p:animEffect filter="fade" transition="in">
                                      <p:cBhvr>
                                        <p:cTn dur="1000"/>
                                        <p:tgtEl>
                                          <p:spTgt spid="1679">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4" name="Shape 1684"/>
        <p:cNvGrpSpPr/>
        <p:nvPr/>
      </p:nvGrpSpPr>
      <p:grpSpPr>
        <a:xfrm>
          <a:off x="0" y="0"/>
          <a:ext cx="0" cy="0"/>
          <a:chOff x="0" y="0"/>
          <a:chExt cx="0" cy="0"/>
        </a:xfrm>
      </p:grpSpPr>
      <p:sp>
        <p:nvSpPr>
          <p:cNvPr id="1685" name="Google Shape;1685;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Recursion Practice Problem</a:t>
            </a:r>
            <a:endParaRPr/>
          </a:p>
        </p:txBody>
      </p:sp>
      <p:sp>
        <p:nvSpPr>
          <p:cNvPr id="1686" name="Google Shape;1686;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latin typeface="Roboto"/>
                <a:ea typeface="Roboto"/>
                <a:cs typeface="Roboto"/>
                <a:sym typeface="Roboto"/>
              </a:rPr>
              <a:t>Consider following recursive function:</a:t>
            </a:r>
            <a:endParaRPr sz="1200">
              <a:latin typeface="Roboto"/>
              <a:ea typeface="Roboto"/>
              <a:cs typeface="Roboto"/>
              <a:sym typeface="Roboto"/>
            </a:endParaRPr>
          </a:p>
          <a:p>
            <a:pPr indent="0" lvl="0" marL="0" rtl="0" algn="l">
              <a:spcBef>
                <a:spcPts val="1200"/>
              </a:spcBef>
              <a:spcAft>
                <a:spcPts val="0"/>
              </a:spcAft>
              <a:buNone/>
            </a:pPr>
            <a:r>
              <a:rPr lang="en" sz="1050">
                <a:latin typeface="Roboto Mono"/>
                <a:ea typeface="Roboto Mono"/>
                <a:cs typeface="Roboto Mono"/>
                <a:sym typeface="Roboto Mono"/>
              </a:rPr>
              <a:t>void recur(int n)</a:t>
            </a:r>
            <a:endParaRPr sz="1050">
              <a:latin typeface="Roboto Mono"/>
              <a:ea typeface="Roboto Mono"/>
              <a:cs typeface="Roboto Mono"/>
              <a:sym typeface="Roboto Mono"/>
            </a:endParaRPr>
          </a:p>
          <a:p>
            <a:pPr indent="0" lvl="0" marL="0" rtl="0" algn="l">
              <a:spcBef>
                <a:spcPts val="0"/>
              </a:spcBef>
              <a:spcAft>
                <a:spcPts val="0"/>
              </a:spcAft>
              <a:buNone/>
            </a:pPr>
            <a:r>
              <a:rPr lang="en" sz="1050">
                <a:latin typeface="Roboto Mono"/>
                <a:ea typeface="Roboto Mono"/>
                <a:cs typeface="Roboto Mono"/>
                <a:sym typeface="Roboto Mono"/>
              </a:rPr>
              <a:t>{</a:t>
            </a:r>
            <a:endParaRPr sz="1050">
              <a:latin typeface="Roboto Mono"/>
              <a:ea typeface="Roboto Mono"/>
              <a:cs typeface="Roboto Mono"/>
              <a:sym typeface="Roboto Mono"/>
            </a:endParaRPr>
          </a:p>
          <a:p>
            <a:pPr indent="0" lvl="0" marL="0" rtl="0" algn="l">
              <a:spcBef>
                <a:spcPts val="0"/>
              </a:spcBef>
              <a:spcAft>
                <a:spcPts val="0"/>
              </a:spcAft>
              <a:buNone/>
            </a:pPr>
            <a:r>
              <a:rPr lang="en" sz="1050">
                <a:latin typeface="Roboto Mono"/>
                <a:ea typeface="Roboto Mono"/>
                <a:cs typeface="Roboto Mono"/>
                <a:sym typeface="Roboto Mono"/>
              </a:rPr>
              <a:t>  </a:t>
            </a:r>
            <a:r>
              <a:rPr lang="en" sz="1050">
                <a:latin typeface="Roboto Mono"/>
                <a:ea typeface="Roboto Mono"/>
                <a:cs typeface="Roboto Mono"/>
                <a:sym typeface="Roboto Mono"/>
              </a:rPr>
              <a:t>i</a:t>
            </a:r>
            <a:r>
              <a:rPr lang="en" sz="1050">
                <a:latin typeface="Roboto Mono"/>
                <a:ea typeface="Roboto Mono"/>
                <a:cs typeface="Roboto Mono"/>
                <a:sym typeface="Roboto Mono"/>
              </a:rPr>
              <a:t>nt i = 0;</a:t>
            </a:r>
            <a:endParaRPr sz="1050">
              <a:latin typeface="Roboto Mono"/>
              <a:ea typeface="Roboto Mono"/>
              <a:cs typeface="Roboto Mono"/>
              <a:sym typeface="Roboto Mono"/>
            </a:endParaRPr>
          </a:p>
          <a:p>
            <a:pPr indent="0" lvl="0" marL="0" rtl="0" algn="l">
              <a:spcBef>
                <a:spcPts val="0"/>
              </a:spcBef>
              <a:spcAft>
                <a:spcPts val="0"/>
              </a:spcAft>
              <a:buNone/>
            </a:pPr>
            <a:r>
              <a:rPr lang="en" sz="1050">
                <a:latin typeface="Roboto Mono"/>
                <a:ea typeface="Roboto Mono"/>
                <a:cs typeface="Roboto Mono"/>
                <a:sym typeface="Roboto Mono"/>
              </a:rPr>
              <a:t>  if(n&gt;1)</a:t>
            </a:r>
            <a:endParaRPr sz="1050">
              <a:latin typeface="Roboto Mono"/>
              <a:ea typeface="Roboto Mono"/>
              <a:cs typeface="Roboto Mono"/>
              <a:sym typeface="Roboto Mono"/>
            </a:endParaRPr>
          </a:p>
          <a:p>
            <a:pPr indent="0" lvl="0" marL="0" rtl="0" algn="l">
              <a:spcBef>
                <a:spcPts val="0"/>
              </a:spcBef>
              <a:spcAft>
                <a:spcPts val="0"/>
              </a:spcAft>
              <a:buNone/>
            </a:pPr>
            <a:r>
              <a:rPr lang="en" sz="1050">
                <a:latin typeface="Roboto Mono"/>
                <a:ea typeface="Roboto Mono"/>
                <a:cs typeface="Roboto Mono"/>
                <a:sym typeface="Roboto Mono"/>
              </a:rPr>
              <a:t>  	</a:t>
            </a:r>
            <a:r>
              <a:rPr lang="en" sz="1050">
                <a:latin typeface="Roboto Mono"/>
                <a:ea typeface="Roboto Mono"/>
                <a:cs typeface="Roboto Mono"/>
                <a:sym typeface="Roboto Mono"/>
              </a:rPr>
              <a:t>recur(n-1);</a:t>
            </a:r>
            <a:endParaRPr sz="1050">
              <a:latin typeface="Roboto Mono"/>
              <a:ea typeface="Roboto Mono"/>
              <a:cs typeface="Roboto Mono"/>
              <a:sym typeface="Roboto Mono"/>
            </a:endParaRPr>
          </a:p>
          <a:p>
            <a:pPr indent="0" lvl="0" marL="0" rtl="0" algn="l">
              <a:spcBef>
                <a:spcPts val="0"/>
              </a:spcBef>
              <a:spcAft>
                <a:spcPts val="0"/>
              </a:spcAft>
              <a:buNone/>
            </a:pPr>
            <a:r>
              <a:rPr lang="en" sz="1050">
                <a:latin typeface="Roboto Mono"/>
                <a:ea typeface="Roboto Mono"/>
                <a:cs typeface="Roboto Mono"/>
                <a:sym typeface="Roboto Mono"/>
              </a:rPr>
              <a:t>  for(i=0; i&lt;n; i++)</a:t>
            </a:r>
            <a:endParaRPr sz="1050">
              <a:latin typeface="Roboto Mono"/>
              <a:ea typeface="Roboto Mono"/>
              <a:cs typeface="Roboto Mono"/>
              <a:sym typeface="Roboto Mono"/>
            </a:endParaRPr>
          </a:p>
          <a:p>
            <a:pPr indent="0" lvl="0" marL="0" rtl="0" algn="l">
              <a:spcBef>
                <a:spcPts val="0"/>
              </a:spcBef>
              <a:spcAft>
                <a:spcPts val="0"/>
              </a:spcAft>
              <a:buNone/>
            </a:pPr>
            <a:r>
              <a:rPr lang="en" sz="1050">
                <a:latin typeface="Roboto Mono"/>
                <a:ea typeface="Roboto Mono"/>
                <a:cs typeface="Roboto Mono"/>
                <a:sym typeface="Roboto Mono"/>
              </a:rPr>
              <a:t>	printf(“*”); </a:t>
            </a:r>
            <a:endParaRPr sz="1050">
              <a:latin typeface="Roboto Mono"/>
              <a:ea typeface="Roboto Mono"/>
              <a:cs typeface="Roboto Mono"/>
              <a:sym typeface="Roboto Mono"/>
            </a:endParaRPr>
          </a:p>
          <a:p>
            <a:pPr indent="0" lvl="0" marL="0" rtl="0" algn="l">
              <a:spcBef>
                <a:spcPts val="0"/>
              </a:spcBef>
              <a:spcAft>
                <a:spcPts val="0"/>
              </a:spcAft>
              <a:buNone/>
            </a:pPr>
            <a:r>
              <a:rPr lang="en" sz="1050">
                <a:latin typeface="Roboto Mono"/>
                <a:ea typeface="Roboto Mono"/>
                <a:cs typeface="Roboto Mono"/>
                <a:sym typeface="Roboto Mono"/>
              </a:rPr>
              <a:t>}</a:t>
            </a:r>
            <a:endParaRPr sz="1050">
              <a:latin typeface="Roboto Mono"/>
              <a:ea typeface="Roboto Mono"/>
              <a:cs typeface="Roboto Mono"/>
              <a:sym typeface="Roboto Mono"/>
            </a:endParaRPr>
          </a:p>
          <a:p>
            <a:pPr indent="0" lvl="0" marL="0" rtl="0" algn="l">
              <a:spcBef>
                <a:spcPts val="0"/>
              </a:spcBef>
              <a:spcAft>
                <a:spcPts val="0"/>
              </a:spcAft>
              <a:buNone/>
            </a:pPr>
            <a:r>
              <a:t/>
            </a:r>
            <a:endParaRPr sz="1050">
              <a:latin typeface="Roboto"/>
              <a:ea typeface="Roboto"/>
              <a:cs typeface="Roboto"/>
              <a:sym typeface="Roboto"/>
            </a:endParaRPr>
          </a:p>
          <a:p>
            <a:pPr indent="0" lvl="0" marL="0" rtl="0" algn="l">
              <a:spcBef>
                <a:spcPts val="0"/>
              </a:spcBef>
              <a:spcAft>
                <a:spcPts val="0"/>
              </a:spcAft>
              <a:buNone/>
            </a:pPr>
            <a:r>
              <a:rPr lang="en" sz="1050">
                <a:latin typeface="Roboto"/>
                <a:ea typeface="Roboto"/>
                <a:cs typeface="Roboto"/>
                <a:sym typeface="Roboto"/>
              </a:rPr>
              <a:t>How many times * is printed for recur(n)?</a:t>
            </a:r>
            <a:endParaRPr sz="1050">
              <a:latin typeface="Roboto"/>
              <a:ea typeface="Roboto"/>
              <a:cs typeface="Roboto"/>
              <a:sym typeface="Roboto"/>
            </a:endParaRPr>
          </a:p>
          <a:p>
            <a:pPr indent="0" lvl="0" marL="0" rtl="0" algn="l">
              <a:spcBef>
                <a:spcPts val="0"/>
              </a:spcBef>
              <a:spcAft>
                <a:spcPts val="0"/>
              </a:spcAft>
              <a:buNone/>
            </a:pPr>
            <a:r>
              <a:t/>
            </a:r>
            <a:endParaRPr sz="1050">
              <a:latin typeface="Roboto Mono"/>
              <a:ea typeface="Roboto Mono"/>
              <a:cs typeface="Roboto Mono"/>
              <a:sym typeface="Roboto Mono"/>
            </a:endParaRPr>
          </a:p>
        </p:txBody>
      </p:sp>
      <p:sp>
        <p:nvSpPr>
          <p:cNvPr id="1687" name="Google Shape;1687;p70"/>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0" st="0"/>
                                            </p:txEl>
                                          </p:spTgt>
                                        </p:tgtEl>
                                        <p:attrNameLst>
                                          <p:attrName>style.visibility</p:attrName>
                                        </p:attrNameLst>
                                      </p:cBhvr>
                                      <p:to>
                                        <p:strVal val="visible"/>
                                      </p:to>
                                    </p:set>
                                    <p:animEffect filter="fade" transition="in">
                                      <p:cBhvr>
                                        <p:cTn dur="1000"/>
                                        <p:tgtEl>
                                          <p:spTgt spid="16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1" st="1"/>
                                            </p:txEl>
                                          </p:spTgt>
                                        </p:tgtEl>
                                        <p:attrNameLst>
                                          <p:attrName>style.visibility</p:attrName>
                                        </p:attrNameLst>
                                      </p:cBhvr>
                                      <p:to>
                                        <p:strVal val="visible"/>
                                      </p:to>
                                    </p:set>
                                    <p:animEffect filter="fade" transition="in">
                                      <p:cBhvr>
                                        <p:cTn dur="1000"/>
                                        <p:tgtEl>
                                          <p:spTgt spid="168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2" st="2"/>
                                            </p:txEl>
                                          </p:spTgt>
                                        </p:tgtEl>
                                        <p:attrNameLst>
                                          <p:attrName>style.visibility</p:attrName>
                                        </p:attrNameLst>
                                      </p:cBhvr>
                                      <p:to>
                                        <p:strVal val="visible"/>
                                      </p:to>
                                    </p:set>
                                    <p:animEffect filter="fade" transition="in">
                                      <p:cBhvr>
                                        <p:cTn dur="1000"/>
                                        <p:tgtEl>
                                          <p:spTgt spid="168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3" st="3"/>
                                            </p:txEl>
                                          </p:spTgt>
                                        </p:tgtEl>
                                        <p:attrNameLst>
                                          <p:attrName>style.visibility</p:attrName>
                                        </p:attrNameLst>
                                      </p:cBhvr>
                                      <p:to>
                                        <p:strVal val="visible"/>
                                      </p:to>
                                    </p:set>
                                    <p:animEffect filter="fade" transition="in">
                                      <p:cBhvr>
                                        <p:cTn dur="1000"/>
                                        <p:tgtEl>
                                          <p:spTgt spid="168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4" st="4"/>
                                            </p:txEl>
                                          </p:spTgt>
                                        </p:tgtEl>
                                        <p:attrNameLst>
                                          <p:attrName>style.visibility</p:attrName>
                                        </p:attrNameLst>
                                      </p:cBhvr>
                                      <p:to>
                                        <p:strVal val="visible"/>
                                      </p:to>
                                    </p:set>
                                    <p:animEffect filter="fade" transition="in">
                                      <p:cBhvr>
                                        <p:cTn dur="1000"/>
                                        <p:tgtEl>
                                          <p:spTgt spid="168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5" st="5"/>
                                            </p:txEl>
                                          </p:spTgt>
                                        </p:tgtEl>
                                        <p:attrNameLst>
                                          <p:attrName>style.visibility</p:attrName>
                                        </p:attrNameLst>
                                      </p:cBhvr>
                                      <p:to>
                                        <p:strVal val="visible"/>
                                      </p:to>
                                    </p:set>
                                    <p:animEffect filter="fade" transition="in">
                                      <p:cBhvr>
                                        <p:cTn dur="1000"/>
                                        <p:tgtEl>
                                          <p:spTgt spid="168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6" st="6"/>
                                            </p:txEl>
                                          </p:spTgt>
                                        </p:tgtEl>
                                        <p:attrNameLst>
                                          <p:attrName>style.visibility</p:attrName>
                                        </p:attrNameLst>
                                      </p:cBhvr>
                                      <p:to>
                                        <p:strVal val="visible"/>
                                      </p:to>
                                    </p:set>
                                    <p:animEffect filter="fade" transition="in">
                                      <p:cBhvr>
                                        <p:cTn dur="1000"/>
                                        <p:tgtEl>
                                          <p:spTgt spid="168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7" st="7"/>
                                            </p:txEl>
                                          </p:spTgt>
                                        </p:tgtEl>
                                        <p:attrNameLst>
                                          <p:attrName>style.visibility</p:attrName>
                                        </p:attrNameLst>
                                      </p:cBhvr>
                                      <p:to>
                                        <p:strVal val="visible"/>
                                      </p:to>
                                    </p:set>
                                    <p:animEffect filter="fade" transition="in">
                                      <p:cBhvr>
                                        <p:cTn dur="1000"/>
                                        <p:tgtEl>
                                          <p:spTgt spid="168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8" st="8"/>
                                            </p:txEl>
                                          </p:spTgt>
                                        </p:tgtEl>
                                        <p:attrNameLst>
                                          <p:attrName>style.visibility</p:attrName>
                                        </p:attrNameLst>
                                      </p:cBhvr>
                                      <p:to>
                                        <p:strVal val="visible"/>
                                      </p:to>
                                    </p:set>
                                    <p:animEffect filter="fade" transition="in">
                                      <p:cBhvr>
                                        <p:cTn dur="1000"/>
                                        <p:tgtEl>
                                          <p:spTgt spid="168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9" st="9"/>
                                            </p:txEl>
                                          </p:spTgt>
                                        </p:tgtEl>
                                        <p:attrNameLst>
                                          <p:attrName>style.visibility</p:attrName>
                                        </p:attrNameLst>
                                      </p:cBhvr>
                                      <p:to>
                                        <p:strVal val="visible"/>
                                      </p:to>
                                    </p:set>
                                    <p:animEffect filter="fade" transition="in">
                                      <p:cBhvr>
                                        <p:cTn dur="1000"/>
                                        <p:tgtEl>
                                          <p:spTgt spid="168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10" st="10"/>
                                            </p:txEl>
                                          </p:spTgt>
                                        </p:tgtEl>
                                        <p:attrNameLst>
                                          <p:attrName>style.visibility</p:attrName>
                                        </p:attrNameLst>
                                      </p:cBhvr>
                                      <p:to>
                                        <p:strVal val="visible"/>
                                      </p:to>
                                    </p:set>
                                    <p:animEffect filter="fade" transition="in">
                                      <p:cBhvr>
                                        <p:cTn dur="1000"/>
                                        <p:tgtEl>
                                          <p:spTgt spid="168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11" st="11"/>
                                            </p:txEl>
                                          </p:spTgt>
                                        </p:tgtEl>
                                        <p:attrNameLst>
                                          <p:attrName>style.visibility</p:attrName>
                                        </p:attrNameLst>
                                      </p:cBhvr>
                                      <p:to>
                                        <p:strVal val="visible"/>
                                      </p:to>
                                    </p:set>
                                    <p:animEffect filter="fade" transition="in">
                                      <p:cBhvr>
                                        <p:cTn dur="1000"/>
                                        <p:tgtEl>
                                          <p:spTgt spid="1686">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1" name="Shape 1691"/>
        <p:cNvGrpSpPr/>
        <p:nvPr/>
      </p:nvGrpSpPr>
      <p:grpSpPr>
        <a:xfrm>
          <a:off x="0" y="0"/>
          <a:ext cx="0" cy="0"/>
          <a:chOff x="0" y="0"/>
          <a:chExt cx="0" cy="0"/>
        </a:xfrm>
      </p:grpSpPr>
      <p:sp>
        <p:nvSpPr>
          <p:cNvPr id="1692" name="Google Shape;1692;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Take Away</a:t>
            </a:r>
            <a:r>
              <a:rPr lang="en"/>
              <a:t> from Unit 5</a:t>
            </a:r>
            <a:endParaRPr/>
          </a:p>
        </p:txBody>
      </p:sp>
      <p:sp>
        <p:nvSpPr>
          <p:cNvPr id="1693" name="Google Shape;1693;p71"/>
          <p:cNvSpPr txBox="1"/>
          <p:nvPr>
            <p:ph idx="1" type="body"/>
          </p:nvPr>
        </p:nvSpPr>
        <p:spPr>
          <a:xfrm>
            <a:off x="311700" y="13993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Recursion is an intuitive approach</a:t>
            </a:r>
            <a:endParaRPr/>
          </a:p>
          <a:p>
            <a:pPr indent="-317500" lvl="1" marL="914400" rtl="0" algn="l">
              <a:spcBef>
                <a:spcPts val="0"/>
              </a:spcBef>
              <a:spcAft>
                <a:spcPts val="0"/>
              </a:spcAft>
              <a:buSzPts val="1400"/>
              <a:buChar char="○"/>
            </a:pPr>
            <a:r>
              <a:rPr lang="en"/>
              <a:t>Utilize when problem can be broken down in self similar manner</a:t>
            </a:r>
            <a:endParaRPr/>
          </a:p>
          <a:p>
            <a:pPr indent="-317500" lvl="1" marL="914400" rtl="0" algn="l">
              <a:spcBef>
                <a:spcPts val="0"/>
              </a:spcBef>
              <a:spcAft>
                <a:spcPts val="0"/>
              </a:spcAft>
              <a:buSzPts val="1400"/>
              <a:buChar char="○"/>
            </a:pPr>
            <a:r>
              <a:rPr lang="en"/>
              <a:t>Optimize stack space using tail </a:t>
            </a:r>
            <a:r>
              <a:rPr lang="en"/>
              <a:t>recursion</a:t>
            </a:r>
            <a:endParaRPr/>
          </a:p>
          <a:p>
            <a:pPr indent="-342900" lvl="0" marL="457200" rtl="0" algn="l">
              <a:spcBef>
                <a:spcPts val="0"/>
              </a:spcBef>
              <a:spcAft>
                <a:spcPts val="0"/>
              </a:spcAft>
              <a:buSzPts val="1800"/>
              <a:buChar char="●"/>
            </a:pPr>
            <a:r>
              <a:rPr lang="en"/>
              <a:t>Common recursion errors</a:t>
            </a:r>
            <a:endParaRPr/>
          </a:p>
          <a:p>
            <a:pPr indent="-317500" lvl="1" marL="914400" rtl="0" algn="l">
              <a:spcBef>
                <a:spcPts val="0"/>
              </a:spcBef>
              <a:spcAft>
                <a:spcPts val="0"/>
              </a:spcAft>
              <a:buSzPts val="1400"/>
              <a:buChar char="○"/>
            </a:pPr>
            <a:r>
              <a:rPr lang="en"/>
              <a:t>Never reaches base case</a:t>
            </a:r>
            <a:endParaRPr/>
          </a:p>
          <a:p>
            <a:pPr indent="-317500" lvl="1" marL="914400" rtl="0" algn="l">
              <a:spcBef>
                <a:spcPts val="0"/>
              </a:spcBef>
              <a:spcAft>
                <a:spcPts val="0"/>
              </a:spcAft>
              <a:buSzPts val="1400"/>
              <a:buChar char="○"/>
            </a:pPr>
            <a:r>
              <a:rPr lang="en"/>
              <a:t>Runs out of stack space</a:t>
            </a:r>
            <a:endParaRPr/>
          </a:p>
          <a:p>
            <a:pPr indent="-317500" lvl="1" marL="914400" rtl="0" algn="l">
              <a:spcBef>
                <a:spcPts val="0"/>
              </a:spcBef>
              <a:spcAft>
                <a:spcPts val="0"/>
              </a:spcAft>
              <a:buSzPts val="1400"/>
              <a:buChar char="○"/>
            </a:pPr>
            <a:r>
              <a:rPr lang="en"/>
              <a:t>Doesn’t return the correct solution</a:t>
            </a:r>
            <a:endParaRPr/>
          </a:p>
          <a:p>
            <a:pPr indent="-317500" lvl="1" marL="914400" rtl="0" algn="l">
              <a:spcBef>
                <a:spcPts val="0"/>
              </a:spcBef>
              <a:spcAft>
                <a:spcPts val="0"/>
              </a:spcAft>
              <a:buSzPts val="1400"/>
              <a:buChar char="○"/>
            </a:pPr>
            <a:r>
              <a:rPr lang="en"/>
              <a:t>Avoid such errors with the help of auxiliary variables</a:t>
            </a:r>
            <a:endParaRPr/>
          </a:p>
          <a:p>
            <a:pPr indent="-342900" lvl="0" marL="457200" rtl="0" algn="l">
              <a:spcBef>
                <a:spcPts val="0"/>
              </a:spcBef>
              <a:spcAft>
                <a:spcPts val="0"/>
              </a:spcAft>
              <a:buSzPts val="1800"/>
              <a:buChar char="●"/>
            </a:pPr>
            <a:r>
              <a:rPr lang="en"/>
              <a:t>Recursion</a:t>
            </a:r>
            <a:r>
              <a:rPr lang="en"/>
              <a:t> might look challenging, but more examples you practice, more comfortable you will get with the idea!</a:t>
            </a:r>
            <a:endParaRPr/>
          </a:p>
        </p:txBody>
      </p:sp>
      <p:sp>
        <p:nvSpPr>
          <p:cNvPr id="1694" name="Google Shape;1694;p71"/>
          <p:cNvSpPr txBox="1"/>
          <p:nvPr/>
        </p:nvSpPr>
        <p:spPr>
          <a:xfrm>
            <a:off x="83900" y="4774200"/>
            <a:ext cx="859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p>
          <a:p>
            <a:pPr indent="0" lvl="0" marL="0" rtl="0" algn="l">
              <a:spcBef>
                <a:spcPts val="0"/>
              </a:spcBef>
              <a:spcAft>
                <a:spcPts val="0"/>
              </a:spcAft>
              <a:buNone/>
            </a:pPr>
            <a:r>
              <a:rPr lang="en" sz="600"/>
              <a:t>Instructors: E. Estrada, M. Ponce, P. Gawde</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3">
                                            <p:txEl>
                                              <p:pRg end="0" st="0"/>
                                            </p:txEl>
                                          </p:spTgt>
                                        </p:tgtEl>
                                        <p:attrNameLst>
                                          <p:attrName>style.visibility</p:attrName>
                                        </p:attrNameLst>
                                      </p:cBhvr>
                                      <p:to>
                                        <p:strVal val="visible"/>
                                      </p:to>
                                    </p:set>
                                    <p:animEffect filter="fade" transition="in">
                                      <p:cBhvr>
                                        <p:cTn dur="1000"/>
                                        <p:tgtEl>
                                          <p:spTgt spid="16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3">
                                            <p:txEl>
                                              <p:pRg end="1" st="1"/>
                                            </p:txEl>
                                          </p:spTgt>
                                        </p:tgtEl>
                                        <p:attrNameLst>
                                          <p:attrName>style.visibility</p:attrName>
                                        </p:attrNameLst>
                                      </p:cBhvr>
                                      <p:to>
                                        <p:strVal val="visible"/>
                                      </p:to>
                                    </p:set>
                                    <p:animEffect filter="fade" transition="in">
                                      <p:cBhvr>
                                        <p:cTn dur="1000"/>
                                        <p:tgtEl>
                                          <p:spTgt spid="169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3">
                                            <p:txEl>
                                              <p:pRg end="2" st="2"/>
                                            </p:txEl>
                                          </p:spTgt>
                                        </p:tgtEl>
                                        <p:attrNameLst>
                                          <p:attrName>style.visibility</p:attrName>
                                        </p:attrNameLst>
                                      </p:cBhvr>
                                      <p:to>
                                        <p:strVal val="visible"/>
                                      </p:to>
                                    </p:set>
                                    <p:animEffect filter="fade" transition="in">
                                      <p:cBhvr>
                                        <p:cTn dur="1000"/>
                                        <p:tgtEl>
                                          <p:spTgt spid="169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3">
                                            <p:txEl>
                                              <p:pRg end="3" st="3"/>
                                            </p:txEl>
                                          </p:spTgt>
                                        </p:tgtEl>
                                        <p:attrNameLst>
                                          <p:attrName>style.visibility</p:attrName>
                                        </p:attrNameLst>
                                      </p:cBhvr>
                                      <p:to>
                                        <p:strVal val="visible"/>
                                      </p:to>
                                    </p:set>
                                    <p:animEffect filter="fade" transition="in">
                                      <p:cBhvr>
                                        <p:cTn dur="1000"/>
                                        <p:tgtEl>
                                          <p:spTgt spid="169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3">
                                            <p:txEl>
                                              <p:pRg end="4" st="4"/>
                                            </p:txEl>
                                          </p:spTgt>
                                        </p:tgtEl>
                                        <p:attrNameLst>
                                          <p:attrName>style.visibility</p:attrName>
                                        </p:attrNameLst>
                                      </p:cBhvr>
                                      <p:to>
                                        <p:strVal val="visible"/>
                                      </p:to>
                                    </p:set>
                                    <p:animEffect filter="fade" transition="in">
                                      <p:cBhvr>
                                        <p:cTn dur="1000"/>
                                        <p:tgtEl>
                                          <p:spTgt spid="169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3">
                                            <p:txEl>
                                              <p:pRg end="5" st="5"/>
                                            </p:txEl>
                                          </p:spTgt>
                                        </p:tgtEl>
                                        <p:attrNameLst>
                                          <p:attrName>style.visibility</p:attrName>
                                        </p:attrNameLst>
                                      </p:cBhvr>
                                      <p:to>
                                        <p:strVal val="visible"/>
                                      </p:to>
                                    </p:set>
                                    <p:animEffect filter="fade" transition="in">
                                      <p:cBhvr>
                                        <p:cTn dur="1000"/>
                                        <p:tgtEl>
                                          <p:spTgt spid="169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3">
                                            <p:txEl>
                                              <p:pRg end="6" st="6"/>
                                            </p:txEl>
                                          </p:spTgt>
                                        </p:tgtEl>
                                        <p:attrNameLst>
                                          <p:attrName>style.visibility</p:attrName>
                                        </p:attrNameLst>
                                      </p:cBhvr>
                                      <p:to>
                                        <p:strVal val="visible"/>
                                      </p:to>
                                    </p:set>
                                    <p:animEffect filter="fade" transition="in">
                                      <p:cBhvr>
                                        <p:cTn dur="1000"/>
                                        <p:tgtEl>
                                          <p:spTgt spid="169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3">
                                            <p:txEl>
                                              <p:pRg end="7" st="7"/>
                                            </p:txEl>
                                          </p:spTgt>
                                        </p:tgtEl>
                                        <p:attrNameLst>
                                          <p:attrName>style.visibility</p:attrName>
                                        </p:attrNameLst>
                                      </p:cBhvr>
                                      <p:to>
                                        <p:strVal val="visible"/>
                                      </p:to>
                                    </p:set>
                                    <p:animEffect filter="fade" transition="in">
                                      <p:cBhvr>
                                        <p:cTn dur="1000"/>
                                        <p:tgtEl>
                                          <p:spTgt spid="169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3">
                                            <p:txEl>
                                              <p:pRg end="8" st="8"/>
                                            </p:txEl>
                                          </p:spTgt>
                                        </p:tgtEl>
                                        <p:attrNameLst>
                                          <p:attrName>style.visibility</p:attrName>
                                        </p:attrNameLst>
                                      </p:cBhvr>
                                      <p:to>
                                        <p:strVal val="visible"/>
                                      </p:to>
                                    </p:set>
                                    <p:animEffect filter="fade" transition="in">
                                      <p:cBhvr>
                                        <p:cTn dur="1000"/>
                                        <p:tgtEl>
                                          <p:spTgt spid="1693">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