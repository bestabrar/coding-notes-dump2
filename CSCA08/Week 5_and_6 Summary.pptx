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107" d="100"/>
          <a:sy n="107" d="100"/>
        </p:scale>
        <p:origin x="176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2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56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5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0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0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8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2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56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45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9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0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BA0EF-6E35-344C-83F7-EB2CFF10A73A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6BE8B-A538-004A-B0D7-2E769FA4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7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5&amp;6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CSCA08</a:t>
            </a:r>
          </a:p>
          <a:p>
            <a:r>
              <a:rPr lang="en-US"/>
              <a:t>Winter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30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57461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list is an array of elements, each element can be another Python object (e.g., </a:t>
            </a:r>
            <a:r>
              <a:rPr lang="en-US" sz="2400" dirty="0" err="1"/>
              <a:t>int</a:t>
            </a:r>
            <a:r>
              <a:rPr lang="en-US" sz="2400" dirty="0"/>
              <a:t>, float, </a:t>
            </a:r>
            <a:r>
              <a:rPr lang="en-US" sz="2400" dirty="0" err="1"/>
              <a:t>str</a:t>
            </a:r>
            <a:r>
              <a:rPr lang="en-US" sz="2400" dirty="0"/>
              <a:t>, and also another list, </a:t>
            </a:r>
            <a:r>
              <a:rPr lang="mr-IN" sz="2400" dirty="0"/>
              <a:t>…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The memory model for list: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a = [1, ‘a’, ‘3.14’, ‘csca08’]</a:t>
            </a:r>
          </a:p>
        </p:txBody>
      </p:sp>
      <p:sp>
        <p:nvSpPr>
          <p:cNvPr id="4" name="Rectangle 3"/>
          <p:cNvSpPr/>
          <p:nvPr/>
        </p:nvSpPr>
        <p:spPr>
          <a:xfrm>
            <a:off x="1896211" y="4431585"/>
            <a:ext cx="591479" cy="661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10265" y="4431585"/>
            <a:ext cx="3392305" cy="661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10265" y="4431585"/>
            <a:ext cx="591479" cy="661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01744" y="4431585"/>
            <a:ext cx="591479" cy="661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893223" y="4440669"/>
            <a:ext cx="591479" cy="661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511091" y="4431585"/>
            <a:ext cx="591479" cy="661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304732" y="4440669"/>
            <a:ext cx="347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710265" y="3808150"/>
            <a:ext cx="1249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id1: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6211" y="4469845"/>
            <a:ext cx="637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id1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696447" y="4766245"/>
            <a:ext cx="165266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757629" y="6071650"/>
            <a:ext cx="591479" cy="661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817851" y="6071650"/>
            <a:ext cx="366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54144" y="6115526"/>
            <a:ext cx="591479" cy="661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488894" y="6150316"/>
            <a:ext cx="5358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‘a’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7257" y="5609985"/>
            <a:ext cx="990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id2:int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2380" y="5653861"/>
            <a:ext cx="986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id3:str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2050" y="4469845"/>
            <a:ext cx="637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id2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3377" y="4469845"/>
            <a:ext cx="637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id3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4349108" y="5235911"/>
            <a:ext cx="608875" cy="3740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488894" y="5235911"/>
            <a:ext cx="147550" cy="4179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42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Indexing, Slicing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You can index and slice a list similar to the way we index and slice a string.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66FF"/>
                </a:solidFill>
              </a:rPr>
              <a:t>&gt;&gt;&gt; a = [1, 2, 3, ‘a’, ‘b’, ‘c’]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66FF"/>
                </a:solidFill>
              </a:rPr>
              <a:t>&gt;&gt;&gt; a[0]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66FF"/>
                </a:solidFill>
              </a:rPr>
              <a:t>1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66FF"/>
                </a:solidFill>
              </a:rPr>
              <a:t>&gt;&gt;&gt; a[0:1]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66FF"/>
                </a:solidFill>
              </a:rPr>
              <a:t>[1]                               </a:t>
            </a:r>
            <a:r>
              <a:rPr lang="en-US" sz="2400" dirty="0">
                <a:solidFill>
                  <a:srgbClr val="008000"/>
                </a:solidFill>
              </a:rPr>
              <a:t>(A slice of a list is always a new list)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66FF"/>
                </a:solidFill>
              </a:rPr>
              <a:t>&gt;&gt;&gt; a[:]        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66FF"/>
                </a:solidFill>
              </a:rPr>
              <a:t>[1, 2, 3, ‘a’, ‘b’, ‘c’]</a:t>
            </a:r>
            <a:r>
              <a:rPr lang="en-US" sz="2400" dirty="0"/>
              <a:t>   </a:t>
            </a:r>
            <a:r>
              <a:rPr lang="en-US" sz="2400" dirty="0">
                <a:solidFill>
                  <a:srgbClr val="008000"/>
                </a:solidFill>
              </a:rPr>
              <a:t>(This is a new list with a different id)</a:t>
            </a:r>
          </a:p>
          <a:p>
            <a:endParaRPr lang="en-US" sz="2400" dirty="0"/>
          </a:p>
          <a:p>
            <a:r>
              <a:rPr lang="en-US" sz="2400" dirty="0"/>
              <a:t>Lists have their own methods as well.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58290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 </a:t>
            </a:r>
            <a:r>
              <a:rPr lang="en-US" dirty="0" err="1"/>
              <a:t>vs</a:t>
            </a:r>
            <a:r>
              <a:rPr lang="en-US" dirty="0"/>
              <a:t> Create a New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When we modify a list its id does not change. Only the id of the elements inside the list change.</a:t>
            </a:r>
          </a:p>
          <a:p>
            <a:pPr lvl="1"/>
            <a:endParaRPr lang="en-US" sz="1600" dirty="0"/>
          </a:p>
          <a:p>
            <a:pPr lvl="1"/>
            <a:r>
              <a:rPr lang="en-US" sz="2400" dirty="0"/>
              <a:t>Ways to modify a list:</a:t>
            </a:r>
          </a:p>
          <a:p>
            <a:pPr lvl="2"/>
            <a:r>
              <a:rPr lang="en-US" dirty="0"/>
              <a:t>Assign a new value to an index or a slice of the list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00FF"/>
                </a:solidFill>
              </a:rPr>
              <a:t>&gt;&gt;&gt; a[1] = ‘csca08’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00FF"/>
                </a:solidFill>
              </a:rPr>
              <a:t>&gt;&gt;&gt; a[1:3] = [1, 2]</a:t>
            </a:r>
          </a:p>
          <a:p>
            <a:pPr lvl="2"/>
            <a:r>
              <a:rPr lang="en-US" dirty="0"/>
              <a:t>Use list methods which modify the list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00FF"/>
                </a:solidFill>
              </a:rPr>
              <a:t>&gt;&gt;&gt; </a:t>
            </a:r>
            <a:r>
              <a:rPr lang="en-US" dirty="0" err="1">
                <a:solidFill>
                  <a:srgbClr val="0000FF"/>
                </a:solidFill>
              </a:rPr>
              <a:t>a.append</a:t>
            </a:r>
            <a:r>
              <a:rPr lang="en-US" dirty="0">
                <a:solidFill>
                  <a:srgbClr val="0000FF"/>
                </a:solidFill>
              </a:rPr>
              <a:t>(3.14)</a:t>
            </a:r>
          </a:p>
          <a:p>
            <a:endParaRPr lang="en-US" sz="2000" dirty="0"/>
          </a:p>
          <a:p>
            <a:r>
              <a:rPr lang="en-US" sz="2400" dirty="0"/>
              <a:t>When we create a new list the id of the list changes.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943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Aliasing &amp; more about modifying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8000"/>
                </a:solidFill>
              </a:rPr>
              <a:t>Aliasing:</a:t>
            </a:r>
            <a:r>
              <a:rPr lang="en-US" sz="2400" dirty="0"/>
              <a:t> When two variables refer to the same list object (same id) if you modify of of them the other one also gets modified.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Functions and methods which modify an object (e.g., a list) </a:t>
            </a:r>
            <a:r>
              <a:rPr lang="en-US" sz="2400" i="1" u="sng" dirty="0"/>
              <a:t>usually</a:t>
            </a:r>
            <a:r>
              <a:rPr lang="en-US" sz="2400" dirty="0"/>
              <a:t> return None. (there are exceptions where explicitly mentioned such as the </a:t>
            </a:r>
            <a:r>
              <a:rPr lang="en-US" sz="2400" dirty="0" err="1"/>
              <a:t>list.pop</a:t>
            </a:r>
            <a:r>
              <a:rPr lang="en-US" sz="2400" dirty="0"/>
              <a:t>() which both modify the list and return something)</a:t>
            </a:r>
          </a:p>
          <a:p>
            <a:endParaRPr lang="en-US" sz="2400" dirty="0"/>
          </a:p>
          <a:p>
            <a:r>
              <a:rPr lang="en-US" sz="2400" dirty="0"/>
              <a:t>Writing </a:t>
            </a:r>
            <a:r>
              <a:rPr lang="en-US" sz="2400" dirty="0" err="1"/>
              <a:t>docstring</a:t>
            </a:r>
            <a:r>
              <a:rPr lang="en-US" sz="2400" dirty="0"/>
              <a:t> examples for functions that modify a list are different.</a:t>
            </a:r>
          </a:p>
        </p:txBody>
      </p:sp>
    </p:spTree>
    <p:extLst>
      <p:ext uri="{BB962C8B-B14F-4D97-AF65-F5344CB8AC3E}">
        <p14:creationId xmlns:p14="http://schemas.microsoft.com/office/powerpoint/2010/main" val="795758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over indices and range()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8000"/>
                </a:solidFill>
              </a:rPr>
              <a:t>range() </a:t>
            </a:r>
            <a:r>
              <a:rPr lang="en-US" sz="2400" dirty="0"/>
              <a:t>is a built-in type in Python. </a:t>
            </a:r>
          </a:p>
          <a:p>
            <a:pPr lvl="1"/>
            <a:r>
              <a:rPr lang="en-US" sz="2400" dirty="0"/>
              <a:t>It can be called with one, two or three parameters separated by “,” and indicating start, end and step.</a:t>
            </a:r>
          </a:p>
          <a:p>
            <a:pPr lvl="1"/>
            <a:endParaRPr lang="en-US" sz="2400" dirty="0"/>
          </a:p>
          <a:p>
            <a:r>
              <a:rPr lang="en-US" sz="2400" dirty="0">
                <a:solidFill>
                  <a:srgbClr val="008000"/>
                </a:solidFill>
              </a:rPr>
              <a:t>for </a:t>
            </a:r>
            <a:r>
              <a:rPr lang="en-US" sz="2400" dirty="0" err="1">
                <a:solidFill>
                  <a:srgbClr val="008000"/>
                </a:solidFill>
              </a:rPr>
              <a:t>i</a:t>
            </a:r>
            <a:r>
              <a:rPr lang="en-US" sz="2400" dirty="0">
                <a:solidFill>
                  <a:srgbClr val="008000"/>
                </a:solidFill>
              </a:rPr>
              <a:t> in range():</a:t>
            </a:r>
          </a:p>
          <a:p>
            <a:pPr lvl="1"/>
            <a:r>
              <a:rPr lang="en-US" sz="2400" dirty="0"/>
              <a:t>This makes a loop in which the variable takes values from range. </a:t>
            </a:r>
          </a:p>
          <a:p>
            <a:pPr lvl="1"/>
            <a:r>
              <a:rPr lang="en-US" sz="2400" dirty="0"/>
              <a:t>It is </a:t>
            </a:r>
            <a:r>
              <a:rPr lang="en-US" sz="2400" i="1" u="sng" dirty="0"/>
              <a:t>often</a:t>
            </a:r>
            <a:r>
              <a:rPr lang="en-US" sz="2400" dirty="0"/>
              <a:t> used when we need to work with the indices of the elements (e.g., parallel lists and string or for modifying lists)</a:t>
            </a:r>
          </a:p>
        </p:txBody>
      </p:sp>
    </p:spTree>
    <p:extLst>
      <p:ext uri="{BB962C8B-B14F-4D97-AF65-F5344CB8AC3E}">
        <p14:creationId xmlns:p14="http://schemas.microsoft.com/office/powerpoint/2010/main" val="3312009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448</Words>
  <Application>Microsoft Macintosh PowerPoint</Application>
  <PresentationFormat>On-screen Show (4:3)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Week 5&amp;6 Summary</vt:lpstr>
      <vt:lpstr>List</vt:lpstr>
      <vt:lpstr>Indexing, Slicing and Methods</vt:lpstr>
      <vt:lpstr>Modify vs Create a New List</vt:lpstr>
      <vt:lpstr>Aliasing &amp; more about modifying</vt:lpstr>
      <vt:lpstr>for loop over indices and range()</vt:lpstr>
    </vt:vector>
  </TitlesOfParts>
  <Company>ghjdfguywe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Summary</dc:title>
  <dc:creator>jlhgfsljhdgf jhgslydtewe</dc:creator>
  <cp:lastModifiedBy>Kaveh Mahdaviani</cp:lastModifiedBy>
  <cp:revision>9</cp:revision>
  <dcterms:created xsi:type="dcterms:W3CDTF">2021-02-12T13:47:41Z</dcterms:created>
  <dcterms:modified xsi:type="dcterms:W3CDTF">2022-02-13T18:40:23Z</dcterms:modified>
</cp:coreProperties>
</file>